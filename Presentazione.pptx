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97" r:id="rId4"/>
    <p:sldId id="296" r:id="rId5"/>
    <p:sldId id="298" r:id="rId6"/>
    <p:sldId id="299" r:id="rId7"/>
    <p:sldId id="300" r:id="rId8"/>
    <p:sldId id="301" r:id="rId9"/>
    <p:sldId id="275" r:id="rId10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0E1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368" autoAdjust="0"/>
    <p:restoredTop sz="94660"/>
  </p:normalViewPr>
  <p:slideViewPr>
    <p:cSldViewPr snapToGrid="0">
      <p:cViewPr varScale="1">
        <p:scale>
          <a:sx n="69" d="100"/>
          <a:sy n="69" d="100"/>
        </p:scale>
        <p:origin x="80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2714C89-CE30-6886-3183-24BE22AAFD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D1B28D07-28F9-08C3-8123-7B620F39AF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2E735DD-477C-0EC2-F8B4-2EEFB581D1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DAA61-DEA4-43E8-97BC-71371D31AB97}" type="datetimeFigureOut">
              <a:rPr lang="it-IT" smtClean="0"/>
              <a:t>01/06/2026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E1134A0-8081-213B-EF3E-DE378CAC25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3461F13-68D6-A39C-BF6D-C84222FCF0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4B8DD3-FC02-4367-9757-14EB324B9BE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851171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29C8A8D-4AE2-998C-C4D5-A750C8EF7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CC1A763-29B2-289F-C9C5-FA339B3985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75A251E-D52F-653A-ACAE-5CCE2A359C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DAA61-DEA4-43E8-97BC-71371D31AB97}" type="datetimeFigureOut">
              <a:rPr lang="it-IT" smtClean="0"/>
              <a:t>01/06/2026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392C7CE-3614-95FC-3470-C7549FC5CD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8F3A68E-1A4B-CBFB-1E9B-9BB234117C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4B8DD3-FC02-4367-9757-14EB324B9BE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938908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7F4613F-682A-E57E-11E2-766D8A5F8C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92B0139C-8C3F-5CF4-413F-AB3D349192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37265E7-A0B0-59CD-5EAE-A66636841C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DAA61-DEA4-43E8-97BC-71371D31AB97}" type="datetimeFigureOut">
              <a:rPr lang="it-IT" smtClean="0"/>
              <a:t>01/06/2026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9B0C2FB-DA1F-BB90-6A14-ED3D1A71AF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1AE58AE-DD65-28F7-1225-10AC40A03F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4B8DD3-FC02-4367-9757-14EB324B9BE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483868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FFB4B48-73CF-D9E6-5710-3978610224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EA277B0-8167-E7BF-C4BF-56821CA5D05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91331CE1-21D6-C773-9EBA-944E9E48B1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D19A87A1-30AC-17A1-DDAB-4364E8946A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DAA61-DEA4-43E8-97BC-71371D31AB97}" type="datetimeFigureOut">
              <a:rPr lang="it-IT" smtClean="0"/>
              <a:t>01/06/2026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A566F6DE-272A-DE6D-0A48-1FF58B085C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D471C7A8-577B-076F-F6D5-DDBA681F42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4B8DD3-FC02-4367-9757-14EB324B9BE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768656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794713C-5EB0-F89C-3B9B-321F3AD61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63132C54-404E-BFB3-B51A-BF88A418BD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5DC91491-7870-83DB-BAE4-5064499856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7561E8E0-ACA0-FC5A-0C28-ED26291F59F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640B1F6B-3D47-6CC4-472A-AE944616887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ABAD08B4-F81B-1A45-8CAF-FD4A2E1303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DAA61-DEA4-43E8-97BC-71371D31AB97}" type="datetimeFigureOut">
              <a:rPr lang="it-IT" smtClean="0"/>
              <a:t>01/06/2026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D819FD47-B6F2-CD89-5695-CEF063B50F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2E540A31-B3D3-782D-C305-33778D3F27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4B8DD3-FC02-4367-9757-14EB324B9BE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42805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285D408-E57A-4123-4671-27C9F96D73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B9C53C91-5961-C847-8597-BF1EB77E9A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DAA61-DEA4-43E8-97BC-71371D31AB97}" type="datetimeFigureOut">
              <a:rPr lang="it-IT" smtClean="0"/>
              <a:t>01/06/2026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3068331C-F674-961C-EA8E-7FF034E372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AD4A4437-2047-88E0-4F80-35882677A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4B8DD3-FC02-4367-9757-14EB324B9BE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061236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D0C49BE1-E252-820D-19BF-F1F241E541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DAA61-DEA4-43E8-97BC-71371D31AB97}" type="datetimeFigureOut">
              <a:rPr lang="it-IT" smtClean="0"/>
              <a:t>01/06/2026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5C7E70B1-FC88-4015-2147-34CB293137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CF18611-5E04-919A-7B26-A969267F15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4B8DD3-FC02-4367-9757-14EB324B9BE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114724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7D52A1D-9699-C50B-E435-368C890F33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B033487-AC32-DC61-F5B0-A73A5DCC8B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95C539FA-E7D7-2760-C9E1-99BD9496A2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B23B9F5D-D384-DC34-8B7E-B6B6DDD028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DAA61-DEA4-43E8-97BC-71371D31AB97}" type="datetimeFigureOut">
              <a:rPr lang="it-IT" smtClean="0"/>
              <a:t>01/06/2026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3157E4CC-56F9-8D9A-8DF5-7195E32875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5FD4A493-FD21-DB6D-C718-8F847EE31D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4B8DD3-FC02-4367-9757-14EB324B9BE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116278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BF3C08A-4C3C-60A9-54D6-8E95ED5C70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8F99D12D-C97C-B554-A58C-2D1B74578D8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45A56A22-0BDA-0116-5DFA-18A54EEB12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3184CFE3-A177-F05C-D7E2-B17B6EBF3F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DAA61-DEA4-43E8-97BC-71371D31AB97}" type="datetimeFigureOut">
              <a:rPr lang="it-IT" smtClean="0"/>
              <a:t>01/06/2026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E3D1FEEA-C036-0552-E551-49AFBB966C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09211C3B-CAFD-2720-B6E1-B16E24A74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4B8DD3-FC02-4367-9757-14EB324B9BE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196843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C22975E-E247-2B16-7744-975B8B0961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9FE2EF9E-053D-F915-81A1-A13823D2FA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D934AF8-F680-2744-131D-90E1A3C31B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DAA61-DEA4-43E8-97BC-71371D31AB97}" type="datetimeFigureOut">
              <a:rPr lang="it-IT" smtClean="0"/>
              <a:t>01/06/2026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B89CC2D-481A-6980-8003-458371500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2F7F5DA-5183-F108-7C19-21B749DC71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4B8DD3-FC02-4367-9757-14EB324B9BE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018389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8286EBF0-2A0C-F3EA-9A56-745256622B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6C4694A5-B1A2-A3F1-1318-2FB111AB48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A634B6A-ADC4-F43E-3D92-3BECE1406D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DAA61-DEA4-43E8-97BC-71371D31AB97}" type="datetimeFigureOut">
              <a:rPr lang="it-IT" smtClean="0"/>
              <a:t>01/06/2026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90DC47E-15DF-5DD2-58C2-528644583B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D2EB3F8-47BB-33AA-5D0E-2FA562573C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4B8DD3-FC02-4367-9757-14EB324B9BE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160059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018ADBB7-9FE2-1272-F000-94113929AC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D965471F-190B-6836-099A-DCA643A019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BA70068-F206-0A5A-8C3C-9266046616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4FDAA61-DEA4-43E8-97BC-71371D31AB97}" type="datetimeFigureOut">
              <a:rPr lang="it-IT" smtClean="0"/>
              <a:t>01/06/2026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5691B0A-E348-F555-AC57-2E5EE3BE6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E43D389-FB84-BD1C-19EC-AFABC811E4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B4B8DD3-FC02-4367-9757-14EB324B9BE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172984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>
            <a:extLst>
              <a:ext uri="{FF2B5EF4-FFF2-40B4-BE49-F238E27FC236}">
                <a16:creationId xmlns:a16="http://schemas.microsoft.com/office/drawing/2014/main" id="{C6332EAE-76C9-01BF-D28A-E7C838184B5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it-IT"/>
          </a:p>
        </p:txBody>
      </p:sp>
      <p:pic>
        <p:nvPicPr>
          <p:cNvPr id="3074" name="Picture 2" descr="University of Padua Logo (UNIPD) - PNG Logo Vector Brand Downloads (SVG,  EPS)">
            <a:extLst>
              <a:ext uri="{FF2B5EF4-FFF2-40B4-BE49-F238E27FC236}">
                <a16:creationId xmlns:a16="http://schemas.microsoft.com/office/drawing/2014/main" id="{64A275C1-F4A2-290F-F6A1-7648449F15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29207" y="152321"/>
            <a:ext cx="2933586" cy="13147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ttangolo 7">
            <a:extLst>
              <a:ext uri="{FF2B5EF4-FFF2-40B4-BE49-F238E27FC236}">
                <a16:creationId xmlns:a16="http://schemas.microsoft.com/office/drawing/2014/main" id="{FA98DAEA-AD18-49BF-7C7C-B9599DDEF7AB}"/>
              </a:ext>
            </a:extLst>
          </p:cNvPr>
          <p:cNvSpPr/>
          <p:nvPr/>
        </p:nvSpPr>
        <p:spPr>
          <a:xfrm>
            <a:off x="0" y="1600200"/>
            <a:ext cx="12192000" cy="5257800"/>
          </a:xfrm>
          <a:prstGeom prst="rect">
            <a:avLst/>
          </a:prstGeom>
          <a:solidFill>
            <a:srgbClr val="B20E10"/>
          </a:solidFill>
          <a:ln>
            <a:solidFill>
              <a:srgbClr val="B20E1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9" name="CasellaDiTesto 48">
            <a:extLst>
              <a:ext uri="{FF2B5EF4-FFF2-40B4-BE49-F238E27FC236}">
                <a16:creationId xmlns:a16="http://schemas.microsoft.com/office/drawing/2014/main" id="{73F1C0B9-C927-035A-1693-4A6D9CF84BF1}"/>
              </a:ext>
            </a:extLst>
          </p:cNvPr>
          <p:cNvSpPr txBox="1"/>
          <p:nvPr/>
        </p:nvSpPr>
        <p:spPr>
          <a:xfrm>
            <a:off x="72341" y="2812207"/>
            <a:ext cx="12047316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</a:rPr>
              <a:t>GROUP PROJECT</a:t>
            </a:r>
          </a:p>
          <a:p>
            <a:pPr algn="ctr"/>
            <a:endParaRPr lang="en-US" sz="2400" dirty="0">
              <a:solidFill>
                <a:schemeClr val="bg1"/>
              </a:solidFill>
            </a:endParaRPr>
          </a:p>
          <a:p>
            <a:pPr algn="ctr"/>
            <a:r>
              <a:rPr lang="en-US" sz="3600" i="1" dirty="0">
                <a:solidFill>
                  <a:schemeClr val="bg1"/>
                </a:solidFill>
              </a:rPr>
              <a:t>Statistical Methods for High Dimensional Data</a:t>
            </a:r>
            <a:endParaRPr lang="it-IT" sz="3600" i="1" dirty="0">
              <a:solidFill>
                <a:schemeClr val="bg1"/>
              </a:solidFill>
            </a:endParaRPr>
          </a:p>
        </p:txBody>
      </p:sp>
      <p:sp>
        <p:nvSpPr>
          <p:cNvPr id="54" name="CasellaDiTesto 53">
            <a:extLst>
              <a:ext uri="{FF2B5EF4-FFF2-40B4-BE49-F238E27FC236}">
                <a16:creationId xmlns:a16="http://schemas.microsoft.com/office/drawing/2014/main" id="{9F8EAAE9-C733-C888-332E-0422D73FCF5F}"/>
              </a:ext>
            </a:extLst>
          </p:cNvPr>
          <p:cNvSpPr txBox="1"/>
          <p:nvPr/>
        </p:nvSpPr>
        <p:spPr>
          <a:xfrm>
            <a:off x="9426714" y="5390913"/>
            <a:ext cx="290524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i="1" dirty="0">
                <a:solidFill>
                  <a:schemeClr val="bg1"/>
                </a:solidFill>
              </a:rPr>
              <a:t>Jacopo Gasparoni</a:t>
            </a:r>
          </a:p>
          <a:p>
            <a:r>
              <a:rPr lang="it-IT" i="1" dirty="0">
                <a:solidFill>
                  <a:schemeClr val="bg1"/>
                </a:solidFill>
              </a:rPr>
              <a:t>Laura Martini</a:t>
            </a:r>
          </a:p>
          <a:p>
            <a:r>
              <a:rPr lang="it-IT" i="1" dirty="0">
                <a:solidFill>
                  <a:schemeClr val="bg1"/>
                </a:solidFill>
              </a:rPr>
              <a:t>Vittorio Valle</a:t>
            </a:r>
          </a:p>
        </p:txBody>
      </p:sp>
      <p:sp>
        <p:nvSpPr>
          <p:cNvPr id="55" name="CasellaDiTesto 54">
            <a:extLst>
              <a:ext uri="{FF2B5EF4-FFF2-40B4-BE49-F238E27FC236}">
                <a16:creationId xmlns:a16="http://schemas.microsoft.com/office/drawing/2014/main" id="{E2B5CECF-A5B6-BECB-53B1-D4EFF1259DFD}"/>
              </a:ext>
            </a:extLst>
          </p:cNvPr>
          <p:cNvSpPr txBox="1"/>
          <p:nvPr/>
        </p:nvSpPr>
        <p:spPr>
          <a:xfrm>
            <a:off x="4772193" y="6325565"/>
            <a:ext cx="26476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chemeClr val="bg1"/>
                </a:solidFill>
              </a:rPr>
              <a:t>Academic Year 2025/2026</a:t>
            </a:r>
          </a:p>
        </p:txBody>
      </p:sp>
    </p:spTree>
    <p:extLst>
      <p:ext uri="{BB962C8B-B14F-4D97-AF65-F5344CB8AC3E}">
        <p14:creationId xmlns:p14="http://schemas.microsoft.com/office/powerpoint/2010/main" val="35842974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tangolo 3">
            <a:extLst>
              <a:ext uri="{FF2B5EF4-FFF2-40B4-BE49-F238E27FC236}">
                <a16:creationId xmlns:a16="http://schemas.microsoft.com/office/drawing/2014/main" id="{0F607097-02DE-0051-161B-E1845BADE88B}"/>
              </a:ext>
            </a:extLst>
          </p:cNvPr>
          <p:cNvSpPr/>
          <p:nvPr/>
        </p:nvSpPr>
        <p:spPr>
          <a:xfrm>
            <a:off x="0" y="0"/>
            <a:ext cx="12192000" cy="1608881"/>
          </a:xfrm>
          <a:prstGeom prst="rect">
            <a:avLst/>
          </a:prstGeom>
          <a:solidFill>
            <a:srgbClr val="B20E10"/>
          </a:solidFill>
          <a:ln>
            <a:solidFill>
              <a:srgbClr val="B20E1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B2CB8FFD-6E9A-6542-A5E0-419EAFC594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1658"/>
            <a:ext cx="10515600" cy="1325563"/>
          </a:xfrm>
        </p:spPr>
        <p:txBody>
          <a:bodyPr/>
          <a:lstStyle/>
          <a:p>
            <a:r>
              <a:rPr lang="it-IT" dirty="0">
                <a:solidFill>
                  <a:schemeClr val="bg1"/>
                </a:solidFill>
              </a:rPr>
              <a:t>Scaletta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3307DDC-85C9-1260-8223-FE91D05E54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98847"/>
            <a:ext cx="10515600" cy="3984215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it-IT" sz="2400" dirty="0">
                <a:latin typeface="Aptos (Corpo)"/>
              </a:rPr>
              <a:t>Introduction</a:t>
            </a:r>
          </a:p>
          <a:p>
            <a:pPr>
              <a:lnSpc>
                <a:spcPct val="100000"/>
              </a:lnSpc>
            </a:pPr>
            <a:endParaRPr lang="en-US" dirty="0">
              <a:latin typeface="Aptos (Corpo)"/>
            </a:endParaRPr>
          </a:p>
          <a:p>
            <a:pPr>
              <a:lnSpc>
                <a:spcPct val="100000"/>
              </a:lnSpc>
            </a:pPr>
            <a:endParaRPr lang="en-US" sz="2400" dirty="0">
              <a:latin typeface="Aptos (Corpo)"/>
            </a:endParaRPr>
          </a:p>
          <a:p>
            <a:pPr marL="457200" indent="-457200">
              <a:lnSpc>
                <a:spcPct val="100000"/>
              </a:lnSpc>
              <a:buFont typeface="+mj-lt"/>
              <a:buAutoNum type="arabicPeriod"/>
            </a:pPr>
            <a:endParaRPr lang="it-IT" sz="2400" dirty="0">
              <a:latin typeface="Aptos (Corpo)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6B417A2-A04B-B3DF-EB36-60D78E3712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6786" y="207851"/>
            <a:ext cx="2656114" cy="1193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9260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BE5E5-FDD8-709C-608E-63EE8782A4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tangolo 3">
            <a:extLst>
              <a:ext uri="{FF2B5EF4-FFF2-40B4-BE49-F238E27FC236}">
                <a16:creationId xmlns:a16="http://schemas.microsoft.com/office/drawing/2014/main" id="{90164129-1C48-FBC1-72C8-F04E7FB1E5E4}"/>
              </a:ext>
            </a:extLst>
          </p:cNvPr>
          <p:cNvSpPr/>
          <p:nvPr/>
        </p:nvSpPr>
        <p:spPr>
          <a:xfrm>
            <a:off x="0" y="0"/>
            <a:ext cx="12192000" cy="1608881"/>
          </a:xfrm>
          <a:prstGeom prst="rect">
            <a:avLst/>
          </a:prstGeom>
          <a:solidFill>
            <a:srgbClr val="B20E10"/>
          </a:solidFill>
          <a:ln>
            <a:solidFill>
              <a:srgbClr val="B20E1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B75B0E24-2347-3035-D553-B91813571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1658"/>
            <a:ext cx="10515600" cy="1325563"/>
          </a:xfrm>
        </p:spPr>
        <p:txBody>
          <a:bodyPr/>
          <a:lstStyle/>
          <a:p>
            <a:r>
              <a:rPr lang="it-IT" dirty="0">
                <a:solidFill>
                  <a:schemeClr val="bg1"/>
                </a:solidFill>
              </a:rPr>
              <a:t>Regressione sul prezzo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59CF6483-BEBF-D181-21E3-DA009669F55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398847"/>
                <a:ext cx="10515600" cy="3984215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00000"/>
                  </a:lnSpc>
                </a:pPr>
                <a:r>
                  <a:rPr lang="it-IT" sz="2400" dirty="0"/>
                  <a:t>Modello lineare normale</a:t>
                </a:r>
              </a:p>
              <a:p>
                <a:pPr>
                  <a:lnSpc>
                    <a:spcPct val="100000"/>
                  </a:lnSpc>
                </a:pPr>
                <a:r>
                  <a:rPr lang="it-IT" sz="2400" dirty="0"/>
                  <a:t>Albero e MERT</a:t>
                </a:r>
              </a:p>
              <a:p>
                <a:pPr>
                  <a:lnSpc>
                    <a:spcPct val="100000"/>
                  </a:lnSpc>
                </a:pPr>
                <a:r>
                  <a:rPr lang="it-IT" sz="2400" dirty="0"/>
                  <a:t>RF e MERF</a:t>
                </a:r>
              </a:p>
              <a:p>
                <a:pPr>
                  <a:lnSpc>
                    <a:spcPct val="100000"/>
                  </a:lnSpc>
                </a:pPr>
                <a:r>
                  <a:rPr lang="it-IT" sz="2400" dirty="0"/>
                  <a:t>XGB</a:t>
                </a:r>
              </a:p>
              <a:p>
                <a:pPr>
                  <a:lnSpc>
                    <a:spcPct val="100000"/>
                  </a:lnSpc>
                </a:pPr>
                <a:r>
                  <a:rPr lang="en-US" sz="2400" dirty="0"/>
                  <a:t>I </a:t>
                </a:r>
                <a:r>
                  <a:rPr lang="en-US" sz="2400" dirty="0" err="1"/>
                  <a:t>modelli</a:t>
                </a:r>
                <a:r>
                  <a:rPr lang="en-US" sz="2400" dirty="0"/>
                  <a:t> </a:t>
                </a:r>
                <a:r>
                  <a:rPr lang="en-US" sz="2400" dirty="0" err="1"/>
                  <a:t>sono</a:t>
                </a:r>
                <a:r>
                  <a:rPr lang="en-US" sz="2400" dirty="0"/>
                  <a:t> </a:t>
                </a:r>
                <a:r>
                  <a:rPr lang="en-US" sz="2400" dirty="0" err="1"/>
                  <a:t>stati</a:t>
                </a:r>
                <a:r>
                  <a:rPr lang="en-US" sz="2400" dirty="0"/>
                  <a:t> </a:t>
                </a:r>
                <a:r>
                  <a:rPr lang="en-US" sz="2400" dirty="0" err="1"/>
                  <a:t>valutati</a:t>
                </a:r>
                <a:r>
                  <a:rPr lang="en-US" sz="2400" dirty="0"/>
                  <a:t> con l’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2400" i="1"/>
                        </m:ctrlPr>
                      </m:sSupPr>
                      <m:e>
                        <m:r>
                          <a:rPr lang="it-IT" sz="2400" i="1"/>
                          <m:t>𝑅</m:t>
                        </m:r>
                      </m:e>
                      <m:sup>
                        <m:r>
                          <a:rPr lang="it-IT" sz="2400" i="1"/>
                          <m:t>2</m:t>
                        </m:r>
                      </m:sup>
                    </m:sSup>
                  </m:oMath>
                </a14:m>
                <a:r>
                  <a:rPr lang="it-IT" sz="2400" dirty="0"/>
                  <a:t> calcolato sull’insieme di verifica</a:t>
                </a:r>
                <a:endParaRPr lang="en-US" sz="2400" dirty="0"/>
              </a:p>
            </p:txBody>
          </p:sp>
        </mc:Choice>
        <mc:Fallback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59CF6483-BEBF-D181-21E3-DA009669F55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398847"/>
                <a:ext cx="10515600" cy="3984215"/>
              </a:xfrm>
              <a:blipFill>
                <a:blip r:embed="rId2"/>
                <a:stretch>
                  <a:fillRect l="-812" t="-1225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8562F3D1-B05C-3E72-877B-203A29B606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6786" y="207851"/>
            <a:ext cx="2656114" cy="1193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53073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CCF6C-A3CC-E7EF-564C-4C6A511DA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tangolo 3">
            <a:extLst>
              <a:ext uri="{FF2B5EF4-FFF2-40B4-BE49-F238E27FC236}">
                <a16:creationId xmlns:a16="http://schemas.microsoft.com/office/drawing/2014/main" id="{DB1A549C-ED00-5B4D-238F-142B1F22077F}"/>
              </a:ext>
            </a:extLst>
          </p:cNvPr>
          <p:cNvSpPr/>
          <p:nvPr/>
        </p:nvSpPr>
        <p:spPr>
          <a:xfrm>
            <a:off x="0" y="0"/>
            <a:ext cx="12192000" cy="1608881"/>
          </a:xfrm>
          <a:prstGeom prst="rect">
            <a:avLst/>
          </a:prstGeom>
          <a:solidFill>
            <a:srgbClr val="B20E10"/>
          </a:solidFill>
          <a:ln>
            <a:solidFill>
              <a:srgbClr val="B20E1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20FC44BD-9DC8-24B4-0CF0-466EEAD693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1658"/>
            <a:ext cx="10515600" cy="1325563"/>
          </a:xfrm>
        </p:spPr>
        <p:txBody>
          <a:bodyPr/>
          <a:lstStyle/>
          <a:p>
            <a:r>
              <a:rPr lang="it-IT" dirty="0">
                <a:solidFill>
                  <a:schemeClr val="bg1"/>
                </a:solidFill>
              </a:rPr>
              <a:t>Albero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870F360B-5C41-868A-8D75-8CDC96E5028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389517"/>
                <a:ext cx="10515600" cy="3984215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00000"/>
                  </a:lnSpc>
                </a:pPr>
                <a:r>
                  <a:rPr lang="it-IT" sz="2400" dirty="0">
                    <a:latin typeface="Aptos (Corpo)"/>
                  </a:rPr>
                  <a:t>Albero classico:</a:t>
                </a:r>
                <a:endParaRPr lang="it-IT" sz="2400" i="1" dirty="0">
                  <a:latin typeface="Aptos (Corpo)"/>
                </a:endParaRPr>
              </a:p>
              <a:p>
                <a:pPr lvl="1">
                  <a:lnSpc>
                    <a:spcPct val="100000"/>
                  </a:lnSpc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it-IT" i="1" smtClean="0">
                            <a:latin typeface="Aptos (Corpo)"/>
                          </a:rPr>
                        </m:ctrlPr>
                      </m:sSupPr>
                      <m:e>
                        <m:r>
                          <a:rPr lang="it-IT" b="0" i="1" smtClean="0">
                            <a:latin typeface="Aptos (Corpo)"/>
                          </a:rPr>
                          <m:t>𝑅</m:t>
                        </m:r>
                      </m:e>
                      <m:sup>
                        <m:r>
                          <a:rPr lang="it-IT" b="0" i="1" smtClean="0">
                            <a:latin typeface="Aptos (Corpo)"/>
                          </a:rPr>
                          <m:t>2</m:t>
                        </m:r>
                      </m:sup>
                    </m:sSup>
                  </m:oMath>
                </a14:m>
                <a:r>
                  <a:rPr lang="it-IT" dirty="0">
                    <a:latin typeface="Aptos (Corpo)"/>
                  </a:rPr>
                  <a:t> = 0.28 con tuning in CI e regola dell’1-s.e.</a:t>
                </a:r>
              </a:p>
              <a:p>
                <a:pPr>
                  <a:lnSpc>
                    <a:spcPct val="100000"/>
                  </a:lnSpc>
                </a:pPr>
                <a:r>
                  <a:rPr lang="it-IT" sz="2400" dirty="0">
                    <a:latin typeface="Aptos (Corpo)"/>
                  </a:rPr>
                  <a:t>MERT con l’effetto gerarchico su Brand e su </a:t>
                </a:r>
                <a:r>
                  <a:rPr lang="it-IT" sz="2400" dirty="0" err="1">
                    <a:latin typeface="Aptos (Corpo)"/>
                  </a:rPr>
                  <a:t>Condition</a:t>
                </a:r>
                <a:r>
                  <a:rPr lang="it-IT" sz="2400" dirty="0">
                    <a:latin typeface="Aptos (Corpo)"/>
                  </a:rPr>
                  <a:t>:</a:t>
                </a:r>
              </a:p>
              <a:p>
                <a:pPr lvl="1">
                  <a:lnSpc>
                    <a:spcPct val="100000"/>
                  </a:lnSpc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it-IT" i="1">
                            <a:latin typeface="Aptos (Corpo)"/>
                          </a:rPr>
                        </m:ctrlPr>
                      </m:sSupPr>
                      <m:e>
                        <m:r>
                          <a:rPr lang="it-IT" i="1">
                            <a:latin typeface="Aptos (Corpo)"/>
                          </a:rPr>
                          <m:t>𝑅</m:t>
                        </m:r>
                      </m:e>
                      <m:sup>
                        <m:r>
                          <a:rPr lang="it-IT" i="1">
                            <a:latin typeface="Aptos (Corpo)"/>
                          </a:rPr>
                          <m:t>2</m:t>
                        </m:r>
                      </m:sup>
                    </m:sSup>
                  </m:oMath>
                </a14:m>
                <a:r>
                  <a:rPr lang="it-IT" dirty="0">
                    <a:latin typeface="Aptos (Corpo)"/>
                  </a:rPr>
                  <a:t> = 0.37 con tuning in CI.</a:t>
                </a:r>
              </a:p>
            </p:txBody>
          </p:sp>
        </mc:Choice>
        <mc:Fallback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870F360B-5C41-868A-8D75-8CDC96E502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389517"/>
                <a:ext cx="10515600" cy="3984215"/>
              </a:xfrm>
              <a:blipFill>
                <a:blip r:embed="rId2"/>
                <a:stretch>
                  <a:fillRect l="-812" t="-122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D6E17B46-01B4-C7F4-56A8-1E5899D359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6786" y="207851"/>
            <a:ext cx="2656114" cy="1193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42720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C5B47A-9D62-5D04-CD57-E2D41DDD6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tangolo 3">
            <a:extLst>
              <a:ext uri="{FF2B5EF4-FFF2-40B4-BE49-F238E27FC236}">
                <a16:creationId xmlns:a16="http://schemas.microsoft.com/office/drawing/2014/main" id="{304C86F6-6F4C-901E-A8F8-6F8B91BCC25C}"/>
              </a:ext>
            </a:extLst>
          </p:cNvPr>
          <p:cNvSpPr/>
          <p:nvPr/>
        </p:nvSpPr>
        <p:spPr>
          <a:xfrm>
            <a:off x="0" y="0"/>
            <a:ext cx="12192000" cy="1608881"/>
          </a:xfrm>
          <a:prstGeom prst="rect">
            <a:avLst/>
          </a:prstGeom>
          <a:solidFill>
            <a:srgbClr val="B20E10"/>
          </a:solidFill>
          <a:ln>
            <a:solidFill>
              <a:srgbClr val="B20E1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86937B3A-F4BF-AB8C-B7B2-CA81C2C1BA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1658"/>
            <a:ext cx="10515600" cy="1325563"/>
          </a:xfrm>
        </p:spPr>
        <p:txBody>
          <a:bodyPr/>
          <a:lstStyle/>
          <a:p>
            <a:r>
              <a:rPr lang="it-IT" dirty="0">
                <a:solidFill>
                  <a:schemeClr val="bg1"/>
                </a:solidFill>
              </a:rPr>
              <a:t>Random Forest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A94C499B-B73A-36EC-FB12-7BDC3908784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389517"/>
                <a:ext cx="3941618" cy="3984215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00000"/>
                  </a:lnSpc>
                </a:pPr>
                <a:r>
                  <a:rPr lang="it-IT" sz="2400" dirty="0">
                    <a:latin typeface="Aptos (Corpo)"/>
                  </a:rPr>
                  <a:t>Tuning con l’errore OOB</a:t>
                </a:r>
                <a:endParaRPr lang="it-IT" sz="2400" i="1" dirty="0">
                  <a:latin typeface="Aptos (Corpo)"/>
                </a:endParaRPr>
              </a:p>
              <a:p>
                <a:pPr>
                  <a:lnSpc>
                    <a:spcPct val="100000"/>
                  </a:lnSpc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it-IT" sz="2400" i="1" smtClean="0">
                            <a:latin typeface="Aptos (Corpo)"/>
                          </a:rPr>
                        </m:ctrlPr>
                      </m:sSupPr>
                      <m:e>
                        <m:r>
                          <a:rPr lang="it-IT" sz="2400" b="0" i="1" smtClean="0">
                            <a:latin typeface="Aptos (Corpo)"/>
                          </a:rPr>
                          <m:t>𝑅</m:t>
                        </m:r>
                      </m:e>
                      <m:sup>
                        <m:r>
                          <a:rPr lang="it-IT" sz="2400" b="0" i="1" smtClean="0">
                            <a:latin typeface="Aptos (Corpo)"/>
                          </a:rPr>
                          <m:t>2</m:t>
                        </m:r>
                      </m:sup>
                    </m:sSup>
                  </m:oMath>
                </a14:m>
                <a:r>
                  <a:rPr lang="it-IT" sz="2400" dirty="0">
                    <a:latin typeface="Aptos (Corpo)"/>
                  </a:rPr>
                  <a:t> = 0.40</a:t>
                </a:r>
              </a:p>
            </p:txBody>
          </p:sp>
        </mc:Choice>
        <mc:Fallback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A94C499B-B73A-36EC-FB12-7BDC390878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389517"/>
                <a:ext cx="3941618" cy="3984215"/>
              </a:xfrm>
              <a:blipFill>
                <a:blip r:embed="rId2"/>
                <a:stretch>
                  <a:fillRect l="-2167" t="-122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18DFA0B4-A314-21C1-2131-385E2C1DAA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6786" y="207851"/>
            <a:ext cx="2656114" cy="1193176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9A8370D9-3E64-DA20-D8FF-63790B55371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2566" y="1816732"/>
            <a:ext cx="6590334" cy="4683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3123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9FCB4D-303A-F08D-C6FF-599080FFCB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tangolo 3">
            <a:extLst>
              <a:ext uri="{FF2B5EF4-FFF2-40B4-BE49-F238E27FC236}">
                <a16:creationId xmlns:a16="http://schemas.microsoft.com/office/drawing/2014/main" id="{DD15B144-0D44-B7FC-2E55-62C45983E3EE}"/>
              </a:ext>
            </a:extLst>
          </p:cNvPr>
          <p:cNvSpPr/>
          <p:nvPr/>
        </p:nvSpPr>
        <p:spPr>
          <a:xfrm>
            <a:off x="0" y="0"/>
            <a:ext cx="12192000" cy="1608881"/>
          </a:xfrm>
          <a:prstGeom prst="rect">
            <a:avLst/>
          </a:prstGeom>
          <a:solidFill>
            <a:srgbClr val="B20E10"/>
          </a:solidFill>
          <a:ln>
            <a:solidFill>
              <a:srgbClr val="B20E1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2DF0E252-A8D9-6F31-1708-DF92CF9D95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1658"/>
            <a:ext cx="10515600" cy="1325563"/>
          </a:xfrm>
        </p:spPr>
        <p:txBody>
          <a:bodyPr/>
          <a:lstStyle/>
          <a:p>
            <a:r>
              <a:rPr lang="it-IT" dirty="0">
                <a:solidFill>
                  <a:schemeClr val="bg1"/>
                </a:solidFill>
              </a:rPr>
              <a:t>GBM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877CEB8A-2588-BCEF-9BCB-C7A21C5809B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2389517"/>
                <a:ext cx="9843655" cy="3984215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00000"/>
                  </a:lnSpc>
                </a:pPr>
                <a:r>
                  <a:rPr lang="it-IT" sz="2400" dirty="0">
                    <a:latin typeface="Aptos (Corpo)"/>
                  </a:rPr>
                  <a:t>Tuning in CI</a:t>
                </a:r>
                <a:endParaRPr lang="it-IT" sz="2400" i="1" dirty="0">
                  <a:latin typeface="Aptos (Corpo)"/>
                </a:endParaRPr>
              </a:p>
              <a:p>
                <a:pPr>
                  <a:lnSpc>
                    <a:spcPct val="100000"/>
                  </a:lnSpc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it-IT" sz="2400" i="1" smtClean="0">
                            <a:latin typeface="Aptos (Corpo)"/>
                          </a:rPr>
                        </m:ctrlPr>
                      </m:sSupPr>
                      <m:e>
                        <m:r>
                          <a:rPr lang="it-IT" sz="2400" b="0" i="1" smtClean="0">
                            <a:latin typeface="Aptos (Corpo)"/>
                          </a:rPr>
                          <m:t>𝑅</m:t>
                        </m:r>
                      </m:e>
                      <m:sup>
                        <m:r>
                          <a:rPr lang="it-IT" sz="2400" b="0" i="1" smtClean="0">
                            <a:latin typeface="Aptos (Corpo)"/>
                          </a:rPr>
                          <m:t>2</m:t>
                        </m:r>
                      </m:sup>
                    </m:sSup>
                  </m:oMath>
                </a14:m>
                <a:r>
                  <a:rPr lang="it-IT" sz="2400" dirty="0">
                    <a:latin typeface="Aptos (Corpo)"/>
                  </a:rPr>
                  <a:t> = 0.49</a:t>
                </a:r>
              </a:p>
            </p:txBody>
          </p:sp>
        </mc:Choice>
        <mc:Fallback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877CEB8A-2588-BCEF-9BCB-C7A21C5809B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2389517"/>
                <a:ext cx="9843655" cy="3984215"/>
              </a:xfrm>
              <a:blipFill>
                <a:blip r:embed="rId2"/>
                <a:stretch>
                  <a:fillRect l="-805" t="-122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ED8F6B47-630E-27A7-F0BC-8568A950F0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6786" y="207851"/>
            <a:ext cx="2656114" cy="1193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30017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5EB66F-5117-88FF-C4BD-60F8E84929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tangolo 3">
            <a:extLst>
              <a:ext uri="{FF2B5EF4-FFF2-40B4-BE49-F238E27FC236}">
                <a16:creationId xmlns:a16="http://schemas.microsoft.com/office/drawing/2014/main" id="{9CABDBA3-0D69-BFC4-D765-33C5371EDC90}"/>
              </a:ext>
            </a:extLst>
          </p:cNvPr>
          <p:cNvSpPr/>
          <p:nvPr/>
        </p:nvSpPr>
        <p:spPr>
          <a:xfrm>
            <a:off x="0" y="0"/>
            <a:ext cx="12192000" cy="1608881"/>
          </a:xfrm>
          <a:prstGeom prst="rect">
            <a:avLst/>
          </a:prstGeom>
          <a:solidFill>
            <a:srgbClr val="B20E10"/>
          </a:solidFill>
          <a:ln>
            <a:solidFill>
              <a:srgbClr val="B20E1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CBA27967-28B7-4265-625B-86D7645F2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1658"/>
            <a:ext cx="10515600" cy="1325563"/>
          </a:xfrm>
        </p:spPr>
        <p:txBody>
          <a:bodyPr/>
          <a:lstStyle/>
          <a:p>
            <a:r>
              <a:rPr lang="it-IT" dirty="0" err="1">
                <a:solidFill>
                  <a:schemeClr val="bg1"/>
                </a:solidFill>
              </a:rPr>
              <a:t>Gradient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Boosting</a:t>
            </a:r>
            <a:r>
              <a:rPr lang="it-IT" dirty="0">
                <a:solidFill>
                  <a:schemeClr val="bg1"/>
                </a:solidFill>
              </a:rPr>
              <a:t> (1)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FDBF15E4-0334-9714-BF80-8B8711C6910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2389517"/>
                <a:ext cx="9843655" cy="3984215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00000"/>
                  </a:lnSpc>
                </a:pPr>
                <a:r>
                  <a:rPr lang="it-IT" sz="2400" dirty="0">
                    <a:latin typeface="Aptos (Corpo)"/>
                  </a:rPr>
                  <a:t>Effetto gerarchico sul Brand</a:t>
                </a:r>
              </a:p>
              <a:p>
                <a:pPr>
                  <a:lnSpc>
                    <a:spcPct val="100000"/>
                  </a:lnSpc>
                </a:pPr>
                <a:r>
                  <a:rPr lang="it-IT" sz="2400" dirty="0">
                    <a:latin typeface="Aptos (Corpo)"/>
                  </a:rPr>
                  <a:t>Tuning con l’errore OOB</a:t>
                </a:r>
                <a:endParaRPr lang="it-IT" sz="2400" i="1" dirty="0">
                  <a:latin typeface="Aptos (Corpo)"/>
                </a:endParaRPr>
              </a:p>
              <a:p>
                <a:pPr>
                  <a:lnSpc>
                    <a:spcPct val="100000"/>
                  </a:lnSpc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it-IT" sz="2400" i="1" smtClean="0">
                            <a:latin typeface="Aptos (Corpo)"/>
                          </a:rPr>
                        </m:ctrlPr>
                      </m:sSupPr>
                      <m:e>
                        <m:r>
                          <a:rPr lang="it-IT" sz="2400" b="0" i="1" smtClean="0">
                            <a:latin typeface="Aptos (Corpo)"/>
                          </a:rPr>
                          <m:t>𝑅</m:t>
                        </m:r>
                      </m:e>
                      <m:sup>
                        <m:r>
                          <a:rPr lang="it-IT" sz="2400" b="0" i="1" smtClean="0">
                            <a:latin typeface="Aptos (Corpo)"/>
                          </a:rPr>
                          <m:t>2</m:t>
                        </m:r>
                      </m:sup>
                    </m:sSup>
                  </m:oMath>
                </a14:m>
                <a:r>
                  <a:rPr lang="it-IT" sz="2400" dirty="0">
                    <a:latin typeface="Aptos (Corpo)"/>
                  </a:rPr>
                  <a:t> </a:t>
                </a:r>
                <a:r>
                  <a:rPr lang="it-IT" sz="2400">
                    <a:latin typeface="Aptos (Corpo)"/>
                  </a:rPr>
                  <a:t>= 0.47</a:t>
                </a:r>
                <a:endParaRPr lang="it-IT" sz="2400" dirty="0">
                  <a:latin typeface="Aptos (Corpo)"/>
                </a:endParaRPr>
              </a:p>
            </p:txBody>
          </p:sp>
        </mc:Choice>
        <mc:Fallback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FDBF15E4-0334-9714-BF80-8B8711C6910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2389517"/>
                <a:ext cx="9843655" cy="3984215"/>
              </a:xfrm>
              <a:blipFill>
                <a:blip r:embed="rId2"/>
                <a:stretch>
                  <a:fillRect l="-805" t="-122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D81D1D3B-89FD-210D-DFDA-A9772F393F0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6786" y="207851"/>
            <a:ext cx="2656114" cy="1193176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D9153342-AAD1-1107-362D-DDA4E8071D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0091" y="1675072"/>
            <a:ext cx="6965655" cy="4950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68583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8CF947-728D-FAE8-FBDF-DFAAEC56F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tangolo 3">
            <a:extLst>
              <a:ext uri="{FF2B5EF4-FFF2-40B4-BE49-F238E27FC236}">
                <a16:creationId xmlns:a16="http://schemas.microsoft.com/office/drawing/2014/main" id="{E9620125-7A8A-7988-ED57-A0A0EDF4239D}"/>
              </a:ext>
            </a:extLst>
          </p:cNvPr>
          <p:cNvSpPr/>
          <p:nvPr/>
        </p:nvSpPr>
        <p:spPr>
          <a:xfrm>
            <a:off x="0" y="0"/>
            <a:ext cx="12192000" cy="1608881"/>
          </a:xfrm>
          <a:prstGeom prst="rect">
            <a:avLst/>
          </a:prstGeom>
          <a:solidFill>
            <a:srgbClr val="B20E10"/>
          </a:solidFill>
          <a:ln>
            <a:solidFill>
              <a:srgbClr val="B20E1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1C122C7-80D2-70B7-9CF4-7F6D340992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1658"/>
            <a:ext cx="10515600" cy="1325563"/>
          </a:xfrm>
        </p:spPr>
        <p:txBody>
          <a:bodyPr/>
          <a:lstStyle/>
          <a:p>
            <a:r>
              <a:rPr lang="it-IT" dirty="0" err="1">
                <a:solidFill>
                  <a:schemeClr val="bg1"/>
                </a:solidFill>
              </a:rPr>
              <a:t>Gradient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Boosting</a:t>
            </a:r>
            <a:r>
              <a:rPr lang="it-IT" dirty="0">
                <a:solidFill>
                  <a:schemeClr val="bg1"/>
                </a:solidFill>
              </a:rPr>
              <a:t> (2)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1EBF418-5455-BA9B-D639-01060CC591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2389517"/>
            <a:ext cx="9843655" cy="3984215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it-IT" sz="2400" dirty="0">
                <a:latin typeface="Aptos (Corpo)"/>
              </a:rPr>
              <a:t>Interpretazione grazie agli effetti marginali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3D2621D-D6C6-6CD3-662C-78F46247F8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6786" y="207851"/>
            <a:ext cx="2656114" cy="1193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55808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>
            <a:extLst>
              <a:ext uri="{FF2B5EF4-FFF2-40B4-BE49-F238E27FC236}">
                <a16:creationId xmlns:a16="http://schemas.microsoft.com/office/drawing/2014/main" id="{C6332EAE-76C9-01BF-D28A-E7C838184B5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it-IT"/>
          </a:p>
        </p:txBody>
      </p:sp>
      <p:pic>
        <p:nvPicPr>
          <p:cNvPr id="3074" name="Picture 2" descr="University of Padua Logo (UNIPD) - PNG Logo Vector Brand Downloads (SVG,  EPS)">
            <a:extLst>
              <a:ext uri="{FF2B5EF4-FFF2-40B4-BE49-F238E27FC236}">
                <a16:creationId xmlns:a16="http://schemas.microsoft.com/office/drawing/2014/main" id="{64A275C1-F4A2-290F-F6A1-7648449F15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29207" y="152321"/>
            <a:ext cx="2933586" cy="13147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ttangolo 7">
            <a:extLst>
              <a:ext uri="{FF2B5EF4-FFF2-40B4-BE49-F238E27FC236}">
                <a16:creationId xmlns:a16="http://schemas.microsoft.com/office/drawing/2014/main" id="{FA98DAEA-AD18-49BF-7C7C-B9599DDEF7AB}"/>
              </a:ext>
            </a:extLst>
          </p:cNvPr>
          <p:cNvSpPr/>
          <p:nvPr/>
        </p:nvSpPr>
        <p:spPr>
          <a:xfrm>
            <a:off x="0" y="1600200"/>
            <a:ext cx="12192000" cy="5257800"/>
          </a:xfrm>
          <a:prstGeom prst="rect">
            <a:avLst/>
          </a:prstGeom>
          <a:solidFill>
            <a:srgbClr val="B20E10"/>
          </a:solidFill>
          <a:ln>
            <a:solidFill>
              <a:srgbClr val="B20E1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9" name="CasellaDiTesto 48">
            <a:extLst>
              <a:ext uri="{FF2B5EF4-FFF2-40B4-BE49-F238E27FC236}">
                <a16:creationId xmlns:a16="http://schemas.microsoft.com/office/drawing/2014/main" id="{73F1C0B9-C927-035A-1693-4A6D9CF84BF1}"/>
              </a:ext>
            </a:extLst>
          </p:cNvPr>
          <p:cNvSpPr txBox="1"/>
          <p:nvPr/>
        </p:nvSpPr>
        <p:spPr>
          <a:xfrm>
            <a:off x="3328010" y="3814823"/>
            <a:ext cx="55359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i="1" dirty="0">
                <a:solidFill>
                  <a:schemeClr val="bg1"/>
                </a:solidFill>
              </a:rPr>
              <a:t>Thank you for your attention!</a:t>
            </a:r>
            <a:endParaRPr lang="it-IT" sz="4000" i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9313170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9287</TotalTime>
  <Words>128</Words>
  <Application>Microsoft Office PowerPoint</Application>
  <PresentationFormat>Widescreen</PresentationFormat>
  <Paragraphs>34</Paragraphs>
  <Slides>9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9</vt:i4>
      </vt:variant>
    </vt:vector>
  </HeadingPairs>
  <TitlesOfParts>
    <vt:vector size="14" baseType="lpstr">
      <vt:lpstr>Aptos</vt:lpstr>
      <vt:lpstr>Aptos (Corpo)</vt:lpstr>
      <vt:lpstr>Aptos Display</vt:lpstr>
      <vt:lpstr>Arial</vt:lpstr>
      <vt:lpstr>Tema di Office</vt:lpstr>
      <vt:lpstr>Presentazione standard di PowerPoint</vt:lpstr>
      <vt:lpstr>Scaletta</vt:lpstr>
      <vt:lpstr>Regressione sul prezzo</vt:lpstr>
      <vt:lpstr>Albero</vt:lpstr>
      <vt:lpstr>Random Forest</vt:lpstr>
      <vt:lpstr>GBM</vt:lpstr>
      <vt:lpstr>Gradient Boosting (1)</vt:lpstr>
      <vt:lpstr>Gradient Boosting (2)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Laura Martini</dc:creator>
  <cp:lastModifiedBy>Luca Varotto</cp:lastModifiedBy>
  <cp:revision>3</cp:revision>
  <dcterms:created xsi:type="dcterms:W3CDTF">2024-03-24T09:51:20Z</dcterms:created>
  <dcterms:modified xsi:type="dcterms:W3CDTF">2026-06-02T13:12:56Z</dcterms:modified>
</cp:coreProperties>
</file>