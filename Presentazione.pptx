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6" r:id="rId4"/>
    <p:sldId id="276" r:id="rId5"/>
    <p:sldId id="277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3" r:id="rId14"/>
    <p:sldId id="294" r:id="rId15"/>
    <p:sldId id="295" r:id="rId16"/>
    <p:sldId id="283" r:id="rId17"/>
    <p:sldId id="278" r:id="rId18"/>
    <p:sldId id="279" r:id="rId19"/>
    <p:sldId id="280" r:id="rId20"/>
    <p:sldId id="281" r:id="rId21"/>
    <p:sldId id="282" r:id="rId22"/>
    <p:sldId id="284" r:id="rId23"/>
    <p:sldId id="275" r:id="rId2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0E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8" autoAdjust="0"/>
    <p:restoredTop sz="94660"/>
  </p:normalViewPr>
  <p:slideViewPr>
    <p:cSldViewPr snapToGrid="0">
      <p:cViewPr varScale="1">
        <p:scale>
          <a:sx n="82" d="100"/>
          <a:sy n="82" d="100"/>
        </p:scale>
        <p:origin x="7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714C89-CE30-6886-3183-24BE22AAF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1B28D07-28F9-08C3-8123-7B620F39A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E735DD-477C-0EC2-F8B4-2EEFB581D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1134A0-8081-213B-EF3E-DE378CAC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3461F13-68D6-A39C-BF6D-C84222FC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5117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9C8A8D-4AE2-998C-C4D5-A750C8EF7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C1A763-29B2-289F-C9C5-FA339B398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75A251E-D52F-653A-ACAE-5CCE2A359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92C7CE-3614-95FC-3470-C7549FC5C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8F3A68E-1A4B-CBFB-1E9B-9BB234117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3890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F4613F-682A-E57E-11E2-766D8A5F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2B0139C-8C3F-5CF4-413F-AB3D34919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7265E7-A0B0-59CD-5EAE-A66636841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9B0C2FB-DA1F-BB90-6A14-ED3D1A71A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AE58AE-DD65-28F7-1225-10AC40A03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8386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FB4B48-73CF-D9E6-5710-397861022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A277B0-8167-E7BF-C4BF-56821CA5D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1331CE1-21D6-C773-9EBA-944E9E48B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19A87A1-30AC-17A1-DDAB-4364E8946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66F6DE-272A-DE6D-0A48-1FF58B085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71C7A8-577B-076F-F6D5-DDBA681F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6865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94713C-5EB0-F89C-3B9B-321F3AD6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3132C54-404E-BFB3-B51A-BF88A418B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DC91491-7870-83DB-BAE4-506449985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561E8E0-ACA0-FC5A-0C28-ED26291F5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40B1F6B-3D47-6CC4-472A-AE94461688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BAD08B4-F81B-1A45-8CAF-FD4A2E130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819FD47-B6F2-CD89-5695-CEF063B5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E540A31-B3D3-782D-C305-33778D3F2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280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85D408-E57A-4123-4671-27C9F96D7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9C53C91-5961-C847-8597-BF1EB77E9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068331C-F674-961C-EA8E-7FF034E37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D4A4437-2047-88E0-4F80-35882677A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612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0C49BE1-E252-820D-19BF-F1F241E54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C7E70B1-FC88-4015-2147-34CB2931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CF18611-5E04-919A-7B26-A969267F1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472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D52A1D-9699-C50B-E435-368C890F3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033487-AC32-DC61-F5B0-A73A5DCC8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5C539FA-E7D7-2760-C9E1-99BD9496A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3B9F5D-D384-DC34-8B7E-B6B6DDD02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157E4CC-56F9-8D9A-8DF5-7195E3287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FD4A493-FD21-DB6D-C718-8F847EE31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1627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F3C08A-4C3C-60A9-54D6-8E95ED5C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F99D12D-C97C-B554-A58C-2D1B74578D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A56A22-0BDA-0116-5DFA-18A54EEB1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184CFE3-A177-F05C-D7E2-B17B6EBF3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3D1FEEA-C036-0552-E551-49AFBB96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9211C3B-CAFD-2720-B6E1-B16E24A7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9684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22975E-E247-2B16-7744-975B8B096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FE2EF9E-053D-F915-81A1-A13823D2F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934AF8-F680-2744-131D-90E1A3C31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B89CC2D-481A-6980-8003-45837150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F7F5DA-5183-F108-7C19-21B749DC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1838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286EBF0-2A0C-F3EA-9A56-745256622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C4694A5-B1A2-A3F1-1318-2FB111AB4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634B6A-ADC4-F43E-3D92-3BECE1406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90DC47E-15DF-5DD2-58C2-528644583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D2EB3F8-47BB-33AA-5D0E-2FA562573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600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18ADBB7-9FE2-1272-F000-94113929A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965471F-190B-6836-099A-DCA643A01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BA70068-F206-0A5A-8C3C-926604661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DAA61-DEA4-43E8-97BC-71371D31AB97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691B0A-E348-F555-AC57-2E5EE3BE6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43D389-FB84-BD1C-19EC-AFABC811E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B8DD3-FC02-4367-9757-14EB324B9BE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729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microsoft.com/office/2007/relationships/hdphoto" Target="../media/hdphoto2.wdp"/><Relationship Id="rId10" Type="http://schemas.microsoft.com/office/2007/relationships/hdphoto" Target="../media/hdphoto4.wdp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C6332EAE-76C9-01BF-D28A-E7C838184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3074" name="Picture 2" descr="University of Padua Logo (UNIPD) - PNG Logo Vector Brand Downloads (SVG,  EPS)">
            <a:extLst>
              <a:ext uri="{FF2B5EF4-FFF2-40B4-BE49-F238E27FC236}">
                <a16:creationId xmlns:a16="http://schemas.microsoft.com/office/drawing/2014/main" id="{64A275C1-F4A2-290F-F6A1-7648449F1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207" y="152321"/>
            <a:ext cx="2933586" cy="1314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FA98DAEA-AD18-49BF-7C7C-B9599DDEF7AB}"/>
              </a:ext>
            </a:extLst>
          </p:cNvPr>
          <p:cNvSpPr/>
          <p:nvPr/>
        </p:nvSpPr>
        <p:spPr>
          <a:xfrm>
            <a:off x="0" y="1600200"/>
            <a:ext cx="12192000" cy="5257800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73F1C0B9-C927-035A-1693-4A6D9CF84BF1}"/>
              </a:ext>
            </a:extLst>
          </p:cNvPr>
          <p:cNvSpPr txBox="1"/>
          <p:nvPr/>
        </p:nvSpPr>
        <p:spPr>
          <a:xfrm>
            <a:off x="72341" y="2812207"/>
            <a:ext cx="120473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GROUP PROJECT</a:t>
            </a: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3600" i="1" dirty="0">
                <a:solidFill>
                  <a:schemeClr val="bg1"/>
                </a:solidFill>
              </a:rPr>
              <a:t>Statistical Methods for High Dimensional Data</a:t>
            </a:r>
            <a:endParaRPr lang="it-IT" sz="3600" i="1" dirty="0">
              <a:solidFill>
                <a:schemeClr val="bg1"/>
              </a:solidFill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9F8EAAE9-C733-C888-332E-0422D73FCF5F}"/>
              </a:ext>
            </a:extLst>
          </p:cNvPr>
          <p:cNvSpPr txBox="1"/>
          <p:nvPr/>
        </p:nvSpPr>
        <p:spPr>
          <a:xfrm>
            <a:off x="9426714" y="5390913"/>
            <a:ext cx="2905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solidFill>
                  <a:schemeClr val="bg1"/>
                </a:solidFill>
              </a:rPr>
              <a:t>Jacopo Gasparoni</a:t>
            </a:r>
          </a:p>
          <a:p>
            <a:r>
              <a:rPr lang="it-IT" i="1" dirty="0">
                <a:solidFill>
                  <a:schemeClr val="bg1"/>
                </a:solidFill>
              </a:rPr>
              <a:t>Laura Martini</a:t>
            </a:r>
          </a:p>
          <a:p>
            <a:r>
              <a:rPr lang="it-IT" i="1" dirty="0">
                <a:solidFill>
                  <a:schemeClr val="bg1"/>
                </a:solidFill>
              </a:rPr>
              <a:t>Vittorio Valle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E2B5CECF-A5B6-BECB-53B1-D4EFF1259DFD}"/>
              </a:ext>
            </a:extLst>
          </p:cNvPr>
          <p:cNvSpPr txBox="1"/>
          <p:nvPr/>
        </p:nvSpPr>
        <p:spPr>
          <a:xfrm>
            <a:off x="4772193" y="6325565"/>
            <a:ext cx="264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Academic Year 2025/2026</a:t>
            </a:r>
          </a:p>
        </p:txBody>
      </p:sp>
    </p:spTree>
    <p:extLst>
      <p:ext uri="{BB962C8B-B14F-4D97-AF65-F5344CB8AC3E}">
        <p14:creationId xmlns:p14="http://schemas.microsoft.com/office/powerpoint/2010/main" val="358429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0F607097-02DE-0051-161B-E1845BADE88B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2CB8FFD-6E9A-6542-A5E0-419EAFC59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Table of contents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307DDC-85C9-1260-8223-FE91D05E5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8847"/>
            <a:ext cx="10515600" cy="398421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2400" dirty="0"/>
              <a:t>Introduction</a:t>
            </a:r>
          </a:p>
          <a:p>
            <a:pPr>
              <a:lnSpc>
                <a:spcPct val="100000"/>
              </a:lnSpc>
            </a:pPr>
            <a:r>
              <a:rPr lang="it-IT" sz="2400" dirty="0"/>
              <a:t>The </a:t>
            </a:r>
            <a:r>
              <a:rPr lang="it-IT" sz="2400" i="1" dirty="0"/>
              <a:t>DARWIN</a:t>
            </a:r>
            <a:r>
              <a:rPr lang="it-IT" sz="2400" dirty="0"/>
              <a:t> Dataset</a:t>
            </a:r>
          </a:p>
          <a:p>
            <a:pPr>
              <a:lnSpc>
                <a:spcPct val="100000"/>
              </a:lnSpc>
            </a:pPr>
            <a:r>
              <a:rPr lang="it-IT" sz="2400" dirty="0"/>
              <a:t>Exploratory Data Analysis</a:t>
            </a:r>
          </a:p>
          <a:p>
            <a:pPr>
              <a:lnSpc>
                <a:spcPct val="100000"/>
              </a:lnSpc>
            </a:pPr>
            <a:r>
              <a:rPr lang="it-IT" sz="2400" dirty="0"/>
              <a:t>Classification Methods</a:t>
            </a:r>
          </a:p>
          <a:p>
            <a:pPr>
              <a:lnSpc>
                <a:spcPct val="100000"/>
              </a:lnSpc>
            </a:pPr>
            <a:r>
              <a:rPr lang="it-IT" sz="2400" dirty="0"/>
              <a:t>Experimental Design</a:t>
            </a:r>
          </a:p>
          <a:p>
            <a:pPr>
              <a:lnSpc>
                <a:spcPct val="100000"/>
              </a:lnSpc>
            </a:pPr>
            <a:r>
              <a:rPr lang="it-IT" sz="2400" dirty="0"/>
              <a:t>Interpretative Analysis</a:t>
            </a:r>
          </a:p>
          <a:p>
            <a:pPr>
              <a:lnSpc>
                <a:spcPct val="100000"/>
              </a:lnSpc>
            </a:pPr>
            <a:r>
              <a:rPr lang="it-IT" sz="2400" dirty="0"/>
              <a:t>Results of Predictive Performance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sz="24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it-IT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B417A2-A04B-B3DF-EB36-60D78E371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26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CCF6C-A3CC-E7EF-564C-4C6A511DA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B1A549C-ED00-5B4D-238F-142B1F22077F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0FC44BD-9DC8-24B4-0CF0-466EEAD6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 err="1">
                <a:solidFill>
                  <a:schemeClr val="bg1"/>
                </a:solidFill>
              </a:rPr>
              <a:t>Introduction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0F360B-5C41-868A-8D75-8CDC96E50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9517"/>
            <a:ext cx="10515600" cy="398421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it-IT" sz="2400" b="1" dirty="0"/>
              <a:t>Alzheimer’s Disease (AD) </a:t>
            </a:r>
            <a:r>
              <a:rPr lang="it-IT" sz="2400" dirty="0"/>
              <a:t>is a severe neurodegenerative disorder.        </a:t>
            </a:r>
            <a:br>
              <a:rPr lang="it-IT" sz="2400" dirty="0"/>
            </a:br>
            <a:r>
              <a:rPr lang="it-IT" sz="2400" dirty="0"/>
              <a:t>Currently its diagnosis requires expensive and invasive exams.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The analysis of </a:t>
            </a:r>
            <a:r>
              <a:rPr lang="en-US" sz="2400" b="1" dirty="0"/>
              <a:t>handwriting dynamics </a:t>
            </a:r>
            <a:r>
              <a:rPr lang="en-US" sz="2400" dirty="0"/>
              <a:t>represents a cheap and non-invasive method to support the early diagnosis of AD.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2400" dirty="0"/>
              <a:t>Project </a:t>
            </a:r>
            <a:r>
              <a:rPr lang="it-IT" sz="2400" b="1" dirty="0"/>
              <a:t>goals</a:t>
            </a:r>
            <a:r>
              <a:rPr lang="en-US" sz="24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Evaluate the predictive capability of handwriting analysis by building </a:t>
            </a:r>
            <a:br>
              <a:rPr lang="en-US" dirty="0"/>
            </a:br>
            <a:r>
              <a:rPr lang="en-US" dirty="0"/>
              <a:t>a robust model to discriminate between Patients and Healthy Controls.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Conduct an interpretative analysis to </a:t>
            </a:r>
            <a:r>
              <a:rPr lang="it-IT" dirty="0"/>
              <a:t>highlight the </a:t>
            </a:r>
            <a:r>
              <a:rPr lang="it-IT" dirty="0" err="1"/>
              <a:t>specific</a:t>
            </a:r>
            <a:r>
              <a:rPr lang="it-IT" dirty="0"/>
              <a:t> </a:t>
            </a:r>
            <a:r>
              <a:rPr lang="it-IT" dirty="0" err="1"/>
              <a:t>handwriting</a:t>
            </a:r>
            <a:r>
              <a:rPr lang="it-IT" dirty="0"/>
              <a:t> </a:t>
            </a:r>
            <a:r>
              <a:rPr lang="en-US" dirty="0"/>
              <a:t>characteristics associated with the pathology.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it-IT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17B46-01B4-C7F4-56A8-1E5899D35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72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F848C-971F-C190-AB29-4C03608DF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7AD4E836-F180-46E4-9C47-3277AB63AB08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4057C36-D519-B93C-93B2-A33C9A373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The </a:t>
            </a:r>
            <a:r>
              <a:rPr lang="it-IT" i="1" dirty="0">
                <a:solidFill>
                  <a:schemeClr val="bg1"/>
                </a:solidFill>
              </a:rPr>
              <a:t>DARWIN</a:t>
            </a:r>
            <a:r>
              <a:rPr lang="it-IT" dirty="0">
                <a:solidFill>
                  <a:schemeClr val="bg1"/>
                </a:solidFill>
              </a:rPr>
              <a:t> Dataset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A80BDA-DBFE-33F1-6DF7-067B68575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5229"/>
            <a:ext cx="10515600" cy="420850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it-IT" sz="2400" dirty="0"/>
              <a:t>The </a:t>
            </a:r>
            <a:r>
              <a:rPr lang="it-IT" sz="2400" i="1" dirty="0"/>
              <a:t>DARWIN</a:t>
            </a:r>
            <a:r>
              <a:rPr lang="it-IT" sz="2400" dirty="0"/>
              <a:t> dataset (</a:t>
            </a:r>
            <a:r>
              <a:rPr lang="it-IT" sz="2400" i="1" dirty="0"/>
              <a:t>Diagnosis AlzheimeR WIth haNdwriting</a:t>
            </a:r>
            <a:r>
              <a:rPr lang="it-IT" sz="2400" dirty="0"/>
              <a:t>) includes handwriting samples from </a:t>
            </a:r>
            <a:r>
              <a:rPr lang="it-IT" sz="2400" b="1" dirty="0"/>
              <a:t>174 participants</a:t>
            </a:r>
            <a:r>
              <a:rPr lang="it-IT" sz="2400" dirty="0"/>
              <a:t>, divided into </a:t>
            </a:r>
            <a:r>
              <a:rPr lang="it-IT" sz="2400" b="1" dirty="0"/>
              <a:t>two balanced groups</a:t>
            </a:r>
            <a:r>
              <a:rPr lang="it-IT" sz="2400" dirty="0"/>
              <a:t>, matched in terms of age, gender and education level :</a:t>
            </a:r>
          </a:p>
          <a:p>
            <a:pPr lvl="1">
              <a:lnSpc>
                <a:spcPct val="100000"/>
              </a:lnSpc>
            </a:pPr>
            <a:r>
              <a:rPr lang="it-IT" dirty="0"/>
              <a:t>89 Patients (with Alzheimer’s Disease),</a:t>
            </a:r>
          </a:p>
          <a:p>
            <a:pPr lvl="1">
              <a:lnSpc>
                <a:spcPct val="100000"/>
              </a:lnSpc>
            </a:pPr>
            <a:r>
              <a:rPr lang="it-IT" dirty="0"/>
              <a:t>85 Healthy Controls.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The dataset comprises results from </a:t>
            </a:r>
            <a:r>
              <a:rPr lang="en-US" sz="2400" b="1" dirty="0"/>
              <a:t>25 distinct tasks</a:t>
            </a:r>
            <a:r>
              <a:rPr lang="en-US" sz="2400" dirty="0"/>
              <a:t> (handwriting exercises), categorized as follows: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Memory &amp; Dictation tasks, which assess cognitive functions.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Graphic tasks, that evaluate motor skills.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Copy tasks, to test visual-spatial abilities.</a:t>
            </a:r>
          </a:p>
          <a:p>
            <a:pPr marL="0" indent="0">
              <a:lnSpc>
                <a:spcPct val="100000"/>
              </a:lnSpc>
              <a:buNone/>
            </a:pPr>
            <a:endParaRPr lang="it-IT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CADA0B-F75A-2D6A-7D1E-E4C01F97C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82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591D5-2BA2-50A4-63F1-22EC42E7E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EA88369-ECDF-7101-BC48-1ADE02F1868F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3CA8D9A-8B73-3AB5-EF54-447A9EC83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The </a:t>
            </a:r>
            <a:r>
              <a:rPr lang="it-IT" i="1" dirty="0">
                <a:solidFill>
                  <a:schemeClr val="bg1"/>
                </a:solidFill>
              </a:rPr>
              <a:t>DARWIN</a:t>
            </a:r>
            <a:r>
              <a:rPr lang="it-IT" dirty="0">
                <a:solidFill>
                  <a:schemeClr val="bg1"/>
                </a:solidFill>
              </a:rPr>
              <a:t> Dataset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C90CB7-17A4-870B-6BBF-CDD294DEC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6500"/>
            <a:ext cx="10515600" cy="389723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/>
              <a:t>From each task, </a:t>
            </a:r>
            <a:r>
              <a:rPr lang="en-US" sz="2400" b="1" dirty="0"/>
              <a:t>18 specific features </a:t>
            </a:r>
            <a:r>
              <a:rPr lang="en-US" sz="2400" dirty="0"/>
              <a:t>(variables) were extracted,</a:t>
            </a:r>
            <a:r>
              <a:rPr lang="en-US" sz="2400" b="1" dirty="0"/>
              <a:t> </a:t>
            </a:r>
            <a:r>
              <a:rPr lang="en-US" sz="2400" dirty="0"/>
              <a:t>which can be broadly categorized into 4 main types:</a:t>
            </a:r>
          </a:p>
          <a:p>
            <a:pPr lvl="1" algn="just">
              <a:lnSpc>
                <a:spcPct val="100000"/>
              </a:lnSpc>
            </a:pPr>
            <a:r>
              <a:rPr lang="en-US" dirty="0"/>
              <a:t>Time-related measures (e.g., </a:t>
            </a:r>
            <a:r>
              <a:rPr lang="en-US" i="1" dirty="0"/>
              <a:t>Total Time</a:t>
            </a:r>
            <a:r>
              <a:rPr lang="en-US" dirty="0"/>
              <a:t>, </a:t>
            </a:r>
            <a:r>
              <a:rPr lang="en-US" i="1" dirty="0"/>
              <a:t>Air-time</a:t>
            </a:r>
            <a:r>
              <a:rPr lang="en-US" dirty="0"/>
              <a:t>)</a:t>
            </a:r>
          </a:p>
          <a:p>
            <a:pPr lvl="1" algn="just">
              <a:lnSpc>
                <a:spcPct val="100000"/>
              </a:lnSpc>
            </a:pPr>
            <a:r>
              <a:rPr lang="en-US" dirty="0"/>
              <a:t>Kinematic measures (e.g., </a:t>
            </a:r>
            <a:r>
              <a:rPr lang="en-US" i="1" dirty="0"/>
              <a:t>Speed</a:t>
            </a:r>
            <a:r>
              <a:rPr lang="en-US" dirty="0"/>
              <a:t>, </a:t>
            </a:r>
            <a:r>
              <a:rPr lang="en-US" i="1" dirty="0"/>
              <a:t>Acceleration</a:t>
            </a:r>
            <a:r>
              <a:rPr lang="en-US" dirty="0"/>
              <a:t>, </a:t>
            </a:r>
            <a:r>
              <a:rPr lang="en-US" i="1" dirty="0"/>
              <a:t>Jerk</a:t>
            </a:r>
            <a:r>
              <a:rPr lang="en-US" dirty="0"/>
              <a:t>)</a:t>
            </a:r>
          </a:p>
          <a:p>
            <a:pPr lvl="1" algn="just">
              <a:lnSpc>
                <a:spcPct val="100000"/>
              </a:lnSpc>
            </a:pPr>
            <a:r>
              <a:rPr lang="it-IT" dirty="0"/>
              <a:t>Dynamic </a:t>
            </a:r>
            <a:r>
              <a:rPr lang="it-IT" dirty="0" err="1"/>
              <a:t>measures</a:t>
            </a:r>
            <a:r>
              <a:rPr lang="it-IT" dirty="0"/>
              <a:t> (e.g., </a:t>
            </a:r>
            <a:r>
              <a:rPr lang="it-IT" i="1" dirty="0"/>
              <a:t>Pressure</a:t>
            </a:r>
            <a:r>
              <a:rPr lang="it-IT" dirty="0"/>
              <a:t>)</a:t>
            </a:r>
          </a:p>
          <a:p>
            <a:pPr lvl="1" algn="just">
              <a:lnSpc>
                <a:spcPct val="100000"/>
              </a:lnSpc>
            </a:pPr>
            <a:r>
              <a:rPr lang="it-IT" dirty="0" err="1"/>
              <a:t>Geometric</a:t>
            </a:r>
            <a:r>
              <a:rPr lang="it-IT" dirty="0"/>
              <a:t> and </a:t>
            </a:r>
            <a:r>
              <a:rPr lang="it-IT" dirty="0" err="1"/>
              <a:t>tremor</a:t>
            </a:r>
            <a:r>
              <a:rPr lang="it-IT" dirty="0"/>
              <a:t> </a:t>
            </a:r>
            <a:r>
              <a:rPr lang="it-IT" dirty="0" err="1"/>
              <a:t>measures</a:t>
            </a:r>
            <a:endParaRPr lang="it-IT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/>
              <a:t>This results in a total of </a:t>
            </a:r>
            <a:r>
              <a:rPr lang="en-US" sz="2400" b="1" dirty="0"/>
              <a:t>p = 450 variables</a:t>
            </a:r>
            <a:r>
              <a:rPr lang="en-US" sz="2400" dirty="0"/>
              <a:t> (18 features x 25 tasks) against only  </a:t>
            </a:r>
            <a:br>
              <a:rPr lang="en-US" sz="2400" dirty="0"/>
            </a:br>
            <a:r>
              <a:rPr lang="en-US" sz="2400" dirty="0"/>
              <a:t>n = 174 observations. Consequently, p &gt; n, leading to a </a:t>
            </a:r>
            <a:r>
              <a:rPr lang="en-US" sz="2400" b="1" dirty="0"/>
              <a:t>high dimensionality problem</a:t>
            </a:r>
            <a:r>
              <a:rPr lang="en-US" sz="2400" dirty="0"/>
              <a:t>.</a:t>
            </a:r>
            <a:endParaRPr lang="it-IT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77F81D-610D-7159-C438-F8BB1C781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04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18BC-A24E-3998-8E54-16AEDFA6A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39DB8EAE-5D39-B7CF-FB92-FFFE5500959F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D1798F1-602D-9508-8A7F-B4D27656C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Exploratory Data Analysis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1D0A18AB-1E6C-C581-155E-20CC2AAB1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269" b="10569"/>
          <a:stretch>
            <a:fillRect/>
          </a:stretch>
        </p:blipFill>
        <p:spPr>
          <a:xfrm>
            <a:off x="4356916" y="1816732"/>
            <a:ext cx="7728404" cy="48482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C3BD62-8E74-F5D9-49B2-3C0854F006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13830C2-66CA-7813-9B09-F847F19D56F0}"/>
              </a:ext>
            </a:extLst>
          </p:cNvPr>
          <p:cNvSpPr txBox="1"/>
          <p:nvPr/>
        </p:nvSpPr>
        <p:spPr>
          <a:xfrm>
            <a:off x="350520" y="1768951"/>
            <a:ext cx="39243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Correlation</a:t>
            </a:r>
            <a:r>
              <a:rPr lang="en-US" sz="2400" dirty="0"/>
              <a:t> between the 450 features and the target variable (clinical status: Patient vs Healthy Controls).</a:t>
            </a:r>
          </a:p>
          <a:p>
            <a:endParaRPr lang="en-US" sz="2400" dirty="0"/>
          </a:p>
          <a:p>
            <a:r>
              <a:rPr lang="it-IT" sz="2400" dirty="0"/>
              <a:t>No </a:t>
            </a:r>
            <a:r>
              <a:rPr lang="it-IT" sz="2400" dirty="0" err="1"/>
              <a:t>evidence</a:t>
            </a:r>
            <a:r>
              <a:rPr lang="it-IT" sz="2400" dirty="0"/>
              <a:t> of </a:t>
            </a:r>
            <a:r>
              <a:rPr lang="it-IT" sz="2400" dirty="0" err="1"/>
              <a:t>extremely</a:t>
            </a:r>
            <a:r>
              <a:rPr lang="it-IT" sz="2400" dirty="0"/>
              <a:t> high </a:t>
            </a:r>
            <a:r>
              <a:rPr lang="it-IT" sz="2400" dirty="0" err="1"/>
              <a:t>correlations</a:t>
            </a:r>
            <a:r>
              <a:rPr lang="it-IT" sz="2400" dirty="0"/>
              <a:t> (no risk of data leakage).</a:t>
            </a:r>
          </a:p>
          <a:p>
            <a:endParaRPr lang="it-IT" sz="2400" dirty="0"/>
          </a:p>
          <a:p>
            <a:r>
              <a:rPr lang="it-IT" sz="2400" dirty="0"/>
              <a:t>Task-</a:t>
            </a:r>
            <a:r>
              <a:rPr lang="it-IT" sz="2400" dirty="0" err="1"/>
              <a:t>specific</a:t>
            </a:r>
            <a:r>
              <a:rPr lang="it-IT" sz="2400" dirty="0"/>
              <a:t> patterns (e.g., Tasks 7 and 17) with a </a:t>
            </a:r>
            <a:r>
              <a:rPr lang="it-IT" sz="2400" dirty="0" err="1"/>
              <a:t>similar</a:t>
            </a:r>
            <a:r>
              <a:rPr lang="it-IT" sz="2400" dirty="0"/>
              <a:t> </a:t>
            </a:r>
            <a:r>
              <a:rPr lang="it-IT" sz="2400" dirty="0" err="1"/>
              <a:t>structure</a:t>
            </a:r>
            <a:r>
              <a:rPr lang="it-IT" sz="2400" dirty="0"/>
              <a:t>. 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suggests</a:t>
            </a:r>
            <a:r>
              <a:rPr lang="it-IT" sz="2400" dirty="0"/>
              <a:t> </a:t>
            </a:r>
            <a:r>
              <a:rPr lang="it-IT" sz="2400" b="1" dirty="0" err="1">
                <a:sym typeface="Wingdings" panose="05000000000000000000" pitchFamily="2" charset="2"/>
              </a:rPr>
              <a:t>multicollinearity</a:t>
            </a:r>
            <a:r>
              <a:rPr lang="it-IT" sz="2400" dirty="0">
                <a:sym typeface="Wingdings" panose="05000000000000000000" pitchFamily="2" charset="2"/>
              </a:rPr>
              <a:t>.</a:t>
            </a:r>
            <a:endParaRPr lang="it-IT" sz="2400" dirty="0"/>
          </a:p>
          <a:p>
            <a:endParaRPr lang="it-IT" sz="2400" dirty="0"/>
          </a:p>
          <a:p>
            <a:endParaRPr lang="it-IT" sz="24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B3C980C-D735-2C83-B821-CBB68D632966}"/>
              </a:ext>
            </a:extLst>
          </p:cNvPr>
          <p:cNvSpPr/>
          <p:nvPr/>
        </p:nvSpPr>
        <p:spPr>
          <a:xfrm>
            <a:off x="6841236" y="6224778"/>
            <a:ext cx="256032" cy="26212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DD4FE3-2B5E-4745-4FB8-DC1E8C406C6B}"/>
              </a:ext>
            </a:extLst>
          </p:cNvPr>
          <p:cNvSpPr/>
          <p:nvPr/>
        </p:nvSpPr>
        <p:spPr>
          <a:xfrm>
            <a:off x="9116786" y="6224778"/>
            <a:ext cx="256032" cy="26212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4819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3EAE3-B658-DDC8-4765-408BCB444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C0D09AD-C087-8A61-A430-72F243E8EB60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36FC307-2BD7-1FC8-2603-89864CFF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Exploratory Data Analysis</a:t>
            </a:r>
            <a:br>
              <a:rPr lang="it-IT" dirty="0">
                <a:solidFill>
                  <a:schemeClr val="bg1"/>
                </a:solidFill>
              </a:rPr>
            </a:br>
            <a:r>
              <a:rPr lang="it-IT" i="1" dirty="0">
                <a:solidFill>
                  <a:schemeClr val="bg1"/>
                </a:solidFill>
              </a:rPr>
              <a:t>Internal correlation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27D79B-8B21-4715-B38D-104354BAA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pic>
        <p:nvPicPr>
          <p:cNvPr id="14" name="Segnaposto contenuto 13">
            <a:extLst>
              <a:ext uri="{FF2B5EF4-FFF2-40B4-BE49-F238E27FC236}">
                <a16:creationId xmlns:a16="http://schemas.microsoft.com/office/drawing/2014/main" id="{6AE7D84F-6E05-FE1C-40E5-C9ED08B7B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6910" t="15904" b="412"/>
          <a:stretch>
            <a:fillRect/>
          </a:stretch>
        </p:blipFill>
        <p:spPr>
          <a:xfrm>
            <a:off x="909114" y="1666110"/>
            <a:ext cx="5048863" cy="4048114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8EABA036-2A50-E7D5-6BFD-AD59AE8484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761" t="15759"/>
          <a:stretch>
            <a:fillRect/>
          </a:stretch>
        </p:blipFill>
        <p:spPr>
          <a:xfrm>
            <a:off x="6593300" y="1723338"/>
            <a:ext cx="5046972" cy="4048115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BBCD43B-375F-181A-1981-45930AF24EC6}"/>
              </a:ext>
            </a:extLst>
          </p:cNvPr>
          <p:cNvSpPr txBox="1"/>
          <p:nvPr/>
        </p:nvSpPr>
        <p:spPr>
          <a:xfrm>
            <a:off x="909114" y="5771453"/>
            <a:ext cx="10239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Examples</a:t>
            </a:r>
            <a:r>
              <a:rPr lang="it-IT" sz="2400" dirty="0"/>
              <a:t> of </a:t>
            </a:r>
            <a:r>
              <a:rPr lang="it-IT" sz="2400" b="1" dirty="0"/>
              <a:t>cross-task </a:t>
            </a:r>
            <a:r>
              <a:rPr lang="it-IT" sz="2400" b="1" dirty="0" err="1"/>
              <a:t>correlation</a:t>
            </a:r>
            <a:r>
              <a:rPr lang="it-IT" sz="2400" dirty="0"/>
              <a:t> for the </a:t>
            </a:r>
            <a:r>
              <a:rPr lang="it-IT" sz="2400" dirty="0" err="1"/>
              <a:t>same</a:t>
            </a:r>
            <a:r>
              <a:rPr lang="it-IT" sz="2400" dirty="0"/>
              <a:t> feature (</a:t>
            </a:r>
            <a:r>
              <a:rPr lang="it-IT" sz="2400" i="1" dirty="0" err="1"/>
              <a:t>mean</a:t>
            </a:r>
            <a:r>
              <a:rPr lang="it-IT" sz="2400" i="1" dirty="0"/>
              <a:t> </a:t>
            </a:r>
            <a:r>
              <a:rPr lang="it-IT" sz="2400" i="1" dirty="0" err="1"/>
              <a:t>acceleration</a:t>
            </a:r>
            <a:r>
              <a:rPr lang="it-IT" sz="2400" i="1" dirty="0"/>
              <a:t> in air</a:t>
            </a:r>
            <a:r>
              <a:rPr lang="it-IT" sz="2400" dirty="0"/>
              <a:t> on the </a:t>
            </a:r>
            <a:r>
              <a:rPr lang="it-IT" sz="2400" dirty="0" err="1"/>
              <a:t>left</a:t>
            </a:r>
            <a:r>
              <a:rPr lang="it-IT" sz="2400" dirty="0"/>
              <a:t> and </a:t>
            </a:r>
            <a:r>
              <a:rPr lang="it-IT" sz="2400" i="1" dirty="0" err="1"/>
              <a:t>mean</a:t>
            </a:r>
            <a:r>
              <a:rPr lang="it-IT" sz="2400" i="1" dirty="0"/>
              <a:t> pressure </a:t>
            </a:r>
            <a:r>
              <a:rPr lang="it-IT" sz="2400" dirty="0"/>
              <a:t>on the </a:t>
            </a:r>
            <a:r>
              <a:rPr lang="it-IT" sz="2400" dirty="0" err="1"/>
              <a:t>right</a:t>
            </a:r>
            <a:r>
              <a:rPr lang="it-IT" sz="2400" dirty="0"/>
              <a:t>, </a:t>
            </a:r>
            <a:r>
              <a:rPr lang="it-IT" sz="2400" dirty="0" err="1"/>
              <a:t>two</a:t>
            </a:r>
            <a:r>
              <a:rPr lang="it-IT" sz="2400" dirty="0"/>
              <a:t> </a:t>
            </a:r>
            <a:r>
              <a:rPr lang="it-IT" sz="2400" dirty="0" err="1"/>
              <a:t>extreme</a:t>
            </a:r>
            <a:r>
              <a:rPr lang="it-IT" sz="2400" dirty="0"/>
              <a:t> </a:t>
            </a:r>
            <a:r>
              <a:rPr lang="it-IT" sz="2400" dirty="0" err="1"/>
              <a:t>behaviours</a:t>
            </a:r>
            <a:r>
              <a:rPr lang="it-IT" sz="2400" dirty="0"/>
              <a:t>).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582B2AC-2917-4A3B-9207-C4CC386D8944}"/>
              </a:ext>
            </a:extLst>
          </p:cNvPr>
          <p:cNvSpPr txBox="1"/>
          <p:nvPr/>
        </p:nvSpPr>
        <p:spPr>
          <a:xfrm>
            <a:off x="909114" y="4415415"/>
            <a:ext cx="2493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Low </a:t>
            </a:r>
            <a:r>
              <a:rPr lang="it-IT" dirty="0" err="1"/>
              <a:t>correlations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Task-</a:t>
            </a:r>
            <a:r>
              <a:rPr lang="it-IT" dirty="0" err="1"/>
              <a:t>dependent</a:t>
            </a:r>
            <a:r>
              <a:rPr lang="it-IT" dirty="0"/>
              <a:t> feature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660CC81-D894-C59C-0369-470CA5FB269A}"/>
              </a:ext>
            </a:extLst>
          </p:cNvPr>
          <p:cNvSpPr txBox="1"/>
          <p:nvPr/>
        </p:nvSpPr>
        <p:spPr>
          <a:xfrm>
            <a:off x="6593300" y="4415415"/>
            <a:ext cx="2421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High </a:t>
            </a:r>
            <a:r>
              <a:rPr lang="it-IT" dirty="0" err="1"/>
              <a:t>correlations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Subject-dependent</a:t>
            </a:r>
            <a:r>
              <a:rPr lang="it-IT" dirty="0"/>
              <a:t> feature</a:t>
            </a:r>
          </a:p>
        </p:txBody>
      </p:sp>
    </p:spTree>
    <p:extLst>
      <p:ext uri="{BB962C8B-B14F-4D97-AF65-F5344CB8AC3E}">
        <p14:creationId xmlns:p14="http://schemas.microsoft.com/office/powerpoint/2010/main" val="1203825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540E0-6F57-8FAF-C0EE-9D89EAF73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399B819E-D296-80FA-BAB9-00519593FD2B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EF05C27-FC0B-9D15-7F09-57497A847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Exploratory Data Analysis</a:t>
            </a:r>
            <a:br>
              <a:rPr lang="it-IT" dirty="0">
                <a:solidFill>
                  <a:schemeClr val="bg1"/>
                </a:solidFill>
              </a:rPr>
            </a:br>
            <a:r>
              <a:rPr lang="it-IT" i="1" dirty="0">
                <a:solidFill>
                  <a:schemeClr val="bg1"/>
                </a:solidFill>
              </a:rPr>
              <a:t>Internal correlation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76562B-E38F-F7BE-7B64-FA86208B5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DBE67A2D-FBB4-91B2-AD86-D65BF445A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0043" t="25192" r="19223"/>
          <a:stretch>
            <a:fillRect/>
          </a:stretch>
        </p:blipFill>
        <p:spPr>
          <a:xfrm>
            <a:off x="6574768" y="1750539"/>
            <a:ext cx="4869124" cy="489961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10D9C1A-FFD4-3A01-D8FE-DA20BED43013}"/>
              </a:ext>
            </a:extLst>
          </p:cNvPr>
          <p:cNvSpPr txBox="1"/>
          <p:nvPr/>
        </p:nvSpPr>
        <p:spPr>
          <a:xfrm>
            <a:off x="838200" y="1923414"/>
            <a:ext cx="5562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/>
              <a:t>Cross-feature </a:t>
            </a:r>
            <a:r>
              <a:rPr lang="it-IT" sz="2400" b="1" dirty="0" err="1"/>
              <a:t>correlation</a:t>
            </a:r>
            <a:r>
              <a:rPr lang="it-IT" sz="2400" dirty="0"/>
              <a:t> </a:t>
            </a:r>
            <a:r>
              <a:rPr lang="it-IT" sz="2400" dirty="0" err="1"/>
              <a:t>within</a:t>
            </a:r>
            <a:r>
              <a:rPr lang="it-IT" sz="2400" dirty="0"/>
              <a:t> a task (</a:t>
            </a:r>
            <a:r>
              <a:rPr lang="it-IT" sz="2400" dirty="0" err="1"/>
              <a:t>Example</a:t>
            </a:r>
            <a:r>
              <a:rPr lang="it-IT" sz="2400" dirty="0"/>
              <a:t>: Task 17).</a:t>
            </a:r>
          </a:p>
          <a:p>
            <a:endParaRPr lang="it-IT" sz="2400" dirty="0"/>
          </a:p>
          <a:p>
            <a:r>
              <a:rPr lang="it-IT" sz="2400" dirty="0" err="1"/>
              <a:t>Presence</a:t>
            </a:r>
            <a:r>
              <a:rPr lang="it-IT" sz="2400" dirty="0"/>
              <a:t> of </a:t>
            </a:r>
            <a:r>
              <a:rPr lang="it-IT" sz="2400" dirty="0" err="1"/>
              <a:t>both</a:t>
            </a:r>
            <a:r>
              <a:rPr lang="it-IT" sz="2400" dirty="0"/>
              <a:t> low and high (positive and negative) </a:t>
            </a:r>
            <a:r>
              <a:rPr lang="it-IT" sz="2400" dirty="0" err="1"/>
              <a:t>correlations</a:t>
            </a:r>
            <a:r>
              <a:rPr lang="it-IT" sz="2400" dirty="0"/>
              <a:t> </a:t>
            </a:r>
            <a:r>
              <a:rPr lang="it-IT" sz="2400" dirty="0" err="1"/>
              <a:t>among</a:t>
            </a:r>
            <a:r>
              <a:rPr lang="it-IT" sz="2400" dirty="0"/>
              <a:t> features.</a:t>
            </a:r>
          </a:p>
          <a:p>
            <a:endParaRPr lang="it-IT" sz="2400" dirty="0"/>
          </a:p>
          <a:p>
            <a:r>
              <a:rPr lang="it-IT" sz="2400" dirty="0" err="1"/>
              <a:t>Logical</a:t>
            </a:r>
            <a:r>
              <a:rPr lang="it-IT" sz="2400" dirty="0"/>
              <a:t> </a:t>
            </a:r>
            <a:r>
              <a:rPr lang="it-IT" sz="2400" dirty="0" err="1"/>
              <a:t>dependencies</a:t>
            </a:r>
            <a:r>
              <a:rPr lang="it-IT" sz="2400" dirty="0"/>
              <a:t>: </a:t>
            </a:r>
            <a:r>
              <a:rPr lang="it-IT" sz="2400" dirty="0" err="1"/>
              <a:t>correlations</a:t>
            </a:r>
            <a:r>
              <a:rPr lang="it-IT" sz="2400" dirty="0"/>
              <a:t> </a:t>
            </a:r>
            <a:r>
              <a:rPr lang="it-IT" sz="2400" dirty="0" err="1"/>
              <a:t>arise</a:t>
            </a:r>
            <a:r>
              <a:rPr lang="it-IT" sz="2400" dirty="0"/>
              <a:t> from </a:t>
            </a:r>
            <a:r>
              <a:rPr lang="it-IT" sz="2400" dirty="0" err="1"/>
              <a:t>physical</a:t>
            </a:r>
            <a:r>
              <a:rPr lang="it-IT" sz="2400" dirty="0"/>
              <a:t> </a:t>
            </a:r>
            <a:r>
              <a:rPr lang="it-IT" sz="2400" dirty="0" err="1"/>
              <a:t>definitions</a:t>
            </a:r>
            <a:r>
              <a:rPr lang="it-IT" sz="2400" dirty="0"/>
              <a:t> (e.g., </a:t>
            </a:r>
            <a:r>
              <a:rPr lang="it-IT" sz="2400" i="1" dirty="0"/>
              <a:t>air time </a:t>
            </a:r>
            <a:r>
              <a:rPr lang="it-IT" sz="2400" dirty="0"/>
              <a:t>and </a:t>
            </a:r>
            <a:r>
              <a:rPr lang="it-IT" sz="2400" i="1" dirty="0" err="1"/>
              <a:t>total</a:t>
            </a:r>
            <a:r>
              <a:rPr lang="it-IT" sz="2400" i="1" dirty="0"/>
              <a:t> time</a:t>
            </a:r>
            <a:r>
              <a:rPr lang="it-IT" sz="2400" dirty="0"/>
              <a:t>).</a:t>
            </a:r>
          </a:p>
          <a:p>
            <a:endParaRPr lang="it-IT" sz="2400" dirty="0"/>
          </a:p>
          <a:p>
            <a:endParaRPr lang="it-IT" sz="2400" dirty="0"/>
          </a:p>
          <a:p>
            <a:r>
              <a:rPr lang="it-IT" sz="2400" b="1" dirty="0"/>
              <a:t>Data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b="1" dirty="0" err="1"/>
              <a:t>highly</a:t>
            </a:r>
            <a:r>
              <a:rPr lang="it-IT" sz="2400" b="1" dirty="0"/>
              <a:t> </a:t>
            </a:r>
            <a:r>
              <a:rPr lang="it-IT" sz="2400" b="1" dirty="0" err="1"/>
              <a:t>correlated</a:t>
            </a:r>
            <a:r>
              <a:rPr lang="it-IT" sz="2400" dirty="0"/>
              <a:t>.</a:t>
            </a:r>
          </a:p>
        </p:txBody>
      </p:sp>
      <p:sp>
        <p:nvSpPr>
          <p:cNvPr id="12" name="Freccia in giù 11">
            <a:extLst>
              <a:ext uri="{FF2B5EF4-FFF2-40B4-BE49-F238E27FC236}">
                <a16:creationId xmlns:a16="http://schemas.microsoft.com/office/drawing/2014/main" id="{B75488EC-F8B0-81C3-2C06-511A72714F64}"/>
              </a:ext>
            </a:extLst>
          </p:cNvPr>
          <p:cNvSpPr/>
          <p:nvPr/>
        </p:nvSpPr>
        <p:spPr>
          <a:xfrm>
            <a:off x="2373100" y="5365279"/>
            <a:ext cx="258134" cy="560717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229D98C-2A74-78E9-6265-39B661620D25}"/>
              </a:ext>
            </a:extLst>
          </p:cNvPr>
          <p:cNvSpPr/>
          <p:nvPr/>
        </p:nvSpPr>
        <p:spPr>
          <a:xfrm>
            <a:off x="10304780" y="3220720"/>
            <a:ext cx="314804" cy="3147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684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011D7-0461-B49F-2080-F11ACF62D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2E21E48-A3AE-35BA-C43C-FBABFF4847C1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D5A4EA-C13D-09DE-C03A-8057707CF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Multivariate Exploratory Analysis</a:t>
            </a:r>
            <a:br>
              <a:rPr lang="it-IT" dirty="0">
                <a:solidFill>
                  <a:schemeClr val="bg1"/>
                </a:solidFill>
              </a:rPr>
            </a:br>
            <a:r>
              <a:rPr lang="it-IT" i="1" dirty="0">
                <a:solidFill>
                  <a:schemeClr val="bg1"/>
                </a:solidFill>
              </a:rPr>
              <a:t>via Principal Components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23051E8-673A-BBD7-0936-B6F76A74D18D}"/>
              </a:ext>
            </a:extLst>
          </p:cNvPr>
          <p:cNvSpPr txBox="1">
            <a:spLocks/>
          </p:cNvSpPr>
          <p:nvPr/>
        </p:nvSpPr>
        <p:spPr>
          <a:xfrm>
            <a:off x="838199" y="1964521"/>
            <a:ext cx="9685868" cy="774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400" b="1" dirty="0"/>
              <a:t>PCA by Tasks:</a:t>
            </a:r>
            <a:endParaRPr lang="it-IT" sz="2400" dirty="0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6F59B2A0-BA88-20B8-96C1-D741A2BF0195}"/>
              </a:ext>
            </a:extLst>
          </p:cNvPr>
          <p:cNvSpPr txBox="1">
            <a:spLocks/>
          </p:cNvSpPr>
          <p:nvPr/>
        </p:nvSpPr>
        <p:spPr>
          <a:xfrm>
            <a:off x="838199" y="2739027"/>
            <a:ext cx="5518290" cy="3882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To perform an </a:t>
            </a:r>
            <a:r>
              <a:rPr lang="en-US" sz="2000" b="1" dirty="0"/>
              <a:t>exploratory analysis at the task level</a:t>
            </a:r>
            <a:r>
              <a:rPr lang="en-US" sz="2000" dirty="0"/>
              <a:t>, we apply </a:t>
            </a:r>
            <a:r>
              <a:rPr lang="en-US" sz="2000" b="1" dirty="0"/>
              <a:t>Principal Component Analysis (PCA)</a:t>
            </a:r>
            <a:r>
              <a:rPr lang="en-US" sz="2000" dirty="0"/>
              <a:t> separately to each task.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For each task, we extract the </a:t>
            </a:r>
            <a:r>
              <a:rPr lang="en-US" sz="2000" b="1" dirty="0"/>
              <a:t>first two principal components</a:t>
            </a:r>
            <a:r>
              <a:rPr lang="en-US" sz="2000" dirty="0"/>
              <a:t> in order to visualize the data structure.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From these projections, we do </a:t>
            </a:r>
            <a:r>
              <a:rPr lang="en-US" sz="2000" b="1" dirty="0"/>
              <a:t>not observe a clear separation between the groups.</a:t>
            </a:r>
            <a:endParaRPr lang="it-IT" sz="200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93F1BFA-3972-1BA1-7B9A-DF8A37558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247" y="2510395"/>
            <a:ext cx="5697077" cy="36863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775AA9-7085-D799-38BC-E9E597B9D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527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B6C-26AE-7D50-5C1A-FD580373E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52E72112-D177-0038-EB50-7FDB3FAA9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982" y="2551124"/>
            <a:ext cx="5623845" cy="363895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A9CE893-A849-E280-A653-1C36B92D6C03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DB2254C-363D-E62C-7FD5-6FD0391C9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Multivariate Exploratory Analysis</a:t>
            </a:r>
            <a:br>
              <a:rPr lang="it-IT" dirty="0">
                <a:solidFill>
                  <a:schemeClr val="bg1"/>
                </a:solidFill>
              </a:rPr>
            </a:br>
            <a:r>
              <a:rPr lang="it-IT" i="1" dirty="0">
                <a:solidFill>
                  <a:schemeClr val="bg1"/>
                </a:solidFill>
              </a:rPr>
              <a:t>via Principal Components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11BE57AC-DC92-8C46-09C2-EFD764E4BF34}"/>
              </a:ext>
            </a:extLst>
          </p:cNvPr>
          <p:cNvSpPr txBox="1">
            <a:spLocks/>
          </p:cNvSpPr>
          <p:nvPr/>
        </p:nvSpPr>
        <p:spPr>
          <a:xfrm>
            <a:off x="838199" y="1964521"/>
            <a:ext cx="9685868" cy="774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400" b="1" dirty="0"/>
              <a:t>Global PCA: </a:t>
            </a:r>
            <a:endParaRPr lang="it-IT" sz="2400" dirty="0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4DA09922-0BA1-9C6D-F172-A8322BECE97C}"/>
              </a:ext>
            </a:extLst>
          </p:cNvPr>
          <p:cNvSpPr txBox="1">
            <a:spLocks/>
          </p:cNvSpPr>
          <p:nvPr/>
        </p:nvSpPr>
        <p:spPr>
          <a:xfrm>
            <a:off x="838199" y="3077383"/>
            <a:ext cx="5413311" cy="3638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When we consider the </a:t>
            </a:r>
            <a:r>
              <a:rPr lang="en-US" sz="2000" b="1" dirty="0"/>
              <a:t>entire dataset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and extract the </a:t>
            </a:r>
            <a:r>
              <a:rPr lang="en-US" sz="2000" b="1" dirty="0"/>
              <a:t>first two principal components</a:t>
            </a:r>
            <a:r>
              <a:rPr lang="en-US" sz="2000" dirty="0"/>
              <a:t>, we observe a </a:t>
            </a:r>
            <a:r>
              <a:rPr lang="en-US" sz="2000" b="1" dirty="0"/>
              <a:t>clearer separation between the groups</a:t>
            </a:r>
            <a:r>
              <a:rPr lang="en-US" sz="2000" dirty="0"/>
              <a:t>.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This result suggests that, for subject classification, it is necessary to use the information from </a:t>
            </a:r>
            <a:r>
              <a:rPr lang="en-US" sz="2000" b="1" dirty="0"/>
              <a:t>all tasks</a:t>
            </a:r>
            <a:r>
              <a:rPr lang="en-US" sz="2000" dirty="0"/>
              <a:t>, rather than analyzing each task separately.</a:t>
            </a:r>
            <a:endParaRPr lang="it-IT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15CC5D-A3DA-9CFC-ED0B-A51B3EFBA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58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40339EA6-1BA0-AC61-45BB-EB0C51C74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641" y="5161188"/>
            <a:ext cx="5950716" cy="1555154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0F607097-02DE-0051-161B-E1845BADE88B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2CB8FFD-6E9A-6542-A5E0-419EAFC59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Classification Methods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0168CCE9-4746-C941-0B60-2B65480BEF8F}"/>
              </a:ext>
            </a:extLst>
          </p:cNvPr>
          <p:cNvSpPr txBox="1">
            <a:spLocks/>
          </p:cNvSpPr>
          <p:nvPr/>
        </p:nvSpPr>
        <p:spPr>
          <a:xfrm>
            <a:off x="838200" y="1964521"/>
            <a:ext cx="3302000" cy="600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400" b="1" dirty="0"/>
              <a:t>STATISTICAL MODEL:</a:t>
            </a:r>
            <a:endParaRPr lang="it-IT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Segnaposto contenuto 2">
                <a:extLst>
                  <a:ext uri="{FF2B5EF4-FFF2-40B4-BE49-F238E27FC236}">
                    <a16:creationId xmlns:a16="http://schemas.microsoft.com/office/drawing/2014/main" id="{D75E61CF-89F9-2963-F1B0-6A2943590B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365932"/>
                <a:ext cx="10934701" cy="179493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it-IT" sz="2000" dirty="0">
                    <a:ea typeface="Verdana" panose="020B0604030504040204" pitchFamily="34" charset="0"/>
                  </a:rPr>
                  <a:t>Logistic Regression model:</a:t>
                </a:r>
              </a:p>
              <a:p>
                <a:pPr>
                  <a:lnSpc>
                    <a:spcPct val="110000"/>
                  </a:lnSpc>
                </a:pPr>
                <a:r>
                  <a:rPr lang="it-IT" sz="2000" dirty="0" err="1">
                    <a:ea typeface="Verdana" panose="020B0604030504040204" pitchFamily="34" charset="0"/>
                  </a:rPr>
                  <a:t>We</a:t>
                </a:r>
                <a:r>
                  <a:rPr lang="it-IT" sz="2000" dirty="0">
                    <a:ea typeface="Verdana" panose="020B0604030504040204" pitchFamily="34" charset="0"/>
                  </a:rPr>
                  <a:t> </a:t>
                </a:r>
                <a:r>
                  <a:rPr lang="it-IT" sz="2000" dirty="0" err="1">
                    <a:ea typeface="Verdana" panose="020B0604030504040204" pitchFamily="34" charset="0"/>
                  </a:rPr>
                  <a:t>consider</a:t>
                </a:r>
                <a:r>
                  <a:rPr lang="it-IT" sz="2000" dirty="0">
                    <a:ea typeface="Verdana" panose="020B0604030504040204" pitchFamily="34" charset="0"/>
                  </a:rPr>
                  <a:t> a random </a:t>
                </a:r>
                <a:r>
                  <a:rPr lang="it-IT" sz="2000" dirty="0" err="1">
                    <a:ea typeface="Verdana" panose="020B0604030504040204" pitchFamily="34" charset="0"/>
                  </a:rPr>
                  <a:t>vector</a:t>
                </a:r>
                <a:r>
                  <a:rPr lang="it-IT" sz="2000" dirty="0">
                    <a:ea typeface="Verdana" panose="020B0604030504040204" pitchFamily="3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it-IT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200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sz="20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it-IT" sz="2000" dirty="0">
                    <a:ea typeface="Verdana" panose="020B0604030504040204" pitchFamily="34" charset="0"/>
                  </a:rPr>
                  <a:t>) </a:t>
                </a:r>
                <a:r>
                  <a:rPr lang="en-US" sz="2000" dirty="0">
                    <a:ea typeface="Verdana" panose="020B0604030504040204" pitchFamily="34" charset="0"/>
                  </a:rPr>
                  <a:t>composed of independent Bernoulli random variables</a:t>
                </a:r>
                <a:r>
                  <a:rPr lang="it-IT" sz="2000" dirty="0">
                    <a:ea typeface="Verdana" panose="020B0604030504040204" pitchFamily="34" charset="0"/>
                  </a:rPr>
                  <a:t>;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000" dirty="0">
                    <a:ea typeface="Verdana" panose="020B0604030504040204" pitchFamily="34" charset="0"/>
                  </a:rPr>
                  <a:t>Each individual random variable has success probability equal to:</a:t>
                </a:r>
                <a:endParaRPr lang="it-IT" sz="2000" dirty="0">
                  <a:ea typeface="Verdana" panose="020B0604030504040204" pitchFamily="34" charset="0"/>
                </a:endParaRPr>
              </a:p>
              <a:p>
                <a:pPr marL="0" indent="0">
                  <a:buNone/>
                </a:pPr>
                <a:endParaRPr lang="it-IT" sz="2400" dirty="0"/>
              </a:p>
            </p:txBody>
          </p:sp>
        </mc:Choice>
        <mc:Fallback>
          <p:sp>
            <p:nvSpPr>
              <p:cNvPr id="8" name="Segnaposto contenuto 2">
                <a:extLst>
                  <a:ext uri="{FF2B5EF4-FFF2-40B4-BE49-F238E27FC236}">
                    <a16:creationId xmlns:a16="http://schemas.microsoft.com/office/drawing/2014/main" id="{D75E61CF-89F9-2963-F1B0-6A2943590B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365932"/>
                <a:ext cx="10934701" cy="1794934"/>
              </a:xfrm>
              <a:blipFill>
                <a:blip r:embed="rId3"/>
                <a:stretch>
                  <a:fillRect l="-557" t="-10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magine 8">
            <a:extLst>
              <a:ext uri="{FF2B5EF4-FFF2-40B4-BE49-F238E27FC236}">
                <a16:creationId xmlns:a16="http://schemas.microsoft.com/office/drawing/2014/main" id="{2C2C7A5B-421F-F393-8AA8-5AFAC73456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551" y="3719509"/>
            <a:ext cx="4554896" cy="7246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contenuto 2">
                <a:extLst>
                  <a:ext uri="{FF2B5EF4-FFF2-40B4-BE49-F238E27FC236}">
                    <a16:creationId xmlns:a16="http://schemas.microsoft.com/office/drawing/2014/main" id="{716D5E94-6DC0-420E-38C0-7396D2145F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4508913"/>
                <a:ext cx="10515601" cy="7745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>
                    <a:ea typeface="Verdana" panose="020B0604030504040204" pitchFamily="34" charset="0"/>
                  </a:rPr>
                  <a:t>The methods used to estimate the regression coefficients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𝛽</m:t>
                    </m:r>
                  </m:oMath>
                </a14:m>
                <a:r>
                  <a:rPr lang="en-US" sz="2000" dirty="0">
                    <a:ea typeface="Verdana" panose="020B0604030504040204" pitchFamily="34" charset="0"/>
                  </a:rPr>
                  <a:t> are all based on the optimization of an objective function composed of the negative log-likelihood of the model and a penalty term.</a:t>
                </a:r>
                <a:endParaRPr lang="it-IT" sz="2000" dirty="0">
                  <a:ea typeface="Verdana" panose="020B0604030504040204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it-IT" sz="2400" dirty="0"/>
              </a:p>
            </p:txBody>
          </p:sp>
        </mc:Choice>
        <mc:Fallback xmlns="">
          <p:sp>
            <p:nvSpPr>
              <p:cNvPr id="11" name="Segnaposto contenuto 2">
                <a:extLst>
                  <a:ext uri="{FF2B5EF4-FFF2-40B4-BE49-F238E27FC236}">
                    <a16:creationId xmlns:a16="http://schemas.microsoft.com/office/drawing/2014/main" id="{716D5E94-6DC0-420E-38C0-7396D2145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508913"/>
                <a:ext cx="10515601" cy="774507"/>
              </a:xfrm>
              <a:prstGeom prst="rect">
                <a:avLst/>
              </a:prstGeom>
              <a:blipFill>
                <a:blip r:embed="rId5"/>
                <a:stretch>
                  <a:fillRect l="-579" t="-3150" b="-1023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65130E0-1B64-8868-05C6-5CD6007BB5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13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27540-DA4A-FE62-9936-7211C2356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4D42A73A-9D7B-5F0E-63DF-B57B5938AE8E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39FA861-6AE1-6830-3357-EACDCB20B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Classification Methods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34A694B5-A4B0-1F41-DB10-10C3DF79BAB3}"/>
              </a:ext>
            </a:extLst>
          </p:cNvPr>
          <p:cNvSpPr txBox="1">
            <a:spLocks/>
          </p:cNvSpPr>
          <p:nvPr/>
        </p:nvSpPr>
        <p:spPr>
          <a:xfrm>
            <a:off x="1155441" y="1710025"/>
            <a:ext cx="3302000" cy="600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400" b="1" dirty="0"/>
              <a:t>RIDGE: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B8104F7-5A98-38C4-C792-EFEFF2DD4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9687" t="31839" r="3255" b="21068"/>
          <a:stretch>
            <a:fillRect/>
          </a:stretch>
        </p:blipFill>
        <p:spPr>
          <a:xfrm>
            <a:off x="816429" y="2026765"/>
            <a:ext cx="1819470" cy="735614"/>
          </a:xfrm>
          <a:prstGeom prst="rect">
            <a:avLst/>
          </a:prstGeom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6C821B74-C59B-1BAC-DC9F-0EE6060F9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798" y="1904750"/>
            <a:ext cx="8311243" cy="942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Ridge method makes it possible to overcome multicollinearity problems and shrink the values of the coefficients.</a:t>
            </a:r>
            <a:endParaRPr lang="it-IT" sz="2000" dirty="0">
              <a:ea typeface="Verdana" panose="020B0604030504040204" pitchFamily="34" charset="0"/>
            </a:endParaRPr>
          </a:p>
          <a:p>
            <a:pPr marL="0" indent="0">
              <a:buNone/>
            </a:pPr>
            <a:endParaRPr lang="it-IT" sz="2400" dirty="0"/>
          </a:p>
        </p:txBody>
      </p:sp>
      <p:sp>
        <p:nvSpPr>
          <p:cNvPr id="13" name="Segnaposto contenuto 2">
            <a:extLst>
              <a:ext uri="{FF2B5EF4-FFF2-40B4-BE49-F238E27FC236}">
                <a16:creationId xmlns:a16="http://schemas.microsoft.com/office/drawing/2014/main" id="{37B0C5F2-7CEF-2607-1694-8726ECE185F3}"/>
              </a:ext>
            </a:extLst>
          </p:cNvPr>
          <p:cNvSpPr txBox="1">
            <a:spLocks/>
          </p:cNvSpPr>
          <p:nvPr/>
        </p:nvSpPr>
        <p:spPr>
          <a:xfrm>
            <a:off x="1155441" y="2899723"/>
            <a:ext cx="3302000" cy="600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400" b="1" dirty="0"/>
              <a:t>LASSO:</a:t>
            </a:r>
            <a:endParaRPr lang="it-IT" sz="24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9FDD7AAB-0798-B846-A410-7785A3943C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9734" t="33563" r="3204" b="15089"/>
          <a:stretch>
            <a:fillRect/>
          </a:stretch>
        </p:blipFill>
        <p:spPr>
          <a:xfrm>
            <a:off x="816429" y="3232064"/>
            <a:ext cx="1847461" cy="811763"/>
          </a:xfrm>
          <a:prstGeom prst="rect">
            <a:avLst/>
          </a:prstGeom>
        </p:spPr>
      </p:pic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32265DDC-2046-E097-0AF5-55141CFD44A2}"/>
              </a:ext>
            </a:extLst>
          </p:cNvPr>
          <p:cNvSpPr txBox="1">
            <a:spLocks/>
          </p:cNvSpPr>
          <p:nvPr/>
        </p:nvSpPr>
        <p:spPr>
          <a:xfrm>
            <a:off x="3327962" y="3259212"/>
            <a:ext cx="7803460" cy="942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The Lasso method makes it possible to introduce sparsity into the model by selecting the most significant coefficients.</a:t>
            </a:r>
            <a:endParaRPr lang="it-IT" sz="2000" dirty="0">
              <a:ea typeface="Verdana" panose="020B0604030504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it-IT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A06D00-210F-2E28-EF1B-0856B7CA80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F5AE9E90-E1D3-8BCA-874A-7B4F4AF3B35F}"/>
              </a:ext>
            </a:extLst>
          </p:cNvPr>
          <p:cNvSpPr txBox="1">
            <a:spLocks/>
          </p:cNvSpPr>
          <p:nvPr/>
        </p:nvSpPr>
        <p:spPr>
          <a:xfrm>
            <a:off x="816429" y="4136902"/>
            <a:ext cx="3302000" cy="600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400" b="1" dirty="0"/>
              <a:t>ELASTIC NET:</a:t>
            </a:r>
            <a:endParaRPr lang="it-IT" sz="2400" dirty="0"/>
          </a:p>
        </p:txBody>
      </p:sp>
      <p:pic>
        <p:nvPicPr>
          <p:cNvPr id="8" name="Immagine 2">
            <a:extLst>
              <a:ext uri="{FF2B5EF4-FFF2-40B4-BE49-F238E27FC236}">
                <a16:creationId xmlns:a16="http://schemas.microsoft.com/office/drawing/2014/main" id="{16E4F86D-F1FD-D0A9-21CB-B751E1394C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278" t="28610" r="2892" b="12461"/>
          <a:stretch>
            <a:fillRect/>
          </a:stretch>
        </p:blipFill>
        <p:spPr>
          <a:xfrm>
            <a:off x="545841" y="4501761"/>
            <a:ext cx="2388636" cy="7844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8AC889-5EC8-437D-9386-92F21F03BE23}"/>
              </a:ext>
            </a:extLst>
          </p:cNvPr>
          <p:cNvSpPr txBox="1"/>
          <p:nvPr/>
        </p:nvSpPr>
        <p:spPr>
          <a:xfrm>
            <a:off x="3359798" y="4501761"/>
            <a:ext cx="78034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/>
              <a:t>The Elastic Net method combines Ridge and Lasso penalties, mitigating the effects of multicollinearity and introducing sparsity into the model.</a:t>
            </a:r>
            <a:endParaRPr lang="it-IT" sz="2000" dirty="0"/>
          </a:p>
        </p:txBody>
      </p:sp>
      <p:pic>
        <p:nvPicPr>
          <p:cNvPr id="12" name="Immagine 5">
            <a:extLst>
              <a:ext uri="{FF2B5EF4-FFF2-40B4-BE49-F238E27FC236}">
                <a16:creationId xmlns:a16="http://schemas.microsoft.com/office/drawing/2014/main" id="{84BF8CAC-1E17-63E5-5CED-B0C28F3812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908" t="23062" r="2668" b="4190"/>
          <a:stretch>
            <a:fillRect/>
          </a:stretch>
        </p:blipFill>
        <p:spPr>
          <a:xfrm>
            <a:off x="937727" y="5812796"/>
            <a:ext cx="1436916" cy="1007706"/>
          </a:xfrm>
          <a:prstGeom prst="rect">
            <a:avLst/>
          </a:prstGeom>
        </p:spPr>
      </p:pic>
      <p:sp>
        <p:nvSpPr>
          <p:cNvPr id="16" name="Segnaposto contenuto 2">
            <a:extLst>
              <a:ext uri="{FF2B5EF4-FFF2-40B4-BE49-F238E27FC236}">
                <a16:creationId xmlns:a16="http://schemas.microsoft.com/office/drawing/2014/main" id="{79DA95A6-E2F2-86EC-D31F-6C12994696A9}"/>
              </a:ext>
            </a:extLst>
          </p:cNvPr>
          <p:cNvSpPr txBox="1">
            <a:spLocks/>
          </p:cNvSpPr>
          <p:nvPr/>
        </p:nvSpPr>
        <p:spPr>
          <a:xfrm>
            <a:off x="723643" y="5482769"/>
            <a:ext cx="3302000" cy="600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400" b="1" dirty="0"/>
              <a:t>GROUP LASSO:</a:t>
            </a:r>
            <a:endParaRPr lang="it-IT" sz="24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D9938B05-4CD9-BB90-6F3D-A2F8AA0115AE}"/>
              </a:ext>
            </a:extLst>
          </p:cNvPr>
          <p:cNvSpPr txBox="1">
            <a:spLocks/>
          </p:cNvSpPr>
          <p:nvPr/>
        </p:nvSpPr>
        <p:spPr>
          <a:xfrm>
            <a:off x="3359798" y="5915777"/>
            <a:ext cx="7771623" cy="942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The Group Lasso method induces sparsity at the group level by selecting or excluding entire groups of coefficients.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1847695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3A307-8972-B3AB-B853-BAC4C844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B96CC9A1-60AF-4449-ED6C-B2B5886BB7A1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BD860F9-D56D-0795-801A-C133A7556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Classification Methods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8C046680-0C28-EC37-304B-9312BCB3C15F}"/>
              </a:ext>
            </a:extLst>
          </p:cNvPr>
          <p:cNvSpPr txBox="1">
            <a:spLocks/>
          </p:cNvSpPr>
          <p:nvPr/>
        </p:nvSpPr>
        <p:spPr>
          <a:xfrm>
            <a:off x="838200" y="1964521"/>
            <a:ext cx="3302000" cy="600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400" b="1" dirty="0"/>
              <a:t>SCAD:</a:t>
            </a:r>
            <a:endParaRPr lang="it-IT" sz="2400" dirty="0"/>
          </a:p>
        </p:txBody>
      </p:sp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1EA83EA0-D998-75B3-6AC9-CE8655EDD65C}"/>
              </a:ext>
            </a:extLst>
          </p:cNvPr>
          <p:cNvSpPr txBox="1">
            <a:spLocks/>
          </p:cNvSpPr>
          <p:nvPr/>
        </p:nvSpPr>
        <p:spPr>
          <a:xfrm>
            <a:off x="647701" y="3707001"/>
            <a:ext cx="11125199" cy="846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000" dirty="0"/>
              <a:t>SCAD and MCP methods reduce estimation bias through a non-convex penalty that applies weaker shrinkage to large-magnitude coefficients while preserving sparsity.</a:t>
            </a:r>
          </a:p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endParaRPr lang="it-IT" sz="3200" dirty="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5230BF69-974D-0A0C-8CA3-0AA85334E29C}"/>
              </a:ext>
            </a:extLst>
          </p:cNvPr>
          <p:cNvSpPr txBox="1">
            <a:spLocks/>
          </p:cNvSpPr>
          <p:nvPr/>
        </p:nvSpPr>
        <p:spPr>
          <a:xfrm>
            <a:off x="8449733" y="1964520"/>
            <a:ext cx="3302000" cy="600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400" b="1" dirty="0"/>
              <a:t>MCP:</a:t>
            </a:r>
            <a:endParaRPr lang="it-IT" sz="240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03065D7-B47E-AD7D-3E31-200B86410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34" y="2417864"/>
            <a:ext cx="4639733" cy="1247659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23442230-F2A3-D639-F819-DBF83F609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117" y="2647497"/>
            <a:ext cx="3875617" cy="781503"/>
          </a:xfrm>
          <a:prstGeom prst="rect">
            <a:avLst/>
          </a:prstGeom>
        </p:spPr>
      </p:pic>
      <p:sp>
        <p:nvSpPr>
          <p:cNvPr id="14" name="Segnaposto contenuto 2">
            <a:extLst>
              <a:ext uri="{FF2B5EF4-FFF2-40B4-BE49-F238E27FC236}">
                <a16:creationId xmlns:a16="http://schemas.microsoft.com/office/drawing/2014/main" id="{75D202F3-D52A-8C4A-1F53-F28406A5B7A5}"/>
              </a:ext>
            </a:extLst>
          </p:cNvPr>
          <p:cNvSpPr txBox="1">
            <a:spLocks/>
          </p:cNvSpPr>
          <p:nvPr/>
        </p:nvSpPr>
        <p:spPr>
          <a:xfrm>
            <a:off x="838200" y="4780755"/>
            <a:ext cx="5359400" cy="617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2400" b="1" dirty="0"/>
              <a:t>SUPPORT VECTOR MACHINE:</a:t>
            </a:r>
            <a:endParaRPr lang="it-IT" sz="2400" dirty="0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0BD9FEF2-E774-621B-FA5F-6BACDF02E1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34" y="5398097"/>
            <a:ext cx="6360583" cy="901207"/>
          </a:xfrm>
          <a:prstGeom prst="rect">
            <a:avLst/>
          </a:prstGeom>
        </p:spPr>
      </p:pic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CFB76DC3-7919-721E-C701-8D5D03861CFE}"/>
              </a:ext>
            </a:extLst>
          </p:cNvPr>
          <p:cNvSpPr txBox="1">
            <a:spLocks/>
          </p:cNvSpPr>
          <p:nvPr/>
        </p:nvSpPr>
        <p:spPr>
          <a:xfrm>
            <a:off x="6987117" y="5398097"/>
            <a:ext cx="5060043" cy="1252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The Support Vector Machine method minimizes an objective function composed of the hinge loss and an Elastic Net penalty term.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it-IT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4E1593-B1EC-8AD9-5404-141072996A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21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AAD81-80EC-D6E0-D83C-83B55897A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35F21601-8C35-AE36-AAB2-7F3E65D99023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7284ADF-96BE-3492-F868-C0514BFDD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Experimental Design 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441EB51F-04F4-DFCE-AA58-24A95C9C81CB}"/>
              </a:ext>
            </a:extLst>
          </p:cNvPr>
          <p:cNvSpPr txBox="1">
            <a:spLocks/>
          </p:cNvSpPr>
          <p:nvPr/>
        </p:nvSpPr>
        <p:spPr>
          <a:xfrm>
            <a:off x="838199" y="1964521"/>
            <a:ext cx="7780867" cy="550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400" b="1" dirty="0"/>
              <a:t>Selection of tuning parameters: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egnaposto contenuto 2">
                <a:extLst>
                  <a:ext uri="{FF2B5EF4-FFF2-40B4-BE49-F238E27FC236}">
                    <a16:creationId xmlns:a16="http://schemas.microsoft.com/office/drawing/2014/main" id="{5907A4A7-F3DD-0B6A-F253-EE73C23962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514600"/>
                <a:ext cx="10617200" cy="39962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/>
                  <a:t>If the classification method has </a:t>
                </a:r>
                <a:r>
                  <a:rPr lang="en-US" sz="2000" b="1" dirty="0"/>
                  <a:t>one tuning parameter</a:t>
                </a:r>
                <a:r>
                  <a:rPr lang="en-US" sz="2000" dirty="0"/>
                  <a:t>, we use </a:t>
                </a:r>
                <a:r>
                  <a:rPr lang="en-US" sz="2000" b="1" dirty="0"/>
                  <a:t>k-fold cross-validation</a:t>
                </a:r>
                <a:r>
                  <a:rPr lang="en-US" sz="2000" dirty="0"/>
                  <a:t> to select the value of the tuning parameter </a:t>
                </a:r>
                <a:r>
                  <a:rPr lang="el-GR" sz="2000" dirty="0"/>
                  <a:t>λ</a:t>
                </a:r>
                <a:r>
                  <a:rPr lang="en-US" sz="2000" dirty="0"/>
                  <a:t>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/>
                  <a:t>We divide the dataset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000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 = 5 </m:t>
                    </m:r>
                  </m:oMath>
                </a14:m>
                <a:r>
                  <a:rPr lang="en-US" sz="2000" dirty="0"/>
                  <a:t>subsets, according to the sample size;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/>
                  <a:t>We use 4 subsets to estimate the coefficients </a:t>
                </a:r>
                <a:r>
                  <a:rPr lang="el-GR" sz="2000" dirty="0"/>
                  <a:t>β</a:t>
                </a:r>
                <a:r>
                  <a:rPr lang="it-IT" sz="2000" dirty="0"/>
                  <a:t>;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/>
                  <a:t>We use the remaining subset to compute the cross-validation error using the deviance measure.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If the classification method has </a:t>
                </a:r>
                <a:r>
                  <a:rPr lang="en-US" sz="2000" b="1" dirty="0"/>
                  <a:t>two tuning parameters</a:t>
                </a:r>
                <a:r>
                  <a:rPr lang="en-US" sz="2000" dirty="0"/>
                  <a:t>, we follow a </a:t>
                </a:r>
                <a:r>
                  <a:rPr lang="en-US" sz="2000" b="1" dirty="0"/>
                  <a:t>hierarchical procedure</a:t>
                </a:r>
                <a:r>
                  <a:rPr lang="en-US" sz="2000" dirty="0"/>
                  <a:t>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/>
                  <a:t>We fix a value of the secondary parameter;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000" dirty="0"/>
                  <a:t>We perform k-fold cross-validation to select the value of </a:t>
                </a:r>
                <a:r>
                  <a:rPr lang="el-GR" sz="2000" dirty="0"/>
                  <a:t>λ</a:t>
                </a:r>
                <a:r>
                  <a:rPr lang="en-US" sz="2000" dirty="0"/>
                  <a:t>;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sz="2000" dirty="0" err="1"/>
                  <a:t>We</a:t>
                </a:r>
                <a:r>
                  <a:rPr lang="it-IT" sz="2000" dirty="0"/>
                  <a:t> </a:t>
                </a:r>
                <a:r>
                  <a:rPr lang="it-IT" sz="2000" dirty="0" err="1"/>
                  <a:t>select</a:t>
                </a:r>
                <a:r>
                  <a:rPr lang="it-IT" sz="2000" dirty="0"/>
                  <a:t> the </a:t>
                </a:r>
                <a:r>
                  <a:rPr lang="it-IT" sz="2000" dirty="0" err="1"/>
                  <a:t>pair</a:t>
                </a:r>
                <a:r>
                  <a:rPr lang="it-IT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it-IT" sz="200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200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it-IT" sz="2000" dirty="0"/>
                  <a:t> </a:t>
                </a:r>
                <a:r>
                  <a:rPr lang="it-IT" sz="2000" dirty="0" err="1"/>
                  <a:t>that</a:t>
                </a:r>
                <a:r>
                  <a:rPr lang="it-IT" sz="2000" dirty="0"/>
                  <a:t> </a:t>
                </a:r>
                <a:r>
                  <a:rPr lang="it-IT" sz="2000" dirty="0" err="1"/>
                  <a:t>minimizes</a:t>
                </a:r>
                <a:r>
                  <a:rPr lang="it-IT" sz="2000" dirty="0"/>
                  <a:t> the cross-</a:t>
                </a:r>
                <a:r>
                  <a:rPr lang="it-IT" sz="2000" dirty="0" err="1"/>
                  <a:t>validation</a:t>
                </a:r>
                <a:r>
                  <a:rPr lang="it-IT" sz="2000" dirty="0"/>
                  <a:t> </a:t>
                </a:r>
                <a:r>
                  <a:rPr lang="it-IT" sz="2000" dirty="0" err="1"/>
                  <a:t>error</a:t>
                </a:r>
                <a:r>
                  <a:rPr lang="it-IT" sz="2000" dirty="0"/>
                  <a:t>.</a:t>
                </a:r>
                <a:endParaRPr lang="it-IT" sz="3200" dirty="0"/>
              </a:p>
            </p:txBody>
          </p:sp>
        </mc:Choice>
        <mc:Fallback xmlns="">
          <p:sp>
            <p:nvSpPr>
              <p:cNvPr id="17" name="Segnaposto contenuto 2">
                <a:extLst>
                  <a:ext uri="{FF2B5EF4-FFF2-40B4-BE49-F238E27FC236}">
                    <a16:creationId xmlns:a16="http://schemas.microsoft.com/office/drawing/2014/main" id="{5907A4A7-F3DD-0B6A-F253-EE73C2396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14600"/>
                <a:ext cx="10617200" cy="3996267"/>
              </a:xfrm>
              <a:prstGeom prst="rect">
                <a:avLst/>
              </a:prstGeom>
              <a:blipFill>
                <a:blip r:embed="rId2"/>
                <a:stretch>
                  <a:fillRect l="-632" t="-167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9142D39-9E79-AECD-F9B9-DD1EB554B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864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CA7AE-2341-7AD8-171C-769B76B1E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2C73C40C-9EB4-E177-30BE-9171984E4DB0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C086154-0202-8A46-E0DF-5827E6E9E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Experimental Design 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20EE3F1B-CCB8-2104-1079-0F2A6DE19A9E}"/>
              </a:ext>
            </a:extLst>
          </p:cNvPr>
          <p:cNvSpPr txBox="1">
            <a:spLocks/>
          </p:cNvSpPr>
          <p:nvPr/>
        </p:nvSpPr>
        <p:spPr>
          <a:xfrm>
            <a:off x="838199" y="1964521"/>
            <a:ext cx="7780867" cy="550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400" b="1" dirty="0"/>
              <a:t>Comparison of classification methods: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egnaposto contenuto 2">
                <a:extLst>
                  <a:ext uri="{FF2B5EF4-FFF2-40B4-BE49-F238E27FC236}">
                    <a16:creationId xmlns:a16="http://schemas.microsoft.com/office/drawing/2014/main" id="{0D0098DC-04B7-5858-40DD-23611CEEA4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2861733"/>
                <a:ext cx="10617200" cy="39962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To compare the classification methods and to reduce the selection bias due to a single data split, </a:t>
                </a:r>
                <a:br>
                  <a:rPr lang="en-US" sz="2000" dirty="0"/>
                </a:br>
                <a:r>
                  <a:rPr lang="en-US" sz="2000" dirty="0"/>
                  <a:t>we use </a:t>
                </a:r>
                <a:r>
                  <a:rPr lang="en-US" sz="2000" b="1" dirty="0"/>
                  <a:t>Monte Carlo cross-validation</a:t>
                </a:r>
                <a:r>
                  <a:rPr lang="en-US" sz="2000" dirty="0"/>
                  <a:t>. We repeat the following steps 20 times:</a:t>
                </a: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000" dirty="0"/>
                  <a:t>We split the dataset into a </a:t>
                </a:r>
                <a:r>
                  <a:rPr lang="en-US" sz="2000" b="1" dirty="0"/>
                  <a:t>training set </a:t>
                </a:r>
                <a:r>
                  <a:rPr lang="en-US" sz="2000" dirty="0"/>
                  <a:t>with 130 observations and a </a:t>
                </a:r>
                <a:r>
                  <a:rPr lang="en-US" sz="2000" b="1" dirty="0"/>
                  <a:t>test set </a:t>
                </a:r>
                <a:r>
                  <a:rPr lang="en-US" sz="2000" dirty="0"/>
                  <a:t>with 44 observations.</a:t>
                </a: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000" dirty="0"/>
                  <a:t>We select the tuning parameters and estimate the coefficients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/>
                  <a:t> using the training set.</a:t>
                </a: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000" dirty="0"/>
                  <a:t>We evaluate the model performance on the test set using </a:t>
                </a:r>
                <a:r>
                  <a:rPr lang="en-US" sz="2000" b="1" dirty="0"/>
                  <a:t>misclassification error</a:t>
                </a:r>
                <a:r>
                  <a:rPr lang="en-US" sz="2000" dirty="0"/>
                  <a:t>, </a:t>
                </a:r>
                <a:r>
                  <a:rPr lang="en-US" sz="2000" b="1" dirty="0"/>
                  <a:t>Accuracy</a:t>
                </a:r>
                <a:r>
                  <a:rPr lang="en-US" sz="2000" dirty="0"/>
                  <a:t>, </a:t>
                </a:r>
                <a:r>
                  <a:rPr lang="en-US" sz="2000" b="1" dirty="0"/>
                  <a:t>Specificity</a:t>
                </a:r>
                <a:r>
                  <a:rPr lang="en-US" sz="2000" dirty="0"/>
                  <a:t>, and </a:t>
                </a:r>
                <a:r>
                  <a:rPr lang="en-US" sz="2000" b="1" dirty="0"/>
                  <a:t>Sensitivity</a:t>
                </a:r>
                <a:r>
                  <a:rPr lang="en-US" sz="20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For each method, we obtain four vectors of performance measures, which we use to select the best classification method.</a:t>
                </a:r>
              </a:p>
            </p:txBody>
          </p:sp>
        </mc:Choice>
        <mc:Fallback xmlns="">
          <p:sp>
            <p:nvSpPr>
              <p:cNvPr id="17" name="Segnaposto contenuto 2">
                <a:extLst>
                  <a:ext uri="{FF2B5EF4-FFF2-40B4-BE49-F238E27FC236}">
                    <a16:creationId xmlns:a16="http://schemas.microsoft.com/office/drawing/2014/main" id="{0D0098DC-04B7-5858-40DD-23611CEEA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861733"/>
                <a:ext cx="10617200" cy="3996267"/>
              </a:xfrm>
              <a:prstGeom prst="rect">
                <a:avLst/>
              </a:prstGeom>
              <a:blipFill>
                <a:blip r:embed="rId2"/>
                <a:stretch>
                  <a:fillRect l="-574" t="-7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840882D-39AF-BD42-672B-D3EBB6A57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18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55804-DC83-656C-73A0-E21ACB767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A5F7991B-D2E4-2DB8-4FBF-6A4120257CAB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D258F72-791B-CF9D-8E70-BD78F5C26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2B7F27-26D4-FA22-3C91-FFA0D2EE9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1441"/>
            <a:ext cx="10934700" cy="4351338"/>
          </a:xfrm>
        </p:spPr>
        <p:txBody>
          <a:bodyPr>
            <a:normAutofit/>
          </a:bodyPr>
          <a:lstStyle/>
          <a:p>
            <a:r>
              <a:rPr lang="it-IT" sz="2400" b="1" dirty="0"/>
              <a:t>Interpretative analysis</a:t>
            </a:r>
            <a:r>
              <a:rPr lang="it-IT" sz="2400" dirty="0"/>
              <a:t>: understanding of </a:t>
            </a:r>
            <a:r>
              <a:rPr lang="it-IT" sz="2400" i="1" dirty="0"/>
              <a:t>what</a:t>
            </a:r>
            <a:r>
              <a:rPr lang="it-IT" sz="2400" dirty="0"/>
              <a:t> characterizes Alzheimer’s Disease.</a:t>
            </a:r>
          </a:p>
          <a:p>
            <a:pPr marL="0" indent="0">
              <a:buNone/>
            </a:pPr>
            <a:r>
              <a:rPr lang="it-IT" sz="400" dirty="0"/>
              <a:t> </a:t>
            </a:r>
            <a:endParaRPr lang="it-IT" sz="100" dirty="0"/>
          </a:p>
          <a:p>
            <a:pPr lvl="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2000" b="1" dirty="0"/>
              <a:t>Feature-level analysis</a:t>
            </a:r>
            <a:r>
              <a:rPr lang="it-IT" sz="2000" dirty="0"/>
              <a:t>: using task-by-task Lasso.</a:t>
            </a:r>
          </a:p>
          <a:p>
            <a:pPr lvl="7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it-IT" sz="2000" b="1" dirty="0"/>
              <a:t>Task-level analysis</a:t>
            </a:r>
            <a:r>
              <a:rPr lang="it-IT" sz="2000" dirty="0"/>
              <a:t>: using Group Lasso.</a:t>
            </a:r>
          </a:p>
          <a:p>
            <a:pPr marL="3200400" lvl="7" indent="0">
              <a:buNone/>
            </a:pPr>
            <a:endParaRPr lang="it-IT" sz="1400" dirty="0"/>
          </a:p>
          <a:p>
            <a:pPr marL="3200400" lvl="7" indent="0">
              <a:buNone/>
            </a:pPr>
            <a:endParaRPr lang="it-IT" sz="1400" dirty="0"/>
          </a:p>
          <a:p>
            <a:r>
              <a:rPr lang="it-IT" sz="2400" b="1" dirty="0"/>
              <a:t>Predictive results</a:t>
            </a:r>
            <a:r>
              <a:rPr lang="it-IT" sz="2400" dirty="0"/>
              <a:t>: building models that </a:t>
            </a:r>
            <a:r>
              <a:rPr lang="it-IT" sz="2400" i="1" dirty="0"/>
              <a:t>predict</a:t>
            </a:r>
            <a:r>
              <a:rPr lang="it-IT" sz="2400" dirty="0"/>
              <a:t> Alzheimer’s Disease.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C9A025-678E-2232-0A71-212AFB001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08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84825-5E0F-45CD-DB38-E1449F20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2D1296D-7722-BC85-5FE4-AB0C9B0FE0E5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7DF67E2-F4F7-6608-B72A-B67C3948D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Interpretative Analysis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4DAA0F-02A0-CDDA-D4F9-01B9355AD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267" y="2046884"/>
            <a:ext cx="10597633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it-IT" sz="2400" b="1" dirty="0"/>
              <a:t>TASK-BY-TASK LASSO</a:t>
            </a:r>
            <a:r>
              <a:rPr lang="it-IT" sz="2400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2400" dirty="0"/>
              <a:t>Lasso Logistic Regression applied separately for each of the 25 tasks.</a:t>
            </a:r>
          </a:p>
          <a:p>
            <a:pPr marL="0" indent="0">
              <a:lnSpc>
                <a:spcPct val="100000"/>
              </a:lnSpc>
              <a:buNone/>
            </a:pPr>
            <a:endParaRPr lang="it-IT" sz="2400" dirty="0"/>
          </a:p>
          <a:p>
            <a:pPr marL="0" indent="0">
              <a:lnSpc>
                <a:spcPct val="100000"/>
              </a:lnSpc>
              <a:buNone/>
            </a:pPr>
            <a:r>
              <a:rPr lang="it-IT" sz="2400" dirty="0"/>
              <a:t>Objective:</a:t>
            </a:r>
            <a:br>
              <a:rPr lang="it-IT" sz="2400" dirty="0"/>
            </a:br>
            <a:r>
              <a:rPr lang="it-IT" sz="1600" dirty="0"/>
              <a:t> </a:t>
            </a:r>
          </a:p>
          <a:p>
            <a:pPr lvl="1">
              <a:lnSpc>
                <a:spcPct val="100000"/>
              </a:lnSpc>
            </a:pPr>
            <a:r>
              <a:rPr lang="it-IT" dirty="0"/>
              <a:t>Identify </a:t>
            </a:r>
            <a:r>
              <a:rPr lang="en-US" dirty="0"/>
              <a:t>the </a:t>
            </a:r>
            <a:r>
              <a:rPr lang="en-US" u="sng" dirty="0"/>
              <a:t>most discriminative</a:t>
            </a:r>
            <a:r>
              <a:rPr lang="en-US" dirty="0"/>
              <a:t> features </a:t>
            </a:r>
            <a:r>
              <a:rPr lang="en-US" i="1" dirty="0"/>
              <a:t>within</a:t>
            </a:r>
            <a:r>
              <a:rPr lang="en-US" dirty="0"/>
              <a:t> each single task.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Identify the ones that </a:t>
            </a:r>
            <a:r>
              <a:rPr lang="en-US" u="sng" dirty="0"/>
              <a:t>recur</a:t>
            </a:r>
            <a:r>
              <a:rPr lang="en-US" dirty="0"/>
              <a:t> most frequently across different exercises.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it-IT" dirty="0"/>
              <a:t>   </a:t>
            </a:r>
            <a:r>
              <a:rPr lang="it-IT" sz="1800" i="1" dirty="0"/>
              <a:t>Robustness strategy</a:t>
            </a:r>
            <a:r>
              <a:rPr lang="it-IT" sz="1800" dirty="0"/>
              <a:t>: 50 resampling iterations. </a:t>
            </a:r>
            <a:r>
              <a:rPr lang="en-US" sz="1800" dirty="0"/>
              <a:t>A feature is kept if selected in ≥ 80% of iterations.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C4476C-7646-4A67-B1C3-547F8020B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DAC8532B-3531-D48E-D9C9-7E5FC833CB54}"/>
              </a:ext>
            </a:extLst>
          </p:cNvPr>
          <p:cNvSpPr/>
          <p:nvPr/>
        </p:nvSpPr>
        <p:spPr>
          <a:xfrm>
            <a:off x="5825413" y="4848415"/>
            <a:ext cx="270587" cy="522514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421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936E-69D0-B992-D3BD-46BEBCB41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90593F-01FF-AF00-61DC-4D32C71F0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808" y="1675072"/>
            <a:ext cx="6459992" cy="5169587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528E1D19-FFB2-9870-F785-F9AC8031316C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FCC772-99F0-7876-E622-F3F2428F4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569" y="2084196"/>
            <a:ext cx="966690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b="1" dirty="0"/>
              <a:t>TASK-BY-TASK LASSO</a:t>
            </a:r>
            <a:r>
              <a:rPr lang="it-IT" sz="2400" dirty="0"/>
              <a:t>: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en-US" sz="2400" dirty="0"/>
              <a:t>The most recurrent features </a:t>
            </a:r>
            <a:br>
              <a:rPr lang="en-US" sz="2400" dirty="0"/>
            </a:br>
            <a:r>
              <a:rPr lang="en-US" sz="2400" dirty="0"/>
              <a:t>across all tasks: </a:t>
            </a:r>
          </a:p>
          <a:p>
            <a:pPr marL="0" indent="0">
              <a:buNone/>
            </a:pPr>
            <a:r>
              <a:rPr lang="en-US" sz="1050" dirty="0"/>
              <a:t> </a:t>
            </a:r>
          </a:p>
          <a:p>
            <a:pPr lvl="1"/>
            <a:r>
              <a:rPr lang="en-US" i="1" dirty="0"/>
              <a:t>Mean Pressure</a:t>
            </a:r>
            <a:r>
              <a:rPr lang="en-US" dirty="0"/>
              <a:t>, </a:t>
            </a:r>
          </a:p>
          <a:p>
            <a:pPr lvl="1"/>
            <a:r>
              <a:rPr lang="en-US" i="1" dirty="0"/>
              <a:t>Total Time</a:t>
            </a:r>
            <a:r>
              <a:rPr lang="en-US" dirty="0"/>
              <a:t>, </a:t>
            </a:r>
          </a:p>
          <a:p>
            <a:pPr lvl="1"/>
            <a:r>
              <a:rPr lang="en-US" i="1" dirty="0"/>
              <a:t>Paper Time</a:t>
            </a:r>
            <a:r>
              <a:rPr lang="en-US" dirty="0"/>
              <a:t>. 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BD773B6-245D-F38D-7C7D-FD40E2005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Interpretative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D8D321-D15D-1113-02F6-11D680EA9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E162945-2FE0-4EC4-CF6F-69E3DF81B7A8}"/>
              </a:ext>
            </a:extLst>
          </p:cNvPr>
          <p:cNvSpPr/>
          <p:nvPr/>
        </p:nvSpPr>
        <p:spPr>
          <a:xfrm>
            <a:off x="7651538" y="5799833"/>
            <a:ext cx="243684" cy="21808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EFF156-595A-A3AF-4424-7CFEB6E737BA}"/>
              </a:ext>
            </a:extLst>
          </p:cNvPr>
          <p:cNvSpPr/>
          <p:nvPr/>
        </p:nvSpPr>
        <p:spPr>
          <a:xfrm>
            <a:off x="7657478" y="6246324"/>
            <a:ext cx="237744" cy="21808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4059A3-220D-D5F4-B7C4-FD3A83D2FC3F}"/>
              </a:ext>
            </a:extLst>
          </p:cNvPr>
          <p:cNvSpPr/>
          <p:nvPr/>
        </p:nvSpPr>
        <p:spPr>
          <a:xfrm>
            <a:off x="7657322" y="5571431"/>
            <a:ext cx="237900" cy="21808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5102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8947-E498-1BAD-090B-43FA0C399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3D6939B1-602F-2690-C9CF-D4F54BFB464F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705247D-10B2-AC1F-D188-68511BB1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Interpretative Analysis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FCE4A77-CA15-7731-2193-B4CA43A24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267" y="2046884"/>
            <a:ext cx="966690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b="1" dirty="0"/>
              <a:t>GROUP LASSO</a:t>
            </a:r>
            <a:r>
              <a:rPr lang="it-IT" sz="2400" dirty="0"/>
              <a:t>:</a:t>
            </a:r>
          </a:p>
          <a:p>
            <a:pPr marL="0" indent="0">
              <a:buNone/>
            </a:pPr>
            <a:r>
              <a:rPr lang="it-IT" sz="2400" dirty="0"/>
              <a:t>Variables are naturally grouped in 25 tasks, with 18 features each.</a:t>
            </a:r>
            <a:br>
              <a:rPr lang="it-IT" sz="2400" dirty="0"/>
            </a:br>
            <a:r>
              <a:rPr lang="en-US" sz="2400" dirty="0"/>
              <a:t>This method allows to select or discard entire exercises at once.</a:t>
            </a:r>
            <a:endParaRPr lang="it-IT" sz="2400" dirty="0"/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dirty="0"/>
              <a:t>Objective:</a:t>
            </a:r>
          </a:p>
          <a:p>
            <a:pPr marL="0" indent="0">
              <a:buNone/>
            </a:pPr>
            <a:r>
              <a:rPr lang="it-IT" sz="1100" dirty="0"/>
              <a:t> </a:t>
            </a:r>
          </a:p>
          <a:p>
            <a:pPr lvl="1"/>
            <a:r>
              <a:rPr lang="it-IT" dirty="0"/>
              <a:t>Select </a:t>
            </a:r>
            <a:r>
              <a:rPr lang="en-US" dirty="0"/>
              <a:t>the most discriminative tasks.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Identify the most frequently selected task types.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D736A0-C8DC-479E-A2FC-852044E80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4B460C82-02C3-75A3-D44D-FE266DFF329C}"/>
              </a:ext>
            </a:extLst>
          </p:cNvPr>
          <p:cNvSpPr/>
          <p:nvPr/>
        </p:nvSpPr>
        <p:spPr>
          <a:xfrm>
            <a:off x="4019939" y="4941721"/>
            <a:ext cx="270587" cy="522514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6006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1B4BD-7EE7-8266-AC7A-DBF5EC91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B8878B-FF73-6EFF-4A0C-418E9CBF8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249" y="3086309"/>
            <a:ext cx="6354062" cy="2067213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B069F9CF-71F6-2C1C-13DB-9BD997A0BB48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A39FB73-E6C9-586E-FDAC-A02A01853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Interpretative Analysis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F12A17-F420-7044-F7C4-65CC7C7AD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267" y="2046884"/>
            <a:ext cx="966690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b="1" dirty="0"/>
              <a:t>GROUP LASSO</a:t>
            </a:r>
            <a:r>
              <a:rPr lang="it-IT" sz="2400" dirty="0"/>
              <a:t>: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dirty="0"/>
              <a:t>Selected tasks: 14 out of 25.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en-US" sz="2400" dirty="0"/>
              <a:t>Most frequently selected </a:t>
            </a:r>
            <a:br>
              <a:rPr lang="en-US" sz="2400" dirty="0"/>
            </a:br>
            <a:r>
              <a:rPr lang="en-US" sz="2400" dirty="0"/>
              <a:t>task types:</a:t>
            </a:r>
          </a:p>
          <a:p>
            <a:pPr marL="0" indent="0">
              <a:buNone/>
            </a:pPr>
            <a:r>
              <a:rPr lang="en-US" sz="1100" dirty="0"/>
              <a:t> </a:t>
            </a:r>
          </a:p>
          <a:p>
            <a:pPr lvl="1"/>
            <a:r>
              <a:rPr lang="en-US" i="1" dirty="0"/>
              <a:t>Graphic</a:t>
            </a:r>
            <a:r>
              <a:rPr lang="en-US" dirty="0"/>
              <a:t>, </a:t>
            </a:r>
          </a:p>
          <a:p>
            <a:pPr lvl="1"/>
            <a:r>
              <a:rPr lang="en-US" i="1" dirty="0"/>
              <a:t>Copy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it-IT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78E2CA-E612-7720-3513-35308668F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F550AD-B064-2DC4-0715-4075A056A25C}"/>
              </a:ext>
            </a:extLst>
          </p:cNvPr>
          <p:cNvSpPr/>
          <p:nvPr/>
        </p:nvSpPr>
        <p:spPr>
          <a:xfrm>
            <a:off x="7622456" y="4749281"/>
            <a:ext cx="326572" cy="251926"/>
          </a:xfrm>
          <a:prstGeom prst="rect">
            <a:avLst/>
          </a:prstGeom>
          <a:noFill/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4531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66652-8A32-6156-3700-54DC26BE4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2C1A50FC-BEB1-1605-3E85-12E43A964AC6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8369A17-463E-3C1A-88A9-9ADA2213D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Interpretative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89224D-045A-589C-9E62-AC77F7A9D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A37A5B-2E23-F531-99FA-14F250EE2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25" y="2127730"/>
            <a:ext cx="6005400" cy="41126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8CA174-740E-F0B6-C779-29EDF76BD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890" y="2861004"/>
            <a:ext cx="5272806" cy="289528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657C24F1-3B25-BC83-1C09-57885115FFFE}"/>
              </a:ext>
            </a:extLst>
          </p:cNvPr>
          <p:cNvSpPr/>
          <p:nvPr/>
        </p:nvSpPr>
        <p:spPr>
          <a:xfrm>
            <a:off x="1038693" y="5172551"/>
            <a:ext cx="336950" cy="329077"/>
          </a:xfrm>
          <a:prstGeom prst="ellipse">
            <a:avLst/>
          </a:prstGeom>
          <a:noFill/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F3A0343-B45F-06E2-4BA9-9A40F6E84084}"/>
              </a:ext>
            </a:extLst>
          </p:cNvPr>
          <p:cNvSpPr/>
          <p:nvPr/>
        </p:nvSpPr>
        <p:spPr>
          <a:xfrm>
            <a:off x="8621226" y="3837657"/>
            <a:ext cx="332781" cy="346397"/>
          </a:xfrm>
          <a:prstGeom prst="ellipse">
            <a:avLst/>
          </a:prstGeom>
          <a:noFill/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242D95-1CCF-E455-DB66-0A88F19D5787}"/>
              </a:ext>
            </a:extLst>
          </p:cNvPr>
          <p:cNvSpPr txBox="1"/>
          <p:nvPr/>
        </p:nvSpPr>
        <p:spPr>
          <a:xfrm>
            <a:off x="5225912" y="1763001"/>
            <a:ext cx="2089226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GROUP LASSO</a:t>
            </a:r>
            <a:r>
              <a:rPr kumimoji="0" lang="it-I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endParaRPr lang="it-I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7D4F7-E12F-6003-A272-76A70552867E}"/>
              </a:ext>
            </a:extLst>
          </p:cNvPr>
          <p:cNvSpPr txBox="1"/>
          <p:nvPr/>
        </p:nvSpPr>
        <p:spPr>
          <a:xfrm>
            <a:off x="265125" y="6268105"/>
            <a:ext cx="6910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>
                <a:solidFill>
                  <a:prstClr val="black"/>
                </a:solidFill>
                <a:latin typeface="Aptos" panose="02110004020202020204"/>
              </a:rPr>
              <a:t>Task 17 </a:t>
            </a:r>
            <a:r>
              <a:rPr lang="it-IT" sz="2000" dirty="0">
                <a:solidFill>
                  <a:prstClr val="black"/>
                </a:solidFill>
                <a:latin typeface="Aptos" panose="02110004020202020204"/>
              </a:rPr>
              <a:t>(</a:t>
            </a:r>
            <a:r>
              <a:rPr lang="it-IT" sz="2000" i="1" dirty="0">
                <a:solidFill>
                  <a:prstClr val="black"/>
                </a:solidFill>
              </a:rPr>
              <a:t>Copying words in boxes</a:t>
            </a:r>
            <a:r>
              <a:rPr lang="it-IT" sz="2000" dirty="0">
                <a:solidFill>
                  <a:prstClr val="black"/>
                </a:solidFill>
                <a:latin typeface="Aptos" panose="02110004020202020204"/>
              </a:rPr>
              <a:t>): strongest marginal predictor</a:t>
            </a:r>
            <a:endParaRPr lang="it-IT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C0872-89FD-5117-ACBA-2DFFDBE5BDDF}"/>
              </a:ext>
            </a:extLst>
          </p:cNvPr>
          <p:cNvSpPr txBox="1"/>
          <p:nvPr/>
        </p:nvSpPr>
        <p:spPr>
          <a:xfrm>
            <a:off x="7475621" y="5960329"/>
            <a:ext cx="40867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solidFill>
                  <a:prstClr val="black"/>
                </a:solidFill>
                <a:latin typeface="Aptos" panose="02110004020202020204"/>
              </a:rPr>
              <a:t>Task 19 </a:t>
            </a:r>
            <a:r>
              <a:rPr lang="it-IT" sz="2000" dirty="0">
                <a:solidFill>
                  <a:prstClr val="black"/>
                </a:solidFill>
                <a:latin typeface="Aptos" panose="02110004020202020204"/>
              </a:rPr>
              <a:t>(</a:t>
            </a:r>
            <a:r>
              <a:rPr lang="it-IT" sz="2000" i="1" dirty="0">
                <a:solidFill>
                  <a:prstClr val="black"/>
                </a:solidFill>
              </a:rPr>
              <a:t>Copying a postal order</a:t>
            </a:r>
            <a:r>
              <a:rPr lang="it-IT" sz="2000" dirty="0">
                <a:solidFill>
                  <a:prstClr val="black"/>
                </a:solidFill>
                <a:latin typeface="Aptos" panose="02110004020202020204"/>
              </a:rPr>
              <a:t>): </a:t>
            </a:r>
            <a:br>
              <a:rPr lang="it-IT" sz="2000" dirty="0">
                <a:solidFill>
                  <a:prstClr val="black"/>
                </a:solidFill>
                <a:latin typeface="Aptos" panose="02110004020202020204"/>
              </a:rPr>
            </a:br>
            <a:r>
              <a:rPr lang="it-IT" sz="2000" dirty="0">
                <a:solidFill>
                  <a:prstClr val="black"/>
                </a:solidFill>
                <a:latin typeface="Aptos" panose="02110004020202020204"/>
              </a:rPr>
              <a:t>strongest predictor in the best model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656066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FCFCE-FC73-77F2-FE39-29705D798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75EFCDA6-B61F-EAC7-FB3F-8857DF13DD9C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15AFFD1-1C3F-EF1C-D355-4D11F5CD3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Results of Predictive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9B1809-F2B5-4DA0-E88A-1858FB5FC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EC6CD3-7398-22BB-B724-33878F0AA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76175"/>
            <a:ext cx="6134869" cy="4168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67C7E3-BA21-C7F2-ABE4-7168E5A01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090" y="2762569"/>
            <a:ext cx="6143392" cy="299585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D44C50B-EB8F-7393-6E21-951A80452548}"/>
              </a:ext>
            </a:extLst>
          </p:cNvPr>
          <p:cNvSpPr/>
          <p:nvPr/>
        </p:nvSpPr>
        <p:spPr>
          <a:xfrm>
            <a:off x="7268547" y="4133461"/>
            <a:ext cx="821094" cy="457200"/>
          </a:xfrm>
          <a:prstGeom prst="rect">
            <a:avLst/>
          </a:prstGeom>
          <a:noFill/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D5C415-3E10-D404-35A1-B5D03A30AC48}"/>
              </a:ext>
            </a:extLst>
          </p:cNvPr>
          <p:cNvSpPr/>
          <p:nvPr/>
        </p:nvSpPr>
        <p:spPr>
          <a:xfrm>
            <a:off x="8876523" y="5172269"/>
            <a:ext cx="821094" cy="457200"/>
          </a:xfrm>
          <a:prstGeom prst="rect">
            <a:avLst/>
          </a:prstGeom>
          <a:noFill/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3913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C6332EAE-76C9-01BF-D28A-E7C838184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3074" name="Picture 2" descr="University of Padua Logo (UNIPD) - PNG Logo Vector Brand Downloads (SVG,  EPS)">
            <a:extLst>
              <a:ext uri="{FF2B5EF4-FFF2-40B4-BE49-F238E27FC236}">
                <a16:creationId xmlns:a16="http://schemas.microsoft.com/office/drawing/2014/main" id="{64A275C1-F4A2-290F-F6A1-7648449F1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207" y="152321"/>
            <a:ext cx="2933586" cy="1314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FA98DAEA-AD18-49BF-7C7C-B9599DDEF7AB}"/>
              </a:ext>
            </a:extLst>
          </p:cNvPr>
          <p:cNvSpPr/>
          <p:nvPr/>
        </p:nvSpPr>
        <p:spPr>
          <a:xfrm>
            <a:off x="0" y="1600200"/>
            <a:ext cx="12192000" cy="5257800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73F1C0B9-C927-035A-1693-4A6D9CF84BF1}"/>
              </a:ext>
            </a:extLst>
          </p:cNvPr>
          <p:cNvSpPr txBox="1"/>
          <p:nvPr/>
        </p:nvSpPr>
        <p:spPr>
          <a:xfrm>
            <a:off x="3328010" y="3814823"/>
            <a:ext cx="55359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>
                <a:solidFill>
                  <a:schemeClr val="bg1"/>
                </a:solidFill>
              </a:rPr>
              <a:t>Thank you for your attention!</a:t>
            </a:r>
            <a:endParaRPr lang="it-IT" sz="40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1317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7172</TotalTime>
  <Words>1279</Words>
  <Application>Microsoft Office PowerPoint</Application>
  <PresentationFormat>Widescreen</PresentationFormat>
  <Paragraphs>154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Verdana</vt:lpstr>
      <vt:lpstr>Wingdings</vt:lpstr>
      <vt:lpstr>Tema di Office</vt:lpstr>
      <vt:lpstr>PowerPoint Presentation</vt:lpstr>
      <vt:lpstr>Table of contents</vt:lpstr>
      <vt:lpstr>Introduction</vt:lpstr>
      <vt:lpstr>The DARWIN Dataset</vt:lpstr>
      <vt:lpstr>The DARWIN Dataset</vt:lpstr>
      <vt:lpstr>Exploratory Data Analysis</vt:lpstr>
      <vt:lpstr>Exploratory Data Analysis Internal correlation structure</vt:lpstr>
      <vt:lpstr>Exploratory Data Analysis Internal correlation structure</vt:lpstr>
      <vt:lpstr>Multivariate Exploratory Analysis via Principal Components</vt:lpstr>
      <vt:lpstr>Multivariate Exploratory Analysis via Principal Components</vt:lpstr>
      <vt:lpstr>Classification Methods</vt:lpstr>
      <vt:lpstr>Classification Methods</vt:lpstr>
      <vt:lpstr>Classification Methods</vt:lpstr>
      <vt:lpstr>Experimental Design </vt:lpstr>
      <vt:lpstr>Experimental Design </vt:lpstr>
      <vt:lpstr>Objectives</vt:lpstr>
      <vt:lpstr>Interpretative Analysis</vt:lpstr>
      <vt:lpstr>Interpretative Analysis</vt:lpstr>
      <vt:lpstr>Interpretative Analysis</vt:lpstr>
      <vt:lpstr>Interpretative Analysis</vt:lpstr>
      <vt:lpstr>Interpretative Analysis</vt:lpstr>
      <vt:lpstr>Results of Predictive Performance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Laura Martini</dc:creator>
  <cp:lastModifiedBy>Laura Martini</cp:lastModifiedBy>
  <cp:revision>1</cp:revision>
  <dcterms:created xsi:type="dcterms:W3CDTF">2024-03-24T09:51:20Z</dcterms:created>
  <dcterms:modified xsi:type="dcterms:W3CDTF">2026-01-13T16:30:27Z</dcterms:modified>
</cp:coreProperties>
</file>