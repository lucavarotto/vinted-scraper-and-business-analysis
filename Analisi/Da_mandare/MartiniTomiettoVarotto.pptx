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24" r:id="rId2"/>
    <p:sldId id="325" r:id="rId3"/>
    <p:sldId id="326" r:id="rId4"/>
    <p:sldId id="327" r:id="rId5"/>
    <p:sldId id="328" r:id="rId6"/>
    <p:sldId id="329" r:id="rId7"/>
    <p:sldId id="330" r:id="rId8"/>
    <p:sldId id="331" r:id="rId9"/>
    <p:sldId id="332" r:id="rId10"/>
    <p:sldId id="372" r:id="rId11"/>
    <p:sldId id="375" r:id="rId12"/>
    <p:sldId id="376" r:id="rId13"/>
    <p:sldId id="339" r:id="rId14"/>
    <p:sldId id="340" r:id="rId15"/>
    <p:sldId id="342" r:id="rId16"/>
    <p:sldId id="343" r:id="rId17"/>
    <p:sldId id="344" r:id="rId18"/>
    <p:sldId id="345" r:id="rId19"/>
    <p:sldId id="346" r:id="rId20"/>
    <p:sldId id="347" r:id="rId21"/>
    <p:sldId id="348" r:id="rId22"/>
    <p:sldId id="349" r:id="rId23"/>
    <p:sldId id="353" r:id="rId24"/>
    <p:sldId id="354" r:id="rId25"/>
    <p:sldId id="355" r:id="rId26"/>
    <p:sldId id="356" r:id="rId27"/>
    <p:sldId id="350" r:id="rId28"/>
    <p:sldId id="359" r:id="rId29"/>
    <p:sldId id="358" r:id="rId30"/>
    <p:sldId id="360" r:id="rId31"/>
    <p:sldId id="361" r:id="rId32"/>
    <p:sldId id="362" r:id="rId33"/>
    <p:sldId id="371" r:id="rId34"/>
    <p:sldId id="363" r:id="rId35"/>
    <p:sldId id="364" r:id="rId36"/>
    <p:sldId id="365" r:id="rId37"/>
    <p:sldId id="366" r:id="rId38"/>
    <p:sldId id="367" r:id="rId39"/>
    <p:sldId id="400" r:id="rId40"/>
    <p:sldId id="259" r:id="rId41"/>
    <p:sldId id="402" r:id="rId42"/>
    <p:sldId id="403" r:id="rId43"/>
    <p:sldId id="404" r:id="rId44"/>
    <p:sldId id="405" r:id="rId45"/>
    <p:sldId id="263" r:id="rId46"/>
    <p:sldId id="407" r:id="rId47"/>
    <p:sldId id="369" r:id="rId48"/>
    <p:sldId id="415" r:id="rId49"/>
    <p:sldId id="411" r:id="rId50"/>
    <p:sldId id="267" r:id="rId51"/>
    <p:sldId id="416" r:id="rId52"/>
    <p:sldId id="271" r:id="rId53"/>
    <p:sldId id="368" r:id="rId5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0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0" autoAdjust="0"/>
    <p:restoredTop sz="95020" autoAdjust="0"/>
  </p:normalViewPr>
  <p:slideViewPr>
    <p:cSldViewPr snapToGrid="0">
      <p:cViewPr varScale="1">
        <p:scale>
          <a:sx n="50" d="100"/>
          <a:sy n="50" d="100"/>
        </p:scale>
        <p:origin x="48"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36E671-1856-4E29-8192-1E2376D760E3}" type="datetimeFigureOut">
              <a:rPr lang="it-IT" smtClean="0"/>
              <a:t>07/06/2026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8A488-D8CA-44F4-8465-74E883B39C04}" type="slidenum">
              <a:rPr lang="it-IT" smtClean="0"/>
              <a:t>‹N›</a:t>
            </a:fld>
            <a:endParaRPr lang="it-IT"/>
          </a:p>
        </p:txBody>
      </p:sp>
    </p:spTree>
    <p:extLst>
      <p:ext uri="{BB962C8B-B14F-4D97-AF65-F5344CB8AC3E}">
        <p14:creationId xmlns:p14="http://schemas.microsoft.com/office/powerpoint/2010/main" val="3911130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9D66BA69-A2D0-408D-9CED-F4FA8BB06912}" type="slidenum">
              <a:rPr lang="it-IT" smtClean="0"/>
              <a:t>14</a:t>
            </a:fld>
            <a:endParaRPr lang="it-IT"/>
          </a:p>
        </p:txBody>
      </p:sp>
    </p:spTree>
    <p:extLst>
      <p:ext uri="{BB962C8B-B14F-4D97-AF65-F5344CB8AC3E}">
        <p14:creationId xmlns:p14="http://schemas.microsoft.com/office/powerpoint/2010/main" val="264038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9D66BA69-A2D0-408D-9CED-F4FA8BB06912}" type="slidenum">
              <a:rPr lang="it-IT" smtClean="0"/>
              <a:t>27</a:t>
            </a:fld>
            <a:endParaRPr lang="it-IT"/>
          </a:p>
        </p:txBody>
      </p:sp>
    </p:spTree>
    <p:extLst>
      <p:ext uri="{BB962C8B-B14F-4D97-AF65-F5344CB8AC3E}">
        <p14:creationId xmlns:p14="http://schemas.microsoft.com/office/powerpoint/2010/main" val="1230049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9D66BA69-A2D0-408D-9CED-F4FA8BB06912}" type="slidenum">
              <a:rPr lang="it-IT" smtClean="0"/>
              <a:t>31</a:t>
            </a:fld>
            <a:endParaRPr lang="it-IT"/>
          </a:p>
        </p:txBody>
      </p:sp>
    </p:spTree>
    <p:extLst>
      <p:ext uri="{BB962C8B-B14F-4D97-AF65-F5344CB8AC3E}">
        <p14:creationId xmlns:p14="http://schemas.microsoft.com/office/powerpoint/2010/main" val="2021600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418A488-D8CA-44F4-8465-74E883B39C04}" type="slidenum">
              <a:rPr lang="it-IT" smtClean="0"/>
              <a:t>39</a:t>
            </a:fld>
            <a:endParaRPr lang="it-IT"/>
          </a:p>
        </p:txBody>
      </p:sp>
    </p:spTree>
    <p:extLst>
      <p:ext uri="{BB962C8B-B14F-4D97-AF65-F5344CB8AC3E}">
        <p14:creationId xmlns:p14="http://schemas.microsoft.com/office/powerpoint/2010/main" val="819612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pPr marL="0" indent="0">
              <a:lnSpc>
                <a:spcPct val="130000"/>
              </a:lnSpc>
              <a:buNone/>
            </a:pPr>
            <a:r>
              <a:rPr lang="en-US" sz="1200" dirty="0">
                <a:solidFill>
                  <a:srgbClr val="333333"/>
                </a:solidFill>
              </a:rPr>
              <a:t>Nike e Adidas </a:t>
            </a:r>
            <a:r>
              <a:rPr lang="en-US" sz="1200" dirty="0" err="1">
                <a:solidFill>
                  <a:srgbClr val="333333"/>
                </a:solidFill>
              </a:rPr>
              <a:t>dominano</a:t>
            </a:r>
            <a:r>
              <a:rPr lang="en-US" sz="1200" dirty="0">
                <a:solidFill>
                  <a:srgbClr val="333333"/>
                </a:solidFill>
              </a:rPr>
              <a:t> il </a:t>
            </a:r>
            <a:r>
              <a:rPr lang="en-US" sz="1200" dirty="0" err="1">
                <a:solidFill>
                  <a:srgbClr val="333333"/>
                </a:solidFill>
              </a:rPr>
              <a:t>supporto</a:t>
            </a:r>
            <a:r>
              <a:rPr lang="en-US" sz="1200" dirty="0">
                <a:solidFill>
                  <a:srgbClr val="333333"/>
                </a:solidFill>
              </a:rPr>
              <a:t>. Le </a:t>
            </a:r>
            <a:r>
              <a:rPr lang="en-US" sz="1200" dirty="0" err="1">
                <a:solidFill>
                  <a:srgbClr val="333333"/>
                </a:solidFill>
              </a:rPr>
              <a:t>regole</a:t>
            </a:r>
            <a:r>
              <a:rPr lang="en-US" sz="1200" dirty="0">
                <a:solidFill>
                  <a:srgbClr val="333333"/>
                </a:solidFill>
              </a:rPr>
              <a:t> ad alto Lift </a:t>
            </a:r>
            <a:r>
              <a:rPr lang="en-US" sz="1200" dirty="0" err="1">
                <a:solidFill>
                  <a:srgbClr val="333333"/>
                </a:solidFill>
              </a:rPr>
              <a:t>riguardano</a:t>
            </a:r>
            <a:r>
              <a:rPr lang="en-US" sz="1200" dirty="0">
                <a:solidFill>
                  <a:srgbClr val="333333"/>
                </a:solidFill>
              </a:rPr>
              <a:t> la "</a:t>
            </a:r>
            <a:r>
              <a:rPr lang="en-US" sz="1200" dirty="0" err="1">
                <a:solidFill>
                  <a:srgbClr val="333333"/>
                </a:solidFill>
              </a:rPr>
              <a:t>tribù</a:t>
            </a:r>
            <a:r>
              <a:rPr lang="en-US" sz="1200" dirty="0">
                <a:solidFill>
                  <a:srgbClr val="333333"/>
                </a:solidFill>
              </a:rPr>
              <a:t>" Vans–Converse–Jordan.</a:t>
            </a:r>
          </a:p>
          <a:p>
            <a:pPr marL="0" indent="0">
              <a:lnSpc>
                <a:spcPct val="130000"/>
              </a:lnSpc>
              <a:buNone/>
            </a:pPr>
            <a:endParaRPr lang="en-US" sz="1200" dirty="0">
              <a:solidFill>
                <a:srgbClr val="333333"/>
              </a:solidFill>
            </a:endParaRPr>
          </a:p>
          <a:p>
            <a:pPr marL="0" indent="0">
              <a:lnSpc>
                <a:spcPct val="130000"/>
              </a:lnSpc>
              <a:buNone/>
            </a:pPr>
            <a:r>
              <a:rPr lang="it-IT" dirty="0"/>
              <a:t>Per comprendere le affinità tra i brand su Vinted, abbiamo applicato l'algoritmo Apriori. Prima di estrarre le regole, abbiamo fissato delle soglie rigorose: un Supporto minimo del 2% e una Fiducia del 50%. Come si nota dal grafico delle frequenze, il mercato segue la regola della coda lunga: pochissimi colossi generano volumi enormi. Aver scelto un supporto al 2% ci ha permesso di filtrare il rumore statistico degli armadi casuali, garantendoci però di non perdere le nicchie significative. Con questi parametri, l'algoritmo ha estratto 66 regole di associazione valide.</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i="0" dirty="0"/>
              <a:t>Avendo mappato la rete, volevamo capire </a:t>
            </a:r>
            <a:r>
              <a:rPr lang="it-IT" b="1" i="0" dirty="0"/>
              <a:t>cosa</a:t>
            </a:r>
            <a:r>
              <a:rPr lang="it-IT" i="0" dirty="0"/>
              <a:t> spinge due brand a co-occorrere. Abbiamo testato una serie di modelli crescenti, inserendo inizialmente 'Google Trends' come covariata per capire se la pura popolarità spiegasse le connessioni. I risultati dei primi tre modelli ci hanno dimostrato di no: la covariata non era significativa. &gt; Questo succede per due motivi: innanzitutto, sui Top-30 brand la popolarità è uniformemente alta e non crea discriminazione. Ma soprattutto, i modelli base ipotizzano una </a:t>
            </a:r>
            <a:r>
              <a:rPr lang="it-IT" b="1" i="0" dirty="0"/>
              <a:t>relazione lineare additiva</a:t>
            </a:r>
            <a:r>
              <a:rPr lang="it-IT" i="0" dirty="0"/>
              <a:t>, mentre la moda non funziona così: due brand non co-occorrono semplicemente sommando la loro popolarità, ma per complesse affinità di stile. La vera svolta l'abbiamo ottenuta con il modello AME. Grazie all'introduzione di due fattori latenti, il modello ha sfruttato gli </a:t>
            </a:r>
            <a:r>
              <a:rPr lang="it-IT" b="1" i="0" dirty="0"/>
              <a:t>effetti moltiplicativi</a:t>
            </a:r>
            <a:r>
              <a:rPr lang="it-IT" i="0" dirty="0"/>
              <a:t> per bypassare il limite lineare e catturare finalmente la 'struttura nascosta' del mercato. Il risultato di questa struttura è la mappa che vediamo nella slide successiva.</a:t>
            </a:r>
          </a:p>
          <a:p>
            <a:endParaRPr lang="it-IT" i="0" dirty="0"/>
          </a:p>
          <a:p>
            <a:endParaRPr lang="it-IT" i="0" dirty="0"/>
          </a:p>
          <a:p>
            <a:r>
              <a:rPr lang="it-IT" i="0" dirty="0"/>
              <a:t>La covariata Google Trends si è rivelata non significativa per due motivi congiunti. Il primo è legato alla varianza del campione: lavorando sui Top-30 brand, la popolarità è uniformemente alta per tutti, offrendo poco potere discriminante. Ma il motivo strutturale più importante è che i modelli base ipotizzano una relazione lineare tra popolarità esterna e formazione dell'arco. La nostra rete, invece, è guidata da affinità stilistiche e di target altamente non-lineari, che sfuggono agli effetti puramente additivi e vengono catturate solo dagli effetti moltiplicativi dei fattori latenti nel modello AME.</a:t>
            </a:r>
            <a:endParaRPr lang="en-US" i="0"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i="0" dirty="0"/>
              <a:t>Avendo definito la struttura fisica dei 4 cluster basandoci sulle quantità, volevamo capire come si distribuissero al loro interno le variabili qualitative. Per farlo, abbiamo applicato un modello di regressione logistica multinomiale.</a:t>
            </a:r>
          </a:p>
          <a:p>
            <a:r>
              <a:rPr lang="it-IT" i="0" dirty="0"/>
              <a:t>I test di significatività ci hanno dato un risultato molto chiaro per il business: le scelte di Brand e la decisione di investire in Sponsorizzazioni (il Boost) sono i veri driver che spingono un prodotto in un segmento piuttosto che in un altro. Il colore dell'articolo, per quanto statisticamente significativo, ha un peso marginale sulle dinamiche di prezzo e interazione.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714C89-CE30-6886-3183-24BE22AAFDE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1B28D07-28F9-08C3-8123-7B620F39AF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02E735DD-477C-0EC2-F8B4-2EEFB581D1CB}"/>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7E1134A0-8081-213B-EF3E-DE378CAC252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3461F13-68D6-A39C-BF6D-C84222FCF0D1}"/>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4085117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29C8A8D-4AE2-998C-C4D5-A750C8EF7F5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CC1A763-29B2-289F-C9C5-FA339B398538}"/>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75A251E-D52F-653A-ACAE-5CCE2A359CB9}"/>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7392C7CE-3614-95FC-3470-C7549FC5CD1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8F3A68E-1A4B-CBFB-1E9B-9BB234117CA8}"/>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309389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F4613F-682A-E57E-11E2-766D8A5F8CBE}"/>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2B0139C-8C3F-5CF4-413F-AB3D349192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837265E7-A0B0-59CD-5EAE-A66636841CAF}"/>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F9B0C2FB-DA1F-BB90-6A14-ED3D1A71AF3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1AE58AE-DD65-28F7-1225-10AC40A03FEF}"/>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1848386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FB4B48-73CF-D9E6-5710-3978610224F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EA277B0-8167-E7BF-C4BF-56821CA5D05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1331CE1-21D6-C773-9EBA-944E9E48B155}"/>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19A87A1-30AC-17A1-DDAB-4364E8946AFD}"/>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6" name="Segnaposto piè di pagina 5">
            <a:extLst>
              <a:ext uri="{FF2B5EF4-FFF2-40B4-BE49-F238E27FC236}">
                <a16:creationId xmlns:a16="http://schemas.microsoft.com/office/drawing/2014/main" id="{A566F6DE-272A-DE6D-0A48-1FF58B085C5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471C7A8-577B-076F-F6D5-DDBA681F4240}"/>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397686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94713C-5EB0-F89C-3B9B-321F3AD61FFB}"/>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3132C54-404E-BFB3-B51A-BF88A418BD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5DC91491-7870-83DB-BAE4-5064499856E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561E8E0-ACA0-FC5A-0C28-ED26291F5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40B1F6B-3D47-6CC4-472A-AE944616887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ABAD08B4-F81B-1A45-8CAF-FD4A2E130387}"/>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8" name="Segnaposto piè di pagina 7">
            <a:extLst>
              <a:ext uri="{FF2B5EF4-FFF2-40B4-BE49-F238E27FC236}">
                <a16:creationId xmlns:a16="http://schemas.microsoft.com/office/drawing/2014/main" id="{D819FD47-B6F2-CD89-5695-CEF063B50FC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E540A31-B3D3-782D-C305-33778D3F276D}"/>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164280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85D408-E57A-4123-4671-27C9F96D737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9C53C91-5961-C847-8597-BF1EB77E9ABC}"/>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4" name="Segnaposto piè di pagina 3">
            <a:extLst>
              <a:ext uri="{FF2B5EF4-FFF2-40B4-BE49-F238E27FC236}">
                <a16:creationId xmlns:a16="http://schemas.microsoft.com/office/drawing/2014/main" id="{3068331C-F674-961C-EA8E-7FF034E372E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AD4A4437-2047-88E0-4F80-35882677ACE5}"/>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350612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0C49BE1-E252-820D-19BF-F1F241E54132}"/>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3" name="Segnaposto piè di pagina 2">
            <a:extLst>
              <a:ext uri="{FF2B5EF4-FFF2-40B4-BE49-F238E27FC236}">
                <a16:creationId xmlns:a16="http://schemas.microsoft.com/office/drawing/2014/main" id="{5C7E70B1-FC88-4015-2147-34CB2931373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ECF18611-5E04-919A-7B26-A969267F158C}"/>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4011472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D52A1D-9699-C50B-E435-368C890F332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B033487-AC32-DC61-F5B0-A73A5DCC8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95C539FA-E7D7-2760-C9E1-99BD9496A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23B9F5D-D384-DC34-8B7E-B6B6DDD0281B}"/>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6" name="Segnaposto piè di pagina 5">
            <a:extLst>
              <a:ext uri="{FF2B5EF4-FFF2-40B4-BE49-F238E27FC236}">
                <a16:creationId xmlns:a16="http://schemas.microsoft.com/office/drawing/2014/main" id="{3157E4CC-56F9-8D9A-8DF5-7195E32875F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FD4A493-FD21-DB6D-C718-8F847EE31D50}"/>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2111627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F3C08A-4C3C-60A9-54D6-8E95ED5C708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8F99D12D-C97C-B554-A58C-2D1B74578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45A56A22-0BDA-0116-5DFA-18A54EEB1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184CFE3-A177-F05C-D7E2-B17B6EBF3FED}"/>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6" name="Segnaposto piè di pagina 5">
            <a:extLst>
              <a:ext uri="{FF2B5EF4-FFF2-40B4-BE49-F238E27FC236}">
                <a16:creationId xmlns:a16="http://schemas.microsoft.com/office/drawing/2014/main" id="{E3D1FEEA-C036-0552-E551-49AFBB966C7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9211C3B-CAFD-2720-B6E1-B16E24A742A7}"/>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3719684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22975E-E247-2B16-7744-975B8B09614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9FE2EF9E-053D-F915-81A1-A13823D2FA6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D934AF8-F680-2744-131D-90E1A3C31B77}"/>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BB89CC2D-481A-6980-8003-4583715003C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F7F5DA-5183-F108-7C19-21B749DC71AB}"/>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1201838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286EBF0-2A0C-F3EA-9A56-745256622BA3}"/>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C4694A5-B1A2-A3F1-1318-2FB111AB489F}"/>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A634B6A-ADC4-F43E-3D92-3BECE1406D15}"/>
              </a:ext>
            </a:extLst>
          </p:cNvPr>
          <p:cNvSpPr>
            <a:spLocks noGrp="1"/>
          </p:cNvSpPr>
          <p:nvPr>
            <p:ph type="dt" sz="half" idx="10"/>
          </p:nvPr>
        </p:nvSpPr>
        <p:spPr/>
        <p:txBody>
          <a:body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C90DC47E-15DF-5DD2-58C2-528644583BA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D2EB3F8-47BB-33AA-5D0E-2FA562573C4D}"/>
              </a:ext>
            </a:extLst>
          </p:cNvPr>
          <p:cNvSpPr>
            <a:spLocks noGrp="1"/>
          </p:cNvSpPr>
          <p:nvPr>
            <p:ph type="sldNum" sz="quarter" idx="12"/>
          </p:nvPr>
        </p:nvSpPr>
        <p:spPr/>
        <p:txBody>
          <a:bodyPr/>
          <a:lstStyle/>
          <a:p>
            <a:fld id="{AB4B8DD3-FC02-4367-9757-14EB324B9BE4}" type="slidenum">
              <a:rPr lang="it-IT" smtClean="0"/>
              <a:t>‹N›</a:t>
            </a:fld>
            <a:endParaRPr lang="it-IT"/>
          </a:p>
        </p:txBody>
      </p:sp>
    </p:spTree>
    <p:extLst>
      <p:ext uri="{BB962C8B-B14F-4D97-AF65-F5344CB8AC3E}">
        <p14:creationId xmlns:p14="http://schemas.microsoft.com/office/powerpoint/2010/main" val="2316005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32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018ADBB7-9FE2-1272-F000-94113929AC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965471F-190B-6836-099A-DCA643A019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BA70068-F206-0A5A-8C3C-9266046616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FDAA61-DEA4-43E8-97BC-71371D31AB97}" type="datetimeFigureOut">
              <a:rPr lang="it-IT" smtClean="0"/>
              <a:t>07/06/2026</a:t>
            </a:fld>
            <a:endParaRPr lang="it-IT"/>
          </a:p>
        </p:txBody>
      </p:sp>
      <p:sp>
        <p:nvSpPr>
          <p:cNvPr id="5" name="Segnaposto piè di pagina 4">
            <a:extLst>
              <a:ext uri="{FF2B5EF4-FFF2-40B4-BE49-F238E27FC236}">
                <a16:creationId xmlns:a16="http://schemas.microsoft.com/office/drawing/2014/main" id="{E5691B0A-E348-F555-AC57-2E5EE3BE68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E43D389-FB84-BD1C-19EC-AFABC811E4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4B8DD3-FC02-4367-9757-14EB324B9BE4}" type="slidenum">
              <a:rPr lang="it-IT" smtClean="0"/>
              <a:t>‹N›</a:t>
            </a:fld>
            <a:endParaRPr lang="it-IT"/>
          </a:p>
        </p:txBody>
      </p:sp>
    </p:spTree>
    <p:extLst>
      <p:ext uri="{BB962C8B-B14F-4D97-AF65-F5344CB8AC3E}">
        <p14:creationId xmlns:p14="http://schemas.microsoft.com/office/powerpoint/2010/main" val="717298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7.emf"/></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C6332EAE-76C9-01BF-D28A-E7C838184B5E}"/>
              </a:ext>
            </a:extLst>
          </p:cNvPr>
          <p:cNvSpPr>
            <a:spLocks noGrp="1"/>
          </p:cNvSpPr>
          <p:nvPr>
            <p:ph type="subTitle" idx="1"/>
          </p:nvPr>
        </p:nvSpPr>
        <p:spPr/>
        <p:txBody>
          <a:bodyPr/>
          <a:lstStyle/>
          <a:p>
            <a:endParaRPr lang="it-IT"/>
          </a:p>
        </p:txBody>
      </p:sp>
      <p:pic>
        <p:nvPicPr>
          <p:cNvPr id="3074" name="Picture 2" descr="University of Padua Logo (UNIPD) - PNG Logo Vector Brand Downloads (SVG,  EPS)">
            <a:extLst>
              <a:ext uri="{FF2B5EF4-FFF2-40B4-BE49-F238E27FC236}">
                <a16:creationId xmlns:a16="http://schemas.microsoft.com/office/drawing/2014/main" id="{64A275C1-F4A2-290F-F6A1-7648449F1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9207" y="152321"/>
            <a:ext cx="2933586" cy="1314766"/>
          </a:xfrm>
          <a:prstGeom prst="rect">
            <a:avLst/>
          </a:prstGeom>
          <a:noFill/>
          <a:extLst>
            <a:ext uri="{909E8E84-426E-40DD-AFC4-6F175D3DCCD1}">
              <a14:hiddenFill xmlns:a14="http://schemas.microsoft.com/office/drawing/2010/main">
                <a:solidFill>
                  <a:srgbClr val="FFFFFF"/>
                </a:solidFill>
              </a14:hiddenFill>
            </a:ext>
          </a:extLst>
        </p:spPr>
      </p:pic>
      <p:sp>
        <p:nvSpPr>
          <p:cNvPr id="8" name="Rettangolo 7">
            <a:extLst>
              <a:ext uri="{FF2B5EF4-FFF2-40B4-BE49-F238E27FC236}">
                <a16:creationId xmlns:a16="http://schemas.microsoft.com/office/drawing/2014/main" id="{FA98DAEA-AD18-49BF-7C7C-B9599DDEF7AB}"/>
              </a:ext>
            </a:extLst>
          </p:cNvPr>
          <p:cNvSpPr/>
          <p:nvPr/>
        </p:nvSpPr>
        <p:spPr>
          <a:xfrm>
            <a:off x="0" y="1600200"/>
            <a:ext cx="12208042" cy="5257800"/>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9" name="CasellaDiTesto 48">
            <a:extLst>
              <a:ext uri="{FF2B5EF4-FFF2-40B4-BE49-F238E27FC236}">
                <a16:creationId xmlns:a16="http://schemas.microsoft.com/office/drawing/2014/main" id="{73F1C0B9-C927-035A-1693-4A6D9CF84BF1}"/>
              </a:ext>
            </a:extLst>
          </p:cNvPr>
          <p:cNvSpPr txBox="1"/>
          <p:nvPr/>
        </p:nvSpPr>
        <p:spPr>
          <a:xfrm>
            <a:off x="72341" y="2812207"/>
            <a:ext cx="12047316" cy="1200329"/>
          </a:xfrm>
          <a:prstGeom prst="rect">
            <a:avLst/>
          </a:prstGeom>
          <a:noFill/>
        </p:spPr>
        <p:txBody>
          <a:bodyPr wrap="square" rtlCol="0">
            <a:spAutoFit/>
          </a:bodyPr>
          <a:lstStyle/>
          <a:p>
            <a:pPr algn="ctr"/>
            <a:r>
              <a:rPr lang="it-IT" sz="3600" dirty="0">
                <a:solidFill>
                  <a:schemeClr val="bg1"/>
                </a:solidFill>
              </a:rPr>
              <a:t>Progetto di gruppo</a:t>
            </a:r>
          </a:p>
          <a:p>
            <a:pPr algn="ctr"/>
            <a:r>
              <a:rPr lang="it-IT" sz="3600" dirty="0">
                <a:solidFill>
                  <a:schemeClr val="bg1"/>
                </a:solidFill>
              </a:rPr>
              <a:t>Strumenti statistici per l’analisi di dati aziendali</a:t>
            </a:r>
            <a:endParaRPr lang="it-IT" sz="3600" i="1" dirty="0">
              <a:solidFill>
                <a:schemeClr val="bg1"/>
              </a:solidFill>
            </a:endParaRPr>
          </a:p>
        </p:txBody>
      </p:sp>
      <p:sp>
        <p:nvSpPr>
          <p:cNvPr id="54" name="CasellaDiTesto 53">
            <a:extLst>
              <a:ext uri="{FF2B5EF4-FFF2-40B4-BE49-F238E27FC236}">
                <a16:creationId xmlns:a16="http://schemas.microsoft.com/office/drawing/2014/main" id="{9F8EAAE9-C733-C888-332E-0422D73FCF5F}"/>
              </a:ext>
            </a:extLst>
          </p:cNvPr>
          <p:cNvSpPr txBox="1"/>
          <p:nvPr/>
        </p:nvSpPr>
        <p:spPr>
          <a:xfrm>
            <a:off x="9767456" y="5743018"/>
            <a:ext cx="2352202" cy="923330"/>
          </a:xfrm>
          <a:prstGeom prst="rect">
            <a:avLst/>
          </a:prstGeom>
          <a:noFill/>
        </p:spPr>
        <p:txBody>
          <a:bodyPr wrap="square" rtlCol="0">
            <a:spAutoFit/>
          </a:bodyPr>
          <a:lstStyle/>
          <a:p>
            <a:r>
              <a:rPr lang="it-IT" i="1" dirty="0">
                <a:solidFill>
                  <a:schemeClr val="bg1"/>
                </a:solidFill>
              </a:rPr>
              <a:t>Laura Martini</a:t>
            </a:r>
          </a:p>
          <a:p>
            <a:r>
              <a:rPr lang="it-IT" i="1" dirty="0">
                <a:solidFill>
                  <a:schemeClr val="bg1"/>
                </a:solidFill>
              </a:rPr>
              <a:t>Luca Varotto</a:t>
            </a:r>
          </a:p>
          <a:p>
            <a:r>
              <a:rPr lang="it-IT" i="1" dirty="0">
                <a:solidFill>
                  <a:schemeClr val="bg1"/>
                </a:solidFill>
              </a:rPr>
              <a:t>Gian Marco </a:t>
            </a:r>
            <a:r>
              <a:rPr lang="it-IT" i="1" dirty="0" err="1">
                <a:solidFill>
                  <a:schemeClr val="bg1"/>
                </a:solidFill>
              </a:rPr>
              <a:t>Tomietto</a:t>
            </a:r>
            <a:endParaRPr lang="it-IT" i="1" dirty="0">
              <a:solidFill>
                <a:schemeClr val="bg1"/>
              </a:solidFill>
            </a:endParaRPr>
          </a:p>
        </p:txBody>
      </p:sp>
      <p:sp>
        <p:nvSpPr>
          <p:cNvPr id="55" name="CasellaDiTesto 54">
            <a:extLst>
              <a:ext uri="{FF2B5EF4-FFF2-40B4-BE49-F238E27FC236}">
                <a16:creationId xmlns:a16="http://schemas.microsoft.com/office/drawing/2014/main" id="{E2B5CECF-A5B6-BECB-53B1-D4EFF1259DFD}"/>
              </a:ext>
            </a:extLst>
          </p:cNvPr>
          <p:cNvSpPr txBox="1"/>
          <p:nvPr/>
        </p:nvSpPr>
        <p:spPr>
          <a:xfrm>
            <a:off x="4643376" y="6297016"/>
            <a:ext cx="2905245" cy="369332"/>
          </a:xfrm>
          <a:prstGeom prst="rect">
            <a:avLst/>
          </a:prstGeom>
          <a:noFill/>
        </p:spPr>
        <p:txBody>
          <a:bodyPr wrap="square" rtlCol="0">
            <a:spAutoFit/>
          </a:bodyPr>
          <a:lstStyle/>
          <a:p>
            <a:r>
              <a:rPr lang="it-IT" dirty="0">
                <a:solidFill>
                  <a:schemeClr val="bg1"/>
                </a:solidFill>
              </a:rPr>
              <a:t>Academic Year 2025/2026</a:t>
            </a:r>
          </a:p>
        </p:txBody>
      </p:sp>
    </p:spTree>
    <p:extLst>
      <p:ext uri="{BB962C8B-B14F-4D97-AF65-F5344CB8AC3E}">
        <p14:creationId xmlns:p14="http://schemas.microsoft.com/office/powerpoint/2010/main" val="358429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6761-C4ED-071D-FBD4-867BA9E3D52C}"/>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1D94944A-04D4-068F-2C65-C117B4703D30}"/>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AFA94EFB-6082-72EC-7DFF-C82D097FEC79}"/>
              </a:ext>
            </a:extLst>
          </p:cNvPr>
          <p:cNvSpPr>
            <a:spLocks noGrp="1"/>
          </p:cNvSpPr>
          <p:nvPr>
            <p:ph type="title"/>
          </p:nvPr>
        </p:nvSpPr>
        <p:spPr>
          <a:xfrm>
            <a:off x="838200" y="141658"/>
            <a:ext cx="10515600" cy="1325563"/>
          </a:xfrm>
        </p:spPr>
        <p:txBody>
          <a:bodyPr/>
          <a:lstStyle/>
          <a:p>
            <a:r>
              <a:rPr lang="it-IT" dirty="0">
                <a:solidFill>
                  <a:schemeClr val="bg1"/>
                </a:solidFill>
              </a:rPr>
              <a:t>I dati</a:t>
            </a:r>
          </a:p>
        </p:txBody>
      </p:sp>
      <p:sp>
        <p:nvSpPr>
          <p:cNvPr id="3" name="Segnaposto contenuto 2">
            <a:extLst>
              <a:ext uri="{FF2B5EF4-FFF2-40B4-BE49-F238E27FC236}">
                <a16:creationId xmlns:a16="http://schemas.microsoft.com/office/drawing/2014/main" id="{A7A267D8-E727-81EF-9030-DDA8D00F6169}"/>
              </a:ext>
            </a:extLst>
          </p:cNvPr>
          <p:cNvSpPr>
            <a:spLocks noGrp="1"/>
          </p:cNvSpPr>
          <p:nvPr>
            <p:ph idx="1"/>
          </p:nvPr>
        </p:nvSpPr>
        <p:spPr>
          <a:xfrm>
            <a:off x="729096" y="2035257"/>
            <a:ext cx="7334249" cy="4448670"/>
          </a:xfrm>
        </p:spPr>
        <p:txBody>
          <a:bodyPr anchor="ctr">
            <a:normAutofit/>
          </a:bodyPr>
          <a:lstStyle/>
          <a:p>
            <a:r>
              <a:rPr lang="it-IT" sz="2400" dirty="0" err="1">
                <a:latin typeface="Aptos Display"/>
              </a:rPr>
              <a:t>Vinted</a:t>
            </a:r>
            <a:r>
              <a:rPr lang="it-IT" sz="2400" dirty="0">
                <a:latin typeface="Aptos Display"/>
              </a:rPr>
              <a:t> ci ha commissionato un'analisi approfondita su un dataset di oltre </a:t>
            </a:r>
            <a:r>
              <a:rPr lang="it-IT" sz="2400" b="1" dirty="0">
                <a:latin typeface="Aptos Display"/>
              </a:rPr>
              <a:t>2000 osservazioni</a:t>
            </a:r>
            <a:r>
              <a:rPr lang="it-IT" sz="2400" dirty="0">
                <a:latin typeface="Aptos Display"/>
              </a:rPr>
              <a:t>.</a:t>
            </a:r>
          </a:p>
          <a:p>
            <a:r>
              <a:rPr lang="it-IT" sz="2400" dirty="0">
                <a:latin typeface="Aptos Display"/>
              </a:rPr>
              <a:t>I dati, estratti tramite Web </a:t>
            </a:r>
            <a:r>
              <a:rPr lang="it-IT" sz="2400" dirty="0" err="1">
                <a:latin typeface="Aptos Display"/>
              </a:rPr>
              <a:t>Scraping</a:t>
            </a:r>
            <a:r>
              <a:rPr lang="it-IT" sz="2400" dirty="0">
                <a:latin typeface="Aptos Display"/>
              </a:rPr>
              <a:t>, offrono una vista globale del mercato C2C. L'obiettivo della consulenza è strutturare </a:t>
            </a:r>
            <a:r>
              <a:rPr lang="it-IT" sz="2400" b="1" dirty="0">
                <a:latin typeface="Aptos Display"/>
              </a:rPr>
              <a:t>raccomandazioni</a:t>
            </a:r>
            <a:r>
              <a:rPr lang="it-IT" sz="2400" dirty="0">
                <a:latin typeface="Aptos Display"/>
              </a:rPr>
              <a:t> per </a:t>
            </a:r>
            <a:r>
              <a:rPr lang="it-IT" sz="2400" b="1" dirty="0">
                <a:latin typeface="Aptos Display"/>
              </a:rPr>
              <a:t>massimizzare la fidelizzazione e la conversione d'acquisto</a:t>
            </a:r>
            <a:r>
              <a:rPr lang="it-IT" sz="2400" dirty="0">
                <a:latin typeface="Aptos Display"/>
              </a:rPr>
              <a:t> sulla piattaforma.</a:t>
            </a:r>
          </a:p>
        </p:txBody>
      </p:sp>
      <p:pic>
        <p:nvPicPr>
          <p:cNvPr id="6" name="Picture 5">
            <a:extLst>
              <a:ext uri="{FF2B5EF4-FFF2-40B4-BE49-F238E27FC236}">
                <a16:creationId xmlns:a16="http://schemas.microsoft.com/office/drawing/2014/main" id="{B2B52FB6-9A5C-E2CB-36F3-8C3C8FE3E0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61B27EBC-3E37-EE11-BFB8-F6B6C263AF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pic>
        <p:nvPicPr>
          <p:cNvPr id="1034" name="Picture 10" descr="Vinted logo Icone, loghi, simboli – Download gratuito PNG, SVG">
            <a:extLst>
              <a:ext uri="{FF2B5EF4-FFF2-40B4-BE49-F238E27FC236}">
                <a16:creationId xmlns:a16="http://schemas.microsoft.com/office/drawing/2014/main" id="{1A1921E1-8509-2DA8-7724-4198FE919E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01" t="11186" r="10880" b="11116"/>
          <a:stretch>
            <a:fillRect/>
          </a:stretch>
        </p:blipFill>
        <p:spPr bwMode="auto">
          <a:xfrm>
            <a:off x="8368145" y="2493818"/>
            <a:ext cx="2985656" cy="2992582"/>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64FDFFF0-8F95-3881-CEC9-081B58040338}"/>
              </a:ext>
            </a:extLst>
          </p:cNvPr>
          <p:cNvSpPr txBox="1"/>
          <p:nvPr/>
        </p:nvSpPr>
        <p:spPr>
          <a:xfrm>
            <a:off x="7698938" y="5543444"/>
            <a:ext cx="4324069" cy="738664"/>
          </a:xfrm>
          <a:prstGeom prst="rect">
            <a:avLst/>
          </a:prstGeom>
          <a:noFill/>
        </p:spPr>
        <p:txBody>
          <a:bodyPr wrap="none" rtlCol="0">
            <a:spAutoFit/>
          </a:bodyPr>
          <a:lstStyle/>
          <a:p>
            <a:r>
              <a:rPr lang="it-IT" sz="2400" dirty="0">
                <a:latin typeface="Aptos Display"/>
              </a:rPr>
              <a:t>"</a:t>
            </a:r>
            <a:r>
              <a:rPr lang="it-IT" sz="2400" i="1" dirty="0">
                <a:latin typeface="Aptos Display"/>
              </a:rPr>
              <a:t>Non lo metti? Mettilo in vendita</a:t>
            </a:r>
            <a:r>
              <a:rPr lang="it-IT" sz="2400" dirty="0">
                <a:latin typeface="Aptos Display"/>
              </a:rPr>
              <a:t>!"</a:t>
            </a:r>
          </a:p>
          <a:p>
            <a:endParaRPr lang="it-IT" dirty="0"/>
          </a:p>
        </p:txBody>
      </p:sp>
      <p:sp>
        <p:nvSpPr>
          <p:cNvPr id="999" name="PageNum1"/>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a:t>
            </a:r>
          </a:p>
        </p:txBody>
      </p:sp>
    </p:spTree>
    <p:extLst>
      <p:ext uri="{BB962C8B-B14F-4D97-AF65-F5344CB8AC3E}">
        <p14:creationId xmlns:p14="http://schemas.microsoft.com/office/powerpoint/2010/main" val="687879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A2D67-C148-0E39-A426-4C52B6FDD4B6}"/>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B39753F3-D1B5-4CEC-1C2E-D96A6212DAED}"/>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13BC2739-0409-ED16-0263-D0143B22F172}"/>
              </a:ext>
            </a:extLst>
          </p:cNvPr>
          <p:cNvSpPr>
            <a:spLocks noGrp="1"/>
          </p:cNvSpPr>
          <p:nvPr>
            <p:ph type="title"/>
          </p:nvPr>
        </p:nvSpPr>
        <p:spPr>
          <a:xfrm>
            <a:off x="838200" y="141658"/>
            <a:ext cx="10515600" cy="1325563"/>
          </a:xfrm>
        </p:spPr>
        <p:txBody>
          <a:bodyPr/>
          <a:lstStyle/>
          <a:p>
            <a:r>
              <a:rPr lang="it-IT" dirty="0">
                <a:solidFill>
                  <a:schemeClr val="bg1"/>
                </a:solidFill>
              </a:rPr>
              <a:t>Il </a:t>
            </a:r>
            <a:r>
              <a:rPr lang="it-IT" dirty="0" err="1">
                <a:solidFill>
                  <a:schemeClr val="bg1"/>
                </a:solidFill>
              </a:rPr>
              <a:t>pre</a:t>
            </a:r>
            <a:r>
              <a:rPr lang="it-IT" dirty="0">
                <a:solidFill>
                  <a:schemeClr val="bg1"/>
                </a:solidFill>
              </a:rPr>
              <a:t>-processing: inizio</a:t>
            </a:r>
          </a:p>
        </p:txBody>
      </p:sp>
      <p:pic>
        <p:nvPicPr>
          <p:cNvPr id="6" name="Picture 5">
            <a:extLst>
              <a:ext uri="{FF2B5EF4-FFF2-40B4-BE49-F238E27FC236}">
                <a16:creationId xmlns:a16="http://schemas.microsoft.com/office/drawing/2014/main" id="{3E4EA60F-3B02-4E22-2775-5D02915BF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1CEFF22C-B84F-0939-7458-905542B8EE2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5" name="Rectangle 1">
            <a:extLst>
              <a:ext uri="{FF2B5EF4-FFF2-40B4-BE49-F238E27FC236}">
                <a16:creationId xmlns:a16="http://schemas.microsoft.com/office/drawing/2014/main" id="{B7FDAD74-2028-87D0-5C3D-99EEB5C3745B}"/>
              </a:ext>
            </a:extLst>
          </p:cNvPr>
          <p:cNvSpPr>
            <a:spLocks noGrp="1" noChangeArrowheads="1"/>
          </p:cNvSpPr>
          <p:nvPr>
            <p:ph idx="1"/>
          </p:nvPr>
        </p:nvSpPr>
        <p:spPr bwMode="auto">
          <a:xfrm>
            <a:off x="838201" y="2857729"/>
            <a:ext cx="109347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Filtro categoriale:</a:t>
            </a:r>
            <a:r>
              <a:rPr kumimoji="0" lang="it-IT" altLang="it-IT" sz="2400" b="0" i="0" u="none" strike="noStrike" cap="none" normalizeH="0" baseline="0" dirty="0">
                <a:ln>
                  <a:noFill/>
                </a:ln>
                <a:solidFill>
                  <a:schemeClr val="tx1"/>
                </a:solidFill>
                <a:effectLst/>
                <a:latin typeface="Aptos Display"/>
              </a:rPr>
              <a:t> Rimozione delle </a:t>
            </a:r>
            <a:r>
              <a:rPr lang="it-IT" altLang="it-IT" sz="2400" dirty="0">
                <a:latin typeface="Aptos Display"/>
              </a:rPr>
              <a:t>osservazioni </a:t>
            </a:r>
            <a:r>
              <a:rPr kumimoji="0" lang="it-IT" altLang="it-IT" sz="2400" b="0" i="0" u="none" strike="noStrike" cap="none" normalizeH="0" baseline="0" dirty="0">
                <a:ln>
                  <a:noFill/>
                </a:ln>
                <a:solidFill>
                  <a:schemeClr val="tx1"/>
                </a:solidFill>
                <a:effectLst/>
                <a:latin typeface="Aptos Display"/>
              </a:rPr>
              <a:t>con categoria dell'oggetto mancante. Target focalizzato esclusivamente sulle</a:t>
            </a:r>
            <a:r>
              <a:rPr kumimoji="0" lang="it-IT" altLang="it-IT" sz="2400" b="1" i="0" u="none" strike="noStrike" cap="none" normalizeH="0" baseline="0" dirty="0">
                <a:ln>
                  <a:noFill/>
                </a:ln>
                <a:solidFill>
                  <a:schemeClr val="tx1"/>
                </a:solidFill>
                <a:effectLst/>
                <a:latin typeface="Aptos Display"/>
              </a:rPr>
              <a:t> categorie di scarpe sportive/sneakers</a:t>
            </a:r>
            <a:r>
              <a:rPr kumimoji="0" lang="it-IT" altLang="it-IT" sz="2400" b="0" i="0" u="none" strike="noStrike" cap="none" normalizeH="0" baseline="0" dirty="0">
                <a:ln>
                  <a:noFill/>
                </a:ln>
                <a:solidFill>
                  <a:schemeClr val="tx1"/>
                </a:solidFill>
                <a:effectLst/>
                <a:latin typeface="Aptos Display"/>
              </a:rPr>
              <a:t>.</a:t>
            </a:r>
          </a:p>
          <a:p>
            <a:pPr marL="0" marR="0" lvl="0" indent="0" defTabSz="914400" rtl="0" eaLnBrk="0" fontAlgn="base" latinLnBrk="0" hangingPunct="0">
              <a:lnSpc>
                <a:spcPct val="100000"/>
              </a:lnSpc>
              <a:spcBef>
                <a:spcPct val="0"/>
              </a:spcBef>
              <a:spcAft>
                <a:spcPct val="0"/>
              </a:spcAft>
              <a:buClrTx/>
              <a:buSzTx/>
              <a:buFontTx/>
              <a:buChar char="•"/>
              <a:tabLst/>
            </a:pPr>
            <a:endParaRPr kumimoji="0" lang="it-IT" altLang="it-IT" sz="2400" b="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Rimozione duplicati:</a:t>
            </a:r>
            <a:r>
              <a:rPr kumimoji="0" lang="it-IT" altLang="it-IT" sz="2400" b="0" i="0" u="none" strike="noStrike" cap="none" normalizeH="0" baseline="0" dirty="0">
                <a:ln>
                  <a:noFill/>
                </a:ln>
                <a:solidFill>
                  <a:schemeClr val="tx1"/>
                </a:solidFill>
                <a:effectLst/>
                <a:latin typeface="Aptos Display"/>
              </a:rPr>
              <a:t> Eliminazione delle osservazioni duplicate basata sull’URL.</a:t>
            </a:r>
          </a:p>
          <a:p>
            <a:pPr marL="0" marR="0" lvl="0" indent="0" defTabSz="914400" rtl="0" eaLnBrk="0" fontAlgn="base" latinLnBrk="0" hangingPunct="0">
              <a:lnSpc>
                <a:spcPct val="100000"/>
              </a:lnSpc>
              <a:spcBef>
                <a:spcPct val="0"/>
              </a:spcBef>
              <a:spcAft>
                <a:spcPct val="0"/>
              </a:spcAft>
              <a:buClrTx/>
              <a:buSzTx/>
              <a:buNone/>
              <a:tabLst/>
            </a:pPr>
            <a:endParaRPr kumimoji="0" lang="it-IT" altLang="it-IT" sz="2400" b="0" i="0" u="none" strike="noStrike" cap="none" normalizeH="0" baseline="0" dirty="0">
              <a:ln>
                <a:noFill/>
              </a:ln>
              <a:solidFill>
                <a:schemeClr val="tx1"/>
              </a:solidFill>
              <a:effectLst/>
              <a:latin typeface="Aptos Display"/>
            </a:endParaRPr>
          </a:p>
          <a:p>
            <a:pPr marL="0" lvl="0" indent="0" eaLnBrk="0" fontAlgn="base" hangingPunct="0">
              <a:lnSpc>
                <a:spcPct val="100000"/>
              </a:lnSpc>
              <a:spcBef>
                <a:spcPct val="0"/>
              </a:spcBef>
              <a:spcAft>
                <a:spcPct val="0"/>
              </a:spcAft>
              <a:buFontTx/>
              <a:buChar char="•"/>
            </a:pPr>
            <a:r>
              <a:rPr kumimoji="0" lang="it-IT" altLang="it-IT" sz="2400" b="1" i="0" u="none" strike="noStrike" cap="none" normalizeH="0" baseline="0" dirty="0">
                <a:ln>
                  <a:noFill/>
                </a:ln>
                <a:solidFill>
                  <a:schemeClr val="tx1"/>
                </a:solidFill>
                <a:effectLst/>
                <a:latin typeface="Aptos Display"/>
              </a:rPr>
              <a:t>Filtraggio delle colonne:</a:t>
            </a:r>
            <a:r>
              <a:rPr kumimoji="0" lang="it-IT" altLang="it-IT" sz="2400" b="0" i="0" u="none" strike="noStrike" cap="none" normalizeH="0" baseline="0" dirty="0">
                <a:ln>
                  <a:noFill/>
                </a:ln>
                <a:solidFill>
                  <a:schemeClr val="tx1"/>
                </a:solidFill>
                <a:effectLst/>
                <a:latin typeface="Aptos Display"/>
              </a:rPr>
              <a:t> </a:t>
            </a:r>
            <a:r>
              <a:rPr lang="it-IT" sz="2400" dirty="0">
                <a:latin typeface="Aptos Display"/>
              </a:rPr>
              <a:t>Eliminazione dei dati di tracciamento dello </a:t>
            </a:r>
            <a:r>
              <a:rPr lang="it-IT" sz="2400" dirty="0" err="1">
                <a:latin typeface="Aptos Display"/>
              </a:rPr>
              <a:t>scraping</a:t>
            </a:r>
            <a:r>
              <a:rPr lang="it-IT" sz="2400" dirty="0">
                <a:latin typeface="Aptos Display"/>
              </a:rPr>
              <a:t> e le stringhe di testo libero, mantenendo solo le feature strutturate per i modelli predittivi.</a:t>
            </a:r>
            <a:endParaRPr kumimoji="0" lang="it-IT" altLang="it-IT" sz="2400" b="0" i="0" u="none" strike="noStrike" cap="none" normalizeH="0" baseline="0" dirty="0">
              <a:ln>
                <a:noFill/>
              </a:ln>
              <a:solidFill>
                <a:schemeClr val="tx1"/>
              </a:solidFill>
              <a:effectLst/>
              <a:latin typeface="Aptos Display"/>
            </a:endParaRPr>
          </a:p>
        </p:txBody>
      </p:sp>
      <p:sp>
        <p:nvSpPr>
          <p:cNvPr id="999" name="PageNum2"/>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a:t>
            </a:r>
          </a:p>
        </p:txBody>
      </p:sp>
    </p:spTree>
    <p:extLst>
      <p:ext uri="{BB962C8B-B14F-4D97-AF65-F5344CB8AC3E}">
        <p14:creationId xmlns:p14="http://schemas.microsoft.com/office/powerpoint/2010/main" val="122472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9EEDA-90CE-6DF1-5345-C81CC0A4D548}"/>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82B97CEF-C4D5-6B87-C3A9-60E85853B7C4}"/>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19347407-2E39-7753-4C97-A0EB590CBED8}"/>
              </a:ext>
            </a:extLst>
          </p:cNvPr>
          <p:cNvSpPr>
            <a:spLocks noGrp="1"/>
          </p:cNvSpPr>
          <p:nvPr>
            <p:ph type="title"/>
          </p:nvPr>
        </p:nvSpPr>
        <p:spPr>
          <a:xfrm>
            <a:off x="838200" y="141658"/>
            <a:ext cx="10515600" cy="1325563"/>
          </a:xfrm>
        </p:spPr>
        <p:txBody>
          <a:bodyPr/>
          <a:lstStyle/>
          <a:p>
            <a:r>
              <a:rPr lang="it-IT" dirty="0">
                <a:solidFill>
                  <a:schemeClr val="bg1"/>
                </a:solidFill>
              </a:rPr>
              <a:t>Il </a:t>
            </a:r>
            <a:r>
              <a:rPr lang="it-IT" dirty="0" err="1">
                <a:solidFill>
                  <a:schemeClr val="bg1"/>
                </a:solidFill>
              </a:rPr>
              <a:t>pre</a:t>
            </a:r>
            <a:r>
              <a:rPr lang="it-IT" dirty="0">
                <a:solidFill>
                  <a:schemeClr val="bg1"/>
                </a:solidFill>
              </a:rPr>
              <a:t>-processing: variabile </a:t>
            </a:r>
            <a:r>
              <a:rPr lang="it-IT" altLang="it-IT" dirty="0">
                <a:solidFill>
                  <a:schemeClr val="bg1"/>
                </a:solidFill>
                <a:latin typeface="Aptos Display"/>
              </a:rPr>
              <a:t>"</a:t>
            </a:r>
            <a:r>
              <a:rPr lang="it-IT" dirty="0">
                <a:solidFill>
                  <a:schemeClr val="bg1"/>
                </a:solidFill>
              </a:rPr>
              <a:t>brand</a:t>
            </a:r>
            <a:r>
              <a:rPr lang="it-IT" altLang="it-IT" dirty="0">
                <a:solidFill>
                  <a:schemeClr val="bg1"/>
                </a:solidFill>
                <a:latin typeface="Aptos Display"/>
              </a:rPr>
              <a:t>"</a:t>
            </a:r>
            <a:endParaRPr lang="it-IT" dirty="0">
              <a:solidFill>
                <a:schemeClr val="bg1"/>
              </a:solidFill>
            </a:endParaRPr>
          </a:p>
        </p:txBody>
      </p:sp>
      <p:pic>
        <p:nvPicPr>
          <p:cNvPr id="6" name="Picture 5">
            <a:extLst>
              <a:ext uri="{FF2B5EF4-FFF2-40B4-BE49-F238E27FC236}">
                <a16:creationId xmlns:a16="http://schemas.microsoft.com/office/drawing/2014/main" id="{A15D63A2-A83F-BE53-FBD0-397F014DC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C1D76BCE-FEA6-0090-5685-B8F8F21FA5A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5" name="Rectangle 1">
            <a:extLst>
              <a:ext uri="{FF2B5EF4-FFF2-40B4-BE49-F238E27FC236}">
                <a16:creationId xmlns:a16="http://schemas.microsoft.com/office/drawing/2014/main" id="{74971E04-A172-749C-E3A4-D938767A31BC}"/>
              </a:ext>
            </a:extLst>
          </p:cNvPr>
          <p:cNvSpPr>
            <a:spLocks noGrp="1" noChangeArrowheads="1"/>
          </p:cNvSpPr>
          <p:nvPr>
            <p:ph idx="1"/>
          </p:nvPr>
        </p:nvSpPr>
        <p:spPr bwMode="auto">
          <a:xfrm>
            <a:off x="838201" y="1934400"/>
            <a:ext cx="109347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Pulizia tramite </a:t>
            </a:r>
            <a:r>
              <a:rPr kumimoji="0" lang="it-IT" altLang="it-IT" sz="2400" b="1" i="0" u="none" strike="noStrike" cap="none" normalizeH="0" baseline="0" dirty="0" err="1">
                <a:ln>
                  <a:noFill/>
                </a:ln>
                <a:solidFill>
                  <a:schemeClr val="tx1"/>
                </a:solidFill>
                <a:effectLst/>
                <a:latin typeface="Aptos Display"/>
              </a:rPr>
              <a:t>Regex</a:t>
            </a:r>
            <a:r>
              <a:rPr kumimoji="0" lang="it-IT" altLang="it-IT" sz="2400" b="1" i="0" u="none" strike="noStrike" cap="none" normalizeH="0" baseline="0" dirty="0">
                <a:ln>
                  <a:noFill/>
                </a:ln>
                <a:solidFill>
                  <a:schemeClr val="tx1"/>
                </a:solidFill>
                <a:effectLst/>
                <a:latin typeface="Aptos Display"/>
              </a:rPr>
              <a:t>:</a:t>
            </a:r>
            <a:r>
              <a:rPr kumimoji="0" lang="it-IT" altLang="it-IT" sz="2400" i="0" u="none" strike="noStrike" cap="none" normalizeH="0" baseline="0" dirty="0">
                <a:ln>
                  <a:noFill/>
                </a:ln>
                <a:solidFill>
                  <a:schemeClr val="tx1"/>
                </a:solidFill>
                <a:effectLst/>
                <a:latin typeface="Aptos Display"/>
              </a:rPr>
              <a:t> </a:t>
            </a:r>
            <a:r>
              <a:rPr kumimoji="0" lang="it-IT" altLang="it-IT" sz="2400" b="0" i="0" u="none" strike="noStrike" cap="none" normalizeH="0" baseline="0" dirty="0">
                <a:ln>
                  <a:noFill/>
                </a:ln>
                <a:solidFill>
                  <a:schemeClr val="tx1"/>
                </a:solidFill>
                <a:effectLst/>
                <a:latin typeface="Aptos Display"/>
              </a:rPr>
              <a:t>Conversione in minuscolo e intercettazione di refusi, stringhe in lingua straniera o diciture generiche (es. "no name", "vintage", "vera pelle") ricondotte alla categoria "ignoto".</a:t>
            </a:r>
          </a:p>
          <a:p>
            <a:pPr marL="0" marR="0" lvl="0" indent="0" defTabSz="914400" rtl="0" eaLnBrk="0" fontAlgn="base" latinLnBrk="0" hangingPunct="0">
              <a:lnSpc>
                <a:spcPct val="100000"/>
              </a:lnSpc>
              <a:spcBef>
                <a:spcPct val="0"/>
              </a:spcBef>
              <a:spcAft>
                <a:spcPct val="0"/>
              </a:spcAft>
              <a:buClrTx/>
              <a:buSzTx/>
              <a:buNone/>
              <a:tabLst/>
            </a:pPr>
            <a:endParaRPr kumimoji="0" lang="it-IT" altLang="it-IT" sz="2400" b="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Risoluzione sinonimi:</a:t>
            </a:r>
            <a:r>
              <a:rPr kumimoji="0" lang="it-IT" altLang="it-IT" sz="2400" i="0" u="none" strike="noStrike" cap="none" normalizeH="0" baseline="0" dirty="0">
                <a:ln>
                  <a:noFill/>
                </a:ln>
                <a:solidFill>
                  <a:schemeClr val="tx1"/>
                </a:solidFill>
                <a:effectLst/>
                <a:latin typeface="Aptos Display"/>
              </a:rPr>
              <a:t> </a:t>
            </a:r>
            <a:r>
              <a:rPr kumimoji="0" lang="it-IT" altLang="it-IT" sz="2400" b="0" i="0" u="none" strike="noStrike" cap="none" normalizeH="0" baseline="0" dirty="0">
                <a:ln>
                  <a:noFill/>
                </a:ln>
                <a:solidFill>
                  <a:schemeClr val="tx1"/>
                </a:solidFill>
                <a:effectLst/>
                <a:latin typeface="Aptos Display"/>
              </a:rPr>
              <a:t>Accorpamento delle varianti di testo sotto la stessa entità di brand (quechua / </a:t>
            </a:r>
            <a:r>
              <a:rPr kumimoji="0" lang="it-IT" altLang="it-IT" sz="2400" b="0" i="0" u="none" strike="noStrike" cap="none" normalizeH="0" baseline="0" dirty="0" err="1">
                <a:ln>
                  <a:noFill/>
                </a:ln>
                <a:solidFill>
                  <a:schemeClr val="tx1"/>
                </a:solidFill>
                <a:effectLst/>
                <a:latin typeface="Aptos Display"/>
              </a:rPr>
              <a:t>kalenji</a:t>
            </a:r>
            <a:r>
              <a:rPr kumimoji="0" lang="it-IT" altLang="it-IT" sz="2400" b="0" i="0" u="none" strike="noStrike" cap="none" normalizeH="0" baseline="0" dirty="0">
                <a:ln>
                  <a:noFill/>
                </a:ln>
                <a:solidFill>
                  <a:schemeClr val="tx1"/>
                </a:solidFill>
                <a:effectLst/>
                <a:latin typeface="Aptos Display"/>
              </a:rPr>
              <a:t> → decathlon).</a:t>
            </a:r>
          </a:p>
          <a:p>
            <a:pPr marL="0" marR="0" lvl="0" indent="0" defTabSz="914400" rtl="0" eaLnBrk="0" fontAlgn="base" latinLnBrk="0" hangingPunct="0">
              <a:lnSpc>
                <a:spcPct val="100000"/>
              </a:lnSpc>
              <a:spcBef>
                <a:spcPct val="0"/>
              </a:spcBef>
              <a:spcAft>
                <a:spcPct val="0"/>
              </a:spcAft>
              <a:buClrTx/>
              <a:buSzTx/>
              <a:buNone/>
              <a:tabLst/>
            </a:pPr>
            <a:endParaRPr kumimoji="0" lang="it-IT" altLang="it-IT" sz="2400" b="0" i="0" u="none" strike="noStrike" cap="none" normalizeH="0" baseline="0" dirty="0">
              <a:ln>
                <a:noFill/>
              </a:ln>
              <a:solidFill>
                <a:schemeClr val="tx1"/>
              </a:solidFill>
              <a:effectLst/>
              <a:latin typeface="Aptos Display"/>
            </a:endParaRPr>
          </a:p>
          <a:p>
            <a:pPr marL="0" lvl="0" indent="0" eaLnBrk="0" fontAlgn="base" hangingPunct="0">
              <a:lnSpc>
                <a:spcPct val="100000"/>
              </a:lnSpc>
              <a:spcBef>
                <a:spcPct val="0"/>
              </a:spcBef>
              <a:spcAft>
                <a:spcPct val="0"/>
              </a:spcAft>
              <a:buFontTx/>
              <a:buChar char="•"/>
            </a:pPr>
            <a:r>
              <a:rPr kumimoji="0" lang="it-IT" altLang="it-IT" sz="2400" b="1" i="0" u="none" strike="noStrike" cap="none" normalizeH="0" baseline="0" dirty="0">
                <a:ln>
                  <a:noFill/>
                </a:ln>
                <a:solidFill>
                  <a:schemeClr val="tx1"/>
                </a:solidFill>
                <a:effectLst/>
                <a:latin typeface="Aptos Display"/>
              </a:rPr>
              <a:t>Aggregazione commerciale:</a:t>
            </a:r>
            <a:r>
              <a:rPr kumimoji="0" lang="it-IT" altLang="it-IT" sz="2400" i="0" u="none" strike="noStrike" cap="none" normalizeH="0" baseline="0" dirty="0">
                <a:ln>
                  <a:noFill/>
                </a:ln>
                <a:solidFill>
                  <a:schemeClr val="tx1"/>
                </a:solidFill>
                <a:effectLst/>
                <a:latin typeface="Aptos Display"/>
              </a:rPr>
              <a:t> </a:t>
            </a:r>
            <a:r>
              <a:rPr kumimoji="0" lang="it-IT" altLang="it-IT" sz="2400" b="0" i="0" u="none" strike="noStrike" cap="none" normalizeH="0" baseline="0" dirty="0">
                <a:ln>
                  <a:noFill/>
                </a:ln>
                <a:solidFill>
                  <a:schemeClr val="tx1"/>
                </a:solidFill>
                <a:effectLst/>
                <a:latin typeface="Aptos Display"/>
              </a:rPr>
              <a:t>Creazione delle macro-categorie "Marche Bambini" e "Marche di Lusso</a:t>
            </a:r>
            <a:r>
              <a:rPr lang="it-IT" altLang="it-IT" sz="2400" dirty="0">
                <a:latin typeface="Aptos Display"/>
              </a:rPr>
              <a:t> "</a:t>
            </a:r>
            <a:r>
              <a:rPr kumimoji="0" lang="it-IT" altLang="it-IT" sz="2400" b="0" i="0" u="none" strike="noStrike" cap="none" normalizeH="0" baseline="0" dirty="0">
                <a:ln>
                  <a:noFill/>
                </a:ln>
                <a:solidFill>
                  <a:schemeClr val="tx1"/>
                </a:solidFill>
                <a:effectLst/>
                <a:latin typeface="Aptos Display"/>
              </a:rPr>
              <a:t>.</a:t>
            </a:r>
          </a:p>
          <a:p>
            <a:pPr marL="0" lvl="0" indent="0" eaLnBrk="0" fontAlgn="base" hangingPunct="0">
              <a:lnSpc>
                <a:spcPct val="100000"/>
              </a:lnSpc>
              <a:spcBef>
                <a:spcPct val="0"/>
              </a:spcBef>
              <a:spcAft>
                <a:spcPct val="0"/>
              </a:spcAft>
              <a:buNone/>
            </a:pPr>
            <a:endParaRPr kumimoji="0" lang="it-IT" altLang="it-IT" sz="2400" b="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Trattamento delle frequenze:</a:t>
            </a:r>
            <a:r>
              <a:rPr kumimoji="0" lang="it-IT" altLang="it-IT" sz="2400" b="0" i="0" u="none" strike="noStrike" cap="none" normalizeH="0" baseline="0" dirty="0">
                <a:ln>
                  <a:noFill/>
                </a:ln>
                <a:solidFill>
                  <a:schemeClr val="tx1"/>
                </a:solidFill>
                <a:effectLst/>
                <a:latin typeface="Aptos Display"/>
              </a:rPr>
              <a:t> I brand con meno di 30 osservazioni totali vengono accorpati </a:t>
            </a:r>
            <a:r>
              <a:rPr lang="it-IT" altLang="it-IT" sz="2400" dirty="0">
                <a:latin typeface="Aptos Display"/>
              </a:rPr>
              <a:t>automaticamente </a:t>
            </a:r>
            <a:r>
              <a:rPr kumimoji="0" lang="it-IT" altLang="it-IT" sz="2400" b="0" i="0" u="none" strike="noStrike" cap="none" normalizeH="0" baseline="0" dirty="0">
                <a:ln>
                  <a:noFill/>
                </a:ln>
                <a:solidFill>
                  <a:schemeClr val="tx1"/>
                </a:solidFill>
                <a:effectLst/>
                <a:latin typeface="Aptos Display"/>
              </a:rPr>
              <a:t>nella categoria "Altro".</a:t>
            </a:r>
          </a:p>
        </p:txBody>
      </p:sp>
      <p:sp>
        <p:nvSpPr>
          <p:cNvPr id="999" name="PageNum3"/>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a:t>
            </a:r>
          </a:p>
        </p:txBody>
      </p:sp>
    </p:spTree>
    <p:extLst>
      <p:ext uri="{BB962C8B-B14F-4D97-AF65-F5344CB8AC3E}">
        <p14:creationId xmlns:p14="http://schemas.microsoft.com/office/powerpoint/2010/main" val="3376214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52DF2-E7E5-FF4C-A2A2-C319BCAE0B57}"/>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A3E178E7-A950-7B59-8AB7-86BD7865CE62}"/>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25F8FE7E-FEF9-29EF-12D8-A22A0AAE8D53}"/>
              </a:ext>
            </a:extLst>
          </p:cNvPr>
          <p:cNvSpPr>
            <a:spLocks noGrp="1"/>
          </p:cNvSpPr>
          <p:nvPr>
            <p:ph type="title"/>
          </p:nvPr>
        </p:nvSpPr>
        <p:spPr>
          <a:xfrm>
            <a:off x="838200" y="141658"/>
            <a:ext cx="10515600" cy="1325563"/>
          </a:xfrm>
        </p:spPr>
        <p:txBody>
          <a:bodyPr/>
          <a:lstStyle/>
          <a:p>
            <a:r>
              <a:rPr lang="it-IT" dirty="0">
                <a:solidFill>
                  <a:schemeClr val="bg1"/>
                </a:solidFill>
              </a:rPr>
              <a:t>Il </a:t>
            </a:r>
            <a:r>
              <a:rPr lang="it-IT" dirty="0" err="1">
                <a:solidFill>
                  <a:schemeClr val="bg1"/>
                </a:solidFill>
              </a:rPr>
              <a:t>pre</a:t>
            </a:r>
            <a:r>
              <a:rPr lang="it-IT" dirty="0">
                <a:solidFill>
                  <a:schemeClr val="bg1"/>
                </a:solidFill>
              </a:rPr>
              <a:t>-processing: altre variabili </a:t>
            </a:r>
          </a:p>
        </p:txBody>
      </p:sp>
      <p:pic>
        <p:nvPicPr>
          <p:cNvPr id="6" name="Picture 5">
            <a:extLst>
              <a:ext uri="{FF2B5EF4-FFF2-40B4-BE49-F238E27FC236}">
                <a16:creationId xmlns:a16="http://schemas.microsoft.com/office/drawing/2014/main" id="{306CFD00-7AE7-91E7-58B8-F62C4C55D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2FA06008-3724-DC87-F93D-015AD5D80B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5" name="Rectangle 1">
            <a:extLst>
              <a:ext uri="{FF2B5EF4-FFF2-40B4-BE49-F238E27FC236}">
                <a16:creationId xmlns:a16="http://schemas.microsoft.com/office/drawing/2014/main" id="{A7A05F51-434A-AC4D-B85B-44932B683442}"/>
              </a:ext>
            </a:extLst>
          </p:cNvPr>
          <p:cNvSpPr>
            <a:spLocks noGrp="1" noChangeArrowheads="1"/>
          </p:cNvSpPr>
          <p:nvPr>
            <p:ph idx="1"/>
          </p:nvPr>
        </p:nvSpPr>
        <p:spPr bwMode="auto">
          <a:xfrm>
            <a:off x="838201" y="1934400"/>
            <a:ext cx="109347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it-IT" altLang="it-IT" sz="2400" b="1" i="0" u="none" strike="noStrike" cap="none" normalizeH="0" baseline="0" dirty="0">
                <a:ln>
                  <a:noFill/>
                </a:ln>
                <a:solidFill>
                  <a:schemeClr val="tx1"/>
                </a:solidFill>
                <a:effectLst/>
                <a:latin typeface="Aptos Display"/>
              </a:rPr>
              <a:t>Creazione categorie variabile colore:</a:t>
            </a:r>
            <a:r>
              <a:rPr kumimoji="0" lang="it-IT" altLang="it-IT" sz="2400" i="0" u="none" strike="noStrike" cap="none" normalizeH="0" baseline="0" dirty="0">
                <a:ln>
                  <a:noFill/>
                </a:ln>
                <a:solidFill>
                  <a:schemeClr val="tx1"/>
                </a:solidFill>
                <a:effectLst/>
                <a:latin typeface="Aptos Display"/>
              </a:rPr>
              <a:t> Mappatura </a:t>
            </a:r>
            <a:r>
              <a:rPr lang="it-IT" altLang="it-IT" sz="2400" dirty="0">
                <a:latin typeface="Aptos Display"/>
              </a:rPr>
              <a:t>dei 282 livelli della </a:t>
            </a:r>
            <a:r>
              <a:rPr kumimoji="0" lang="it-IT" altLang="it-IT" sz="2400" i="0" u="none" strike="noStrike" cap="none" normalizeH="0" baseline="0" dirty="0">
                <a:ln>
                  <a:noFill/>
                </a:ln>
                <a:solidFill>
                  <a:schemeClr val="tx1"/>
                </a:solidFill>
                <a:effectLst/>
                <a:latin typeface="Aptos Display"/>
              </a:rPr>
              <a:t>variabile in 4 macro-classi finali: Chiaro, Scuro, Colorato, </a:t>
            </a:r>
            <a:r>
              <a:rPr kumimoji="0" lang="it-IT" altLang="it-IT" sz="2400" i="0" u="none" strike="noStrike" cap="none" normalizeH="0" baseline="0" dirty="0" err="1">
                <a:ln>
                  <a:noFill/>
                </a:ln>
                <a:solidFill>
                  <a:schemeClr val="tx1"/>
                </a:solidFill>
                <a:effectLst/>
                <a:latin typeface="Aptos Display"/>
              </a:rPr>
              <a:t>Multicolor</a:t>
            </a:r>
            <a:r>
              <a:rPr kumimoji="0" lang="it-IT" altLang="it-IT" sz="2400" i="0" u="none" strike="noStrike" cap="none" normalizeH="0" baseline="0" dirty="0">
                <a:ln>
                  <a:noFill/>
                </a:ln>
                <a:solidFill>
                  <a:schemeClr val="tx1"/>
                </a:solidFill>
                <a:effectLst/>
                <a:latin typeface="Aptos Display"/>
              </a:rPr>
              <a:t>.</a:t>
            </a:r>
          </a:p>
          <a:p>
            <a:pPr marL="0" lvl="0" indent="0" eaLnBrk="0" fontAlgn="base" hangingPunct="0">
              <a:lnSpc>
                <a:spcPct val="100000"/>
              </a:lnSpc>
              <a:spcBef>
                <a:spcPct val="0"/>
              </a:spcBef>
              <a:spcAft>
                <a:spcPct val="0"/>
              </a:spcAft>
              <a:buNone/>
            </a:pPr>
            <a:endParaRPr kumimoji="0" lang="it-IT" altLang="it-IT" sz="240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Fattorizzazione ordinale:</a:t>
            </a:r>
            <a:r>
              <a:rPr kumimoji="0" lang="it-IT" altLang="it-IT" sz="2400" i="0" u="none" strike="noStrike" cap="none" normalizeH="0" baseline="0" dirty="0">
                <a:ln>
                  <a:noFill/>
                </a:ln>
                <a:solidFill>
                  <a:schemeClr val="tx1"/>
                </a:solidFill>
                <a:effectLst/>
                <a:latin typeface="Aptos Display"/>
              </a:rPr>
              <a:t> Trasformazione delle variabili qualitative, ad esempio qualità dell’articolo e il rating del venditore, in fattori</a:t>
            </a:r>
            <a:r>
              <a:rPr lang="it-IT" altLang="it-IT" sz="2400" dirty="0">
                <a:latin typeface="Aptos Display"/>
              </a:rPr>
              <a:t> ordinali</a:t>
            </a:r>
            <a:r>
              <a:rPr kumimoji="0" lang="it-IT" altLang="it-IT" sz="2400" i="0" u="none" strike="noStrike" cap="none" normalizeH="0" baseline="0" dirty="0">
                <a:ln>
                  <a:noFill/>
                </a:ln>
                <a:solidFill>
                  <a:schemeClr val="tx1"/>
                </a:solidFill>
                <a:effectLst/>
                <a:latin typeface="Aptos Display"/>
              </a:rPr>
              <a:t>.</a:t>
            </a:r>
          </a:p>
          <a:p>
            <a:pPr marL="0" marR="0" lvl="0" indent="0" defTabSz="914400" rtl="0" eaLnBrk="0" fontAlgn="base" latinLnBrk="0" hangingPunct="0">
              <a:lnSpc>
                <a:spcPct val="100000"/>
              </a:lnSpc>
              <a:spcBef>
                <a:spcPct val="0"/>
              </a:spcBef>
              <a:spcAft>
                <a:spcPct val="0"/>
              </a:spcAft>
              <a:buClrTx/>
              <a:buSzTx/>
              <a:buNone/>
              <a:tabLst/>
            </a:pPr>
            <a:endParaRPr kumimoji="0" lang="it-IT" altLang="it-IT" sz="240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sz="2400" b="1" i="0" u="none" strike="noStrike" cap="none" normalizeH="0" baseline="0" dirty="0">
                <a:ln>
                  <a:noFill/>
                </a:ln>
                <a:solidFill>
                  <a:schemeClr val="tx1"/>
                </a:solidFill>
                <a:effectLst/>
                <a:latin typeface="Aptos Display"/>
              </a:rPr>
              <a:t>Conversione temporale:</a:t>
            </a:r>
            <a:r>
              <a:rPr kumimoji="0" lang="it-IT" altLang="it-IT" sz="2400" i="0" u="none" strike="noStrike" cap="none" normalizeH="0" baseline="0" dirty="0">
                <a:ln>
                  <a:noFill/>
                </a:ln>
                <a:solidFill>
                  <a:schemeClr val="tx1"/>
                </a:solidFill>
                <a:effectLst/>
                <a:latin typeface="Aptos Display"/>
              </a:rPr>
              <a:t> Trasformazione della stringa testuale di upload (es. "2 giorni fa", "3 ore fa") in una variabile numerica continua che esprime le ore passate dal momento dell'annuncio.</a:t>
            </a:r>
          </a:p>
          <a:p>
            <a:pPr marL="0" marR="0" lvl="0" indent="0" defTabSz="914400" rtl="0" eaLnBrk="0" fontAlgn="base" latinLnBrk="0" hangingPunct="0">
              <a:lnSpc>
                <a:spcPct val="100000"/>
              </a:lnSpc>
              <a:spcBef>
                <a:spcPct val="0"/>
              </a:spcBef>
              <a:spcAft>
                <a:spcPct val="0"/>
              </a:spcAft>
              <a:buClrTx/>
              <a:buSzTx/>
              <a:buNone/>
              <a:tabLst/>
            </a:pPr>
            <a:endParaRPr kumimoji="0" lang="it-IT" altLang="it-IT" sz="2400" i="0" u="none" strike="noStrike" cap="none" normalizeH="0" baseline="0" dirty="0">
              <a:ln>
                <a:noFill/>
              </a:ln>
              <a:solidFill>
                <a:schemeClr val="tx1"/>
              </a:solidFill>
              <a:effectLst/>
              <a:latin typeface="Aptos Display"/>
            </a:endParaRPr>
          </a:p>
          <a:p>
            <a:pPr marL="0" marR="0" lvl="0" indent="0" defTabSz="914400" rtl="0" eaLnBrk="0" fontAlgn="base" latinLnBrk="0" hangingPunct="0">
              <a:lnSpc>
                <a:spcPct val="100000"/>
              </a:lnSpc>
              <a:spcBef>
                <a:spcPct val="0"/>
              </a:spcBef>
              <a:spcAft>
                <a:spcPct val="0"/>
              </a:spcAft>
              <a:buClrTx/>
              <a:buSzTx/>
              <a:buFontTx/>
              <a:buChar char="•"/>
              <a:tabLst/>
            </a:pPr>
            <a:r>
              <a:rPr lang="it-IT" altLang="it-IT" sz="2400" b="1" dirty="0">
                <a:latin typeface="Aptos Display"/>
              </a:rPr>
              <a:t>Problema di asimmetria</a:t>
            </a:r>
            <a:r>
              <a:rPr kumimoji="0" lang="it-IT" altLang="it-IT" sz="2400" b="1" i="0" u="none" strike="noStrike" cap="none" normalizeH="0" baseline="0" dirty="0">
                <a:ln>
                  <a:noFill/>
                </a:ln>
                <a:solidFill>
                  <a:schemeClr val="tx1"/>
                </a:solidFill>
                <a:effectLst/>
                <a:latin typeface="Aptos Display"/>
              </a:rPr>
              <a:t>:</a:t>
            </a:r>
            <a:r>
              <a:rPr kumimoji="0" lang="it-IT" altLang="it-IT" sz="2400" i="0" u="none" strike="noStrike" cap="none" normalizeH="0" baseline="0" dirty="0">
                <a:ln>
                  <a:noFill/>
                </a:ln>
                <a:solidFill>
                  <a:schemeClr val="tx1"/>
                </a:solidFill>
                <a:effectLst/>
                <a:latin typeface="Aptos Display"/>
              </a:rPr>
              <a:t> Applicazione della trasformazione logaritmica sul Prezzo e sul conteggio delle recensioni del venditore per correggere la forte asimmetria positiva.</a:t>
            </a:r>
          </a:p>
        </p:txBody>
      </p:sp>
      <p:sp>
        <p:nvSpPr>
          <p:cNvPr id="999" name="PageNum4"/>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a:t>
            </a:r>
          </a:p>
        </p:txBody>
      </p:sp>
    </p:spTree>
    <p:extLst>
      <p:ext uri="{BB962C8B-B14F-4D97-AF65-F5344CB8AC3E}">
        <p14:creationId xmlns:p14="http://schemas.microsoft.com/office/powerpoint/2010/main" val="3733095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2D697-1DE1-8483-8442-2F0617506E3D}"/>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5EF33BBE-2943-1C08-6266-73ABA6A6AF87}"/>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BD4AA667-EEEE-2DE4-7605-E8CEA4EA367C}"/>
              </a:ext>
            </a:extLst>
          </p:cNvPr>
          <p:cNvSpPr>
            <a:spLocks noGrp="1"/>
          </p:cNvSpPr>
          <p:nvPr>
            <p:ph type="title"/>
          </p:nvPr>
        </p:nvSpPr>
        <p:spPr>
          <a:xfrm>
            <a:off x="838200" y="141658"/>
            <a:ext cx="10515600" cy="1325563"/>
          </a:xfrm>
        </p:spPr>
        <p:txBody>
          <a:bodyPr/>
          <a:lstStyle/>
          <a:p>
            <a:r>
              <a:rPr lang="it-IT" dirty="0">
                <a:solidFill>
                  <a:schemeClr val="bg1"/>
                </a:solidFill>
              </a:rPr>
              <a:t>Integrazione del dataset</a:t>
            </a:r>
          </a:p>
        </p:txBody>
      </p:sp>
      <p:pic>
        <p:nvPicPr>
          <p:cNvPr id="6" name="Picture 5">
            <a:extLst>
              <a:ext uri="{FF2B5EF4-FFF2-40B4-BE49-F238E27FC236}">
                <a16:creationId xmlns:a16="http://schemas.microsoft.com/office/drawing/2014/main" id="{EE10A3CA-1EB7-FF51-33C6-DF9CD39C8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F410F75F-98BF-E983-B99C-DDAF2923AB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3" name="Rectangle 1">
            <a:extLst>
              <a:ext uri="{FF2B5EF4-FFF2-40B4-BE49-F238E27FC236}">
                <a16:creationId xmlns:a16="http://schemas.microsoft.com/office/drawing/2014/main" id="{6F246CCC-992A-6B49-B639-DE8DBBC6B077}"/>
              </a:ext>
            </a:extLst>
          </p:cNvPr>
          <p:cNvSpPr>
            <a:spLocks noGrp="1" noChangeArrowheads="1"/>
          </p:cNvSpPr>
          <p:nvPr>
            <p:ph idx="1"/>
          </p:nvPr>
        </p:nvSpPr>
        <p:spPr bwMode="auto">
          <a:xfrm>
            <a:off x="847531" y="3596392"/>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it-IT" altLang="it-IT" sz="2400" b="1" i="0" u="none" strike="noStrike" cap="none" normalizeH="0" baseline="0" dirty="0">
                <a:ln>
                  <a:noFill/>
                </a:ln>
                <a:solidFill>
                  <a:schemeClr val="tx1"/>
                </a:solidFill>
                <a:effectLst/>
                <a:latin typeface="Aptos Display"/>
              </a:rPr>
              <a:t>Inserimento di una nuova metrica:</a:t>
            </a:r>
            <a:r>
              <a:rPr kumimoji="0" lang="it-IT" altLang="it-IT" sz="2400" b="0" i="0" u="none" strike="noStrike" cap="none" normalizeH="0" baseline="0" dirty="0">
                <a:ln>
                  <a:noFill/>
                </a:ln>
                <a:solidFill>
                  <a:schemeClr val="tx1"/>
                </a:solidFill>
                <a:effectLst/>
                <a:latin typeface="Aptos Display"/>
              </a:rPr>
              <a:t> </a:t>
            </a:r>
            <a:r>
              <a:rPr lang="it-IT" sz="2400" i="1" dirty="0">
                <a:latin typeface="Aptos Display"/>
              </a:rPr>
              <a:t>Left join</a:t>
            </a:r>
            <a:r>
              <a:rPr lang="it-IT" sz="2400" dirty="0">
                <a:latin typeface="Aptos Display"/>
              </a:rPr>
              <a:t> con il dataset di Google Trends basato sul brand originale del prodotto per considerare l'interesse medio annuo come </a:t>
            </a:r>
            <a:r>
              <a:rPr lang="it-IT" sz="2400" i="1" dirty="0">
                <a:latin typeface="Aptos Display"/>
              </a:rPr>
              <a:t>proxy</a:t>
            </a:r>
            <a:r>
              <a:rPr lang="it-IT" sz="2400" dirty="0">
                <a:latin typeface="Aptos Display"/>
              </a:rPr>
              <a:t> della popolarità e della forza del marchio sul mercato.</a:t>
            </a:r>
          </a:p>
        </p:txBody>
      </p:sp>
      <p:sp>
        <p:nvSpPr>
          <p:cNvPr id="999" name="PageNum5"/>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5</a:t>
            </a:r>
          </a:p>
        </p:txBody>
      </p:sp>
    </p:spTree>
    <p:extLst>
      <p:ext uri="{BB962C8B-B14F-4D97-AF65-F5344CB8AC3E}">
        <p14:creationId xmlns:p14="http://schemas.microsoft.com/office/powerpoint/2010/main" val="1609692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F469-73A0-A3C2-9F94-FE141E6AAD6C}"/>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B6C59DA5-C39D-1EB1-19A4-B050F99EF60C}"/>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56C697A0-F772-78C4-7F1D-2C7D5DEC9778}"/>
              </a:ext>
            </a:extLst>
          </p:cNvPr>
          <p:cNvSpPr>
            <a:spLocks noGrp="1"/>
          </p:cNvSpPr>
          <p:nvPr>
            <p:ph type="title"/>
          </p:nvPr>
        </p:nvSpPr>
        <p:spPr>
          <a:xfrm>
            <a:off x="838200" y="141658"/>
            <a:ext cx="10515600" cy="1325563"/>
          </a:xfrm>
        </p:spPr>
        <p:txBody>
          <a:bodyPr/>
          <a:lstStyle/>
          <a:p>
            <a:r>
              <a:rPr lang="it-IT" dirty="0">
                <a:solidFill>
                  <a:schemeClr val="bg1"/>
                </a:solidFill>
              </a:rPr>
              <a:t>La scaletta della nostra consulenza</a:t>
            </a:r>
          </a:p>
        </p:txBody>
      </p:sp>
      <p:sp>
        <p:nvSpPr>
          <p:cNvPr id="3" name="Segnaposto contenuto 2">
            <a:extLst>
              <a:ext uri="{FF2B5EF4-FFF2-40B4-BE49-F238E27FC236}">
                <a16:creationId xmlns:a16="http://schemas.microsoft.com/office/drawing/2014/main" id="{C185512E-782A-5269-D57B-C97D02F085FD}"/>
              </a:ext>
            </a:extLst>
          </p:cNvPr>
          <p:cNvSpPr>
            <a:spLocks noGrp="1"/>
          </p:cNvSpPr>
          <p:nvPr>
            <p:ph idx="1"/>
          </p:nvPr>
        </p:nvSpPr>
        <p:spPr>
          <a:xfrm>
            <a:off x="838201" y="2204627"/>
            <a:ext cx="7083136" cy="3984215"/>
          </a:xfrm>
        </p:spPr>
        <p:txBody>
          <a:bodyPr>
            <a:normAutofit/>
          </a:bodyPr>
          <a:lstStyle/>
          <a:p>
            <a:pPr marL="514350" indent="-514350">
              <a:buFont typeface="+mj-lt"/>
              <a:buAutoNum type="arabicPeriod"/>
            </a:pPr>
            <a:r>
              <a:rPr lang="it-IT" dirty="0">
                <a:latin typeface="Aptos Display"/>
              </a:rPr>
              <a:t>Raccomandazione dei prezzi</a:t>
            </a:r>
          </a:p>
          <a:p>
            <a:pPr marL="514350" indent="-514350">
              <a:buFont typeface="+mj-lt"/>
              <a:buAutoNum type="arabicPeriod"/>
            </a:pPr>
            <a:r>
              <a:rPr lang="it-IT" dirty="0">
                <a:latin typeface="Aptos Display"/>
              </a:rPr>
              <a:t>Qualità del prodotto</a:t>
            </a:r>
          </a:p>
          <a:p>
            <a:pPr marL="514350" indent="-514350">
              <a:buFont typeface="+mj-lt"/>
              <a:buAutoNum type="arabicPeriod"/>
            </a:pPr>
            <a:r>
              <a:rPr lang="it-IT" dirty="0">
                <a:latin typeface="Aptos Display"/>
              </a:rPr>
              <a:t>Brand intelligence</a:t>
            </a:r>
          </a:p>
          <a:p>
            <a:pPr marL="0" indent="0">
              <a:buNone/>
            </a:pPr>
            <a:r>
              <a:rPr lang="it-IT" dirty="0">
                <a:latin typeface="Aptos Display"/>
              </a:rPr>
              <a:t>4.   Segmentazione dei prodotti</a:t>
            </a:r>
          </a:p>
        </p:txBody>
      </p:sp>
      <p:pic>
        <p:nvPicPr>
          <p:cNvPr id="6" name="Picture 5">
            <a:extLst>
              <a:ext uri="{FF2B5EF4-FFF2-40B4-BE49-F238E27FC236}">
                <a16:creationId xmlns:a16="http://schemas.microsoft.com/office/drawing/2014/main" id="{38B72FFF-35D9-5DA0-7753-00B7ABE67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8" name="AutoShape 8" descr="Vinted Italia - App desktop per Mac, Windows (PC) - WebCatalog">
            <a:extLst>
              <a:ext uri="{FF2B5EF4-FFF2-40B4-BE49-F238E27FC236}">
                <a16:creationId xmlns:a16="http://schemas.microsoft.com/office/drawing/2014/main" id="{C7F7E68A-275A-BDB7-99A6-AC901124BB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999" name="PageNum6"/>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6</a:t>
            </a:r>
          </a:p>
        </p:txBody>
      </p:sp>
    </p:spTree>
    <p:extLst>
      <p:ext uri="{BB962C8B-B14F-4D97-AF65-F5344CB8AC3E}">
        <p14:creationId xmlns:p14="http://schemas.microsoft.com/office/powerpoint/2010/main" val="1581587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16306-E2CF-C95E-7873-50611E615D29}"/>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B623F5E0-8B9C-6670-2B9A-2ADA97D532AF}"/>
              </a:ext>
            </a:extLst>
          </p:cNvPr>
          <p:cNvSpPr>
            <a:spLocks noGrp="1"/>
          </p:cNvSpPr>
          <p:nvPr>
            <p:ph type="subTitle" idx="1"/>
          </p:nvPr>
        </p:nvSpPr>
        <p:spPr/>
        <p:txBody>
          <a:bodyPr/>
          <a:lstStyle/>
          <a:p>
            <a:endParaRPr lang="it-IT"/>
          </a:p>
        </p:txBody>
      </p:sp>
      <p:sp>
        <p:nvSpPr>
          <p:cNvPr id="8" name="Rettangolo 7">
            <a:extLst>
              <a:ext uri="{FF2B5EF4-FFF2-40B4-BE49-F238E27FC236}">
                <a16:creationId xmlns:a16="http://schemas.microsoft.com/office/drawing/2014/main" id="{FA3AB547-D657-ABE9-42B0-DC1DC25C4536}"/>
              </a:ext>
            </a:extLst>
          </p:cNvPr>
          <p:cNvSpPr/>
          <p:nvPr/>
        </p:nvSpPr>
        <p:spPr>
          <a:xfrm>
            <a:off x="0" y="-34390"/>
            <a:ext cx="12192000" cy="6892390"/>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9" name="CasellaDiTesto 48">
            <a:extLst>
              <a:ext uri="{FF2B5EF4-FFF2-40B4-BE49-F238E27FC236}">
                <a16:creationId xmlns:a16="http://schemas.microsoft.com/office/drawing/2014/main" id="{3A74C2C8-3F62-DE27-4087-2F0E050B43E1}"/>
              </a:ext>
            </a:extLst>
          </p:cNvPr>
          <p:cNvSpPr txBox="1"/>
          <p:nvPr/>
        </p:nvSpPr>
        <p:spPr>
          <a:xfrm>
            <a:off x="1075261" y="2903973"/>
            <a:ext cx="10041477" cy="1015663"/>
          </a:xfrm>
          <a:prstGeom prst="rect">
            <a:avLst/>
          </a:prstGeom>
          <a:noFill/>
        </p:spPr>
        <p:txBody>
          <a:bodyPr wrap="square" rtlCol="0">
            <a:spAutoFit/>
          </a:bodyPr>
          <a:lstStyle/>
          <a:p>
            <a:pPr algn="ctr"/>
            <a:r>
              <a:rPr lang="it-IT" sz="6000" dirty="0">
                <a:solidFill>
                  <a:schemeClr val="bg1"/>
                </a:solidFill>
              </a:rPr>
              <a:t>Raccomandazione dei prezzi</a:t>
            </a:r>
            <a:endParaRPr lang="it-IT" sz="6000" i="1" dirty="0">
              <a:solidFill>
                <a:schemeClr val="bg1"/>
              </a:solidFill>
            </a:endParaRPr>
          </a:p>
        </p:txBody>
      </p:sp>
      <p:sp>
        <p:nvSpPr>
          <p:cNvPr id="999" name="PageNum7"/>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7</a:t>
            </a:r>
          </a:p>
        </p:txBody>
      </p:sp>
    </p:spTree>
    <p:extLst>
      <p:ext uri="{BB962C8B-B14F-4D97-AF65-F5344CB8AC3E}">
        <p14:creationId xmlns:p14="http://schemas.microsoft.com/office/powerpoint/2010/main" val="273475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BE5E5-FDD8-709C-608E-63EE8782A47E}"/>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90164129-1C48-FBC1-72C8-F04E7FB1E5E4}"/>
              </a:ext>
            </a:extLst>
          </p:cNvPr>
          <p:cNvSpPr/>
          <p:nvPr/>
        </p:nvSpPr>
        <p:spPr>
          <a:xfrm>
            <a:off x="11575"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75B0E24-2347-3035-D553-B9181357198A}"/>
              </a:ext>
            </a:extLst>
          </p:cNvPr>
          <p:cNvSpPr>
            <a:spLocks noGrp="1"/>
          </p:cNvSpPr>
          <p:nvPr>
            <p:ph type="title"/>
          </p:nvPr>
        </p:nvSpPr>
        <p:spPr>
          <a:xfrm>
            <a:off x="838200" y="141658"/>
            <a:ext cx="10515600" cy="1325563"/>
          </a:xfrm>
        </p:spPr>
        <p:txBody>
          <a:bodyPr/>
          <a:lstStyle/>
          <a:p>
            <a:r>
              <a:rPr lang="it-IT" dirty="0">
                <a:solidFill>
                  <a:schemeClr val="bg1"/>
                </a:solidFill>
              </a:rPr>
              <a:t>Raccomandazione dei prezzi</a:t>
            </a:r>
          </a:p>
        </p:txBody>
      </p:sp>
      <p:sp>
        <p:nvSpPr>
          <p:cNvPr id="3" name="Segnaposto contenuto 2">
            <a:extLst>
              <a:ext uri="{FF2B5EF4-FFF2-40B4-BE49-F238E27FC236}">
                <a16:creationId xmlns:a16="http://schemas.microsoft.com/office/drawing/2014/main" id="{59CF6483-BEBF-D181-21E3-DA009669F55A}"/>
              </a:ext>
            </a:extLst>
          </p:cNvPr>
          <p:cNvSpPr>
            <a:spLocks noGrp="1"/>
          </p:cNvSpPr>
          <p:nvPr>
            <p:ph idx="1"/>
          </p:nvPr>
        </p:nvSpPr>
        <p:spPr>
          <a:xfrm>
            <a:off x="838200" y="2260302"/>
            <a:ext cx="10515600" cy="3984215"/>
          </a:xfrm>
        </p:spPr>
        <p:txBody>
          <a:bodyPr anchor="ctr">
            <a:normAutofit/>
          </a:bodyPr>
          <a:lstStyle/>
          <a:p>
            <a:pPr>
              <a:lnSpc>
                <a:spcPct val="100000"/>
              </a:lnSpc>
            </a:pPr>
            <a:r>
              <a:rPr lang="it-IT" sz="2400" b="1" dirty="0">
                <a:latin typeface="Aptos Display"/>
              </a:rPr>
              <a:t>Il problema aziendale: </a:t>
            </a:r>
            <a:r>
              <a:rPr lang="it-IT" sz="2400" dirty="0">
                <a:latin typeface="Aptos Display"/>
              </a:rPr>
              <a:t>Gli utenti C2C faticano a valutare oggettivamente i propri beni, portando a </a:t>
            </a:r>
            <a:r>
              <a:rPr lang="it-IT" sz="2400" dirty="0" err="1">
                <a:latin typeface="Aptos Display"/>
              </a:rPr>
              <a:t>sovraprezzamenti</a:t>
            </a:r>
            <a:r>
              <a:rPr lang="it-IT" sz="2400" dirty="0">
                <a:latin typeface="Aptos Display"/>
              </a:rPr>
              <a:t> che rallentano la vendita o </a:t>
            </a:r>
            <a:r>
              <a:rPr lang="it-IT" sz="2400" dirty="0" err="1">
                <a:latin typeface="Aptos Display"/>
              </a:rPr>
              <a:t>sottoprezzamenti</a:t>
            </a:r>
            <a:r>
              <a:rPr lang="it-IT" sz="2400" dirty="0">
                <a:latin typeface="Aptos Display"/>
              </a:rPr>
              <a:t> che riducono i margini.</a:t>
            </a:r>
          </a:p>
          <a:p>
            <a:pPr>
              <a:lnSpc>
                <a:spcPct val="100000"/>
              </a:lnSpc>
            </a:pPr>
            <a:r>
              <a:rPr lang="it-IT" sz="2400" b="1" dirty="0">
                <a:latin typeface="Aptos Display"/>
              </a:rPr>
              <a:t>L’obiettivo della consulenza: </a:t>
            </a:r>
            <a:r>
              <a:rPr lang="it-IT" sz="2400" dirty="0">
                <a:latin typeface="Aptos Display"/>
              </a:rPr>
              <a:t>Fornire un algoritmo automatico di raccomandazione prezzi basato sull'analisi storica di articoli simili presenti sul mercato.</a:t>
            </a:r>
          </a:p>
          <a:p>
            <a:pPr>
              <a:lnSpc>
                <a:spcPct val="100000"/>
              </a:lnSpc>
            </a:pPr>
            <a:r>
              <a:rPr lang="it-IT" sz="2400" b="1" dirty="0">
                <a:latin typeface="Aptos Display"/>
              </a:rPr>
              <a:t>L'approccio statistico: </a:t>
            </a:r>
            <a:r>
              <a:rPr lang="it-IT" sz="2400" dirty="0">
                <a:latin typeface="Aptos Display"/>
              </a:rPr>
              <a:t>Problema di regressione sul prezzo di vendita.</a:t>
            </a:r>
            <a:endParaRPr lang="en-US" sz="2400" dirty="0"/>
          </a:p>
        </p:txBody>
      </p:sp>
      <p:pic>
        <p:nvPicPr>
          <p:cNvPr id="6" name="Picture 5">
            <a:extLst>
              <a:ext uri="{FF2B5EF4-FFF2-40B4-BE49-F238E27FC236}">
                <a16:creationId xmlns:a16="http://schemas.microsoft.com/office/drawing/2014/main" id="{8562F3D1-B05C-3E72-877B-203A29B606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8"/>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8</a:t>
            </a:r>
          </a:p>
        </p:txBody>
      </p:sp>
    </p:spTree>
    <p:extLst>
      <p:ext uri="{BB962C8B-B14F-4D97-AF65-F5344CB8AC3E}">
        <p14:creationId xmlns:p14="http://schemas.microsoft.com/office/powerpoint/2010/main" val="2465307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dr">
            <a:extLst>
              <a:ext uri="{FF2B5EF4-FFF2-40B4-BE49-F238E27FC236}">
                <a16:creationId xmlns:a16="http://schemas.microsoft.com/office/drawing/2014/main" id="{ACB0F4F8-00E2-EB5F-7AC6-34D4CB9A9164}"/>
              </a:ext>
            </a:extLst>
          </p:cNvPr>
          <p:cNvSpPr/>
          <p:nvPr/>
        </p:nvSpPr>
        <p:spPr>
          <a:xfrm>
            <a:off x="0" y="0"/>
            <a:ext cx="12192000" cy="1608881"/>
          </a:xfrm>
          <a:prstGeom prst="rect">
            <a:avLst/>
          </a:prstGeom>
          <a:solidFill>
            <a:srgbClr val="B20E10"/>
          </a:solidFill>
          <a:ln>
            <a:solidFill>
              <a:srgbClr val="B20E10"/>
            </a:solidFill>
          </a:ln>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 name="Titolo 1">
            <a:extLst>
              <a:ext uri="{FF2B5EF4-FFF2-40B4-BE49-F238E27FC236}">
                <a16:creationId xmlns:a16="http://schemas.microsoft.com/office/drawing/2014/main" id="{295EC019-74BE-1349-4091-E60C58DEC25C}"/>
              </a:ext>
            </a:extLst>
          </p:cNvPr>
          <p:cNvSpPr>
            <a:spLocks noGrp="1"/>
          </p:cNvSpPr>
          <p:nvPr>
            <p:ph type="title"/>
          </p:nvPr>
        </p:nvSpPr>
        <p:spPr>
          <a:xfrm>
            <a:off x="130731" y="203298"/>
            <a:ext cx="11114315" cy="1325563"/>
          </a:xfrm>
        </p:spPr>
        <p:txBody>
          <a:bodyPr>
            <a:normAutofit/>
          </a:bodyPr>
          <a:lstStyle/>
          <a:p>
            <a:r>
              <a:rPr lang="it-IT" sz="2400" b="1" dirty="0">
                <a:solidFill>
                  <a:schemeClr val="bg1"/>
                </a:solidFill>
              </a:rPr>
              <a:t>Regressione sul Prezzo</a:t>
            </a:r>
            <a:br>
              <a:rPr lang="it-IT" sz="2400" b="1" dirty="0">
                <a:solidFill>
                  <a:schemeClr val="bg1"/>
                </a:solidFill>
              </a:rPr>
            </a:br>
            <a:r>
              <a:rPr lang="it-IT" sz="2400" i="1" dirty="0">
                <a:solidFill>
                  <a:schemeClr val="bg1"/>
                </a:solidFill>
              </a:rPr>
              <a:t>Perché abbiamo trasformato il prezzo con il logaritmo</a:t>
            </a:r>
            <a:endParaRPr lang="it-IT" sz="2400" dirty="0">
              <a:solidFill>
                <a:schemeClr val="bg1"/>
              </a:solidFill>
            </a:endParaRPr>
          </a:p>
        </p:txBody>
      </p:sp>
      <p:sp>
        <p:nvSpPr>
          <p:cNvPr id="3" name="Segnaposto contenuto 2">
            <a:extLst>
              <a:ext uri="{FF2B5EF4-FFF2-40B4-BE49-F238E27FC236}">
                <a16:creationId xmlns:a16="http://schemas.microsoft.com/office/drawing/2014/main" id="{1324F176-4D92-C15E-9BD1-F6C898F5DA44}"/>
              </a:ext>
            </a:extLst>
          </p:cNvPr>
          <p:cNvSpPr>
            <a:spLocks noGrp="1"/>
          </p:cNvSpPr>
          <p:nvPr>
            <p:ph idx="1"/>
          </p:nvPr>
        </p:nvSpPr>
        <p:spPr>
          <a:xfrm>
            <a:off x="838200" y="1825625"/>
            <a:ext cx="10515600" cy="2447795"/>
          </a:xfrm>
        </p:spPr>
        <p:txBody>
          <a:bodyPr/>
          <a:lstStyle/>
          <a:p>
            <a:r>
              <a:rPr lang="it-IT" sz="3600" b="1" dirty="0">
                <a:solidFill>
                  <a:srgbClr val="FFFFFF"/>
                </a:solidFill>
                <a:latin typeface="Aptos Display"/>
              </a:rPr>
              <a:t>Regressione sul Prezzo</a:t>
            </a:r>
          </a:p>
          <a:p>
            <a:r>
              <a:rPr lang="it-IT" i="1" dirty="0">
                <a:solidFill>
                  <a:srgbClr val="FFFFFF"/>
                </a:solidFill>
                <a:latin typeface="Aptos Display"/>
              </a:rPr>
              <a:t>Perché abbiamo trasformato il prezzo con il logaritmo</a:t>
            </a:r>
            <a:endParaRPr lang="it-IT" dirty="0"/>
          </a:p>
        </p:txBody>
      </p:sp>
      <p:pic>
        <p:nvPicPr>
          <p:cNvPr id="5" name="Picture 3" descr="unipd_logo.png">
            <a:extLst>
              <a:ext uri="{FF2B5EF4-FFF2-40B4-BE49-F238E27FC236}">
                <a16:creationId xmlns:a16="http://schemas.microsoft.com/office/drawing/2014/main" id="{6F46ABA8-8B77-1870-DD90-16B164EBE444}"/>
              </a:ext>
            </a:extLst>
          </p:cNvPr>
          <p:cNvPicPr>
            <a:picLocks noChangeAspect="1"/>
          </p:cNvPicPr>
          <p:nvPr/>
        </p:nvPicPr>
        <p:blipFill>
          <a:blip r:embed="rId2"/>
          <a:stretch>
            <a:fillRect/>
          </a:stretch>
        </p:blipFill>
        <p:spPr>
          <a:xfrm>
            <a:off x="9084439" y="210080"/>
            <a:ext cx="2651760" cy="1188720"/>
          </a:xfrm>
          <a:prstGeom prst="rect">
            <a:avLst/>
          </a:prstGeom>
        </p:spPr>
      </p:pic>
      <p:pic>
        <p:nvPicPr>
          <p:cNvPr id="6" name="RawResid">
            <a:extLst>
              <a:ext uri="{FF2B5EF4-FFF2-40B4-BE49-F238E27FC236}">
                <a16:creationId xmlns:a16="http://schemas.microsoft.com/office/drawing/2014/main" id="{E1BE8E77-C16D-E16D-9032-4C7EE1AE407C}"/>
              </a:ext>
            </a:extLst>
          </p:cNvPr>
          <p:cNvPicPr>
            <a:picLocks noChangeAspect="1"/>
          </p:cNvPicPr>
          <p:nvPr/>
        </p:nvPicPr>
        <p:blipFill>
          <a:blip r:embed="rId3"/>
          <a:stretch>
            <a:fillRect/>
          </a:stretch>
        </p:blipFill>
        <p:spPr>
          <a:xfrm>
            <a:off x="9972" y="2148918"/>
            <a:ext cx="5985589" cy="4709082"/>
          </a:xfrm>
          <a:prstGeom prst="rect">
            <a:avLst/>
          </a:prstGeom>
        </p:spPr>
      </p:pic>
      <p:pic>
        <p:nvPicPr>
          <p:cNvPr id="7" name="LogResid">
            <a:extLst>
              <a:ext uri="{FF2B5EF4-FFF2-40B4-BE49-F238E27FC236}">
                <a16:creationId xmlns:a16="http://schemas.microsoft.com/office/drawing/2014/main" id="{327EC019-67D0-CBE0-3927-BDF310F3EBA0}"/>
              </a:ext>
            </a:extLst>
          </p:cNvPr>
          <p:cNvPicPr>
            <a:picLocks noChangeAspect="1"/>
          </p:cNvPicPr>
          <p:nvPr/>
        </p:nvPicPr>
        <p:blipFill>
          <a:blip r:embed="rId4"/>
          <a:stretch>
            <a:fillRect/>
          </a:stretch>
        </p:blipFill>
        <p:spPr>
          <a:xfrm>
            <a:off x="5995561" y="2286453"/>
            <a:ext cx="5706000" cy="4434011"/>
          </a:xfrm>
          <a:prstGeom prst="rect">
            <a:avLst/>
          </a:prstGeom>
        </p:spPr>
      </p:pic>
      <p:sp>
        <p:nvSpPr>
          <p:cNvPr id="8" name="LabelRight">
            <a:extLst>
              <a:ext uri="{FF2B5EF4-FFF2-40B4-BE49-F238E27FC236}">
                <a16:creationId xmlns:a16="http://schemas.microsoft.com/office/drawing/2014/main" id="{5C2C23EB-424D-D338-4248-8182AFB736B8}"/>
              </a:ext>
            </a:extLst>
          </p:cNvPr>
          <p:cNvSpPr txBox="1"/>
          <p:nvPr/>
        </p:nvSpPr>
        <p:spPr>
          <a:xfrm>
            <a:off x="6196441" y="1798880"/>
            <a:ext cx="5706000" cy="380000"/>
          </a:xfrm>
          <a:prstGeom prst="rect">
            <a:avLst/>
          </a:prstGeom>
          <a:solidFill>
            <a:srgbClr val="EBF5EB"/>
          </a:solidFill>
          <a:ln w="18000">
            <a:solidFill>
              <a:srgbClr val="2E7D32"/>
            </a:solidFill>
          </a:ln>
        </p:spPr>
        <p:txBody>
          <a:bodyPr wrap="square" lIns="120000" rIns="12000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2000" b="1" dirty="0">
                <a:solidFill>
                  <a:srgbClr val="2E7D32"/>
                </a:solidFill>
                <a:latin typeface="Aptos Display"/>
              </a:rPr>
              <a:t> log(Price):  residui omoschedastici</a:t>
            </a:r>
          </a:p>
        </p:txBody>
      </p:sp>
      <p:sp>
        <p:nvSpPr>
          <p:cNvPr id="9" name="LabelLeft">
            <a:extLst>
              <a:ext uri="{FF2B5EF4-FFF2-40B4-BE49-F238E27FC236}">
                <a16:creationId xmlns:a16="http://schemas.microsoft.com/office/drawing/2014/main" id="{D83F2E9B-33F1-44CE-92BD-BA26536871E6}"/>
              </a:ext>
            </a:extLst>
          </p:cNvPr>
          <p:cNvSpPr txBox="1"/>
          <p:nvPr/>
        </p:nvSpPr>
        <p:spPr>
          <a:xfrm>
            <a:off x="289561" y="1798880"/>
            <a:ext cx="5706000" cy="380000"/>
          </a:xfrm>
          <a:prstGeom prst="rect">
            <a:avLst/>
          </a:prstGeom>
          <a:solidFill>
            <a:srgbClr val="FDECEA"/>
          </a:solidFill>
          <a:ln w="18000">
            <a:solidFill>
              <a:srgbClr val="B20E10"/>
            </a:solidFill>
          </a:ln>
        </p:spPr>
        <p:txBody>
          <a:bodyPr wrap="square" lIns="120000" rIns="12000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2000" b="1" dirty="0">
                <a:solidFill>
                  <a:srgbClr val="B20E10"/>
                </a:solidFill>
                <a:latin typeface="Aptos Display"/>
              </a:rPr>
              <a:t>Price grezzo: eteroschedasticità</a:t>
            </a:r>
          </a:p>
        </p:txBody>
      </p:sp>
      <p:sp>
        <p:nvSpPr>
          <p:cNvPr id="10" name="PageNum8">
            <a:extLst>
              <a:ext uri="{FF2B5EF4-FFF2-40B4-BE49-F238E27FC236}">
                <a16:creationId xmlns:a16="http://schemas.microsoft.com/office/drawing/2014/main" id="{ABAF8F9A-C64E-5E74-31BA-4771B26C558D}"/>
              </a:ext>
            </a:extLst>
          </p:cNvPr>
          <p:cNvSpPr txBox="1"/>
          <p:nvPr/>
        </p:nvSpPr>
        <p:spPr>
          <a:xfrm>
            <a:off x="11638107" y="6539791"/>
            <a:ext cx="400000" cy="300000"/>
          </a:xfrm>
          <a:prstGeom prst="rect">
            <a:avLst/>
          </a:prstGeom>
          <a:noFill/>
        </p:spPr>
        <p:txBody>
          <a:bodyPr wrap="none" rtlCol="0"/>
          <a:lstStyle/>
          <a:p>
            <a:pPr algn="r"/>
            <a:r>
              <a:rPr lang="it-IT" sz="1400" dirty="0">
                <a:solidFill>
                  <a:srgbClr val="000000"/>
                </a:solidFill>
                <a:latin typeface="Aptos Display"/>
              </a:rPr>
              <a:t>9</a:t>
            </a:r>
            <a:endParaRPr lang="it-IT" sz="1400" b="0" dirty="0">
              <a:solidFill>
                <a:srgbClr val="000000"/>
              </a:solidFill>
              <a:latin typeface="Aptos Display"/>
            </a:endParaRPr>
          </a:p>
        </p:txBody>
      </p:sp>
    </p:spTree>
    <p:extLst>
      <p:ext uri="{BB962C8B-B14F-4D97-AF65-F5344CB8AC3E}">
        <p14:creationId xmlns:p14="http://schemas.microsoft.com/office/powerpoint/2010/main" val="1861323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12192000" cy="1608881"/>
          </a:xfrm>
          <a:prstGeom prst="rect">
            <a:avLst/>
          </a:prstGeom>
          <a:solidFill>
            <a:srgbClr val="B20E10"/>
          </a:solidFill>
          <a:ln>
            <a:solidFill>
              <a:srgbClr val="B20E10"/>
            </a:solidFill>
          </a:ln>
        </p:spPr>
        <p:txBody>
          <a:bodyPr/>
          <a:lstStyle/>
          <a:p>
            <a:endParaRPr/>
          </a:p>
        </p:txBody>
      </p:sp>
      <p:sp>
        <p:nvSpPr>
          <p:cNvPr id="3" name="Title"/>
          <p:cNvSpPr>
            <a:spLocks noGrp="1"/>
          </p:cNvSpPr>
          <p:nvPr>
            <p:ph type="title"/>
          </p:nvPr>
        </p:nvSpPr>
        <p:spPr>
          <a:xfrm>
            <a:off x="457200" y="100000"/>
            <a:ext cx="8477600" cy="1528881"/>
          </a:xfrm>
        </p:spPr>
        <p:txBody>
          <a:bodyPr anchor="ctr"/>
          <a:lstStyle/>
          <a:p>
            <a:r>
              <a:rPr lang="it-IT" sz="2800" b="0" dirty="0">
                <a:solidFill>
                  <a:srgbClr val="FFFFFF"/>
                </a:solidFill>
                <a:latin typeface="Aptos Display"/>
              </a:rPr>
              <a:t>Regressione sul Prezzo</a:t>
            </a:r>
          </a:p>
          <a:p>
            <a:r>
              <a:rPr lang="it-IT" sz="2400" b="0" i="1" dirty="0">
                <a:solidFill>
                  <a:srgbClr val="FFFFFF"/>
                </a:solidFill>
                <a:latin typeface="Aptos Display"/>
              </a:rPr>
              <a:t>Percorso modellistico</a:t>
            </a:r>
          </a:p>
        </p:txBody>
      </p:sp>
      <p:sp>
        <p:nvSpPr>
          <p:cNvPr id="11" name="Card0"/>
          <p:cNvSpPr txBox="1"/>
          <p:nvPr/>
        </p:nvSpPr>
        <p:spPr>
          <a:xfrm>
            <a:off x="457200" y="2228881"/>
            <a:ext cx="3612533" cy="4459119"/>
          </a:xfrm>
          <a:prstGeom prst="rect">
            <a:avLst/>
          </a:prstGeom>
          <a:solidFill>
            <a:srgbClr val="F5F5F5"/>
          </a:solidFill>
          <a:ln>
            <a:noFill/>
          </a:ln>
        </p:spPr>
        <p:txBody>
          <a:bodyPr wrap="square" lIns="120000" tIns="100000" rIns="120000" bIns="80000" rtlCol="0" anchor="t">
            <a:normAutofit/>
          </a:bodyPr>
          <a:lstStyle/>
          <a:p>
            <a:r>
              <a:rPr lang="it-IT" sz="2200" b="1" dirty="0">
                <a:solidFill>
                  <a:srgbClr val="000000"/>
                </a:solidFill>
                <a:latin typeface="Aptos Display"/>
              </a:rPr>
              <a:t>MLR su Price grezzo</a:t>
            </a:r>
          </a:p>
          <a:p>
            <a:endParaRPr lang="it-IT" sz="1200" dirty="0">
              <a:latin typeface="Aptos Display"/>
            </a:endParaRPr>
          </a:p>
          <a:p>
            <a:r>
              <a:rPr lang="it-IT" sz="2400" dirty="0">
                <a:latin typeface="Aptos Display"/>
              </a:rPr>
              <a:t>Problema:</a:t>
            </a:r>
          </a:p>
          <a:p>
            <a:r>
              <a:rPr lang="it-IT" sz="2400" dirty="0">
                <a:latin typeface="Aptos Display"/>
              </a:rPr>
              <a:t> -  Eteroschedasticità nei residui</a:t>
            </a:r>
          </a:p>
          <a:p>
            <a:r>
              <a:rPr lang="it-IT" sz="2400" dirty="0">
                <a:latin typeface="Aptos Display"/>
              </a:rPr>
              <a:t> -  Violazione assunzioni OLS</a:t>
            </a:r>
          </a:p>
        </p:txBody>
      </p:sp>
      <p:sp>
        <p:nvSpPr>
          <p:cNvPr id="21" name="Card1"/>
          <p:cNvSpPr txBox="1"/>
          <p:nvPr/>
        </p:nvSpPr>
        <p:spPr>
          <a:xfrm>
            <a:off x="4289733" y="2288881"/>
            <a:ext cx="3612533" cy="4399119"/>
          </a:xfrm>
          <a:prstGeom prst="rect">
            <a:avLst/>
          </a:prstGeom>
          <a:solidFill>
            <a:srgbClr val="F5F5F5"/>
          </a:solidFill>
          <a:ln>
            <a:noFill/>
          </a:ln>
        </p:spPr>
        <p:txBody>
          <a:bodyPr wrap="square" lIns="120000" tIns="100000" rIns="120000" bIns="80000" rtlCol="0" anchor="t">
            <a:normAutofit/>
          </a:bodyPr>
          <a:lstStyle/>
          <a:p>
            <a:r>
              <a:rPr lang="it-IT" sz="2200" b="1" dirty="0">
                <a:solidFill>
                  <a:srgbClr val="000000"/>
                </a:solidFill>
                <a:latin typeface="Aptos Display"/>
              </a:rPr>
              <a:t>MLR su log(Price)</a:t>
            </a:r>
          </a:p>
          <a:p>
            <a:endParaRPr lang="it-IT" sz="1200" dirty="0">
              <a:latin typeface="Aptos Display"/>
            </a:endParaRPr>
          </a:p>
          <a:p>
            <a:r>
              <a:rPr lang="it-IT" sz="2400" dirty="0">
                <a:latin typeface="Aptos Display"/>
              </a:rPr>
              <a:t>-R² = 0.62</a:t>
            </a:r>
          </a:p>
          <a:p>
            <a:r>
              <a:rPr lang="it-IT" sz="2400" dirty="0">
                <a:latin typeface="Aptos Display"/>
              </a:rPr>
              <a:t>-Residui regolari</a:t>
            </a:r>
          </a:p>
          <a:p>
            <a:r>
              <a:rPr lang="it-IT" sz="2400" dirty="0">
                <a:latin typeface="Aptos Display"/>
              </a:rPr>
              <a:t>-</a:t>
            </a:r>
            <a:r>
              <a:rPr lang="it-IT" sz="2400" dirty="0" err="1">
                <a:latin typeface="Aptos Display"/>
              </a:rPr>
              <a:t>Stepwise</a:t>
            </a:r>
            <a:r>
              <a:rPr lang="it-IT" sz="2400" dirty="0">
                <a:latin typeface="Aptos Display"/>
              </a:rPr>
              <a:t> AIC:</a:t>
            </a:r>
          </a:p>
          <a:p>
            <a:r>
              <a:rPr lang="it-IT" sz="2400" dirty="0">
                <a:latin typeface="Aptos Display"/>
              </a:rPr>
              <a:t>      11 su 14 variabili selezionate</a:t>
            </a:r>
          </a:p>
          <a:p>
            <a:r>
              <a:rPr lang="it-IT" sz="2400" dirty="0">
                <a:latin typeface="Aptos Display"/>
              </a:rPr>
              <a:t>-No multicollinearità</a:t>
            </a:r>
          </a:p>
          <a:p>
            <a:r>
              <a:rPr lang="it-IT" sz="2400" dirty="0">
                <a:latin typeface="Aptos Display"/>
              </a:rPr>
              <a:t>-Confermati errori robusti (HC3)</a:t>
            </a:r>
          </a:p>
        </p:txBody>
      </p:sp>
      <p:sp>
        <p:nvSpPr>
          <p:cNvPr id="31" name="Card2"/>
          <p:cNvSpPr txBox="1"/>
          <p:nvPr/>
        </p:nvSpPr>
        <p:spPr>
          <a:xfrm>
            <a:off x="8122266" y="2288881"/>
            <a:ext cx="3612533" cy="4399119"/>
          </a:xfrm>
          <a:prstGeom prst="rect">
            <a:avLst/>
          </a:prstGeom>
          <a:solidFill>
            <a:srgbClr val="F5F5F5"/>
          </a:solidFill>
          <a:ln>
            <a:noFill/>
          </a:ln>
        </p:spPr>
        <p:txBody>
          <a:bodyPr wrap="square" lIns="120000" tIns="100000" rIns="120000" bIns="80000" rtlCol="0" anchor="t">
            <a:normAutofit/>
          </a:bodyPr>
          <a:lstStyle/>
          <a:p>
            <a:r>
              <a:rPr lang="it-IT" sz="2200" b="1" dirty="0">
                <a:solidFill>
                  <a:srgbClr val="000000"/>
                </a:solidFill>
                <a:latin typeface="Aptos Display"/>
              </a:rPr>
              <a:t>Riconoscimento var leakers</a:t>
            </a:r>
          </a:p>
          <a:p>
            <a:endParaRPr lang="it-IT" sz="2400" dirty="0">
              <a:latin typeface="Aptos Display"/>
            </a:endParaRPr>
          </a:p>
          <a:p>
            <a:r>
              <a:rPr lang="it-IT" sz="2400" dirty="0">
                <a:latin typeface="Aptos Display"/>
              </a:rPr>
              <a:t>-Rimozione 2 variabili </a:t>
            </a:r>
            <a:r>
              <a:rPr lang="it-IT" sz="2400" dirty="0" err="1">
                <a:latin typeface="Aptos Display"/>
              </a:rPr>
              <a:t>leakers</a:t>
            </a:r>
            <a:endParaRPr lang="it-IT" sz="2400" dirty="0">
              <a:latin typeface="Aptos Display"/>
            </a:endParaRPr>
          </a:p>
          <a:p>
            <a:r>
              <a:rPr lang="it-IT" sz="2400" dirty="0">
                <a:latin typeface="Aptos Display"/>
              </a:rPr>
              <a:t>-R² = 0.47</a:t>
            </a:r>
          </a:p>
          <a:p>
            <a:r>
              <a:rPr lang="it-IT" sz="2400" dirty="0">
                <a:latin typeface="Aptos Display"/>
              </a:rPr>
              <a:t>-Coefficienti non distorti</a:t>
            </a:r>
          </a:p>
        </p:txBody>
      </p:sp>
      <p:sp>
        <p:nvSpPr>
          <p:cNvPr id="99" name="PgNum"/>
          <p:cNvSpPr txBox="1"/>
          <p:nvPr/>
        </p:nvSpPr>
        <p:spPr>
          <a:xfrm>
            <a:off x="11642000" y="6458000"/>
            <a:ext cx="400000" cy="300000"/>
          </a:xfrm>
          <a:prstGeom prst="rect">
            <a:avLst/>
          </a:prstGeom>
          <a:noFill/>
        </p:spPr>
        <p:txBody>
          <a:bodyPr wrap="none" rtlCol="0"/>
          <a:lstStyle/>
          <a:p>
            <a:pPr algn="r"/>
            <a:r>
              <a:rPr lang="it-IT" sz="1400" dirty="0">
                <a:solidFill>
                  <a:srgbClr val="000000"/>
                </a:solidFill>
                <a:latin typeface="Aptos Display"/>
              </a:rPr>
              <a:t>10</a:t>
            </a:r>
          </a:p>
        </p:txBody>
      </p:sp>
      <p:pic>
        <p:nvPicPr>
          <p:cNvPr id="4" name="Picture 3" descr="unipd_logo.png">
            <a:extLst>
              <a:ext uri="{FF2B5EF4-FFF2-40B4-BE49-F238E27FC236}">
                <a16:creationId xmlns:a16="http://schemas.microsoft.com/office/drawing/2014/main" id="{18314363-45E3-5D22-54A4-C61A632C49AD}"/>
              </a:ext>
            </a:extLst>
          </p:cNvPr>
          <p:cNvPicPr>
            <a:picLocks noChangeAspect="1"/>
          </p:cNvPicPr>
          <p:nvPr/>
        </p:nvPicPr>
        <p:blipFill>
          <a:blip r:embed="rId2"/>
          <a:stretch>
            <a:fillRect/>
          </a:stretch>
        </p:blipFill>
        <p:spPr>
          <a:xfrm>
            <a:off x="9083039" y="210080"/>
            <a:ext cx="2651760" cy="1188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12192000" cy="1608881"/>
          </a:xfrm>
          <a:prstGeom prst="rect">
            <a:avLst/>
          </a:prstGeom>
          <a:solidFill>
            <a:srgbClr val="B20E10"/>
          </a:solidFill>
          <a:ln>
            <a:solidFill>
              <a:srgbClr val="B20E10"/>
            </a:solidFill>
          </a:ln>
        </p:spPr>
        <p:txBody>
          <a:bodyPr/>
          <a:lstStyle/>
          <a:p>
            <a:endParaRPr/>
          </a:p>
        </p:txBody>
      </p:sp>
      <p:sp>
        <p:nvSpPr>
          <p:cNvPr id="3" name="Title"/>
          <p:cNvSpPr>
            <a:spLocks noGrp="1"/>
          </p:cNvSpPr>
          <p:nvPr>
            <p:ph type="title"/>
          </p:nvPr>
        </p:nvSpPr>
        <p:spPr>
          <a:xfrm>
            <a:off x="380000" y="100000"/>
            <a:ext cx="11432000" cy="1528881"/>
          </a:xfrm>
        </p:spPr>
        <p:txBody>
          <a:bodyPr anchor="ctr">
            <a:normAutofit/>
          </a:bodyPr>
          <a:lstStyle/>
          <a:p>
            <a:r>
              <a:rPr lang="it-IT" sz="2400" dirty="0">
                <a:solidFill>
                  <a:schemeClr val="bg1"/>
                </a:solidFill>
                <a:latin typeface="Aptos Display"/>
              </a:rPr>
              <a:t>Regressione sul Prezzo</a:t>
            </a:r>
          </a:p>
          <a:p>
            <a:r>
              <a:rPr lang="it-IT" sz="2400" i="1" dirty="0">
                <a:solidFill>
                  <a:schemeClr val="bg1"/>
                </a:solidFill>
                <a:latin typeface="Aptos Display"/>
              </a:rPr>
              <a:t>Il problema delle variabili leakers</a:t>
            </a:r>
          </a:p>
        </p:txBody>
      </p:sp>
      <p:sp>
        <p:nvSpPr>
          <p:cNvPr id="10" name="s10"/>
          <p:cNvSpPr txBox="1"/>
          <p:nvPr/>
        </p:nvSpPr>
        <p:spPr>
          <a:xfrm>
            <a:off x="380000" y="1828881"/>
            <a:ext cx="3677333" cy="340000"/>
          </a:xfrm>
          <a:prstGeom prst="rect">
            <a:avLst/>
          </a:prstGeom>
          <a:solidFill>
            <a:srgbClr val="F5F5F5"/>
          </a:solidFill>
          <a:ln>
            <a:noFill/>
          </a:ln>
        </p:spPr>
        <p:txBody>
          <a:bodyPr wrap="square" lIns="150000" tIns="80000" rIns="150000" bIns="80000" rtlCol="0" anchor="ctr">
            <a:normAutofit fontScale="85000" lnSpcReduction="20000"/>
          </a:bodyPr>
          <a:lstStyle/>
          <a:p>
            <a:r>
              <a:rPr lang="it-IT" sz="1700" b="1" dirty="0">
                <a:solidFill>
                  <a:srgbClr val="333333"/>
                </a:solidFill>
                <a:latin typeface="Aptos Display"/>
              </a:rPr>
              <a:t>1  Analisi</a:t>
            </a:r>
          </a:p>
        </p:txBody>
      </p:sp>
      <p:sp>
        <p:nvSpPr>
          <p:cNvPr id="20" name="s20"/>
          <p:cNvSpPr txBox="1"/>
          <p:nvPr/>
        </p:nvSpPr>
        <p:spPr>
          <a:xfrm>
            <a:off x="4257333" y="1828881"/>
            <a:ext cx="3677333" cy="340000"/>
          </a:xfrm>
          <a:prstGeom prst="rect">
            <a:avLst/>
          </a:prstGeom>
          <a:solidFill>
            <a:srgbClr val="F5F5F5"/>
          </a:solidFill>
          <a:ln>
            <a:noFill/>
          </a:ln>
        </p:spPr>
        <p:txBody>
          <a:bodyPr wrap="square" lIns="150000" tIns="80000" rIns="150000" bIns="80000" rtlCol="0" anchor="ctr">
            <a:normAutofit fontScale="85000" lnSpcReduction="20000"/>
          </a:bodyPr>
          <a:lstStyle/>
          <a:p>
            <a:r>
              <a:rPr lang="it-IT" sz="1700" b="1" dirty="0">
                <a:solidFill>
                  <a:srgbClr val="333333"/>
                </a:solidFill>
                <a:latin typeface="Aptos Display"/>
              </a:rPr>
              <a:t>2  Verifica online</a:t>
            </a:r>
          </a:p>
        </p:txBody>
      </p:sp>
      <p:sp>
        <p:nvSpPr>
          <p:cNvPr id="30" name="s30"/>
          <p:cNvSpPr txBox="1"/>
          <p:nvPr/>
        </p:nvSpPr>
        <p:spPr>
          <a:xfrm>
            <a:off x="8134666" y="1828881"/>
            <a:ext cx="3677333" cy="340000"/>
          </a:xfrm>
          <a:prstGeom prst="rect">
            <a:avLst/>
          </a:prstGeom>
          <a:solidFill>
            <a:srgbClr val="F5F5F5"/>
          </a:solidFill>
          <a:ln>
            <a:noFill/>
          </a:ln>
        </p:spPr>
        <p:txBody>
          <a:bodyPr wrap="square" lIns="150000" tIns="80000" rIns="150000" bIns="80000" rtlCol="0" anchor="ctr">
            <a:normAutofit fontScale="85000" lnSpcReduction="20000"/>
          </a:bodyPr>
          <a:lstStyle/>
          <a:p>
            <a:r>
              <a:rPr lang="it-IT" sz="1700" b="1" dirty="0">
                <a:solidFill>
                  <a:srgbClr val="333333"/>
                </a:solidFill>
                <a:latin typeface="Aptos Display"/>
              </a:rPr>
              <a:t>3  Soluzione</a:t>
            </a:r>
          </a:p>
        </p:txBody>
      </p:sp>
      <p:sp>
        <p:nvSpPr>
          <p:cNvPr id="40" name="div40"/>
          <p:cNvSpPr/>
          <p:nvPr/>
        </p:nvSpPr>
        <p:spPr>
          <a:xfrm>
            <a:off x="4157333" y="1828881"/>
            <a:ext cx="0" cy="4809119"/>
          </a:xfrm>
          <a:prstGeom prst="line">
            <a:avLst/>
          </a:prstGeom>
          <a:noFill/>
          <a:ln w="12700">
            <a:solidFill>
              <a:srgbClr val="DDDDDD"/>
            </a:solidFill>
          </a:ln>
        </p:spPr>
        <p:txBody>
          <a:bodyPr/>
          <a:lstStyle/>
          <a:p>
            <a:endParaRPr/>
          </a:p>
        </p:txBody>
      </p:sp>
      <p:sp>
        <p:nvSpPr>
          <p:cNvPr id="41" name="div41"/>
          <p:cNvSpPr/>
          <p:nvPr/>
        </p:nvSpPr>
        <p:spPr>
          <a:xfrm>
            <a:off x="8034666" y="1828881"/>
            <a:ext cx="0" cy="4809119"/>
          </a:xfrm>
          <a:prstGeom prst="line">
            <a:avLst/>
          </a:prstGeom>
          <a:noFill/>
          <a:ln w="12700">
            <a:solidFill>
              <a:srgbClr val="DDDDDD"/>
            </a:solidFill>
          </a:ln>
        </p:spPr>
        <p:txBody>
          <a:bodyPr/>
          <a:lstStyle/>
          <a:p>
            <a:endParaRPr/>
          </a:p>
        </p:txBody>
      </p:sp>
      <p:sp>
        <p:nvSpPr>
          <p:cNvPr id="11" name="s11"/>
          <p:cNvSpPr txBox="1"/>
          <p:nvPr/>
        </p:nvSpPr>
        <p:spPr>
          <a:xfrm>
            <a:off x="380000" y="2288881"/>
            <a:ext cx="3677333" cy="700000"/>
          </a:xfrm>
          <a:prstGeom prst="rect">
            <a:avLst/>
          </a:prstGeom>
          <a:solidFill>
            <a:srgbClr val="FEF2F2"/>
          </a:solidFill>
          <a:ln w="18000">
            <a:solidFill>
              <a:srgbClr val="E8B4B4"/>
            </a:solidFill>
          </a:ln>
        </p:spPr>
        <p:txBody>
          <a:bodyPr wrap="square" lIns="150000" tIns="120000" rIns="150000" bIns="120000" rtlCol="0" anchor="t">
            <a:normAutofit fontScale="92500" lnSpcReduction="10000"/>
          </a:bodyPr>
          <a:lstStyle/>
          <a:p>
            <a:r>
              <a:rPr lang="it-IT" sz="3600" b="1" dirty="0">
                <a:solidFill>
                  <a:srgbClr val="B20E10"/>
                </a:solidFill>
                <a:latin typeface="Aptos Display"/>
              </a:rPr>
              <a:t>+204% </a:t>
            </a:r>
            <a:r>
              <a:rPr lang="it-IT" sz="1700" b="1" dirty="0" err="1">
                <a:solidFill>
                  <a:srgbClr val="111111"/>
                </a:solidFill>
                <a:latin typeface="Aptos Display"/>
              </a:rPr>
              <a:t>Has_Item_Verification</a:t>
            </a:r>
            <a:endParaRPr lang="it-IT" sz="1700" b="1" dirty="0">
              <a:solidFill>
                <a:srgbClr val="111111"/>
              </a:solidFill>
              <a:latin typeface="Aptos Display"/>
            </a:endParaRPr>
          </a:p>
        </p:txBody>
      </p:sp>
      <p:sp>
        <p:nvSpPr>
          <p:cNvPr id="12" name="s12"/>
          <p:cNvSpPr txBox="1"/>
          <p:nvPr/>
        </p:nvSpPr>
        <p:spPr>
          <a:xfrm>
            <a:off x="380000" y="3118881"/>
            <a:ext cx="3677333" cy="700000"/>
          </a:xfrm>
          <a:prstGeom prst="rect">
            <a:avLst/>
          </a:prstGeom>
          <a:solidFill>
            <a:srgbClr val="FEF2F2"/>
          </a:solidFill>
          <a:ln w="18000">
            <a:solidFill>
              <a:srgbClr val="E8B4B4"/>
            </a:solidFill>
          </a:ln>
        </p:spPr>
        <p:txBody>
          <a:bodyPr wrap="square" lIns="150000" tIns="120000" rIns="150000" bIns="120000" rtlCol="0" anchor="t">
            <a:normAutofit fontScale="92500" lnSpcReduction="10000"/>
          </a:bodyPr>
          <a:lstStyle/>
          <a:p>
            <a:r>
              <a:rPr lang="it-IT" sz="3600" b="1" dirty="0">
                <a:solidFill>
                  <a:srgbClr val="B20E10"/>
                </a:solidFill>
                <a:latin typeface="Aptos Display"/>
              </a:rPr>
              <a:t>+139%  </a:t>
            </a:r>
            <a:r>
              <a:rPr lang="it-IT" sz="1700" b="1" dirty="0" err="1">
                <a:solidFill>
                  <a:srgbClr val="111111"/>
                </a:solidFill>
                <a:latin typeface="Aptos Display"/>
              </a:rPr>
              <a:t>Is_Boosted</a:t>
            </a:r>
            <a:endParaRPr lang="it-IT" sz="1700" b="1" dirty="0">
              <a:solidFill>
                <a:srgbClr val="111111"/>
              </a:solidFill>
              <a:latin typeface="Aptos Display"/>
            </a:endParaRPr>
          </a:p>
        </p:txBody>
      </p:sp>
      <p:sp>
        <p:nvSpPr>
          <p:cNvPr id="13" name="s13"/>
          <p:cNvSpPr txBox="1"/>
          <p:nvPr/>
        </p:nvSpPr>
        <p:spPr>
          <a:xfrm>
            <a:off x="380000" y="4028881"/>
            <a:ext cx="3677333" cy="2609119"/>
          </a:xfrm>
          <a:prstGeom prst="rect">
            <a:avLst/>
          </a:prstGeom>
          <a:noFill/>
          <a:ln>
            <a:noFill/>
          </a:ln>
        </p:spPr>
        <p:txBody>
          <a:bodyPr wrap="square" lIns="150000" tIns="120000" rIns="150000" bIns="120000" rtlCol="0" anchor="t">
            <a:normAutofit/>
          </a:bodyPr>
          <a:lstStyle/>
          <a:p>
            <a:r>
              <a:rPr lang="it-IT" sz="2000" b="1" dirty="0">
                <a:latin typeface="Aptos Display"/>
              </a:rPr>
              <a:t>Osservazione</a:t>
            </a:r>
          </a:p>
          <a:p>
            <a:endParaRPr lang="it-IT" sz="2000" dirty="0">
              <a:latin typeface="Aptos Display"/>
            </a:endParaRPr>
          </a:p>
          <a:p>
            <a:r>
              <a:rPr lang="it-IT" sz="2000" i="1" dirty="0">
                <a:latin typeface="Aptos Display"/>
              </a:rPr>
              <a:t>Valori così alti suggeriscono che queste variabili non spiegano il prezzo ma lo seguono.</a:t>
            </a:r>
          </a:p>
        </p:txBody>
      </p:sp>
      <p:sp>
        <p:nvSpPr>
          <p:cNvPr id="21" name="s21"/>
          <p:cNvSpPr txBox="1"/>
          <p:nvPr/>
        </p:nvSpPr>
        <p:spPr>
          <a:xfrm>
            <a:off x="4257333" y="2288880"/>
            <a:ext cx="3677333" cy="2400239"/>
          </a:xfrm>
          <a:prstGeom prst="rect">
            <a:avLst/>
          </a:prstGeom>
          <a:solidFill>
            <a:srgbClr val="F0F4FF"/>
          </a:solidFill>
          <a:ln w="18000">
            <a:solidFill>
              <a:srgbClr val="B5C8F4"/>
            </a:solidFill>
          </a:ln>
        </p:spPr>
        <p:txBody>
          <a:bodyPr wrap="square" lIns="150000" tIns="120000" rIns="150000" bIns="120000" rtlCol="0" anchor="t">
            <a:normAutofit/>
          </a:bodyPr>
          <a:lstStyle/>
          <a:p>
            <a:r>
              <a:rPr lang="it-IT" sz="1500" b="1" dirty="0">
                <a:solidFill>
                  <a:srgbClr val="185FA5"/>
                </a:solidFill>
                <a:latin typeface="Aptos Display"/>
              </a:rPr>
              <a:t>Criteri ufficiali Vinted</a:t>
            </a:r>
          </a:p>
          <a:p>
            <a:r>
              <a:rPr lang="it-IT" sz="1300" i="1" dirty="0">
                <a:solidFill>
                  <a:srgbClr val="888888"/>
                </a:solidFill>
                <a:latin typeface="Aptos Display"/>
              </a:rPr>
              <a:t>help.vinted.it</a:t>
            </a:r>
          </a:p>
          <a:p>
            <a:endParaRPr lang="it-IT" sz="600" dirty="0">
              <a:latin typeface="Aptos Display"/>
            </a:endParaRPr>
          </a:p>
          <a:p>
            <a:r>
              <a:rPr lang="it-IT" sz="1600" dirty="0">
                <a:solidFill>
                  <a:srgbClr val="333333"/>
                </a:solidFill>
                <a:latin typeface="Aptos Display"/>
              </a:rPr>
              <a:t>Un annuncio è idoneo alla verifica se:</a:t>
            </a:r>
          </a:p>
          <a:p>
            <a:endParaRPr lang="it-IT" sz="400" dirty="0">
              <a:latin typeface="Aptos Display"/>
            </a:endParaRPr>
          </a:p>
          <a:p>
            <a:r>
              <a:rPr lang="it-IT" sz="1700" b="1" dirty="0">
                <a:solidFill>
                  <a:srgbClr val="B20E10"/>
                </a:solidFill>
                <a:latin typeface="Aptos Display"/>
              </a:rPr>
              <a:t>•  Prezzo: 100€ o più</a:t>
            </a:r>
          </a:p>
          <a:p>
            <a:r>
              <a:rPr lang="it-IT" sz="1600" dirty="0">
                <a:solidFill>
                  <a:srgbClr val="444444"/>
                </a:solidFill>
                <a:latin typeface="Aptos Display"/>
              </a:rPr>
              <a:t>•  Brand nell’elenco idonei</a:t>
            </a:r>
          </a:p>
          <a:p>
            <a:r>
              <a:rPr lang="it-IT" sz="1600" dirty="0">
                <a:solidFill>
                  <a:srgbClr val="444444"/>
                </a:solidFill>
                <a:latin typeface="Aptos Display"/>
              </a:rPr>
              <a:t>•  Categoria: scarpe, abbigliamento</a:t>
            </a:r>
          </a:p>
        </p:txBody>
      </p:sp>
      <p:sp>
        <p:nvSpPr>
          <p:cNvPr id="31" name="s31"/>
          <p:cNvSpPr txBox="1"/>
          <p:nvPr/>
        </p:nvSpPr>
        <p:spPr>
          <a:xfrm>
            <a:off x="8134666" y="2288881"/>
            <a:ext cx="3677333" cy="1350000"/>
          </a:xfrm>
          <a:prstGeom prst="rect">
            <a:avLst/>
          </a:prstGeom>
          <a:solidFill>
            <a:srgbClr val="F5F5F5"/>
          </a:solidFill>
          <a:ln w="18000">
            <a:solidFill>
              <a:srgbClr val="CCCCCC"/>
            </a:solidFill>
          </a:ln>
        </p:spPr>
        <p:txBody>
          <a:bodyPr wrap="square" lIns="150000" tIns="120000" rIns="150000" bIns="120000" rtlCol="0" anchor="t">
            <a:normAutofit fontScale="47500" lnSpcReduction="20000"/>
          </a:bodyPr>
          <a:lstStyle/>
          <a:p>
            <a:r>
              <a:rPr lang="it-IT" sz="4000" b="1" dirty="0">
                <a:latin typeface="Aptos Display"/>
              </a:rPr>
              <a:t>Rimosse entrambe le variabili</a:t>
            </a:r>
          </a:p>
          <a:p>
            <a:endParaRPr lang="it-IT" sz="4000" dirty="0">
              <a:latin typeface="Aptos Display"/>
            </a:endParaRPr>
          </a:p>
          <a:p>
            <a:r>
              <a:rPr lang="it-IT" sz="4000" dirty="0">
                <a:latin typeface="Aptos Display"/>
              </a:rPr>
              <a:t>R² scende da 0.62 → 0.47 ma i coefficienti tornano non distorti</a:t>
            </a:r>
            <a:r>
              <a:rPr lang="it-IT" sz="1600" dirty="0">
                <a:latin typeface="Aptos Display"/>
              </a:rPr>
              <a:t>.</a:t>
            </a:r>
          </a:p>
        </p:txBody>
      </p:sp>
      <p:sp>
        <p:nvSpPr>
          <p:cNvPr id="32" name="s32"/>
          <p:cNvSpPr txBox="1"/>
          <p:nvPr/>
        </p:nvSpPr>
        <p:spPr>
          <a:xfrm>
            <a:off x="8134666" y="3818881"/>
            <a:ext cx="3677333" cy="2939119"/>
          </a:xfrm>
          <a:prstGeom prst="rect">
            <a:avLst/>
          </a:prstGeom>
          <a:solidFill>
            <a:srgbClr val="FFFBEB"/>
          </a:solidFill>
          <a:ln w="25400">
            <a:solidFill>
              <a:srgbClr val="F59E0B"/>
            </a:solidFill>
          </a:ln>
        </p:spPr>
        <p:txBody>
          <a:bodyPr wrap="square" lIns="150000" tIns="120000" rIns="150000" bIns="120000" rtlCol="0" anchor="t">
            <a:normAutofit lnSpcReduction="10000"/>
          </a:bodyPr>
          <a:lstStyle/>
          <a:p>
            <a:r>
              <a:rPr lang="it-IT" sz="1600" b="1" dirty="0">
                <a:solidFill>
                  <a:srgbClr val="7C4A00"/>
                </a:solidFill>
                <a:latin typeface="Aptos Display"/>
              </a:rPr>
              <a:t>Prova empirica</a:t>
            </a:r>
          </a:p>
          <a:p>
            <a:endParaRPr lang="it-IT" sz="1600" dirty="0">
              <a:latin typeface="Aptos Display"/>
            </a:endParaRPr>
          </a:p>
          <a:p>
            <a:r>
              <a:rPr lang="it-IT" sz="1600" dirty="0" err="1">
                <a:solidFill>
                  <a:srgbClr val="444444"/>
                </a:solidFill>
                <a:latin typeface="Aptos Display"/>
              </a:rPr>
              <a:t>Coef</a:t>
            </a:r>
            <a:r>
              <a:rPr lang="it-IT" sz="1600" dirty="0">
                <a:solidFill>
                  <a:srgbClr val="444444"/>
                </a:solidFill>
                <a:latin typeface="Aptos Display"/>
              </a:rPr>
              <a:t> di Condizione fisica dopo rimozione:</a:t>
            </a:r>
          </a:p>
          <a:p>
            <a:endParaRPr lang="it-IT" sz="1600" dirty="0">
              <a:latin typeface="Aptos Display"/>
            </a:endParaRPr>
          </a:p>
          <a:p>
            <a:r>
              <a:rPr lang="it-IT" sz="1600" b="1" dirty="0">
                <a:solidFill>
                  <a:srgbClr val="B20E10"/>
                </a:solidFill>
                <a:latin typeface="Aptos Display"/>
              </a:rPr>
              <a:t>0.99  →  1.38</a:t>
            </a:r>
          </a:p>
          <a:p>
            <a:r>
              <a:rPr lang="it-IT" sz="1600" b="1" dirty="0">
                <a:solidFill>
                  <a:srgbClr val="B20E10"/>
                </a:solidFill>
                <a:latin typeface="Aptos Display"/>
              </a:rPr>
              <a:t>+40%</a:t>
            </a:r>
          </a:p>
          <a:p>
            <a:endParaRPr lang="it-IT" sz="1600" dirty="0">
              <a:latin typeface="Aptos Display"/>
            </a:endParaRPr>
          </a:p>
          <a:p>
            <a:r>
              <a:rPr lang="it-IT" sz="2000" i="1" dirty="0">
                <a:solidFill>
                  <a:srgbClr val="555555"/>
                </a:solidFill>
                <a:latin typeface="Aptos Display"/>
              </a:rPr>
              <a:t>La variabile assorbiva l’effetto della condizione fisica della scarpa</a:t>
            </a:r>
            <a:r>
              <a:rPr lang="it-IT" sz="1500" i="1" dirty="0">
                <a:solidFill>
                  <a:srgbClr val="555555"/>
                </a:solidFill>
                <a:latin typeface="Aptos Display"/>
              </a:rPr>
              <a:t>.</a:t>
            </a:r>
          </a:p>
        </p:txBody>
      </p:sp>
      <p:sp>
        <p:nvSpPr>
          <p:cNvPr id="99" name="PgNum"/>
          <p:cNvSpPr txBox="1"/>
          <p:nvPr/>
        </p:nvSpPr>
        <p:spPr>
          <a:xfrm>
            <a:off x="11711998" y="6458000"/>
            <a:ext cx="400000" cy="300000"/>
          </a:xfrm>
          <a:prstGeom prst="rect">
            <a:avLst/>
          </a:prstGeom>
          <a:noFill/>
        </p:spPr>
        <p:txBody>
          <a:bodyPr wrap="none" rtlCol="0"/>
          <a:lstStyle/>
          <a:p>
            <a:pPr algn="r"/>
            <a:r>
              <a:rPr lang="it-IT" sz="1400" dirty="0">
                <a:solidFill>
                  <a:srgbClr val="000000"/>
                </a:solidFill>
                <a:latin typeface="Aptos Display"/>
              </a:rPr>
              <a:t>11</a:t>
            </a:r>
          </a:p>
        </p:txBody>
      </p:sp>
      <p:pic>
        <p:nvPicPr>
          <p:cNvPr id="4" name="Picture 3" descr="unipd_logo.png">
            <a:extLst>
              <a:ext uri="{FF2B5EF4-FFF2-40B4-BE49-F238E27FC236}">
                <a16:creationId xmlns:a16="http://schemas.microsoft.com/office/drawing/2014/main" id="{5CB70115-A56B-FC95-660A-2D5FD66FF499}"/>
              </a:ext>
            </a:extLst>
          </p:cNvPr>
          <p:cNvPicPr>
            <a:picLocks noChangeAspect="1"/>
          </p:cNvPicPr>
          <p:nvPr/>
        </p:nvPicPr>
        <p:blipFill>
          <a:blip r:embed="rId2"/>
          <a:stretch>
            <a:fillRect/>
          </a:stretch>
        </p:blipFill>
        <p:spPr>
          <a:xfrm>
            <a:off x="9260238" y="185801"/>
            <a:ext cx="265176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8046720" cy="1077218"/>
          </a:xfrm>
          <a:prstGeom prst="rect">
            <a:avLst/>
          </a:prstGeom>
          <a:noFill/>
        </p:spPr>
        <p:txBody>
          <a:bodyPr wrap="square">
            <a:spAutoFit/>
          </a:bodyPr>
          <a:lstStyle/>
          <a:p>
            <a:pPr algn="l"/>
            <a:r>
              <a:rPr sz="3200" b="0" dirty="0" err="1">
                <a:solidFill>
                  <a:srgbClr val="FFFFFF"/>
                </a:solidFill>
                <a:latin typeface="Aptos Display"/>
              </a:rPr>
              <a:t>Regressione</a:t>
            </a:r>
            <a:r>
              <a:rPr sz="3200" b="0" dirty="0">
                <a:solidFill>
                  <a:srgbClr val="FFFFFF"/>
                </a:solidFill>
                <a:latin typeface="Aptos Display"/>
              </a:rPr>
              <a:t> </a:t>
            </a:r>
            <a:r>
              <a:rPr sz="3200" b="0" dirty="0" err="1">
                <a:solidFill>
                  <a:srgbClr val="FFFFFF"/>
                </a:solidFill>
                <a:latin typeface="Aptos Display"/>
              </a:rPr>
              <a:t>sul</a:t>
            </a:r>
            <a:r>
              <a:rPr sz="3200" b="0" dirty="0">
                <a:solidFill>
                  <a:srgbClr val="FFFFFF"/>
                </a:solidFill>
                <a:latin typeface="Aptos Display"/>
              </a:rPr>
              <a:t> Prezzo</a:t>
            </a:r>
          </a:p>
          <a:p>
            <a:pPr algn="l"/>
            <a:r>
              <a:rPr sz="3200" b="0" i="1" dirty="0">
                <a:solidFill>
                  <a:srgbClr val="FFFFFF"/>
                </a:solidFill>
                <a:latin typeface="Aptos Display"/>
              </a:rPr>
              <a:t> </a:t>
            </a:r>
            <a:r>
              <a:rPr sz="3200" b="0" i="1" dirty="0" err="1">
                <a:solidFill>
                  <a:srgbClr val="FFFFFF"/>
                </a:solidFill>
                <a:latin typeface="Aptos Display"/>
              </a:rPr>
              <a:t>Modello</a:t>
            </a:r>
            <a:r>
              <a:rPr sz="3200" b="0" i="1" dirty="0">
                <a:solidFill>
                  <a:srgbClr val="FFFFFF"/>
                </a:solidFill>
                <a:latin typeface="Aptos Display"/>
              </a:rPr>
              <a:t> </a:t>
            </a:r>
            <a:r>
              <a:rPr sz="3200" b="0" i="1" dirty="0" err="1">
                <a:solidFill>
                  <a:srgbClr val="FFFFFF"/>
                </a:solidFill>
                <a:latin typeface="Aptos Display"/>
              </a:rPr>
              <a:t>Completo</a:t>
            </a:r>
            <a:r>
              <a:rPr sz="3200" b="0" i="1" dirty="0">
                <a:solidFill>
                  <a:srgbClr val="FFFFFF"/>
                </a:solidFill>
                <a:latin typeface="Aptos Display"/>
              </a:rPr>
              <a:t> (log-</a:t>
            </a:r>
            <a:r>
              <a:rPr sz="3200" b="0" i="1" dirty="0" err="1">
                <a:solidFill>
                  <a:srgbClr val="FFFFFF"/>
                </a:solidFill>
                <a:latin typeface="Aptos Display"/>
              </a:rPr>
              <a:t>prezzo</a:t>
            </a:r>
            <a:r>
              <a:rPr sz="3200" b="0" i="1" dirty="0">
                <a:solidFill>
                  <a:srgbClr val="FFFFFF"/>
                </a:solidFill>
                <a:latin typeface="Aptos Display"/>
              </a:rPr>
              <a:t>)</a:t>
            </a:r>
          </a:p>
        </p:txBody>
      </p:sp>
      <p:pic>
        <p:nvPicPr>
          <p:cNvPr id="4" name="Picture 3" descr="unipd_logo.png"/>
          <p:cNvPicPr>
            <a:picLocks noChangeAspect="1"/>
          </p:cNvPicPr>
          <p:nvPr/>
        </p:nvPicPr>
        <p:blipFill>
          <a:blip r:embed="rId2"/>
          <a:stretch>
            <a:fillRect/>
          </a:stretch>
        </p:blipFill>
        <p:spPr>
          <a:xfrm>
            <a:off x="8944520" y="235078"/>
            <a:ext cx="2651760" cy="1188720"/>
          </a:xfrm>
          <a:prstGeom prst="rect">
            <a:avLst/>
          </a:prstGeom>
        </p:spPr>
      </p:pic>
      <p:sp>
        <p:nvSpPr>
          <p:cNvPr id="5" name="TextBox 4"/>
          <p:cNvSpPr txBox="1"/>
          <p:nvPr/>
        </p:nvSpPr>
        <p:spPr>
          <a:xfrm>
            <a:off x="502920" y="1874520"/>
            <a:ext cx="5486400" cy="400110"/>
          </a:xfrm>
          <a:prstGeom prst="rect">
            <a:avLst/>
          </a:prstGeom>
          <a:noFill/>
        </p:spPr>
        <p:txBody>
          <a:bodyPr wrap="square">
            <a:spAutoFit/>
          </a:bodyPr>
          <a:lstStyle/>
          <a:p>
            <a:pPr algn="l"/>
            <a:r>
              <a:rPr lang="it-IT" sz="2000" b="1" dirty="0">
                <a:solidFill>
                  <a:srgbClr val="B20E10"/>
                </a:solidFill>
                <a:latin typeface="Aptos Display"/>
              </a:rPr>
              <a:t>Errori Robusti</a:t>
            </a:r>
            <a:endParaRPr sz="2000" b="1" i="0" dirty="0">
              <a:solidFill>
                <a:srgbClr val="B20E10"/>
              </a:solidFill>
              <a:latin typeface="Aptos Display"/>
            </a:endParaRPr>
          </a:p>
        </p:txBody>
      </p:sp>
      <p:graphicFrame>
        <p:nvGraphicFramePr>
          <p:cNvPr id="6" name="Table 5"/>
          <p:cNvGraphicFramePr>
            <a:graphicFrameLocks noGrp="1"/>
          </p:cNvGraphicFramePr>
          <p:nvPr>
            <p:extLst>
              <p:ext uri="{D42A27DB-BD31-4B8C-83A1-F6EECF244321}">
                <p14:modId xmlns:p14="http://schemas.microsoft.com/office/powerpoint/2010/main" val="1659728057"/>
              </p:ext>
            </p:extLst>
          </p:nvPr>
        </p:nvGraphicFramePr>
        <p:xfrm>
          <a:off x="382279" y="2505456"/>
          <a:ext cx="6350041" cy="4056887"/>
        </p:xfrm>
        <a:graphic>
          <a:graphicData uri="http://schemas.openxmlformats.org/drawingml/2006/table">
            <a:tbl>
              <a:tblPr firstRow="1" bandRow="1">
                <a:tableStyleId>{5C22544A-7EE6-4342-B048-85BDC9FD1C3A}</a:tableStyleId>
              </a:tblPr>
              <a:tblGrid>
                <a:gridCol w="2834840">
                  <a:extLst>
                    <a:ext uri="{9D8B030D-6E8A-4147-A177-3AD203B41FA5}">
                      <a16:colId xmlns:a16="http://schemas.microsoft.com/office/drawing/2014/main" val="20000"/>
                    </a:ext>
                  </a:extLst>
                </a:gridCol>
                <a:gridCol w="1360723">
                  <a:extLst>
                    <a:ext uri="{9D8B030D-6E8A-4147-A177-3AD203B41FA5}">
                      <a16:colId xmlns:a16="http://schemas.microsoft.com/office/drawing/2014/main" val="20001"/>
                    </a:ext>
                  </a:extLst>
                </a:gridCol>
                <a:gridCol w="2154478">
                  <a:extLst>
                    <a:ext uri="{9D8B030D-6E8A-4147-A177-3AD203B41FA5}">
                      <a16:colId xmlns:a16="http://schemas.microsoft.com/office/drawing/2014/main" val="20002"/>
                    </a:ext>
                  </a:extLst>
                </a:gridCol>
              </a:tblGrid>
              <a:tr h="456319">
                <a:tc>
                  <a:txBody>
                    <a:bodyPr/>
                    <a:lstStyle/>
                    <a:p>
                      <a:pPr algn="ctr"/>
                      <a:r>
                        <a:rPr sz="2000" b="1">
                          <a:solidFill>
                            <a:srgbClr val="FFFFFF"/>
                          </a:solidFill>
                          <a:latin typeface="Aptos Display"/>
                        </a:rPr>
                        <a:t>Variabile</a:t>
                      </a:r>
                    </a:p>
                  </a:txBody>
                  <a:tcPr>
                    <a:solidFill>
                      <a:srgbClr val="B20E10"/>
                    </a:solidFill>
                  </a:tcPr>
                </a:tc>
                <a:tc>
                  <a:txBody>
                    <a:bodyPr/>
                    <a:lstStyle/>
                    <a:p>
                      <a:pPr algn="ctr"/>
                      <a:r>
                        <a:rPr sz="2000" b="1">
                          <a:solidFill>
                            <a:srgbClr val="FFFFFF"/>
                          </a:solidFill>
                          <a:latin typeface="Aptos Display"/>
                        </a:rPr>
                        <a:t>Effetto %</a:t>
                      </a:r>
                    </a:p>
                  </a:txBody>
                  <a:tcPr>
                    <a:solidFill>
                      <a:srgbClr val="B20E10"/>
                    </a:solidFill>
                  </a:tcPr>
                </a:tc>
                <a:tc>
                  <a:txBody>
                    <a:bodyPr/>
                    <a:lstStyle/>
                    <a:p>
                      <a:pPr algn="ctr"/>
                      <a:r>
                        <a:rPr sz="2000" b="1" dirty="0">
                          <a:solidFill>
                            <a:srgbClr val="FFFFFF"/>
                          </a:solidFill>
                          <a:latin typeface="Aptos Display"/>
                        </a:rPr>
                        <a:t>IC 95%</a:t>
                      </a:r>
                    </a:p>
                  </a:txBody>
                  <a:tcPr>
                    <a:solidFill>
                      <a:srgbClr val="B20E10"/>
                    </a:solidFill>
                  </a:tcPr>
                </a:tc>
                <a:extLst>
                  <a:ext uri="{0D108BD9-81ED-4DB2-BD59-A6C34878D82A}">
                    <a16:rowId xmlns:a16="http://schemas.microsoft.com/office/drawing/2014/main" val="10000"/>
                  </a:ext>
                </a:extLst>
              </a:tr>
              <a:tr h="450071">
                <a:tc>
                  <a:txBody>
                    <a:bodyPr/>
                    <a:lstStyle/>
                    <a:p>
                      <a:pPr algn="ctr"/>
                      <a:r>
                        <a:rPr sz="2000">
                          <a:solidFill>
                            <a:srgbClr val="000000"/>
                          </a:solidFill>
                          <a:latin typeface="Aptos Display"/>
                        </a:rPr>
                        <a:t>Condizione (lin.)</a:t>
                      </a:r>
                    </a:p>
                  </a:txBody>
                  <a:tcPr>
                    <a:solidFill>
                      <a:srgbClr val="F9F9F9"/>
                    </a:solidFill>
                  </a:tcPr>
                </a:tc>
                <a:tc>
                  <a:txBody>
                    <a:bodyPr/>
                    <a:lstStyle/>
                    <a:p>
                      <a:pPr algn="ctr"/>
                      <a:r>
                        <a:rPr sz="2000" dirty="0">
                          <a:solidFill>
                            <a:srgbClr val="000000"/>
                          </a:solidFill>
                          <a:latin typeface="Aptos Display"/>
                        </a:rPr>
                        <a:t>+170%</a:t>
                      </a:r>
                    </a:p>
                  </a:txBody>
                  <a:tcPr>
                    <a:solidFill>
                      <a:srgbClr val="F9F9F9"/>
                    </a:solidFill>
                  </a:tcPr>
                </a:tc>
                <a:tc>
                  <a:txBody>
                    <a:bodyPr/>
                    <a:lstStyle/>
                    <a:p>
                      <a:pPr algn="ctr"/>
                      <a:r>
                        <a:rPr sz="2000">
                          <a:solidFill>
                            <a:srgbClr val="000000"/>
                          </a:solidFill>
                          <a:latin typeface="Aptos Display"/>
                        </a:rPr>
                        <a:t>[+121%, +229%]</a:t>
                      </a:r>
                    </a:p>
                  </a:txBody>
                  <a:tcPr>
                    <a:solidFill>
                      <a:srgbClr val="F9F9F9"/>
                    </a:solidFill>
                  </a:tcPr>
                </a:tc>
                <a:extLst>
                  <a:ext uri="{0D108BD9-81ED-4DB2-BD59-A6C34878D82A}">
                    <a16:rowId xmlns:a16="http://schemas.microsoft.com/office/drawing/2014/main" val="10001"/>
                  </a:ext>
                </a:extLst>
              </a:tr>
              <a:tr h="450071">
                <a:tc>
                  <a:txBody>
                    <a:bodyPr/>
                    <a:lstStyle/>
                    <a:p>
                      <a:pPr algn="ctr"/>
                      <a:r>
                        <a:rPr sz="2000">
                          <a:solidFill>
                            <a:srgbClr val="000000"/>
                          </a:solidFill>
                          <a:latin typeface="Aptos Display"/>
                        </a:rPr>
                        <a:t>Has_Item_Verification</a:t>
                      </a:r>
                    </a:p>
                  </a:txBody>
                  <a:tcPr>
                    <a:solidFill>
                      <a:srgbClr val="FFFFFF"/>
                    </a:solidFill>
                  </a:tcPr>
                </a:tc>
                <a:tc>
                  <a:txBody>
                    <a:bodyPr/>
                    <a:lstStyle/>
                    <a:p>
                      <a:pPr algn="ctr"/>
                      <a:r>
                        <a:rPr sz="2000">
                          <a:solidFill>
                            <a:srgbClr val="000000"/>
                          </a:solidFill>
                          <a:latin typeface="Aptos Display"/>
                        </a:rPr>
                        <a:t>+198%</a:t>
                      </a:r>
                    </a:p>
                  </a:txBody>
                  <a:tcPr>
                    <a:solidFill>
                      <a:srgbClr val="FFFFFF"/>
                    </a:solidFill>
                  </a:tcPr>
                </a:tc>
                <a:tc>
                  <a:txBody>
                    <a:bodyPr/>
                    <a:lstStyle/>
                    <a:p>
                      <a:pPr algn="ctr"/>
                      <a:r>
                        <a:rPr sz="2000">
                          <a:solidFill>
                            <a:srgbClr val="000000"/>
                          </a:solidFill>
                          <a:latin typeface="Aptos Display"/>
                        </a:rPr>
                        <a:t>[+146%, +262%]</a:t>
                      </a:r>
                    </a:p>
                  </a:txBody>
                  <a:tcPr>
                    <a:solidFill>
                      <a:srgbClr val="FFFFFF"/>
                    </a:solidFill>
                  </a:tcPr>
                </a:tc>
                <a:extLst>
                  <a:ext uri="{0D108BD9-81ED-4DB2-BD59-A6C34878D82A}">
                    <a16:rowId xmlns:a16="http://schemas.microsoft.com/office/drawing/2014/main" val="10002"/>
                  </a:ext>
                </a:extLst>
              </a:tr>
              <a:tr h="450071">
                <a:tc>
                  <a:txBody>
                    <a:bodyPr/>
                    <a:lstStyle/>
                    <a:p>
                      <a:pPr algn="ctr"/>
                      <a:r>
                        <a:rPr sz="2000">
                          <a:solidFill>
                            <a:srgbClr val="000000"/>
                          </a:solidFill>
                          <a:latin typeface="Aptos Display"/>
                        </a:rPr>
                        <a:t>Is_Boosted</a:t>
                      </a:r>
                    </a:p>
                  </a:txBody>
                  <a:tcPr>
                    <a:solidFill>
                      <a:srgbClr val="F9F9F9"/>
                    </a:solidFill>
                  </a:tcPr>
                </a:tc>
                <a:tc>
                  <a:txBody>
                    <a:bodyPr/>
                    <a:lstStyle/>
                    <a:p>
                      <a:pPr algn="ctr"/>
                      <a:r>
                        <a:rPr sz="2000">
                          <a:solidFill>
                            <a:srgbClr val="000000"/>
                          </a:solidFill>
                          <a:latin typeface="Aptos Display"/>
                        </a:rPr>
                        <a:t>+138%</a:t>
                      </a:r>
                    </a:p>
                  </a:txBody>
                  <a:tcPr>
                    <a:solidFill>
                      <a:srgbClr val="F9F9F9"/>
                    </a:solidFill>
                  </a:tcPr>
                </a:tc>
                <a:tc>
                  <a:txBody>
                    <a:bodyPr/>
                    <a:lstStyle/>
                    <a:p>
                      <a:pPr algn="ctr"/>
                      <a:r>
                        <a:rPr sz="2000" dirty="0">
                          <a:solidFill>
                            <a:srgbClr val="000000"/>
                          </a:solidFill>
                          <a:latin typeface="Aptos Display"/>
                        </a:rPr>
                        <a:t>[+117%, +160%]</a:t>
                      </a:r>
                    </a:p>
                  </a:txBody>
                  <a:tcPr>
                    <a:solidFill>
                      <a:srgbClr val="F9F9F9"/>
                    </a:solidFill>
                  </a:tcPr>
                </a:tc>
                <a:extLst>
                  <a:ext uri="{0D108BD9-81ED-4DB2-BD59-A6C34878D82A}">
                    <a16:rowId xmlns:a16="http://schemas.microsoft.com/office/drawing/2014/main" val="10003"/>
                  </a:ext>
                </a:extLst>
              </a:tr>
              <a:tr h="450071">
                <a:tc>
                  <a:txBody>
                    <a:bodyPr/>
                    <a:lstStyle/>
                    <a:p>
                      <a:pPr algn="ctr"/>
                      <a:r>
                        <a:rPr sz="2000">
                          <a:solidFill>
                            <a:srgbClr val="000000"/>
                          </a:solidFill>
                          <a:latin typeface="Aptos Display"/>
                        </a:rPr>
                        <a:t>Brand: Lusso</a:t>
                      </a:r>
                    </a:p>
                  </a:txBody>
                  <a:tcPr>
                    <a:solidFill>
                      <a:srgbClr val="FFFFFF"/>
                    </a:solidFill>
                  </a:tcPr>
                </a:tc>
                <a:tc>
                  <a:txBody>
                    <a:bodyPr/>
                    <a:lstStyle/>
                    <a:p>
                      <a:pPr algn="ctr"/>
                      <a:r>
                        <a:rPr sz="2000">
                          <a:solidFill>
                            <a:srgbClr val="000000"/>
                          </a:solidFill>
                          <a:latin typeface="Aptos Display"/>
                        </a:rPr>
                        <a:t>+86%</a:t>
                      </a:r>
                    </a:p>
                  </a:txBody>
                  <a:tcPr>
                    <a:solidFill>
                      <a:srgbClr val="FFFFFF"/>
                    </a:solidFill>
                  </a:tcPr>
                </a:tc>
                <a:tc>
                  <a:txBody>
                    <a:bodyPr/>
                    <a:lstStyle/>
                    <a:p>
                      <a:pPr algn="ctr"/>
                      <a:r>
                        <a:rPr sz="2000" dirty="0">
                          <a:solidFill>
                            <a:srgbClr val="000000"/>
                          </a:solidFill>
                          <a:latin typeface="Aptos Display"/>
                        </a:rPr>
                        <a:t>[+37%, +153%]</a:t>
                      </a:r>
                    </a:p>
                  </a:txBody>
                  <a:tcPr>
                    <a:solidFill>
                      <a:srgbClr val="FFFFFF"/>
                    </a:solidFill>
                  </a:tcPr>
                </a:tc>
                <a:extLst>
                  <a:ext uri="{0D108BD9-81ED-4DB2-BD59-A6C34878D82A}">
                    <a16:rowId xmlns:a16="http://schemas.microsoft.com/office/drawing/2014/main" val="10004"/>
                  </a:ext>
                </a:extLst>
              </a:tr>
              <a:tr h="450071">
                <a:tc>
                  <a:txBody>
                    <a:bodyPr/>
                    <a:lstStyle/>
                    <a:p>
                      <a:pPr algn="ctr"/>
                      <a:r>
                        <a:rPr sz="2000">
                          <a:solidFill>
                            <a:srgbClr val="000000"/>
                          </a:solidFill>
                          <a:latin typeface="Aptos Display"/>
                        </a:rPr>
                        <a:t>Costo spedizione</a:t>
                      </a:r>
                    </a:p>
                  </a:txBody>
                  <a:tcPr>
                    <a:solidFill>
                      <a:srgbClr val="F9F9F9"/>
                    </a:solidFill>
                  </a:tcPr>
                </a:tc>
                <a:tc>
                  <a:txBody>
                    <a:bodyPr/>
                    <a:lstStyle/>
                    <a:p>
                      <a:pPr algn="ctr"/>
                      <a:r>
                        <a:rPr sz="2000">
                          <a:solidFill>
                            <a:srgbClr val="000000"/>
                          </a:solidFill>
                          <a:latin typeface="Aptos Display"/>
                        </a:rPr>
                        <a:t>+21%</a:t>
                      </a:r>
                    </a:p>
                  </a:txBody>
                  <a:tcPr>
                    <a:solidFill>
                      <a:srgbClr val="F9F9F9"/>
                    </a:solidFill>
                  </a:tcPr>
                </a:tc>
                <a:tc>
                  <a:txBody>
                    <a:bodyPr/>
                    <a:lstStyle/>
                    <a:p>
                      <a:pPr algn="ctr"/>
                      <a:r>
                        <a:rPr sz="2000">
                          <a:solidFill>
                            <a:srgbClr val="000000"/>
                          </a:solidFill>
                          <a:latin typeface="Aptos Display"/>
                        </a:rPr>
                        <a:t>[+14%, +28%]</a:t>
                      </a:r>
                    </a:p>
                  </a:txBody>
                  <a:tcPr>
                    <a:solidFill>
                      <a:srgbClr val="F9F9F9"/>
                    </a:solidFill>
                  </a:tcPr>
                </a:tc>
                <a:extLst>
                  <a:ext uri="{0D108BD9-81ED-4DB2-BD59-A6C34878D82A}">
                    <a16:rowId xmlns:a16="http://schemas.microsoft.com/office/drawing/2014/main" val="10005"/>
                  </a:ext>
                </a:extLst>
              </a:tr>
              <a:tr h="450071">
                <a:tc>
                  <a:txBody>
                    <a:bodyPr/>
                    <a:lstStyle/>
                    <a:p>
                      <a:pPr algn="ctr"/>
                      <a:r>
                        <a:rPr sz="2000">
                          <a:solidFill>
                            <a:srgbClr val="000000"/>
                          </a:solidFill>
                          <a:latin typeface="Aptos Display"/>
                        </a:rPr>
                        <a:t>Brand: Ignoto</a:t>
                      </a:r>
                    </a:p>
                  </a:txBody>
                  <a:tcPr>
                    <a:solidFill>
                      <a:srgbClr val="FFFFFF"/>
                    </a:solidFill>
                  </a:tcPr>
                </a:tc>
                <a:tc>
                  <a:txBody>
                    <a:bodyPr/>
                    <a:lstStyle/>
                    <a:p>
                      <a:pPr algn="ctr"/>
                      <a:r>
                        <a:rPr sz="2000">
                          <a:solidFill>
                            <a:srgbClr val="000000"/>
                          </a:solidFill>
                          <a:latin typeface="Aptos Display"/>
                        </a:rPr>
                        <a:t>−46%</a:t>
                      </a:r>
                    </a:p>
                  </a:txBody>
                  <a:tcPr>
                    <a:solidFill>
                      <a:srgbClr val="FFFFFF"/>
                    </a:solidFill>
                  </a:tcPr>
                </a:tc>
                <a:tc>
                  <a:txBody>
                    <a:bodyPr/>
                    <a:lstStyle/>
                    <a:p>
                      <a:pPr algn="ctr"/>
                      <a:r>
                        <a:rPr sz="2000">
                          <a:solidFill>
                            <a:srgbClr val="000000"/>
                          </a:solidFill>
                          <a:latin typeface="Aptos Display"/>
                        </a:rPr>
                        <a:t>[−55%, −36%]</a:t>
                      </a:r>
                    </a:p>
                  </a:txBody>
                  <a:tcPr>
                    <a:solidFill>
                      <a:srgbClr val="FFFFFF"/>
                    </a:solidFill>
                  </a:tcPr>
                </a:tc>
                <a:extLst>
                  <a:ext uri="{0D108BD9-81ED-4DB2-BD59-A6C34878D82A}">
                    <a16:rowId xmlns:a16="http://schemas.microsoft.com/office/drawing/2014/main" val="10006"/>
                  </a:ext>
                </a:extLst>
              </a:tr>
              <a:tr h="450071">
                <a:tc>
                  <a:txBody>
                    <a:bodyPr/>
                    <a:lstStyle/>
                    <a:p>
                      <a:pPr algn="ctr"/>
                      <a:r>
                        <a:rPr sz="2000">
                          <a:solidFill>
                            <a:srgbClr val="000000"/>
                          </a:solidFill>
                          <a:latin typeface="Aptos Display"/>
                        </a:rPr>
                        <a:t>Popolarità Trends</a:t>
                      </a:r>
                    </a:p>
                  </a:txBody>
                  <a:tcPr>
                    <a:solidFill>
                      <a:srgbClr val="F9F9F9"/>
                    </a:solidFill>
                  </a:tcPr>
                </a:tc>
                <a:tc>
                  <a:txBody>
                    <a:bodyPr/>
                    <a:lstStyle/>
                    <a:p>
                      <a:pPr algn="ctr"/>
                      <a:r>
                        <a:rPr sz="2000">
                          <a:solidFill>
                            <a:srgbClr val="000000"/>
                          </a:solidFill>
                          <a:latin typeface="Aptos Display"/>
                        </a:rPr>
                        <a:t>+0.5%</a:t>
                      </a:r>
                    </a:p>
                  </a:txBody>
                  <a:tcPr>
                    <a:solidFill>
                      <a:srgbClr val="F9F9F9"/>
                    </a:solidFill>
                  </a:tcPr>
                </a:tc>
                <a:tc>
                  <a:txBody>
                    <a:bodyPr/>
                    <a:lstStyle/>
                    <a:p>
                      <a:pPr algn="ctr"/>
                      <a:r>
                        <a:rPr sz="2000" dirty="0">
                          <a:solidFill>
                            <a:srgbClr val="000000"/>
                          </a:solidFill>
                          <a:latin typeface="Aptos Display"/>
                        </a:rPr>
                        <a:t>[+0.2%, +0.9%]</a:t>
                      </a:r>
                    </a:p>
                  </a:txBody>
                  <a:tcPr>
                    <a:solidFill>
                      <a:srgbClr val="F9F9F9"/>
                    </a:solidFill>
                  </a:tcPr>
                </a:tc>
                <a:extLst>
                  <a:ext uri="{0D108BD9-81ED-4DB2-BD59-A6C34878D82A}">
                    <a16:rowId xmlns:a16="http://schemas.microsoft.com/office/drawing/2014/main" val="10007"/>
                  </a:ext>
                </a:extLst>
              </a:tr>
              <a:tr h="450071">
                <a:tc>
                  <a:txBody>
                    <a:bodyPr/>
                    <a:lstStyle/>
                    <a:p>
                      <a:pPr algn="ctr"/>
                      <a:r>
                        <a:rPr sz="2000">
                          <a:solidFill>
                            <a:srgbClr val="000000"/>
                          </a:solidFill>
                          <a:latin typeface="Aptos Display"/>
                        </a:rPr>
                        <a:t>Rating: Ottimo</a:t>
                      </a:r>
                    </a:p>
                  </a:txBody>
                  <a:tcPr>
                    <a:solidFill>
                      <a:srgbClr val="FFFFFF"/>
                    </a:solidFill>
                  </a:tcPr>
                </a:tc>
                <a:tc>
                  <a:txBody>
                    <a:bodyPr/>
                    <a:lstStyle/>
                    <a:p>
                      <a:pPr algn="ctr"/>
                      <a:r>
                        <a:rPr sz="2000" dirty="0">
                          <a:solidFill>
                            <a:srgbClr val="000000"/>
                          </a:solidFill>
                          <a:latin typeface="Aptos Display"/>
                        </a:rPr>
                        <a:t>−22%</a:t>
                      </a:r>
                    </a:p>
                  </a:txBody>
                  <a:tcPr>
                    <a:solidFill>
                      <a:srgbClr val="FFFFFF"/>
                    </a:solidFill>
                  </a:tcPr>
                </a:tc>
                <a:tc>
                  <a:txBody>
                    <a:bodyPr/>
                    <a:lstStyle/>
                    <a:p>
                      <a:pPr algn="ctr"/>
                      <a:r>
                        <a:rPr sz="2000" dirty="0">
                          <a:solidFill>
                            <a:srgbClr val="000000"/>
                          </a:solidFill>
                          <a:latin typeface="Aptos Display"/>
                        </a:rPr>
                        <a:t>[−34%, −7%]</a:t>
                      </a:r>
                    </a:p>
                  </a:txBody>
                  <a:tcPr>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7162800" y="1856232"/>
            <a:ext cx="5029200" cy="365760"/>
          </a:xfrm>
          <a:prstGeom prst="rect">
            <a:avLst/>
          </a:prstGeom>
          <a:noFill/>
        </p:spPr>
        <p:txBody>
          <a:bodyPr wrap="square">
            <a:spAutoFit/>
          </a:bodyPr>
          <a:lstStyle/>
          <a:p>
            <a:pPr algn="l"/>
            <a:r>
              <a:rPr sz="2000" b="1" i="0">
                <a:solidFill>
                  <a:srgbClr val="B20E10"/>
                </a:solidFill>
                <a:latin typeface="Aptos Display"/>
              </a:rPr>
              <a:t>Metriche sul test set</a:t>
            </a:r>
          </a:p>
        </p:txBody>
      </p:sp>
      <p:sp>
        <p:nvSpPr>
          <p:cNvPr id="8" name="Rectangle 7"/>
          <p:cNvSpPr/>
          <p:nvPr/>
        </p:nvSpPr>
        <p:spPr>
          <a:xfrm>
            <a:off x="7231378" y="2209800"/>
            <a:ext cx="484632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0" y="2404872"/>
            <a:ext cx="2743200" cy="457200"/>
          </a:xfrm>
          <a:prstGeom prst="rect">
            <a:avLst/>
          </a:prstGeom>
          <a:noFill/>
        </p:spPr>
        <p:txBody>
          <a:bodyPr wrap="none">
            <a:spAutoFit/>
          </a:bodyPr>
          <a:lstStyle/>
          <a:p>
            <a:r>
              <a:rPr sz="2000">
                <a:solidFill>
                  <a:srgbClr val="555555"/>
                </a:solidFill>
                <a:latin typeface="Aptos Display"/>
              </a:rPr>
              <a:t>R²</a:t>
            </a:r>
          </a:p>
        </p:txBody>
      </p:sp>
      <p:sp>
        <p:nvSpPr>
          <p:cNvPr id="10" name="TextBox 9"/>
          <p:cNvSpPr txBox="1"/>
          <p:nvPr/>
        </p:nvSpPr>
        <p:spPr>
          <a:xfrm>
            <a:off x="9326880" y="2339576"/>
            <a:ext cx="2194560" cy="502920"/>
          </a:xfrm>
          <a:prstGeom prst="rect">
            <a:avLst/>
          </a:prstGeom>
          <a:noFill/>
        </p:spPr>
        <p:txBody>
          <a:bodyPr wrap="none">
            <a:spAutoFit/>
          </a:bodyPr>
          <a:lstStyle/>
          <a:p>
            <a:pPr algn="r"/>
            <a:r>
              <a:rPr sz="2000" b="1">
                <a:solidFill>
                  <a:srgbClr val="B20E10"/>
                </a:solidFill>
                <a:latin typeface="Aptos Display"/>
              </a:rPr>
              <a:t>0.625</a:t>
            </a:r>
          </a:p>
        </p:txBody>
      </p:sp>
      <p:sp>
        <p:nvSpPr>
          <p:cNvPr id="11" name="Rectangle 10"/>
          <p:cNvSpPr/>
          <p:nvPr/>
        </p:nvSpPr>
        <p:spPr>
          <a:xfrm>
            <a:off x="7195680" y="2912199"/>
            <a:ext cx="48463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3106592"/>
            <a:ext cx="2743200" cy="457200"/>
          </a:xfrm>
          <a:prstGeom prst="rect">
            <a:avLst/>
          </a:prstGeom>
          <a:noFill/>
        </p:spPr>
        <p:txBody>
          <a:bodyPr wrap="none">
            <a:spAutoFit/>
          </a:bodyPr>
          <a:lstStyle/>
          <a:p>
            <a:r>
              <a:rPr sz="2000" dirty="0">
                <a:solidFill>
                  <a:srgbClr val="555555"/>
                </a:solidFill>
                <a:latin typeface="Aptos Display"/>
              </a:rPr>
              <a:t>MAE</a:t>
            </a:r>
          </a:p>
        </p:txBody>
      </p:sp>
      <p:sp>
        <p:nvSpPr>
          <p:cNvPr id="13" name="TextBox 12"/>
          <p:cNvSpPr txBox="1"/>
          <p:nvPr/>
        </p:nvSpPr>
        <p:spPr>
          <a:xfrm>
            <a:off x="9401720" y="3104553"/>
            <a:ext cx="2194560" cy="502920"/>
          </a:xfrm>
          <a:prstGeom prst="rect">
            <a:avLst/>
          </a:prstGeom>
          <a:noFill/>
        </p:spPr>
        <p:txBody>
          <a:bodyPr wrap="none">
            <a:spAutoFit/>
          </a:bodyPr>
          <a:lstStyle/>
          <a:p>
            <a:pPr algn="r"/>
            <a:r>
              <a:rPr sz="2000" b="1" dirty="0">
                <a:solidFill>
                  <a:srgbClr val="B20E10"/>
                </a:solidFill>
                <a:latin typeface="Aptos Display"/>
              </a:rPr>
              <a:t>22.1 €</a:t>
            </a:r>
          </a:p>
        </p:txBody>
      </p:sp>
      <p:sp>
        <p:nvSpPr>
          <p:cNvPr id="14" name="Rectangle 13"/>
          <p:cNvSpPr/>
          <p:nvPr/>
        </p:nvSpPr>
        <p:spPr>
          <a:xfrm>
            <a:off x="7178040" y="3753447"/>
            <a:ext cx="484632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7452360" y="3935133"/>
            <a:ext cx="2743200" cy="457200"/>
          </a:xfrm>
          <a:prstGeom prst="rect">
            <a:avLst/>
          </a:prstGeom>
          <a:noFill/>
        </p:spPr>
        <p:txBody>
          <a:bodyPr wrap="none">
            <a:spAutoFit/>
          </a:bodyPr>
          <a:lstStyle/>
          <a:p>
            <a:r>
              <a:rPr sz="2000" dirty="0">
                <a:solidFill>
                  <a:srgbClr val="555555"/>
                </a:solidFill>
                <a:latin typeface="Aptos Display"/>
              </a:rPr>
              <a:t>RMSE</a:t>
            </a:r>
          </a:p>
        </p:txBody>
      </p:sp>
      <p:sp>
        <p:nvSpPr>
          <p:cNvPr id="16" name="TextBox 15"/>
          <p:cNvSpPr txBox="1"/>
          <p:nvPr/>
        </p:nvSpPr>
        <p:spPr>
          <a:xfrm>
            <a:off x="9447440" y="3857438"/>
            <a:ext cx="2194560" cy="502920"/>
          </a:xfrm>
          <a:prstGeom prst="rect">
            <a:avLst/>
          </a:prstGeom>
          <a:noFill/>
        </p:spPr>
        <p:txBody>
          <a:bodyPr wrap="none">
            <a:spAutoFit/>
          </a:bodyPr>
          <a:lstStyle/>
          <a:p>
            <a:pPr algn="r"/>
            <a:r>
              <a:rPr sz="2000" b="1" dirty="0">
                <a:solidFill>
                  <a:srgbClr val="B20E10"/>
                </a:solidFill>
                <a:latin typeface="Aptos Display"/>
              </a:rPr>
              <a:t>42.9 €</a:t>
            </a:r>
          </a:p>
        </p:txBody>
      </p:sp>
      <p:sp>
        <p:nvSpPr>
          <p:cNvPr id="17" name="Rectangle 16"/>
          <p:cNvSpPr/>
          <p:nvPr/>
        </p:nvSpPr>
        <p:spPr>
          <a:xfrm>
            <a:off x="6675120" y="4535424"/>
            <a:ext cx="48463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7406640" y="4574019"/>
            <a:ext cx="2589440" cy="400110"/>
          </a:xfrm>
          <a:prstGeom prst="rect">
            <a:avLst/>
          </a:prstGeom>
          <a:noFill/>
        </p:spPr>
        <p:txBody>
          <a:bodyPr wrap="square">
            <a:spAutoFit/>
          </a:bodyPr>
          <a:lstStyle/>
          <a:p>
            <a:r>
              <a:rPr sz="2000" dirty="0">
                <a:solidFill>
                  <a:srgbClr val="555555"/>
                </a:solidFill>
                <a:latin typeface="Aptos Display"/>
              </a:rPr>
              <a:t>R² medio CV</a:t>
            </a:r>
            <a:r>
              <a:rPr lang="it-IT" sz="2000" dirty="0">
                <a:solidFill>
                  <a:srgbClr val="555555"/>
                </a:solidFill>
                <a:latin typeface="Aptos Display"/>
              </a:rPr>
              <a:t> a 6 </a:t>
            </a:r>
            <a:r>
              <a:rPr lang="it-IT" sz="2000" dirty="0" err="1">
                <a:solidFill>
                  <a:srgbClr val="555555"/>
                </a:solidFill>
                <a:latin typeface="Aptos Display"/>
              </a:rPr>
              <a:t>fold</a:t>
            </a:r>
            <a:endParaRPr sz="1400" dirty="0">
              <a:solidFill>
                <a:srgbClr val="555555"/>
              </a:solidFill>
              <a:latin typeface="Aptos Display"/>
            </a:endParaRPr>
          </a:p>
        </p:txBody>
      </p:sp>
      <p:sp>
        <p:nvSpPr>
          <p:cNvPr id="19" name="TextBox 18"/>
          <p:cNvSpPr txBox="1"/>
          <p:nvPr/>
        </p:nvSpPr>
        <p:spPr>
          <a:xfrm>
            <a:off x="9401720" y="4607216"/>
            <a:ext cx="2194560" cy="502920"/>
          </a:xfrm>
          <a:prstGeom prst="rect">
            <a:avLst/>
          </a:prstGeom>
          <a:noFill/>
        </p:spPr>
        <p:txBody>
          <a:bodyPr wrap="none">
            <a:spAutoFit/>
          </a:bodyPr>
          <a:lstStyle/>
          <a:p>
            <a:pPr algn="r"/>
            <a:r>
              <a:rPr sz="2000" b="1">
                <a:solidFill>
                  <a:srgbClr val="B20E10"/>
                </a:solidFill>
                <a:latin typeface="Aptos Display"/>
              </a:rPr>
              <a:t>0.661</a:t>
            </a:r>
          </a:p>
        </p:txBody>
      </p:sp>
      <p:sp>
        <p:nvSpPr>
          <p:cNvPr id="999" name="PageNum11"/>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8046720" cy="1077218"/>
          </a:xfrm>
          <a:prstGeom prst="rect">
            <a:avLst/>
          </a:prstGeom>
          <a:noFill/>
        </p:spPr>
        <p:txBody>
          <a:bodyPr wrap="square">
            <a:spAutoFit/>
          </a:bodyPr>
          <a:lstStyle/>
          <a:p>
            <a:pPr algn="l"/>
            <a:r>
              <a:rPr sz="3200" b="0" dirty="0" err="1">
                <a:solidFill>
                  <a:srgbClr val="FFFFFF"/>
                </a:solidFill>
                <a:latin typeface="Aptos Display"/>
              </a:rPr>
              <a:t>Regressione</a:t>
            </a:r>
            <a:r>
              <a:rPr sz="3200" b="0" dirty="0">
                <a:solidFill>
                  <a:srgbClr val="FFFFFF"/>
                </a:solidFill>
                <a:latin typeface="Aptos Display"/>
              </a:rPr>
              <a:t> </a:t>
            </a:r>
            <a:r>
              <a:rPr sz="3200" b="0" dirty="0" err="1">
                <a:solidFill>
                  <a:srgbClr val="FFFFFF"/>
                </a:solidFill>
                <a:latin typeface="Aptos Display"/>
              </a:rPr>
              <a:t>sul</a:t>
            </a:r>
            <a:r>
              <a:rPr sz="3200" b="0" dirty="0">
                <a:solidFill>
                  <a:srgbClr val="FFFFFF"/>
                </a:solidFill>
                <a:latin typeface="Aptos Display"/>
              </a:rPr>
              <a:t> Prezzo</a:t>
            </a:r>
          </a:p>
          <a:p>
            <a:pPr algn="l"/>
            <a:r>
              <a:rPr sz="3200" b="0" i="1" dirty="0" err="1">
                <a:solidFill>
                  <a:srgbClr val="FFFFFF"/>
                </a:solidFill>
                <a:latin typeface="Aptos Display"/>
              </a:rPr>
              <a:t>Confronto</a:t>
            </a:r>
            <a:r>
              <a:rPr sz="3200" b="0" i="1" dirty="0">
                <a:solidFill>
                  <a:srgbClr val="FFFFFF"/>
                </a:solidFill>
                <a:latin typeface="Aptos Display"/>
              </a:rPr>
              <a:t> </a:t>
            </a:r>
            <a:r>
              <a:rPr sz="3200" b="0" i="1" dirty="0" err="1">
                <a:solidFill>
                  <a:srgbClr val="FFFFFF"/>
                </a:solidFill>
                <a:latin typeface="Aptos Display"/>
              </a:rPr>
              <a:t>modelli</a:t>
            </a:r>
            <a:r>
              <a:rPr sz="3200" b="0" i="1" dirty="0">
                <a:solidFill>
                  <a:srgbClr val="FFFFFF"/>
                </a:solidFill>
                <a:latin typeface="Aptos Display"/>
              </a:rPr>
              <a:t> e Cross-Validation</a:t>
            </a:r>
          </a:p>
        </p:txBody>
      </p:sp>
      <p:pic>
        <p:nvPicPr>
          <p:cNvPr id="4" name="Picture 3" descr="unipd_logo.png"/>
          <p:cNvPicPr>
            <a:picLocks noChangeAspect="1"/>
          </p:cNvPicPr>
          <p:nvPr/>
        </p:nvPicPr>
        <p:blipFill>
          <a:blip r:embed="rId3"/>
          <a:stretch>
            <a:fillRect/>
          </a:stretch>
        </p:blipFill>
        <p:spPr>
          <a:xfrm>
            <a:off x="9052255" y="182186"/>
            <a:ext cx="2651760" cy="1188720"/>
          </a:xfrm>
          <a:prstGeom prst="rect">
            <a:avLst/>
          </a:prstGeom>
        </p:spPr>
      </p:pic>
      <p:sp>
        <p:nvSpPr>
          <p:cNvPr id="5" name="TextBox 4"/>
          <p:cNvSpPr txBox="1"/>
          <p:nvPr/>
        </p:nvSpPr>
        <p:spPr>
          <a:xfrm>
            <a:off x="502920" y="1874520"/>
            <a:ext cx="6400800" cy="400110"/>
          </a:xfrm>
          <a:prstGeom prst="rect">
            <a:avLst/>
          </a:prstGeom>
          <a:noFill/>
        </p:spPr>
        <p:txBody>
          <a:bodyPr wrap="square">
            <a:spAutoFit/>
          </a:bodyPr>
          <a:lstStyle/>
          <a:p>
            <a:pPr algn="l"/>
            <a:r>
              <a:rPr sz="2000" b="1" i="0" dirty="0" err="1">
                <a:solidFill>
                  <a:srgbClr val="B20E10"/>
                </a:solidFill>
                <a:latin typeface="Aptos Display"/>
              </a:rPr>
              <a:t>Metriche</a:t>
            </a:r>
            <a:r>
              <a:rPr sz="2000" b="1" i="0" dirty="0">
                <a:solidFill>
                  <a:srgbClr val="B20E10"/>
                </a:solidFill>
                <a:latin typeface="Aptos Display"/>
              </a:rPr>
              <a:t> </a:t>
            </a:r>
            <a:r>
              <a:rPr sz="2000" b="1" i="0" dirty="0" err="1">
                <a:solidFill>
                  <a:srgbClr val="B20E10"/>
                </a:solidFill>
                <a:latin typeface="Aptos Display"/>
              </a:rPr>
              <a:t>sul</a:t>
            </a:r>
            <a:r>
              <a:rPr sz="2000" b="1" i="0" dirty="0">
                <a:solidFill>
                  <a:srgbClr val="B20E10"/>
                </a:solidFill>
                <a:latin typeface="Aptos Display"/>
              </a:rPr>
              <a:t> test set</a:t>
            </a:r>
          </a:p>
        </p:txBody>
      </p:sp>
      <p:graphicFrame>
        <p:nvGraphicFramePr>
          <p:cNvPr id="6" name="Table 5"/>
          <p:cNvGraphicFramePr>
            <a:graphicFrameLocks noGrp="1"/>
          </p:cNvGraphicFramePr>
          <p:nvPr>
            <p:extLst>
              <p:ext uri="{D42A27DB-BD31-4B8C-83A1-F6EECF244321}">
                <p14:modId xmlns:p14="http://schemas.microsoft.com/office/powerpoint/2010/main" val="2352264027"/>
              </p:ext>
            </p:extLst>
          </p:nvPr>
        </p:nvGraphicFramePr>
        <p:xfrm>
          <a:off x="502920" y="2286000"/>
          <a:ext cx="10698480" cy="3825242"/>
        </p:xfrm>
        <a:graphic>
          <a:graphicData uri="http://schemas.openxmlformats.org/drawingml/2006/table">
            <a:tbl>
              <a:tblPr firstRow="1" bandRow="1">
                <a:tableStyleId>{5C22544A-7EE6-4342-B048-85BDC9FD1C3A}</a:tableStyleId>
              </a:tblPr>
              <a:tblGrid>
                <a:gridCol w="4719918">
                  <a:extLst>
                    <a:ext uri="{9D8B030D-6E8A-4147-A177-3AD203B41FA5}">
                      <a16:colId xmlns:a16="http://schemas.microsoft.com/office/drawing/2014/main" val="20000"/>
                    </a:ext>
                  </a:extLst>
                </a:gridCol>
                <a:gridCol w="1573306">
                  <a:extLst>
                    <a:ext uri="{9D8B030D-6E8A-4147-A177-3AD203B41FA5}">
                      <a16:colId xmlns:a16="http://schemas.microsoft.com/office/drawing/2014/main" val="20001"/>
                    </a:ext>
                  </a:extLst>
                </a:gridCol>
                <a:gridCol w="2202628">
                  <a:extLst>
                    <a:ext uri="{9D8B030D-6E8A-4147-A177-3AD203B41FA5}">
                      <a16:colId xmlns:a16="http://schemas.microsoft.com/office/drawing/2014/main" val="20002"/>
                    </a:ext>
                  </a:extLst>
                </a:gridCol>
                <a:gridCol w="2202628">
                  <a:extLst>
                    <a:ext uri="{9D8B030D-6E8A-4147-A177-3AD203B41FA5}">
                      <a16:colId xmlns:a16="http://schemas.microsoft.com/office/drawing/2014/main" val="20003"/>
                    </a:ext>
                  </a:extLst>
                </a:gridCol>
              </a:tblGrid>
              <a:tr h="712462">
                <a:tc>
                  <a:txBody>
                    <a:bodyPr/>
                    <a:lstStyle/>
                    <a:p>
                      <a:pPr algn="ctr"/>
                      <a:r>
                        <a:rPr sz="2000" b="1">
                          <a:solidFill>
                            <a:srgbClr val="FFFFFF"/>
                          </a:solidFill>
                          <a:latin typeface="Aptos Display"/>
                        </a:rPr>
                        <a:t>Modello</a:t>
                      </a:r>
                    </a:p>
                  </a:txBody>
                  <a:tcPr>
                    <a:solidFill>
                      <a:srgbClr val="B20E10"/>
                    </a:solidFill>
                  </a:tcPr>
                </a:tc>
                <a:tc>
                  <a:txBody>
                    <a:bodyPr/>
                    <a:lstStyle/>
                    <a:p>
                      <a:pPr algn="ctr"/>
                      <a:r>
                        <a:rPr sz="2000" b="1">
                          <a:solidFill>
                            <a:srgbClr val="FFFFFF"/>
                          </a:solidFill>
                          <a:latin typeface="Aptos Display"/>
                        </a:rPr>
                        <a:t>R²</a:t>
                      </a:r>
                    </a:p>
                  </a:txBody>
                  <a:tcPr>
                    <a:solidFill>
                      <a:srgbClr val="B20E10"/>
                    </a:solidFill>
                  </a:tcPr>
                </a:tc>
                <a:tc>
                  <a:txBody>
                    <a:bodyPr/>
                    <a:lstStyle/>
                    <a:p>
                      <a:pPr algn="ctr"/>
                      <a:r>
                        <a:rPr sz="2000" b="1">
                          <a:solidFill>
                            <a:srgbClr val="FFFFFF"/>
                          </a:solidFill>
                          <a:latin typeface="Aptos Display"/>
                        </a:rPr>
                        <a:t>MAE (€)</a:t>
                      </a:r>
                    </a:p>
                  </a:txBody>
                  <a:tcPr>
                    <a:solidFill>
                      <a:srgbClr val="B20E10"/>
                    </a:solidFill>
                  </a:tcPr>
                </a:tc>
                <a:tc>
                  <a:txBody>
                    <a:bodyPr/>
                    <a:lstStyle/>
                    <a:p>
                      <a:pPr algn="ctr"/>
                      <a:r>
                        <a:rPr sz="2000" b="1">
                          <a:solidFill>
                            <a:srgbClr val="FFFFFF"/>
                          </a:solidFill>
                          <a:latin typeface="Aptos Display"/>
                        </a:rPr>
                        <a:t>RMSE (€)</a:t>
                      </a:r>
                    </a:p>
                  </a:txBody>
                  <a:tcPr>
                    <a:solidFill>
                      <a:srgbClr val="B20E10"/>
                    </a:solidFill>
                  </a:tcPr>
                </a:tc>
                <a:extLst>
                  <a:ext uri="{0D108BD9-81ED-4DB2-BD59-A6C34878D82A}">
                    <a16:rowId xmlns:a16="http://schemas.microsoft.com/office/drawing/2014/main" val="10000"/>
                  </a:ext>
                </a:extLst>
              </a:tr>
              <a:tr h="712462">
                <a:tc>
                  <a:txBody>
                    <a:bodyPr/>
                    <a:lstStyle/>
                    <a:p>
                      <a:pPr algn="ctr"/>
                      <a:r>
                        <a:rPr sz="2000" dirty="0">
                          <a:solidFill>
                            <a:srgbClr val="000000"/>
                          </a:solidFill>
                          <a:latin typeface="Aptos Display"/>
                        </a:rPr>
                        <a:t>MLR price </a:t>
                      </a:r>
                      <a:r>
                        <a:rPr sz="2000" dirty="0" err="1">
                          <a:solidFill>
                            <a:srgbClr val="000000"/>
                          </a:solidFill>
                          <a:latin typeface="Aptos Display"/>
                        </a:rPr>
                        <a:t>grezzo</a:t>
                      </a:r>
                      <a:r>
                        <a:rPr lang="it-IT" sz="2000" dirty="0">
                          <a:solidFill>
                            <a:srgbClr val="000000"/>
                          </a:solidFill>
                          <a:latin typeface="Aptos Display"/>
                        </a:rPr>
                        <a:t> completo</a:t>
                      </a:r>
                      <a:endParaRPr sz="2000" dirty="0">
                        <a:solidFill>
                          <a:srgbClr val="000000"/>
                        </a:solidFill>
                        <a:latin typeface="Aptos Display"/>
                      </a:endParaRPr>
                    </a:p>
                  </a:txBody>
                  <a:tcPr>
                    <a:solidFill>
                      <a:srgbClr val="F9F9F9"/>
                    </a:solidFill>
                  </a:tcPr>
                </a:tc>
                <a:tc>
                  <a:txBody>
                    <a:bodyPr/>
                    <a:lstStyle/>
                    <a:p>
                      <a:pPr algn="ctr"/>
                      <a:r>
                        <a:rPr sz="2000">
                          <a:solidFill>
                            <a:srgbClr val="000000"/>
                          </a:solidFill>
                          <a:latin typeface="Aptos Display"/>
                        </a:rPr>
                        <a:t>0.498</a:t>
                      </a:r>
                    </a:p>
                  </a:txBody>
                  <a:tcPr>
                    <a:solidFill>
                      <a:srgbClr val="F9F9F9"/>
                    </a:solidFill>
                  </a:tcPr>
                </a:tc>
                <a:tc>
                  <a:txBody>
                    <a:bodyPr/>
                    <a:lstStyle/>
                    <a:p>
                      <a:pPr algn="ctr"/>
                      <a:r>
                        <a:rPr sz="2000">
                          <a:solidFill>
                            <a:srgbClr val="000000"/>
                          </a:solidFill>
                          <a:latin typeface="Aptos Display"/>
                        </a:rPr>
                        <a:t>26.1</a:t>
                      </a:r>
                    </a:p>
                  </a:txBody>
                  <a:tcPr>
                    <a:solidFill>
                      <a:srgbClr val="F9F9F9"/>
                    </a:solidFill>
                  </a:tcPr>
                </a:tc>
                <a:tc>
                  <a:txBody>
                    <a:bodyPr/>
                    <a:lstStyle/>
                    <a:p>
                      <a:pPr algn="ctr"/>
                      <a:r>
                        <a:rPr sz="2000">
                          <a:solidFill>
                            <a:srgbClr val="000000"/>
                          </a:solidFill>
                          <a:latin typeface="Aptos Display"/>
                        </a:rPr>
                        <a:t>40.3</a:t>
                      </a:r>
                    </a:p>
                  </a:txBody>
                  <a:tcPr>
                    <a:solidFill>
                      <a:srgbClr val="F9F9F9"/>
                    </a:solidFill>
                  </a:tcPr>
                </a:tc>
                <a:extLst>
                  <a:ext uri="{0D108BD9-81ED-4DB2-BD59-A6C34878D82A}">
                    <a16:rowId xmlns:a16="http://schemas.microsoft.com/office/drawing/2014/main" val="10001"/>
                  </a:ext>
                </a:extLst>
              </a:tr>
              <a:tr h="712462">
                <a:tc>
                  <a:txBody>
                    <a:bodyPr/>
                    <a:lstStyle/>
                    <a:p>
                      <a:pPr algn="ctr"/>
                      <a:r>
                        <a:rPr sz="2000" b="1" dirty="0">
                          <a:solidFill>
                            <a:schemeClr val="tx1"/>
                          </a:solidFill>
                          <a:latin typeface="Aptos Display"/>
                        </a:rPr>
                        <a:t>MLR log(price)</a:t>
                      </a:r>
                      <a:r>
                        <a:rPr lang="it-IT" sz="2000" b="1" dirty="0">
                          <a:solidFill>
                            <a:schemeClr val="tx1"/>
                          </a:solidFill>
                          <a:latin typeface="Aptos Display"/>
                        </a:rPr>
                        <a:t> </a:t>
                      </a:r>
                      <a:r>
                        <a:rPr sz="2000" b="1" dirty="0">
                          <a:solidFill>
                            <a:schemeClr val="tx1"/>
                          </a:solidFill>
                          <a:latin typeface="Aptos Display"/>
                        </a:rPr>
                        <a:t> </a:t>
                      </a:r>
                      <a:r>
                        <a:rPr sz="2000" b="1" dirty="0" err="1">
                          <a:solidFill>
                            <a:schemeClr val="tx1"/>
                          </a:solidFill>
                          <a:latin typeface="Aptos Display"/>
                        </a:rPr>
                        <a:t>Completo</a:t>
                      </a:r>
                      <a:endParaRPr sz="1300" b="1" dirty="0">
                        <a:solidFill>
                          <a:schemeClr val="tx1"/>
                        </a:solidFill>
                        <a:latin typeface="Aptos Display"/>
                      </a:endParaRPr>
                    </a:p>
                  </a:txBody>
                  <a:tcPr>
                    <a:solidFill>
                      <a:srgbClr val="FFFFFF"/>
                    </a:solidFill>
                  </a:tcPr>
                </a:tc>
                <a:tc>
                  <a:txBody>
                    <a:bodyPr/>
                    <a:lstStyle/>
                    <a:p>
                      <a:pPr algn="ctr"/>
                      <a:r>
                        <a:rPr sz="2000" b="1" dirty="0">
                          <a:solidFill>
                            <a:schemeClr val="tx1"/>
                          </a:solidFill>
                          <a:latin typeface="Aptos Display"/>
                        </a:rPr>
                        <a:t>0.625</a:t>
                      </a:r>
                    </a:p>
                  </a:txBody>
                  <a:tcPr>
                    <a:solidFill>
                      <a:srgbClr val="FFFFFF"/>
                    </a:solidFill>
                  </a:tcPr>
                </a:tc>
                <a:tc>
                  <a:txBody>
                    <a:bodyPr/>
                    <a:lstStyle/>
                    <a:p>
                      <a:pPr algn="ctr"/>
                      <a:r>
                        <a:rPr sz="2000" b="1" dirty="0">
                          <a:solidFill>
                            <a:schemeClr val="tx1"/>
                          </a:solidFill>
                          <a:latin typeface="Aptos Display"/>
                        </a:rPr>
                        <a:t>22.1</a:t>
                      </a:r>
                    </a:p>
                  </a:txBody>
                  <a:tcPr>
                    <a:solidFill>
                      <a:srgbClr val="FFFFFF"/>
                    </a:solidFill>
                  </a:tcPr>
                </a:tc>
                <a:tc>
                  <a:txBody>
                    <a:bodyPr/>
                    <a:lstStyle/>
                    <a:p>
                      <a:pPr algn="ctr"/>
                      <a:r>
                        <a:rPr sz="2000" b="1" dirty="0">
                          <a:solidFill>
                            <a:schemeClr val="tx1"/>
                          </a:solidFill>
                          <a:latin typeface="Aptos Display"/>
                        </a:rPr>
                        <a:t>42.9</a:t>
                      </a:r>
                    </a:p>
                  </a:txBody>
                  <a:tcPr>
                    <a:solidFill>
                      <a:srgbClr val="FFFFFF"/>
                    </a:solidFill>
                  </a:tcPr>
                </a:tc>
                <a:extLst>
                  <a:ext uri="{0D108BD9-81ED-4DB2-BD59-A6C34878D82A}">
                    <a16:rowId xmlns:a16="http://schemas.microsoft.com/office/drawing/2014/main" val="10002"/>
                  </a:ext>
                </a:extLst>
              </a:tr>
              <a:tr h="712462">
                <a:tc>
                  <a:txBody>
                    <a:bodyPr/>
                    <a:lstStyle/>
                    <a:p>
                      <a:pPr algn="ctr"/>
                      <a:r>
                        <a:rPr sz="2000" dirty="0">
                          <a:solidFill>
                            <a:srgbClr val="000000"/>
                          </a:solidFill>
                          <a:latin typeface="Aptos Display"/>
                        </a:rPr>
                        <a:t>MLR log(price)</a:t>
                      </a:r>
                      <a:r>
                        <a:rPr lang="it-IT" sz="2000" dirty="0">
                          <a:solidFill>
                            <a:srgbClr val="000000"/>
                          </a:solidFill>
                          <a:latin typeface="Aptos Display"/>
                        </a:rPr>
                        <a:t> senza </a:t>
                      </a:r>
                      <a:r>
                        <a:rPr lang="it-IT" sz="2000" dirty="0" err="1">
                          <a:solidFill>
                            <a:srgbClr val="000000"/>
                          </a:solidFill>
                          <a:latin typeface="Aptos Display"/>
                        </a:rPr>
                        <a:t>leakers</a:t>
                      </a:r>
                      <a:endParaRPr sz="1300" dirty="0">
                        <a:solidFill>
                          <a:srgbClr val="000000"/>
                        </a:solidFill>
                        <a:latin typeface="Aptos Display"/>
                      </a:endParaRPr>
                    </a:p>
                  </a:txBody>
                  <a:tcPr>
                    <a:solidFill>
                      <a:srgbClr val="F9F9F9"/>
                    </a:solidFill>
                  </a:tcPr>
                </a:tc>
                <a:tc>
                  <a:txBody>
                    <a:bodyPr/>
                    <a:lstStyle/>
                    <a:p>
                      <a:pPr algn="ctr"/>
                      <a:r>
                        <a:rPr sz="2000" dirty="0">
                          <a:solidFill>
                            <a:srgbClr val="000000"/>
                          </a:solidFill>
                          <a:latin typeface="Aptos Display"/>
                        </a:rPr>
                        <a:t>0.469</a:t>
                      </a:r>
                    </a:p>
                  </a:txBody>
                  <a:tcPr>
                    <a:solidFill>
                      <a:srgbClr val="F9F9F9"/>
                    </a:solidFill>
                  </a:tcPr>
                </a:tc>
                <a:tc>
                  <a:txBody>
                    <a:bodyPr/>
                    <a:lstStyle/>
                    <a:p>
                      <a:pPr algn="ctr"/>
                      <a:r>
                        <a:rPr sz="2000">
                          <a:solidFill>
                            <a:srgbClr val="000000"/>
                          </a:solidFill>
                          <a:latin typeface="Aptos Display"/>
                        </a:rPr>
                        <a:t>26.6</a:t>
                      </a:r>
                    </a:p>
                  </a:txBody>
                  <a:tcPr>
                    <a:solidFill>
                      <a:srgbClr val="F9F9F9"/>
                    </a:solidFill>
                  </a:tcPr>
                </a:tc>
                <a:tc>
                  <a:txBody>
                    <a:bodyPr/>
                    <a:lstStyle/>
                    <a:p>
                      <a:pPr algn="ctr"/>
                      <a:r>
                        <a:rPr sz="2000">
                          <a:solidFill>
                            <a:srgbClr val="000000"/>
                          </a:solidFill>
                          <a:latin typeface="Aptos Display"/>
                        </a:rPr>
                        <a:t>48.1</a:t>
                      </a:r>
                    </a:p>
                  </a:txBody>
                  <a:tcPr>
                    <a:solidFill>
                      <a:srgbClr val="F9F9F9"/>
                    </a:solidFill>
                  </a:tcPr>
                </a:tc>
                <a:extLst>
                  <a:ext uri="{0D108BD9-81ED-4DB2-BD59-A6C34878D82A}">
                    <a16:rowId xmlns:a16="http://schemas.microsoft.com/office/drawing/2014/main" val="10003"/>
                  </a:ext>
                </a:extLst>
              </a:tr>
              <a:tr h="975394">
                <a:tc>
                  <a:txBody>
                    <a:bodyPr/>
                    <a:lstStyle/>
                    <a:p>
                      <a:pPr algn="ctr"/>
                      <a:r>
                        <a:rPr sz="2000" dirty="0" err="1">
                          <a:solidFill>
                            <a:srgbClr val="000000"/>
                          </a:solidFill>
                          <a:latin typeface="Aptos Display"/>
                        </a:rPr>
                        <a:t>Modello</a:t>
                      </a:r>
                      <a:r>
                        <a:rPr sz="2000" dirty="0">
                          <a:solidFill>
                            <a:srgbClr val="000000"/>
                          </a:solidFill>
                          <a:latin typeface="Aptos Display"/>
                        </a:rPr>
                        <a:t> Misto (REML)</a:t>
                      </a:r>
                      <a:r>
                        <a:rPr lang="it-IT" sz="2000" dirty="0">
                          <a:solidFill>
                            <a:srgbClr val="000000"/>
                          </a:solidFill>
                          <a:latin typeface="Aptos Display"/>
                        </a:rPr>
                        <a:t> senza </a:t>
                      </a:r>
                      <a:r>
                        <a:rPr lang="it-IT" sz="2000" dirty="0" err="1">
                          <a:solidFill>
                            <a:srgbClr val="000000"/>
                          </a:solidFill>
                          <a:latin typeface="Aptos Display"/>
                        </a:rPr>
                        <a:t>leakers</a:t>
                      </a:r>
                      <a:r>
                        <a:rPr lang="it-IT" sz="2000" dirty="0">
                          <a:solidFill>
                            <a:srgbClr val="000000"/>
                          </a:solidFill>
                          <a:latin typeface="Aptos Display"/>
                        </a:rPr>
                        <a:t> e con Intercetta Random per venditore</a:t>
                      </a:r>
                    </a:p>
                  </a:txBody>
                  <a:tcPr>
                    <a:solidFill>
                      <a:srgbClr val="FFFFFF"/>
                    </a:solidFill>
                  </a:tcPr>
                </a:tc>
                <a:tc>
                  <a:txBody>
                    <a:bodyPr/>
                    <a:lstStyle/>
                    <a:p>
                      <a:pPr algn="ctr"/>
                      <a:r>
                        <a:rPr sz="2000">
                          <a:solidFill>
                            <a:srgbClr val="000000"/>
                          </a:solidFill>
                          <a:latin typeface="Aptos Display"/>
                        </a:rPr>
                        <a:t>0.500</a:t>
                      </a:r>
                    </a:p>
                  </a:txBody>
                  <a:tcPr>
                    <a:solidFill>
                      <a:srgbClr val="FFFFFF"/>
                    </a:solidFill>
                  </a:tcPr>
                </a:tc>
                <a:tc>
                  <a:txBody>
                    <a:bodyPr/>
                    <a:lstStyle/>
                    <a:p>
                      <a:pPr algn="ctr"/>
                      <a:r>
                        <a:rPr sz="2000" dirty="0">
                          <a:solidFill>
                            <a:srgbClr val="000000"/>
                          </a:solidFill>
                          <a:latin typeface="Aptos Display"/>
                        </a:rPr>
                        <a:t>25.5</a:t>
                      </a:r>
                    </a:p>
                  </a:txBody>
                  <a:tcPr>
                    <a:solidFill>
                      <a:srgbClr val="FFFFFF"/>
                    </a:solidFill>
                  </a:tcPr>
                </a:tc>
                <a:tc>
                  <a:txBody>
                    <a:bodyPr/>
                    <a:lstStyle/>
                    <a:p>
                      <a:pPr algn="ctr"/>
                      <a:r>
                        <a:rPr sz="2000" dirty="0">
                          <a:solidFill>
                            <a:srgbClr val="000000"/>
                          </a:solidFill>
                          <a:latin typeface="Aptos Display"/>
                        </a:rPr>
                        <a:t>48.3</a:t>
                      </a:r>
                    </a:p>
                  </a:txBody>
                  <a:tcPr>
                    <a:solidFill>
                      <a:srgbClr val="FFFFFF"/>
                    </a:solidFill>
                  </a:tcPr>
                </a:tc>
                <a:extLst>
                  <a:ext uri="{0D108BD9-81ED-4DB2-BD59-A6C34878D82A}">
                    <a16:rowId xmlns:a16="http://schemas.microsoft.com/office/drawing/2014/main" val="10004"/>
                  </a:ext>
                </a:extLst>
              </a:tr>
            </a:tbl>
          </a:graphicData>
        </a:graphic>
      </p:graphicFrame>
      <p:sp>
        <p:nvSpPr>
          <p:cNvPr id="999" name="PageNum12"/>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CCF6C-A3CC-E7EF-564C-4C6A511DA064}"/>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DB1A549C-ED00-5B4D-238F-142B1F22077F}"/>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20FC44BD-9DC8-24B4-0CF0-466EEAD69398}"/>
              </a:ext>
            </a:extLst>
          </p:cNvPr>
          <p:cNvSpPr>
            <a:spLocks noGrp="1"/>
          </p:cNvSpPr>
          <p:nvPr>
            <p:ph type="title"/>
          </p:nvPr>
        </p:nvSpPr>
        <p:spPr>
          <a:xfrm>
            <a:off x="838200" y="141658"/>
            <a:ext cx="10515600" cy="1325563"/>
          </a:xfrm>
        </p:spPr>
        <p:txBody>
          <a:bodyPr/>
          <a:lstStyle/>
          <a:p>
            <a:r>
              <a:rPr lang="it-IT" dirty="0">
                <a:solidFill>
                  <a:schemeClr val="bg1"/>
                </a:solidFill>
              </a:rPr>
              <a:t>Albero</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870F360B-5C41-868A-8D75-8CDC96E50286}"/>
                  </a:ext>
                </a:extLst>
              </p:cNvPr>
              <p:cNvSpPr>
                <a:spLocks noGrp="1"/>
              </p:cNvSpPr>
              <p:nvPr>
                <p:ph idx="1"/>
              </p:nvPr>
            </p:nvSpPr>
            <p:spPr>
              <a:xfrm>
                <a:off x="838200" y="1946173"/>
                <a:ext cx="10515600" cy="4703976"/>
              </a:xfrm>
            </p:spPr>
            <p:txBody>
              <a:bodyPr>
                <a:normAutofit/>
              </a:bodyPr>
              <a:lstStyle/>
              <a:p>
                <a:pPr>
                  <a:lnSpc>
                    <a:spcPct val="100000"/>
                  </a:lnSpc>
                </a:pPr>
                <a:r>
                  <a:rPr lang="it-IT" sz="2000" dirty="0">
                    <a:latin typeface="Aptos Display"/>
                  </a:rPr>
                  <a:t>Albero classico:</a:t>
                </a:r>
                <a:endParaRPr lang="it-IT" sz="2400" i="1" dirty="0">
                  <a:latin typeface="Aptos Display"/>
                </a:endParaRP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𝑅</m:t>
                        </m:r>
                      </m:e>
                      <m:sup>
                        <m:r>
                          <a:rPr lang="it-IT" i="1">
                            <a:latin typeface="Cambria Math" panose="02040503050406030204" pitchFamily="18" charset="0"/>
                          </a:rPr>
                          <m:t>2</m:t>
                        </m:r>
                      </m:sup>
                    </m:sSup>
                  </m:oMath>
                </a14:m>
                <a:r>
                  <a:rPr lang="it-IT" dirty="0">
                    <a:latin typeface="Aptos Display"/>
                  </a:rPr>
                  <a:t> = 0.08</a:t>
                </a:r>
              </a:p>
              <a:p>
                <a:pPr lvl="1">
                  <a:lnSpc>
                    <a:spcPct val="100000"/>
                  </a:lnSpc>
                </a:pPr>
                <a:r>
                  <a:rPr lang="it-IT" dirty="0">
                    <a:latin typeface="Aptos Display"/>
                  </a:rPr>
                  <a:t>RMSE = 51.77</a:t>
                </a:r>
              </a:p>
              <a:p>
                <a:pPr lvl="1">
                  <a:lnSpc>
                    <a:spcPct val="100000"/>
                  </a:lnSpc>
                </a:pPr>
                <a:r>
                  <a:rPr lang="it-IT" dirty="0">
                    <a:latin typeface="Aptos Display"/>
                  </a:rPr>
                  <a:t>MAE = 37.49</a:t>
                </a:r>
              </a:p>
              <a:p>
                <a:pPr>
                  <a:lnSpc>
                    <a:spcPct val="100000"/>
                  </a:lnSpc>
                </a:pPr>
                <a:r>
                  <a:rPr lang="it-IT" sz="2000" dirty="0">
                    <a:latin typeface="Aptos Display"/>
                  </a:rPr>
                  <a:t>MERT con l’effetto gerarchico su Brand e su </a:t>
                </a:r>
                <a:r>
                  <a:rPr lang="it-IT" sz="2000" dirty="0" err="1">
                    <a:latin typeface="Aptos Display"/>
                  </a:rPr>
                  <a:t>Condition</a:t>
                </a:r>
                <a:r>
                  <a:rPr lang="it-IT" sz="2000" dirty="0">
                    <a:latin typeface="Aptos Display"/>
                  </a:rPr>
                  <a:t>:</a:t>
                </a:r>
                <a:endParaRPr lang="it-IT" sz="2400" i="1" dirty="0">
                  <a:latin typeface="Aptos Display"/>
                </a:endParaRP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𝑅</m:t>
                        </m:r>
                      </m:e>
                      <m:sup>
                        <m:r>
                          <a:rPr lang="it-IT" i="1">
                            <a:latin typeface="Cambria Math" panose="02040503050406030204" pitchFamily="18" charset="0"/>
                          </a:rPr>
                          <m:t>2</m:t>
                        </m:r>
                      </m:sup>
                    </m:sSup>
                  </m:oMath>
                </a14:m>
                <a:r>
                  <a:rPr lang="it-IT" dirty="0">
                    <a:latin typeface="Aptos Display"/>
                  </a:rPr>
                  <a:t> = 0.22</a:t>
                </a:r>
              </a:p>
              <a:p>
                <a:pPr lvl="1">
                  <a:lnSpc>
                    <a:spcPct val="100000"/>
                  </a:lnSpc>
                </a:pPr>
                <a:r>
                  <a:rPr lang="it-IT" dirty="0">
                    <a:latin typeface="Aptos Display"/>
                  </a:rPr>
                  <a:t>RMSE = 47.76</a:t>
                </a:r>
              </a:p>
              <a:p>
                <a:pPr lvl="1">
                  <a:lnSpc>
                    <a:spcPct val="100000"/>
                  </a:lnSpc>
                </a:pPr>
                <a:r>
                  <a:rPr lang="it-IT" dirty="0">
                    <a:latin typeface="Aptos Display"/>
                  </a:rPr>
                  <a:t>MAE = 33.25</a:t>
                </a:r>
              </a:p>
            </p:txBody>
          </p:sp>
        </mc:Choice>
        <mc:Fallback xmlns="">
          <p:sp>
            <p:nvSpPr>
              <p:cNvPr id="3" name="Segnaposto contenuto 2">
                <a:extLst>
                  <a:ext uri="{FF2B5EF4-FFF2-40B4-BE49-F238E27FC236}">
                    <a16:creationId xmlns:a16="http://schemas.microsoft.com/office/drawing/2014/main" id="{870F360B-5C41-868A-8D75-8CDC96E50286}"/>
                  </a:ext>
                </a:extLst>
              </p:cNvPr>
              <p:cNvSpPr>
                <a:spLocks noGrp="1" noRot="1" noChangeAspect="1" noMove="1" noResize="1" noEditPoints="1" noAdjustHandles="1" noChangeArrowheads="1" noChangeShapeType="1" noTextEdit="1"/>
              </p:cNvSpPr>
              <p:nvPr>
                <p:ph idx="1"/>
              </p:nvPr>
            </p:nvSpPr>
            <p:spPr>
              <a:xfrm>
                <a:off x="838200" y="1946173"/>
                <a:ext cx="10515600" cy="4703976"/>
              </a:xfrm>
              <a:blipFill>
                <a:blip r:embed="rId2"/>
                <a:stretch>
                  <a:fillRect l="-812" t="-1036"/>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D6E17B46-01B4-C7F4-56A8-1E5899D35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14"/>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14</a:t>
            </a:r>
          </a:p>
        </p:txBody>
      </p:sp>
    </p:spTree>
    <p:extLst>
      <p:ext uri="{BB962C8B-B14F-4D97-AF65-F5344CB8AC3E}">
        <p14:creationId xmlns:p14="http://schemas.microsoft.com/office/powerpoint/2010/main" val="73427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B47A-9D62-5D04-CD57-E2D41DDD6D90}"/>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38D3198B-3CA1-8FAF-DA50-627E0EB70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575" y="1987735"/>
            <a:ext cx="7632425" cy="4770265"/>
          </a:xfrm>
          <a:prstGeom prst="rect">
            <a:avLst/>
          </a:prstGeom>
        </p:spPr>
      </p:pic>
      <p:sp>
        <p:nvSpPr>
          <p:cNvPr id="4" name="Rettangolo 3">
            <a:extLst>
              <a:ext uri="{FF2B5EF4-FFF2-40B4-BE49-F238E27FC236}">
                <a16:creationId xmlns:a16="http://schemas.microsoft.com/office/drawing/2014/main" id="{304C86F6-6F4C-901E-A8F8-6F8B91BCC25C}"/>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86937B3A-F4BF-AB8C-B7B2-CA81C2C1BA63}"/>
              </a:ext>
            </a:extLst>
          </p:cNvPr>
          <p:cNvSpPr>
            <a:spLocks noGrp="1"/>
          </p:cNvSpPr>
          <p:nvPr>
            <p:ph type="title"/>
          </p:nvPr>
        </p:nvSpPr>
        <p:spPr>
          <a:xfrm>
            <a:off x="838200" y="141658"/>
            <a:ext cx="10515600" cy="1325563"/>
          </a:xfrm>
        </p:spPr>
        <p:txBody>
          <a:bodyPr/>
          <a:lstStyle/>
          <a:p>
            <a:r>
              <a:rPr lang="it-IT" dirty="0">
                <a:solidFill>
                  <a:schemeClr val="bg1"/>
                </a:solidFill>
              </a:rPr>
              <a:t>Random Forest</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A94C499B-B73A-36EC-FB12-7BDC3908784E}"/>
                  </a:ext>
                </a:extLst>
              </p:cNvPr>
              <p:cNvSpPr>
                <a:spLocks noGrp="1"/>
              </p:cNvSpPr>
              <p:nvPr>
                <p:ph idx="1"/>
              </p:nvPr>
            </p:nvSpPr>
            <p:spPr>
              <a:xfrm>
                <a:off x="838200" y="1987735"/>
                <a:ext cx="5257800" cy="4607029"/>
              </a:xfrm>
            </p:spPr>
            <p:txBody>
              <a:bodyPr>
                <a:normAutofit/>
              </a:bodyPr>
              <a:lstStyle/>
              <a:p>
                <a:pPr>
                  <a:lnSpc>
                    <a:spcPct val="100000"/>
                  </a:lnSpc>
                </a:pPr>
                <a:r>
                  <a:rPr lang="it-IT" sz="2000" dirty="0">
                    <a:latin typeface="Aptos Display"/>
                  </a:rPr>
                  <a:t>Senza effetto casuale</a:t>
                </a:r>
              </a:p>
              <a:p>
                <a:pPr lvl="1">
                  <a:lnSpc>
                    <a:spcPct val="100000"/>
                  </a:lnSpc>
                </a:pPr>
                <a:r>
                  <a:rPr lang="it-IT" dirty="0">
                    <a:latin typeface="Aptos Display"/>
                  </a:rPr>
                  <a:t>tuning con l’errore OOB.</a:t>
                </a:r>
              </a:p>
              <a:p>
                <a:pPr lvl="1">
                  <a:lnSpc>
                    <a:spcPct val="100000"/>
                  </a:lnSpc>
                </a:pPr>
                <a14:m>
                  <m:oMath xmlns:m="http://schemas.openxmlformats.org/officeDocument/2006/math">
                    <m:sSup>
                      <m:sSupPr>
                        <m:ctrlPr>
                          <a:rPr lang="it-IT" i="1">
                            <a:latin typeface="Cambria Math" panose="02040503050406030204" pitchFamily="18" charset="0"/>
                          </a:rPr>
                        </m:ctrlPr>
                      </m:sSupPr>
                      <m:e>
                        <m:r>
                          <m:rPr>
                            <m:sty m:val="p"/>
                          </m:rPr>
                          <a:rPr lang="it-IT" i="0" smtClean="0">
                            <a:latin typeface="Cambria Math" panose="02040503050406030204" pitchFamily="18" charset="0"/>
                          </a:rPr>
                          <m:t>R</m:t>
                        </m:r>
                      </m:e>
                      <m:sup>
                        <m:r>
                          <a:rPr lang="it-IT" i="0" smtClean="0">
                            <a:latin typeface="Cambria Math" panose="02040503050406030204" pitchFamily="18" charset="0"/>
                          </a:rPr>
                          <m:t>2</m:t>
                        </m:r>
                      </m:sup>
                    </m:sSup>
                  </m:oMath>
                </a14:m>
                <a:r>
                  <a:rPr lang="it-IT" dirty="0">
                    <a:latin typeface="Aptos Display"/>
                  </a:rPr>
                  <a:t> = 0.23</a:t>
                </a:r>
              </a:p>
              <a:p>
                <a:pPr lvl="1">
                  <a:lnSpc>
                    <a:spcPct val="100000"/>
                  </a:lnSpc>
                </a:pPr>
                <a:r>
                  <a:rPr lang="it-IT" dirty="0">
                    <a:latin typeface="Aptos Display"/>
                  </a:rPr>
                  <a:t>RMSE = 47.49</a:t>
                </a:r>
              </a:p>
              <a:p>
                <a:pPr lvl="1">
                  <a:lnSpc>
                    <a:spcPct val="100000"/>
                  </a:lnSpc>
                </a:pPr>
                <a:r>
                  <a:rPr lang="it-IT" dirty="0">
                    <a:latin typeface="Aptos Display"/>
                  </a:rPr>
                  <a:t>MAE = 29.18</a:t>
                </a:r>
              </a:p>
              <a:p>
                <a:pPr>
                  <a:lnSpc>
                    <a:spcPct val="100000"/>
                  </a:lnSpc>
                </a:pPr>
                <a:r>
                  <a:rPr lang="it-IT" sz="2000" dirty="0">
                    <a:latin typeface="Aptos Display"/>
                  </a:rPr>
                  <a:t>MERF (effetto gerarchico sul Brand):</a:t>
                </a: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m:rPr>
                            <m:sty m:val="p"/>
                          </m:rPr>
                          <a:rPr lang="it-IT" i="0" smtClean="0">
                            <a:latin typeface="Cambria Math" panose="02040503050406030204" pitchFamily="18" charset="0"/>
                          </a:rPr>
                          <m:t>R</m:t>
                        </m:r>
                      </m:e>
                      <m:sup>
                        <m:r>
                          <a:rPr lang="it-IT" i="0" smtClean="0">
                            <a:latin typeface="Cambria Math" panose="02040503050406030204" pitchFamily="18" charset="0"/>
                          </a:rPr>
                          <m:t>2</m:t>
                        </m:r>
                      </m:sup>
                    </m:sSup>
                  </m:oMath>
                </a14:m>
                <a:r>
                  <a:rPr lang="it-IT" dirty="0">
                    <a:latin typeface="Aptos Display"/>
                  </a:rPr>
                  <a:t> = 0.29</a:t>
                </a:r>
              </a:p>
              <a:p>
                <a:pPr lvl="1">
                  <a:lnSpc>
                    <a:spcPct val="100000"/>
                  </a:lnSpc>
                </a:pPr>
                <a:r>
                  <a:rPr lang="it-IT" dirty="0">
                    <a:latin typeface="Aptos Display"/>
                  </a:rPr>
                  <a:t>RMSE = 45.45</a:t>
                </a:r>
              </a:p>
              <a:p>
                <a:pPr lvl="1">
                  <a:lnSpc>
                    <a:spcPct val="100000"/>
                  </a:lnSpc>
                </a:pPr>
                <a:r>
                  <a:rPr lang="it-IT" dirty="0">
                    <a:latin typeface="Aptos Display"/>
                  </a:rPr>
                  <a:t>MAE = 28.95</a:t>
                </a:r>
              </a:p>
              <a:p>
                <a:pPr lvl="1">
                  <a:lnSpc>
                    <a:spcPct val="100000"/>
                  </a:lnSpc>
                </a:pPr>
                <a:endParaRPr lang="it-IT" dirty="0">
                  <a:latin typeface="Aptos Display"/>
                </a:endParaRPr>
              </a:p>
              <a:p>
                <a:pPr lvl="1">
                  <a:lnSpc>
                    <a:spcPct val="100000"/>
                  </a:lnSpc>
                </a:pPr>
                <a:endParaRPr lang="it-IT" dirty="0">
                  <a:latin typeface="Aptos Display"/>
                </a:endParaRPr>
              </a:p>
            </p:txBody>
          </p:sp>
        </mc:Choice>
        <mc:Fallback xmlns="">
          <p:sp>
            <p:nvSpPr>
              <p:cNvPr id="3" name="Segnaposto contenuto 2">
                <a:extLst>
                  <a:ext uri="{FF2B5EF4-FFF2-40B4-BE49-F238E27FC236}">
                    <a16:creationId xmlns:a16="http://schemas.microsoft.com/office/drawing/2014/main" id="{A94C499B-B73A-36EC-FB12-7BDC3908784E}"/>
                  </a:ext>
                </a:extLst>
              </p:cNvPr>
              <p:cNvSpPr>
                <a:spLocks noGrp="1" noRot="1" noChangeAspect="1" noMove="1" noResize="1" noEditPoints="1" noAdjustHandles="1" noChangeArrowheads="1" noChangeShapeType="1" noTextEdit="1"/>
              </p:cNvSpPr>
              <p:nvPr>
                <p:ph idx="1"/>
              </p:nvPr>
            </p:nvSpPr>
            <p:spPr>
              <a:xfrm>
                <a:off x="838200" y="1987735"/>
                <a:ext cx="5257800" cy="4607029"/>
              </a:xfrm>
              <a:blipFill>
                <a:blip r:embed="rId3"/>
                <a:stretch>
                  <a:fillRect l="-1624" t="-1058"/>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18DFA0B4-A314-21C1-2131-385E2C1DA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15"/>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15</a:t>
            </a:r>
          </a:p>
        </p:txBody>
      </p:sp>
    </p:spTree>
    <p:extLst>
      <p:ext uri="{BB962C8B-B14F-4D97-AF65-F5344CB8AC3E}">
        <p14:creationId xmlns:p14="http://schemas.microsoft.com/office/powerpoint/2010/main" val="246312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B66F-5117-88FF-C4BD-60F8E8492987}"/>
            </a:ext>
          </a:extLst>
        </p:cNvPr>
        <p:cNvGrpSpPr/>
        <p:nvPr/>
      </p:nvGrpSpPr>
      <p:grpSpPr>
        <a:xfrm>
          <a:off x="0" y="0"/>
          <a:ext cx="0" cy="0"/>
          <a:chOff x="0" y="0"/>
          <a:chExt cx="0" cy="0"/>
        </a:xfrm>
      </p:grpSpPr>
      <p:pic>
        <p:nvPicPr>
          <p:cNvPr id="10" name="Immagine 9">
            <a:extLst>
              <a:ext uri="{FF2B5EF4-FFF2-40B4-BE49-F238E27FC236}">
                <a16:creationId xmlns:a16="http://schemas.microsoft.com/office/drawing/2014/main" id="{B156241B-0E70-CEE4-EB7D-B1240D592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1468" y="1750538"/>
            <a:ext cx="7178144" cy="4965803"/>
          </a:xfrm>
          <a:prstGeom prst="rect">
            <a:avLst/>
          </a:prstGeom>
        </p:spPr>
      </p:pic>
      <p:sp>
        <p:nvSpPr>
          <p:cNvPr id="4" name="Rettangolo 3">
            <a:extLst>
              <a:ext uri="{FF2B5EF4-FFF2-40B4-BE49-F238E27FC236}">
                <a16:creationId xmlns:a16="http://schemas.microsoft.com/office/drawing/2014/main" id="{9CABDBA3-0D69-BFC4-D765-33C5371EDC90}"/>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CBA27967-28B7-4265-625B-86D7645F295F}"/>
              </a:ext>
            </a:extLst>
          </p:cNvPr>
          <p:cNvSpPr>
            <a:spLocks noGrp="1"/>
          </p:cNvSpPr>
          <p:nvPr>
            <p:ph type="title"/>
          </p:nvPr>
        </p:nvSpPr>
        <p:spPr>
          <a:xfrm>
            <a:off x="838200" y="141658"/>
            <a:ext cx="10515600" cy="1325563"/>
          </a:xfrm>
        </p:spPr>
        <p:txBody>
          <a:bodyPr/>
          <a:lstStyle/>
          <a:p>
            <a:r>
              <a:rPr lang="it-IT" dirty="0" err="1">
                <a:solidFill>
                  <a:schemeClr val="bg1"/>
                </a:solidFill>
              </a:rPr>
              <a:t>Gradient</a:t>
            </a:r>
            <a:r>
              <a:rPr lang="it-IT" dirty="0">
                <a:solidFill>
                  <a:schemeClr val="bg1"/>
                </a:solidFill>
              </a:rPr>
              <a:t> </a:t>
            </a:r>
            <a:r>
              <a:rPr lang="it-IT" dirty="0" err="1">
                <a:solidFill>
                  <a:schemeClr val="bg1"/>
                </a:solidFill>
              </a:rPr>
              <a:t>Boosting</a:t>
            </a:r>
            <a:r>
              <a:rPr lang="it-IT" dirty="0">
                <a:solidFill>
                  <a:schemeClr val="bg1"/>
                </a:solidFill>
              </a:rPr>
              <a:t> 1/2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FDBF15E4-0334-9714-BF80-8B8711C6910A}"/>
                  </a:ext>
                </a:extLst>
              </p:cNvPr>
              <p:cNvSpPr>
                <a:spLocks noGrp="1"/>
              </p:cNvSpPr>
              <p:nvPr>
                <p:ph idx="1"/>
              </p:nvPr>
            </p:nvSpPr>
            <p:spPr>
              <a:xfrm>
                <a:off x="838199" y="2389517"/>
                <a:ext cx="9843655" cy="3984215"/>
              </a:xfrm>
            </p:spPr>
            <p:txBody>
              <a:bodyPr>
                <a:normAutofit/>
              </a:bodyPr>
              <a:lstStyle/>
              <a:p>
                <a:pPr>
                  <a:lnSpc>
                    <a:spcPct val="100000"/>
                  </a:lnSpc>
                </a:pPr>
                <a:r>
                  <a:rPr lang="it-IT" sz="2000" dirty="0">
                    <a:latin typeface="Aptos Display"/>
                  </a:rPr>
                  <a:t>Tuning con l’errore di cv:</a:t>
                </a:r>
              </a:p>
              <a:p>
                <a:pPr lvl="1">
                  <a:lnSpc>
                    <a:spcPct val="100000"/>
                  </a:lnSpc>
                </a:pPr>
                <a:r>
                  <a:rPr lang="it-IT" dirty="0">
                    <a:latin typeface="Aptos Display"/>
                  </a:rPr>
                  <a:t>Profondità = 31</a:t>
                </a:r>
              </a:p>
              <a:p>
                <a:pPr lvl="1">
                  <a:lnSpc>
                    <a:spcPct val="100000"/>
                  </a:lnSpc>
                </a:pPr>
                <a:r>
                  <a:rPr lang="it-IT" dirty="0" err="1">
                    <a:latin typeface="Aptos Display"/>
                  </a:rPr>
                  <a:t>Shrinkage</a:t>
                </a:r>
                <a:r>
                  <a:rPr lang="it-IT" dirty="0">
                    <a:latin typeface="Aptos Display"/>
                  </a:rPr>
                  <a:t> = 0.05</a:t>
                </a:r>
              </a:p>
              <a:p>
                <a:pPr>
                  <a:lnSpc>
                    <a:spcPct val="100000"/>
                  </a:lnSpc>
                </a:pPr>
                <a14:m>
                  <m:oMath xmlns:m="http://schemas.openxmlformats.org/officeDocument/2006/math">
                    <m:sSup>
                      <m:sSupPr>
                        <m:ctrlPr>
                          <a:rPr lang="it-IT" sz="2000" i="1" smtClean="0">
                            <a:latin typeface="Cambria Math" panose="02040503050406030204" pitchFamily="18" charset="0"/>
                          </a:rPr>
                        </m:ctrlPr>
                      </m:sSupPr>
                      <m:e>
                        <m:r>
                          <m:rPr>
                            <m:sty m:val="p"/>
                          </m:rPr>
                          <a:rPr lang="it-IT" sz="2000" b="0" i="0" smtClean="0">
                            <a:latin typeface="Cambria Math" panose="02040503050406030204" pitchFamily="18" charset="0"/>
                          </a:rPr>
                          <m:t>R</m:t>
                        </m:r>
                      </m:e>
                      <m:sup>
                        <m:r>
                          <a:rPr lang="it-IT" sz="2000" b="0" i="0" smtClean="0">
                            <a:latin typeface="Cambria Math" panose="02040503050406030204" pitchFamily="18" charset="0"/>
                          </a:rPr>
                          <m:t>2</m:t>
                        </m:r>
                      </m:sup>
                    </m:sSup>
                  </m:oMath>
                </a14:m>
                <a:r>
                  <a:rPr lang="it-IT" sz="2000" dirty="0">
                    <a:latin typeface="Aptos Display"/>
                  </a:rPr>
                  <a:t> = 0.20</a:t>
                </a:r>
              </a:p>
              <a:p>
                <a:pPr>
                  <a:lnSpc>
                    <a:spcPct val="100000"/>
                  </a:lnSpc>
                </a:pPr>
                <a:r>
                  <a:rPr lang="it-IT" sz="2000" dirty="0">
                    <a:latin typeface="Aptos Display"/>
                  </a:rPr>
                  <a:t>RMSE = 48.29</a:t>
                </a:r>
              </a:p>
              <a:p>
                <a:pPr>
                  <a:lnSpc>
                    <a:spcPct val="100000"/>
                  </a:lnSpc>
                </a:pPr>
                <a:r>
                  <a:rPr lang="it-IT" sz="2000" dirty="0">
                    <a:latin typeface="Aptos Display"/>
                  </a:rPr>
                  <a:t>MAE = 31.56</a:t>
                </a:r>
              </a:p>
              <a:p>
                <a:pPr>
                  <a:lnSpc>
                    <a:spcPct val="100000"/>
                  </a:lnSpc>
                </a:pPr>
                <a:endParaRPr lang="it-IT" sz="2400" dirty="0">
                  <a:latin typeface="Aptos Display"/>
                </a:endParaRPr>
              </a:p>
            </p:txBody>
          </p:sp>
        </mc:Choice>
        <mc:Fallback xmlns="">
          <p:sp>
            <p:nvSpPr>
              <p:cNvPr id="3" name="Segnaposto contenuto 2">
                <a:extLst>
                  <a:ext uri="{FF2B5EF4-FFF2-40B4-BE49-F238E27FC236}">
                    <a16:creationId xmlns:a16="http://schemas.microsoft.com/office/drawing/2014/main" id="{FDBF15E4-0334-9714-BF80-8B8711C6910A}"/>
                  </a:ext>
                </a:extLst>
              </p:cNvPr>
              <p:cNvSpPr>
                <a:spLocks noGrp="1" noRot="1" noChangeAspect="1" noMove="1" noResize="1" noEditPoints="1" noAdjustHandles="1" noChangeArrowheads="1" noChangeShapeType="1" noTextEdit="1"/>
              </p:cNvSpPr>
              <p:nvPr>
                <p:ph idx="1"/>
              </p:nvPr>
            </p:nvSpPr>
            <p:spPr>
              <a:xfrm>
                <a:off x="838199" y="2389517"/>
                <a:ext cx="9843655" cy="3984215"/>
              </a:xfrm>
              <a:blipFill>
                <a:blip r:embed="rId3"/>
                <a:stretch>
                  <a:fillRect l="-805" t="-1223"/>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D81D1D3B-89FD-210D-DFDA-A9772F393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16"/>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16</a:t>
            </a:r>
          </a:p>
        </p:txBody>
      </p:sp>
    </p:spTree>
    <p:extLst>
      <p:ext uri="{BB962C8B-B14F-4D97-AF65-F5344CB8AC3E}">
        <p14:creationId xmlns:p14="http://schemas.microsoft.com/office/powerpoint/2010/main" val="150685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7BEC-989B-1034-4EB4-1D990770ECB8}"/>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5C189E85-439A-44A6-5A50-73B2E5D69B39}"/>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78C2402E-0E97-981D-E679-2E3D2D2A7235}"/>
              </a:ext>
            </a:extLst>
          </p:cNvPr>
          <p:cNvSpPr>
            <a:spLocks noGrp="1"/>
          </p:cNvSpPr>
          <p:nvPr>
            <p:ph type="title"/>
          </p:nvPr>
        </p:nvSpPr>
        <p:spPr>
          <a:xfrm>
            <a:off x="838200" y="141658"/>
            <a:ext cx="10515600" cy="1325563"/>
          </a:xfrm>
        </p:spPr>
        <p:txBody>
          <a:bodyPr/>
          <a:lstStyle/>
          <a:p>
            <a:r>
              <a:rPr lang="it-IT" dirty="0" err="1">
                <a:solidFill>
                  <a:schemeClr val="bg1"/>
                </a:solidFill>
              </a:rPr>
              <a:t>Gradient</a:t>
            </a:r>
            <a:r>
              <a:rPr lang="it-IT" dirty="0">
                <a:solidFill>
                  <a:schemeClr val="bg1"/>
                </a:solidFill>
              </a:rPr>
              <a:t> </a:t>
            </a:r>
            <a:r>
              <a:rPr lang="it-IT" dirty="0" err="1">
                <a:solidFill>
                  <a:schemeClr val="bg1"/>
                </a:solidFill>
              </a:rPr>
              <a:t>Boosting</a:t>
            </a:r>
            <a:r>
              <a:rPr lang="it-IT" dirty="0">
                <a:solidFill>
                  <a:schemeClr val="bg1"/>
                </a:solidFill>
              </a:rPr>
              <a:t> 2/2</a:t>
            </a:r>
          </a:p>
        </p:txBody>
      </p:sp>
      <p:sp>
        <p:nvSpPr>
          <p:cNvPr id="3" name="Segnaposto contenuto 2">
            <a:extLst>
              <a:ext uri="{FF2B5EF4-FFF2-40B4-BE49-F238E27FC236}">
                <a16:creationId xmlns:a16="http://schemas.microsoft.com/office/drawing/2014/main" id="{320991E5-1163-8F8D-60A7-99ED0D741B24}"/>
              </a:ext>
            </a:extLst>
          </p:cNvPr>
          <p:cNvSpPr>
            <a:spLocks noGrp="1"/>
          </p:cNvSpPr>
          <p:nvPr>
            <p:ph idx="1"/>
          </p:nvPr>
        </p:nvSpPr>
        <p:spPr>
          <a:xfrm>
            <a:off x="838200" y="1750539"/>
            <a:ext cx="9843655" cy="3984215"/>
          </a:xfrm>
        </p:spPr>
        <p:txBody>
          <a:bodyPr>
            <a:normAutofit/>
          </a:bodyPr>
          <a:lstStyle/>
          <a:p>
            <a:pPr>
              <a:lnSpc>
                <a:spcPct val="100000"/>
              </a:lnSpc>
            </a:pPr>
            <a:r>
              <a:rPr lang="it-IT" sz="2000" dirty="0">
                <a:latin typeface="Aptos Display"/>
              </a:rPr>
              <a:t>Interpretazione con i </a:t>
            </a:r>
            <a:r>
              <a:rPr lang="it-IT" sz="2000" dirty="0" err="1">
                <a:latin typeface="Aptos Display"/>
              </a:rPr>
              <a:t>partial</a:t>
            </a:r>
            <a:r>
              <a:rPr lang="it-IT" sz="2000" dirty="0">
                <a:latin typeface="Aptos Display"/>
              </a:rPr>
              <a:t> </a:t>
            </a:r>
            <a:r>
              <a:rPr lang="it-IT" sz="2000" dirty="0" err="1">
                <a:latin typeface="Aptos Display"/>
              </a:rPr>
              <a:t>dependence</a:t>
            </a:r>
            <a:r>
              <a:rPr lang="it-IT" sz="2000" dirty="0">
                <a:latin typeface="Aptos Display"/>
              </a:rPr>
              <a:t> plot</a:t>
            </a:r>
          </a:p>
        </p:txBody>
      </p:sp>
      <p:pic>
        <p:nvPicPr>
          <p:cNvPr id="6" name="Picture 5">
            <a:extLst>
              <a:ext uri="{FF2B5EF4-FFF2-40B4-BE49-F238E27FC236}">
                <a16:creationId xmlns:a16="http://schemas.microsoft.com/office/drawing/2014/main" id="{639E8EAE-261E-24DD-DE31-2F31FB87FB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pic>
        <p:nvPicPr>
          <p:cNvPr id="9" name="Immagine 8">
            <a:extLst>
              <a:ext uri="{FF2B5EF4-FFF2-40B4-BE49-F238E27FC236}">
                <a16:creationId xmlns:a16="http://schemas.microsoft.com/office/drawing/2014/main" id="{F2F9C3EA-43C5-BA08-2792-36F2C8CC2E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89" y="2285991"/>
            <a:ext cx="10972822" cy="4572009"/>
          </a:xfrm>
          <a:prstGeom prst="rect">
            <a:avLst/>
          </a:prstGeom>
        </p:spPr>
      </p:pic>
      <p:sp>
        <p:nvSpPr>
          <p:cNvPr id="999" name="PageNum17"/>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17</a:t>
            </a:r>
          </a:p>
        </p:txBody>
      </p:sp>
    </p:spTree>
    <p:extLst>
      <p:ext uri="{BB962C8B-B14F-4D97-AF65-F5344CB8AC3E}">
        <p14:creationId xmlns:p14="http://schemas.microsoft.com/office/powerpoint/2010/main" val="3055650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pd_logo.png"/>
          <p:cNvPicPr>
            <a:picLocks noChangeAspect="1"/>
          </p:cNvPicPr>
          <p:nvPr/>
        </p:nvPicPr>
        <p:blipFill>
          <a:blip r:embed="rId2"/>
          <a:stretch>
            <a:fillRect/>
          </a:stretch>
        </p:blipFill>
        <p:spPr>
          <a:xfrm>
            <a:off x="457200" y="274320"/>
            <a:ext cx="2286000" cy="1005840"/>
          </a:xfrm>
          <a:prstGeom prst="rect">
            <a:avLst/>
          </a:prstGeom>
        </p:spPr>
      </p:pic>
      <p:sp>
        <p:nvSpPr>
          <p:cNvPr id="4" name="TextBox 3"/>
          <p:cNvSpPr txBox="1"/>
          <p:nvPr/>
        </p:nvSpPr>
        <p:spPr>
          <a:xfrm>
            <a:off x="4191197" y="2011680"/>
            <a:ext cx="3504806" cy="338554"/>
          </a:xfrm>
          <a:prstGeom prst="rect">
            <a:avLst/>
          </a:prstGeom>
          <a:noFill/>
        </p:spPr>
        <p:txBody>
          <a:bodyPr wrap="none">
            <a:spAutoFit/>
          </a:bodyPr>
          <a:lstStyle/>
          <a:p>
            <a:pPr algn="ctr"/>
            <a:r>
              <a:rPr sz="2000" dirty="0">
                <a:solidFill>
                  <a:srgbClr val="FFCCCC"/>
                </a:solidFill>
                <a:latin typeface="Aptos Display"/>
              </a:rPr>
              <a:t>ANALISI DEI DATI AZIENDALI</a:t>
            </a:r>
            <a:r>
              <a:rPr lang="it-IT" sz="2000" dirty="0">
                <a:solidFill>
                  <a:srgbClr val="FFCCCC"/>
                </a:solidFill>
                <a:latin typeface="Aptos Display"/>
              </a:rPr>
              <a:t>:</a:t>
            </a:r>
            <a:r>
              <a:rPr sz="2000" dirty="0">
                <a:solidFill>
                  <a:srgbClr val="FFCCCC"/>
                </a:solidFill>
                <a:latin typeface="Aptos Display"/>
              </a:rPr>
              <a:t> VINTED.IT</a:t>
            </a:r>
          </a:p>
        </p:txBody>
      </p:sp>
      <p:sp>
        <p:nvSpPr>
          <p:cNvPr id="5" name="TextBox 4"/>
          <p:cNvSpPr txBox="1"/>
          <p:nvPr/>
        </p:nvSpPr>
        <p:spPr>
          <a:xfrm>
            <a:off x="914400" y="2651760"/>
            <a:ext cx="10058400" cy="1015663"/>
          </a:xfrm>
          <a:prstGeom prst="rect">
            <a:avLst/>
          </a:prstGeom>
          <a:noFill/>
        </p:spPr>
        <p:txBody>
          <a:bodyPr wrap="square">
            <a:spAutoFit/>
          </a:bodyPr>
          <a:lstStyle/>
          <a:p>
            <a:pPr algn="ctr"/>
            <a:r>
              <a:rPr sz="6000" b="0" i="1" dirty="0" err="1">
                <a:solidFill>
                  <a:srgbClr val="FFFFFF"/>
                </a:solidFill>
                <a:latin typeface="Aptos Display"/>
              </a:rPr>
              <a:t>Regressione</a:t>
            </a:r>
            <a:r>
              <a:rPr sz="6000" b="0" i="1" dirty="0">
                <a:solidFill>
                  <a:srgbClr val="FFFFFF"/>
                </a:solidFill>
                <a:latin typeface="Aptos Display"/>
              </a:rPr>
              <a:t> </a:t>
            </a:r>
            <a:r>
              <a:rPr sz="6000" b="0" i="1" dirty="0" err="1">
                <a:solidFill>
                  <a:srgbClr val="FFFFFF"/>
                </a:solidFill>
                <a:latin typeface="Aptos Display"/>
              </a:rPr>
              <a:t>sul</a:t>
            </a:r>
            <a:r>
              <a:rPr sz="6000" b="0" i="1" dirty="0">
                <a:solidFill>
                  <a:srgbClr val="FFFFFF"/>
                </a:solidFill>
                <a:latin typeface="Aptos Display"/>
              </a:rPr>
              <a:t> N° di </a:t>
            </a:r>
            <a:r>
              <a:rPr lang="it-IT" sz="6000" b="0" i="1" dirty="0">
                <a:solidFill>
                  <a:srgbClr val="FFFFFF"/>
                </a:solidFill>
                <a:latin typeface="Aptos Display"/>
              </a:rPr>
              <a:t>Favoriti</a:t>
            </a:r>
            <a:endParaRPr sz="6000" b="0" i="1" dirty="0">
              <a:solidFill>
                <a:srgbClr val="FFFFFF"/>
              </a:solidFill>
              <a:latin typeface="Aptos Display"/>
            </a:endParaRPr>
          </a:p>
        </p:txBody>
      </p:sp>
      <p:sp>
        <p:nvSpPr>
          <p:cNvPr id="6" name="TextBox 5"/>
          <p:cNvSpPr txBox="1"/>
          <p:nvPr/>
        </p:nvSpPr>
        <p:spPr>
          <a:xfrm>
            <a:off x="2860353" y="4114800"/>
            <a:ext cx="6166496" cy="461665"/>
          </a:xfrm>
          <a:prstGeom prst="rect">
            <a:avLst/>
          </a:prstGeom>
          <a:noFill/>
        </p:spPr>
        <p:txBody>
          <a:bodyPr wrap="none">
            <a:spAutoFit/>
          </a:bodyPr>
          <a:lstStyle/>
          <a:p>
            <a:pPr algn="ctr"/>
            <a:r>
              <a:rPr lang="it-IT" sz="2400" i="1" dirty="0">
                <a:solidFill>
                  <a:srgbClr val="FFCCCC"/>
                </a:solidFill>
                <a:latin typeface="Aptos Display"/>
              </a:rPr>
              <a:t>MLR </a:t>
            </a:r>
            <a:r>
              <a:rPr sz="2400" i="1" dirty="0">
                <a:solidFill>
                  <a:srgbClr val="FFCCCC"/>
                </a:solidFill>
                <a:latin typeface="Aptos Display"/>
              </a:rPr>
              <a:t>log1p · Negative Binomial · Zero-Inflated NB</a:t>
            </a:r>
          </a:p>
        </p:txBody>
      </p:sp>
      <p:sp>
        <p:nvSpPr>
          <p:cNvPr id="999" name="PageNum18"/>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9C16-28BE-B1BB-B9AB-6AB1E14376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1D5C93-3767-219F-D315-8B716971CB28}"/>
              </a:ext>
            </a:extLst>
          </p:cNvPr>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43C6800-2DE7-D964-8BEE-D77FCFC1B311}"/>
              </a:ext>
            </a:extLst>
          </p:cNvPr>
          <p:cNvSpPr txBox="1"/>
          <p:nvPr/>
        </p:nvSpPr>
        <p:spPr>
          <a:xfrm>
            <a:off x="251460" y="573839"/>
            <a:ext cx="8046720" cy="584775"/>
          </a:xfrm>
          <a:prstGeom prst="rect">
            <a:avLst/>
          </a:prstGeom>
          <a:noFill/>
        </p:spPr>
        <p:txBody>
          <a:bodyPr wrap="square">
            <a:spAutoFit/>
          </a:bodyPr>
          <a:lstStyle/>
          <a:p>
            <a:pPr algn="l"/>
            <a:r>
              <a:rPr sz="3200" b="0" dirty="0" err="1">
                <a:solidFill>
                  <a:srgbClr val="FFFFFF"/>
                </a:solidFill>
                <a:latin typeface="Aptos Display"/>
              </a:rPr>
              <a:t>Regressione</a:t>
            </a:r>
            <a:r>
              <a:rPr sz="3200" b="0" dirty="0">
                <a:solidFill>
                  <a:srgbClr val="FFFFFF"/>
                </a:solidFill>
                <a:latin typeface="Aptos Display"/>
              </a:rPr>
              <a:t> </a:t>
            </a:r>
            <a:r>
              <a:rPr sz="3200" b="0" dirty="0" err="1">
                <a:solidFill>
                  <a:srgbClr val="FFFFFF"/>
                </a:solidFill>
                <a:latin typeface="Aptos Display"/>
              </a:rPr>
              <a:t>sul</a:t>
            </a:r>
            <a:r>
              <a:rPr lang="it-IT" sz="3200" b="0" dirty="0">
                <a:solidFill>
                  <a:srgbClr val="FFFFFF"/>
                </a:solidFill>
                <a:latin typeface="Aptos Display"/>
              </a:rPr>
              <a:t> N° di Preferiti</a:t>
            </a:r>
            <a:endParaRPr sz="3200" b="0" dirty="0">
              <a:solidFill>
                <a:srgbClr val="FFFFFF"/>
              </a:solidFill>
              <a:latin typeface="Aptos Display"/>
            </a:endParaRPr>
          </a:p>
        </p:txBody>
      </p:sp>
      <p:pic>
        <p:nvPicPr>
          <p:cNvPr id="4" name="Picture 3" descr="unipd_logo.png">
            <a:extLst>
              <a:ext uri="{FF2B5EF4-FFF2-40B4-BE49-F238E27FC236}">
                <a16:creationId xmlns:a16="http://schemas.microsoft.com/office/drawing/2014/main" id="{A78DF4BD-8E5C-FF54-5190-A01D1B528637}"/>
              </a:ext>
            </a:extLst>
          </p:cNvPr>
          <p:cNvPicPr>
            <a:picLocks noChangeAspect="1"/>
          </p:cNvPicPr>
          <p:nvPr/>
        </p:nvPicPr>
        <p:blipFill>
          <a:blip r:embed="rId2"/>
          <a:stretch>
            <a:fillRect/>
          </a:stretch>
        </p:blipFill>
        <p:spPr>
          <a:xfrm>
            <a:off x="8549640" y="164592"/>
            <a:ext cx="2651760" cy="1188720"/>
          </a:xfrm>
          <a:prstGeom prst="rect">
            <a:avLst/>
          </a:prstGeom>
        </p:spPr>
      </p:pic>
      <p:sp>
        <p:nvSpPr>
          <p:cNvPr id="6" name="Rectangle 5">
            <a:extLst>
              <a:ext uri="{FF2B5EF4-FFF2-40B4-BE49-F238E27FC236}">
                <a16:creationId xmlns:a16="http://schemas.microsoft.com/office/drawing/2014/main" id="{E2719562-8655-BB4F-17C6-9E27219E674D}"/>
              </a:ext>
            </a:extLst>
          </p:cNvPr>
          <p:cNvSpPr/>
          <p:nvPr/>
        </p:nvSpPr>
        <p:spPr>
          <a:xfrm>
            <a:off x="1173480" y="3232312"/>
            <a:ext cx="10027920" cy="19752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04CA0975-8041-B3CC-420A-58DA0ACBCC3E}"/>
              </a:ext>
            </a:extLst>
          </p:cNvPr>
          <p:cNvSpPr txBox="1"/>
          <p:nvPr/>
        </p:nvSpPr>
        <p:spPr>
          <a:xfrm>
            <a:off x="1173480" y="3429000"/>
            <a:ext cx="5552376" cy="400110"/>
          </a:xfrm>
          <a:prstGeom prst="rect">
            <a:avLst/>
          </a:prstGeom>
          <a:noFill/>
        </p:spPr>
        <p:txBody>
          <a:bodyPr wrap="square">
            <a:spAutoFit/>
          </a:bodyPr>
          <a:lstStyle/>
          <a:p>
            <a:r>
              <a:rPr sz="2000" b="1" dirty="0">
                <a:solidFill>
                  <a:srgbClr val="B20E10"/>
                </a:solidFill>
                <a:latin typeface="Aptos Display"/>
              </a:rPr>
              <a:t>D</a:t>
            </a:r>
            <a:r>
              <a:rPr lang="it-IT" sz="2000" b="1" dirty="0" err="1">
                <a:solidFill>
                  <a:srgbClr val="B20E10"/>
                </a:solidFill>
                <a:latin typeface="Aptos Display"/>
              </a:rPr>
              <a:t>omande</a:t>
            </a:r>
            <a:r>
              <a:rPr lang="it-IT" sz="2000" b="1" dirty="0">
                <a:solidFill>
                  <a:srgbClr val="B20E10"/>
                </a:solidFill>
                <a:latin typeface="Aptos Display"/>
              </a:rPr>
              <a:t> di ricerca</a:t>
            </a:r>
            <a:endParaRPr sz="2800" b="1" dirty="0">
              <a:solidFill>
                <a:srgbClr val="B20E10"/>
              </a:solidFill>
              <a:latin typeface="Aptos Display"/>
            </a:endParaRPr>
          </a:p>
        </p:txBody>
      </p:sp>
      <p:sp>
        <p:nvSpPr>
          <p:cNvPr id="8" name="TextBox 7">
            <a:extLst>
              <a:ext uri="{FF2B5EF4-FFF2-40B4-BE49-F238E27FC236}">
                <a16:creationId xmlns:a16="http://schemas.microsoft.com/office/drawing/2014/main" id="{F596BEF2-5E4E-F7E4-2F7A-D05D2C526290}"/>
              </a:ext>
            </a:extLst>
          </p:cNvPr>
          <p:cNvSpPr txBox="1"/>
          <p:nvPr/>
        </p:nvSpPr>
        <p:spPr>
          <a:xfrm>
            <a:off x="1173480" y="3865979"/>
            <a:ext cx="9570720" cy="1323439"/>
          </a:xfrm>
          <a:prstGeom prst="rect">
            <a:avLst/>
          </a:prstGeom>
          <a:noFill/>
        </p:spPr>
        <p:txBody>
          <a:bodyPr wrap="square">
            <a:spAutoFit/>
          </a:bodyPr>
          <a:lstStyle/>
          <a:p>
            <a:r>
              <a:rPr lang="it-IT" sz="2000" b="1" dirty="0">
                <a:solidFill>
                  <a:srgbClr val="000000"/>
                </a:solidFill>
                <a:latin typeface="Aptos Display"/>
              </a:rPr>
              <a:t>Il numero di preferiti ricevuti da un annuncio su </a:t>
            </a:r>
            <a:r>
              <a:rPr lang="it-IT" sz="2000" b="1" dirty="0" err="1">
                <a:solidFill>
                  <a:srgbClr val="000000"/>
                </a:solidFill>
                <a:latin typeface="Aptos Display"/>
              </a:rPr>
              <a:t>Vinted</a:t>
            </a:r>
            <a:r>
              <a:rPr lang="it-IT" sz="2000" b="1" dirty="0">
                <a:solidFill>
                  <a:srgbClr val="000000"/>
                </a:solidFill>
                <a:latin typeface="Aptos Display"/>
              </a:rPr>
              <a:t> dipende dalle caratteristiche della scarpa? </a:t>
            </a:r>
          </a:p>
          <a:p>
            <a:endParaRPr lang="it-IT" sz="2000" b="1" dirty="0">
              <a:solidFill>
                <a:srgbClr val="000000"/>
              </a:solidFill>
              <a:latin typeface="Aptos Display"/>
            </a:endParaRPr>
          </a:p>
          <a:p>
            <a:r>
              <a:rPr lang="it-IT" sz="2000" b="1" dirty="0">
                <a:solidFill>
                  <a:srgbClr val="000000"/>
                </a:solidFill>
                <a:latin typeface="Aptos Display"/>
              </a:rPr>
              <a:t>Le stesse variabili spiegano anche quanto un annuncio viene messo sui preferiti? </a:t>
            </a:r>
          </a:p>
        </p:txBody>
      </p:sp>
      <p:sp>
        <p:nvSpPr>
          <p:cNvPr id="999" name="PageNum19"/>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19</a:t>
            </a:r>
          </a:p>
        </p:txBody>
      </p:sp>
    </p:spTree>
    <p:extLst>
      <p:ext uri="{BB962C8B-B14F-4D97-AF65-F5344CB8AC3E}">
        <p14:creationId xmlns:p14="http://schemas.microsoft.com/office/powerpoint/2010/main" val="3885533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3453"/>
            <a:ext cx="9235440" cy="954107"/>
          </a:xfrm>
          <a:prstGeom prst="rect">
            <a:avLst/>
          </a:prstGeom>
          <a:noFill/>
        </p:spPr>
        <p:txBody>
          <a:bodyPr wrap="square">
            <a:spAutoFit/>
          </a:bodyPr>
          <a:lstStyle/>
          <a:p>
            <a:pPr algn="l"/>
            <a:r>
              <a:rPr sz="2800" b="0" dirty="0" err="1">
                <a:solidFill>
                  <a:srgbClr val="FFFFFF"/>
                </a:solidFill>
                <a:latin typeface="Aptos Display"/>
              </a:rPr>
              <a:t>Regressione</a:t>
            </a:r>
            <a:r>
              <a:rPr sz="2800" b="0" dirty="0">
                <a:solidFill>
                  <a:srgbClr val="FFFFFF"/>
                </a:solidFill>
                <a:latin typeface="Aptos Display"/>
              </a:rPr>
              <a:t> </a:t>
            </a:r>
            <a:r>
              <a:rPr sz="2800" b="0" dirty="0" err="1">
                <a:solidFill>
                  <a:srgbClr val="FFFFFF"/>
                </a:solidFill>
                <a:latin typeface="Aptos Display"/>
              </a:rPr>
              <a:t>sul</a:t>
            </a:r>
            <a:r>
              <a:rPr sz="2800" b="0" dirty="0">
                <a:solidFill>
                  <a:srgbClr val="FFFFFF"/>
                </a:solidFill>
                <a:latin typeface="Aptos Display"/>
              </a:rPr>
              <a:t> N° di </a:t>
            </a:r>
            <a:r>
              <a:rPr sz="2800" b="0" dirty="0" err="1">
                <a:solidFill>
                  <a:srgbClr val="FFFFFF"/>
                </a:solidFill>
                <a:latin typeface="Aptos Display"/>
              </a:rPr>
              <a:t>Preferiti</a:t>
            </a:r>
            <a:endParaRPr sz="2800" b="0" dirty="0">
              <a:solidFill>
                <a:srgbClr val="FFFFFF"/>
              </a:solidFill>
              <a:latin typeface="Aptos Display"/>
            </a:endParaRPr>
          </a:p>
          <a:p>
            <a:pPr algn="l"/>
            <a:r>
              <a:rPr sz="2800" b="0" i="1" dirty="0">
                <a:solidFill>
                  <a:srgbClr val="FFFFFF"/>
                </a:solidFill>
                <a:latin typeface="Aptos Display"/>
              </a:rPr>
              <a:t>Distribuzione della </a:t>
            </a:r>
            <a:r>
              <a:rPr sz="2800" b="0" i="1" dirty="0" err="1">
                <a:solidFill>
                  <a:srgbClr val="FFFFFF"/>
                </a:solidFill>
                <a:latin typeface="Aptos Display"/>
              </a:rPr>
              <a:t>variabile</a:t>
            </a:r>
            <a:r>
              <a:rPr sz="2800" b="0" i="1" dirty="0">
                <a:solidFill>
                  <a:srgbClr val="FFFFFF"/>
                </a:solidFill>
                <a:latin typeface="Aptos Display"/>
              </a:rPr>
              <a:t> </a:t>
            </a:r>
            <a:r>
              <a:rPr sz="2800" b="0" i="1" dirty="0" err="1">
                <a:solidFill>
                  <a:srgbClr val="FFFFFF"/>
                </a:solidFill>
                <a:latin typeface="Aptos Display"/>
              </a:rPr>
              <a:t>risposta</a:t>
            </a:r>
            <a:r>
              <a:rPr lang="it-IT" sz="2800" b="0" i="1" dirty="0">
                <a:solidFill>
                  <a:srgbClr val="FFFFFF"/>
                </a:solidFill>
                <a:latin typeface="Aptos Display"/>
              </a:rPr>
              <a:t> </a:t>
            </a:r>
            <a:r>
              <a:rPr lang="it-IT" sz="2800" b="0" i="1" dirty="0" err="1">
                <a:solidFill>
                  <a:srgbClr val="FFFFFF"/>
                </a:solidFill>
                <a:latin typeface="Aptos Display"/>
              </a:rPr>
              <a:t>Favorites_count</a:t>
            </a:r>
            <a:endParaRPr sz="2800" b="0" i="1" dirty="0">
              <a:solidFill>
                <a:srgbClr val="FFFFFF"/>
              </a:solidFill>
              <a:latin typeface="Aptos Display"/>
            </a:endParaRPr>
          </a:p>
        </p:txBody>
      </p:sp>
      <p:pic>
        <p:nvPicPr>
          <p:cNvPr id="4" name="Picture 3" descr="unipd_logo.png"/>
          <p:cNvPicPr>
            <a:picLocks noChangeAspect="1"/>
          </p:cNvPicPr>
          <p:nvPr/>
        </p:nvPicPr>
        <p:blipFill>
          <a:blip r:embed="rId2"/>
          <a:stretch>
            <a:fillRect/>
          </a:stretch>
        </p:blipFill>
        <p:spPr>
          <a:xfrm>
            <a:off x="8434472" y="164592"/>
            <a:ext cx="2651760" cy="1188720"/>
          </a:xfrm>
          <a:prstGeom prst="rect">
            <a:avLst/>
          </a:prstGeom>
        </p:spPr>
      </p:pic>
      <p:sp>
        <p:nvSpPr>
          <p:cNvPr id="6" name="Rectangle 5"/>
          <p:cNvSpPr/>
          <p:nvPr/>
        </p:nvSpPr>
        <p:spPr>
          <a:xfrm>
            <a:off x="502920" y="2423160"/>
            <a:ext cx="1965960" cy="1280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96585" y="2514600"/>
            <a:ext cx="378629" cy="523220"/>
          </a:xfrm>
          <a:prstGeom prst="rect">
            <a:avLst/>
          </a:prstGeom>
          <a:noFill/>
        </p:spPr>
        <p:txBody>
          <a:bodyPr wrap="none">
            <a:spAutoFit/>
          </a:bodyPr>
          <a:lstStyle/>
          <a:p>
            <a:pPr algn="ctr"/>
            <a:r>
              <a:rPr sz="2800" b="1" dirty="0">
                <a:solidFill>
                  <a:srgbClr val="B20E10"/>
                </a:solidFill>
                <a:latin typeface="Aptos Display"/>
              </a:rPr>
              <a:t>8</a:t>
            </a:r>
          </a:p>
        </p:txBody>
      </p:sp>
      <p:sp>
        <p:nvSpPr>
          <p:cNvPr id="8" name="TextBox 7"/>
          <p:cNvSpPr txBox="1"/>
          <p:nvPr/>
        </p:nvSpPr>
        <p:spPr>
          <a:xfrm>
            <a:off x="948733" y="3200400"/>
            <a:ext cx="1074333" cy="400110"/>
          </a:xfrm>
          <a:prstGeom prst="rect">
            <a:avLst/>
          </a:prstGeom>
          <a:noFill/>
        </p:spPr>
        <p:txBody>
          <a:bodyPr wrap="none">
            <a:spAutoFit/>
          </a:bodyPr>
          <a:lstStyle/>
          <a:p>
            <a:pPr algn="ctr"/>
            <a:r>
              <a:rPr sz="2000" dirty="0">
                <a:latin typeface="Aptos Display"/>
              </a:rPr>
              <a:t>Mediana</a:t>
            </a:r>
          </a:p>
        </p:txBody>
      </p:sp>
      <p:sp>
        <p:nvSpPr>
          <p:cNvPr id="9" name="Rectangle 8"/>
          <p:cNvSpPr/>
          <p:nvPr/>
        </p:nvSpPr>
        <p:spPr>
          <a:xfrm>
            <a:off x="2606039" y="2423160"/>
            <a:ext cx="1965960" cy="1280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58452" y="2514600"/>
            <a:ext cx="861133" cy="523220"/>
          </a:xfrm>
          <a:prstGeom prst="rect">
            <a:avLst/>
          </a:prstGeom>
          <a:noFill/>
        </p:spPr>
        <p:txBody>
          <a:bodyPr wrap="none">
            <a:spAutoFit/>
          </a:bodyPr>
          <a:lstStyle/>
          <a:p>
            <a:pPr algn="ctr"/>
            <a:r>
              <a:rPr sz="2800" b="1" dirty="0">
                <a:solidFill>
                  <a:srgbClr val="B20E10"/>
                </a:solidFill>
                <a:latin typeface="Aptos Display"/>
              </a:rPr>
              <a:t>16.0</a:t>
            </a:r>
          </a:p>
        </p:txBody>
      </p:sp>
      <p:sp>
        <p:nvSpPr>
          <p:cNvPr id="11" name="TextBox 10"/>
          <p:cNvSpPr txBox="1"/>
          <p:nvPr/>
        </p:nvSpPr>
        <p:spPr>
          <a:xfrm>
            <a:off x="3179291" y="3200400"/>
            <a:ext cx="819455" cy="400110"/>
          </a:xfrm>
          <a:prstGeom prst="rect">
            <a:avLst/>
          </a:prstGeom>
          <a:noFill/>
        </p:spPr>
        <p:txBody>
          <a:bodyPr wrap="none">
            <a:spAutoFit/>
          </a:bodyPr>
          <a:lstStyle/>
          <a:p>
            <a:pPr algn="ctr"/>
            <a:r>
              <a:rPr sz="2000" dirty="0">
                <a:latin typeface="Aptos Display"/>
              </a:rPr>
              <a:t>Media</a:t>
            </a:r>
          </a:p>
        </p:txBody>
      </p:sp>
      <p:sp>
        <p:nvSpPr>
          <p:cNvPr id="12" name="Rectangle 11"/>
          <p:cNvSpPr/>
          <p:nvPr/>
        </p:nvSpPr>
        <p:spPr>
          <a:xfrm>
            <a:off x="4709159" y="2423160"/>
            <a:ext cx="1965960" cy="1280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8860" y="2514600"/>
            <a:ext cx="766557" cy="523220"/>
          </a:xfrm>
          <a:prstGeom prst="rect">
            <a:avLst/>
          </a:prstGeom>
          <a:noFill/>
        </p:spPr>
        <p:txBody>
          <a:bodyPr wrap="none">
            <a:spAutoFit/>
          </a:bodyPr>
          <a:lstStyle/>
          <a:p>
            <a:pPr algn="ctr"/>
            <a:r>
              <a:rPr sz="2800" b="1" dirty="0">
                <a:solidFill>
                  <a:srgbClr val="B20E10"/>
                </a:solidFill>
                <a:latin typeface="Aptos Display"/>
              </a:rPr>
              <a:t>486</a:t>
            </a:r>
          </a:p>
        </p:txBody>
      </p:sp>
      <p:sp>
        <p:nvSpPr>
          <p:cNvPr id="14" name="TextBox 13"/>
          <p:cNvSpPr txBox="1"/>
          <p:nvPr/>
        </p:nvSpPr>
        <p:spPr>
          <a:xfrm>
            <a:off x="5158980" y="3200400"/>
            <a:ext cx="1066318" cy="400110"/>
          </a:xfrm>
          <a:prstGeom prst="rect">
            <a:avLst/>
          </a:prstGeom>
          <a:noFill/>
        </p:spPr>
        <p:txBody>
          <a:bodyPr wrap="none">
            <a:spAutoFit/>
          </a:bodyPr>
          <a:lstStyle/>
          <a:p>
            <a:pPr algn="ctr"/>
            <a:r>
              <a:rPr sz="2000" dirty="0" err="1">
                <a:latin typeface="Aptos Display"/>
              </a:rPr>
              <a:t>Varianza</a:t>
            </a:r>
            <a:endParaRPr sz="2000" dirty="0">
              <a:latin typeface="Aptos Display"/>
            </a:endParaRPr>
          </a:p>
        </p:txBody>
      </p:sp>
      <p:sp>
        <p:nvSpPr>
          <p:cNvPr id="15" name="Rectangle 14"/>
          <p:cNvSpPr/>
          <p:nvPr/>
        </p:nvSpPr>
        <p:spPr>
          <a:xfrm>
            <a:off x="6812279" y="2423160"/>
            <a:ext cx="1965960" cy="1280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14010" y="2514600"/>
            <a:ext cx="1162498" cy="523220"/>
          </a:xfrm>
          <a:prstGeom prst="rect">
            <a:avLst/>
          </a:prstGeom>
          <a:noFill/>
        </p:spPr>
        <p:txBody>
          <a:bodyPr wrap="none">
            <a:spAutoFit/>
          </a:bodyPr>
          <a:lstStyle/>
          <a:p>
            <a:pPr algn="ctr"/>
            <a:r>
              <a:rPr sz="2800" b="1" dirty="0">
                <a:solidFill>
                  <a:srgbClr val="B20E10"/>
                </a:solidFill>
                <a:latin typeface="Aptos Display"/>
              </a:rPr>
              <a:t>11.9%</a:t>
            </a:r>
          </a:p>
        </p:txBody>
      </p:sp>
      <p:sp>
        <p:nvSpPr>
          <p:cNvPr id="17" name="TextBox 16"/>
          <p:cNvSpPr txBox="1"/>
          <p:nvPr/>
        </p:nvSpPr>
        <p:spPr>
          <a:xfrm>
            <a:off x="7389090" y="3200400"/>
            <a:ext cx="812337" cy="400110"/>
          </a:xfrm>
          <a:prstGeom prst="rect">
            <a:avLst/>
          </a:prstGeom>
          <a:noFill/>
        </p:spPr>
        <p:txBody>
          <a:bodyPr wrap="none">
            <a:spAutoFit/>
          </a:bodyPr>
          <a:lstStyle/>
          <a:p>
            <a:pPr algn="ctr"/>
            <a:r>
              <a:rPr sz="2000" dirty="0">
                <a:latin typeface="Aptos Display"/>
              </a:rPr>
              <a:t>% </a:t>
            </a:r>
            <a:r>
              <a:rPr sz="2000" dirty="0" err="1">
                <a:latin typeface="Aptos Display"/>
              </a:rPr>
              <a:t>zeri</a:t>
            </a:r>
            <a:endParaRPr sz="2000" dirty="0">
              <a:latin typeface="Aptos Display"/>
            </a:endParaRPr>
          </a:p>
        </p:txBody>
      </p:sp>
      <p:sp>
        <p:nvSpPr>
          <p:cNvPr id="18" name="Rectangle 17"/>
          <p:cNvSpPr/>
          <p:nvPr/>
        </p:nvSpPr>
        <p:spPr>
          <a:xfrm>
            <a:off x="8915400" y="2423160"/>
            <a:ext cx="1965960" cy="1280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9480637" y="2514600"/>
            <a:ext cx="835485" cy="523220"/>
          </a:xfrm>
          <a:prstGeom prst="rect">
            <a:avLst/>
          </a:prstGeom>
          <a:noFill/>
        </p:spPr>
        <p:txBody>
          <a:bodyPr wrap="none">
            <a:spAutoFit/>
          </a:bodyPr>
          <a:lstStyle/>
          <a:p>
            <a:pPr algn="ctr"/>
            <a:r>
              <a:rPr sz="2800" b="1" dirty="0">
                <a:solidFill>
                  <a:srgbClr val="B20E10"/>
                </a:solidFill>
                <a:latin typeface="Aptos Display"/>
              </a:rPr>
              <a:t>≈ 30</a:t>
            </a:r>
          </a:p>
        </p:txBody>
      </p:sp>
      <p:sp>
        <p:nvSpPr>
          <p:cNvPr id="20" name="TextBox 19"/>
          <p:cNvSpPr txBox="1"/>
          <p:nvPr/>
        </p:nvSpPr>
        <p:spPr>
          <a:xfrm>
            <a:off x="9275613" y="3200400"/>
            <a:ext cx="1245533" cy="400110"/>
          </a:xfrm>
          <a:prstGeom prst="rect">
            <a:avLst/>
          </a:prstGeom>
          <a:noFill/>
        </p:spPr>
        <p:txBody>
          <a:bodyPr wrap="none">
            <a:spAutoFit/>
          </a:bodyPr>
          <a:lstStyle/>
          <a:p>
            <a:pPr algn="ctr"/>
            <a:r>
              <a:rPr sz="2000" dirty="0">
                <a:latin typeface="Aptos Display"/>
              </a:rPr>
              <a:t>Var/Media</a:t>
            </a:r>
          </a:p>
        </p:txBody>
      </p:sp>
      <p:sp>
        <p:nvSpPr>
          <p:cNvPr id="21" name="Rectangle 20"/>
          <p:cNvSpPr/>
          <p:nvPr/>
        </p:nvSpPr>
        <p:spPr>
          <a:xfrm>
            <a:off x="502920" y="3931920"/>
            <a:ext cx="3566160" cy="25603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023360"/>
            <a:ext cx="3291840" cy="411480"/>
          </a:xfrm>
          <a:prstGeom prst="rect">
            <a:avLst/>
          </a:prstGeom>
          <a:noFill/>
        </p:spPr>
        <p:txBody>
          <a:bodyPr wrap="none">
            <a:spAutoFit/>
          </a:bodyPr>
          <a:lstStyle/>
          <a:p>
            <a:r>
              <a:rPr sz="2000" b="1">
                <a:solidFill>
                  <a:srgbClr val="B20E10"/>
                </a:solidFill>
                <a:latin typeface="Aptos Display"/>
              </a:rPr>
              <a:t>Forte asimmetria</a:t>
            </a:r>
          </a:p>
        </p:txBody>
      </p:sp>
      <p:sp>
        <p:nvSpPr>
          <p:cNvPr id="23" name="TextBox 22"/>
          <p:cNvSpPr txBox="1"/>
          <p:nvPr/>
        </p:nvSpPr>
        <p:spPr>
          <a:xfrm>
            <a:off x="640080" y="4480560"/>
            <a:ext cx="3291840" cy="1323439"/>
          </a:xfrm>
          <a:prstGeom prst="rect">
            <a:avLst/>
          </a:prstGeom>
          <a:noFill/>
        </p:spPr>
        <p:txBody>
          <a:bodyPr wrap="square">
            <a:spAutoFit/>
          </a:bodyPr>
          <a:lstStyle/>
          <a:p>
            <a:r>
              <a:rPr sz="2000" dirty="0">
                <a:latin typeface="Aptos Display"/>
              </a:rPr>
              <a:t>Media &gt;&gt; </a:t>
            </a:r>
            <a:r>
              <a:rPr sz="2000" dirty="0" err="1">
                <a:latin typeface="Aptos Display"/>
              </a:rPr>
              <a:t>mediana</a:t>
            </a:r>
            <a:r>
              <a:rPr sz="2000" dirty="0">
                <a:latin typeface="Aptos Display"/>
              </a:rPr>
              <a:t>. La </a:t>
            </a:r>
            <a:r>
              <a:rPr sz="2000" dirty="0" err="1">
                <a:latin typeface="Aptos Display"/>
              </a:rPr>
              <a:t>maggior</a:t>
            </a:r>
            <a:r>
              <a:rPr sz="2000" dirty="0">
                <a:latin typeface="Aptos Display"/>
              </a:rPr>
              <a:t> </a:t>
            </a:r>
            <a:r>
              <a:rPr sz="2000" dirty="0" err="1">
                <a:latin typeface="Aptos Display"/>
              </a:rPr>
              <a:t>parte</a:t>
            </a:r>
            <a:r>
              <a:rPr sz="2000" dirty="0">
                <a:latin typeface="Aptos Display"/>
              </a:rPr>
              <a:t> delle </a:t>
            </a:r>
            <a:r>
              <a:rPr sz="2000" dirty="0" err="1">
                <a:latin typeface="Aptos Display"/>
              </a:rPr>
              <a:t>scarpe</a:t>
            </a:r>
            <a:r>
              <a:rPr sz="2000" dirty="0">
                <a:latin typeface="Aptos Display"/>
              </a:rPr>
              <a:t> ha </a:t>
            </a:r>
            <a:r>
              <a:rPr sz="2000" dirty="0" err="1">
                <a:latin typeface="Aptos Display"/>
              </a:rPr>
              <a:t>pochi</a:t>
            </a:r>
            <a:r>
              <a:rPr sz="2000" dirty="0">
                <a:latin typeface="Aptos Display"/>
              </a:rPr>
              <a:t> </a:t>
            </a:r>
            <a:r>
              <a:rPr sz="2000" dirty="0" err="1">
                <a:latin typeface="Aptos Display"/>
              </a:rPr>
              <a:t>preferiti</a:t>
            </a:r>
            <a:r>
              <a:rPr sz="2000" dirty="0">
                <a:latin typeface="Aptos Display"/>
              </a:rPr>
              <a:t>, </a:t>
            </a:r>
            <a:r>
              <a:rPr sz="2000" dirty="0" err="1">
                <a:latin typeface="Aptos Display"/>
              </a:rPr>
              <a:t>alcune</a:t>
            </a:r>
            <a:r>
              <a:rPr sz="2000" dirty="0">
                <a:latin typeface="Aptos Display"/>
              </a:rPr>
              <a:t> ne </a:t>
            </a:r>
            <a:r>
              <a:rPr sz="2000" dirty="0" err="1">
                <a:latin typeface="Aptos Display"/>
              </a:rPr>
              <a:t>hanno</a:t>
            </a:r>
            <a:r>
              <a:rPr sz="2000" dirty="0">
                <a:latin typeface="Aptos Display"/>
              </a:rPr>
              <a:t> </a:t>
            </a:r>
            <a:r>
              <a:rPr sz="2000" dirty="0" err="1">
                <a:latin typeface="Aptos Display"/>
              </a:rPr>
              <a:t>moltissimi</a:t>
            </a:r>
            <a:r>
              <a:rPr sz="2000" dirty="0">
                <a:latin typeface="Aptos Display"/>
              </a:rPr>
              <a:t>.</a:t>
            </a:r>
          </a:p>
        </p:txBody>
      </p:sp>
      <p:sp>
        <p:nvSpPr>
          <p:cNvPr id="24" name="Rectangle 23"/>
          <p:cNvSpPr/>
          <p:nvPr/>
        </p:nvSpPr>
        <p:spPr>
          <a:xfrm>
            <a:off x="4297680" y="3931920"/>
            <a:ext cx="3566160" cy="25603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023360"/>
            <a:ext cx="1815625" cy="292388"/>
          </a:xfrm>
          <a:prstGeom prst="rect">
            <a:avLst/>
          </a:prstGeom>
          <a:noFill/>
        </p:spPr>
        <p:txBody>
          <a:bodyPr wrap="none">
            <a:spAutoFit/>
          </a:bodyPr>
          <a:lstStyle/>
          <a:p>
            <a:r>
              <a:rPr lang="it-IT" sz="2000" b="1" dirty="0">
                <a:solidFill>
                  <a:srgbClr val="B20E10"/>
                </a:solidFill>
                <a:latin typeface="Aptos Display"/>
              </a:rPr>
              <a:t>Forte </a:t>
            </a:r>
            <a:r>
              <a:rPr sz="2000" b="1" dirty="0" err="1">
                <a:solidFill>
                  <a:srgbClr val="B20E10"/>
                </a:solidFill>
                <a:latin typeface="Aptos Display"/>
              </a:rPr>
              <a:t>Sovradispersione</a:t>
            </a:r>
            <a:endParaRPr sz="1300" b="1" dirty="0">
              <a:solidFill>
                <a:srgbClr val="B20E10"/>
              </a:solidFill>
              <a:latin typeface="Aptos Display"/>
            </a:endParaRPr>
          </a:p>
        </p:txBody>
      </p:sp>
      <p:sp>
        <p:nvSpPr>
          <p:cNvPr id="26" name="TextBox 25"/>
          <p:cNvSpPr txBox="1"/>
          <p:nvPr/>
        </p:nvSpPr>
        <p:spPr>
          <a:xfrm>
            <a:off x="4434840" y="4480560"/>
            <a:ext cx="3291840" cy="2139047"/>
          </a:xfrm>
          <a:prstGeom prst="rect">
            <a:avLst/>
          </a:prstGeom>
          <a:noFill/>
        </p:spPr>
        <p:txBody>
          <a:bodyPr wrap="square">
            <a:spAutoFit/>
          </a:bodyPr>
          <a:lstStyle/>
          <a:p>
            <a:r>
              <a:rPr sz="2000" dirty="0" err="1">
                <a:latin typeface="Aptos Display"/>
              </a:rPr>
              <a:t>Varianza</a:t>
            </a:r>
            <a:r>
              <a:rPr sz="2000" dirty="0">
                <a:latin typeface="Aptos Display"/>
              </a:rPr>
              <a:t>/Media ≈ 30. </a:t>
            </a:r>
            <a:r>
              <a:rPr lang="it-IT" sz="2000" dirty="0">
                <a:latin typeface="Aptos Display"/>
              </a:rPr>
              <a:t>Per questo la</a:t>
            </a:r>
            <a:r>
              <a:rPr sz="2000" dirty="0">
                <a:latin typeface="Aptos Display"/>
              </a:rPr>
              <a:t> </a:t>
            </a:r>
            <a:r>
              <a:rPr sz="2000" dirty="0" err="1">
                <a:latin typeface="Aptos Display"/>
              </a:rPr>
              <a:t>distribuzione</a:t>
            </a:r>
            <a:r>
              <a:rPr sz="2000" dirty="0">
                <a:latin typeface="Aptos Display"/>
              </a:rPr>
              <a:t> di Poisson è </a:t>
            </a:r>
            <a:r>
              <a:rPr sz="2000" dirty="0" err="1">
                <a:latin typeface="Aptos Display"/>
              </a:rPr>
              <a:t>esclusa</a:t>
            </a:r>
            <a:r>
              <a:rPr lang="it-IT" sz="2000" dirty="0">
                <a:latin typeface="Aptos Display"/>
              </a:rPr>
              <a:t> e abbiamo utilizzato </a:t>
            </a:r>
            <a:r>
              <a:rPr sz="2000" dirty="0">
                <a:latin typeface="Aptos Display"/>
              </a:rPr>
              <a:t>la Negative Binomial.</a:t>
            </a:r>
            <a:endParaRPr lang="it-IT" sz="1100" dirty="0">
              <a:latin typeface="Aptos Display"/>
            </a:endParaRPr>
          </a:p>
          <a:p>
            <a:endParaRPr lang="it-IT" sz="1100" dirty="0">
              <a:solidFill>
                <a:srgbClr val="555555"/>
              </a:solidFill>
              <a:latin typeface="Aptos Display"/>
            </a:endParaRPr>
          </a:p>
          <a:p>
            <a:endParaRPr lang="it-IT" sz="1100" dirty="0">
              <a:solidFill>
                <a:srgbClr val="555555"/>
              </a:solidFill>
              <a:latin typeface="Aptos Display"/>
            </a:endParaRPr>
          </a:p>
          <a:p>
            <a:endParaRPr sz="1100" dirty="0">
              <a:solidFill>
                <a:srgbClr val="555555"/>
              </a:solidFill>
              <a:latin typeface="Aptos Display"/>
            </a:endParaRPr>
          </a:p>
        </p:txBody>
      </p:sp>
      <p:sp>
        <p:nvSpPr>
          <p:cNvPr id="27" name="Rectangle 26"/>
          <p:cNvSpPr/>
          <p:nvPr/>
        </p:nvSpPr>
        <p:spPr>
          <a:xfrm>
            <a:off x="8092440" y="3931920"/>
            <a:ext cx="3566160" cy="25603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0" y="4023360"/>
            <a:ext cx="1887312" cy="292388"/>
          </a:xfrm>
          <a:prstGeom prst="rect">
            <a:avLst/>
          </a:prstGeom>
          <a:noFill/>
        </p:spPr>
        <p:txBody>
          <a:bodyPr wrap="none">
            <a:spAutoFit/>
          </a:bodyPr>
          <a:lstStyle/>
          <a:p>
            <a:r>
              <a:rPr lang="it-IT" sz="2000" b="1" dirty="0">
                <a:solidFill>
                  <a:srgbClr val="B20E10"/>
                </a:solidFill>
                <a:latin typeface="Aptos Display"/>
              </a:rPr>
              <a:t>Non c’è inflazione di zeri</a:t>
            </a:r>
            <a:endParaRPr sz="1300" b="1" dirty="0">
              <a:solidFill>
                <a:srgbClr val="B20E10"/>
              </a:solidFill>
              <a:latin typeface="Aptos Display"/>
            </a:endParaRPr>
          </a:p>
        </p:txBody>
      </p:sp>
      <p:sp>
        <p:nvSpPr>
          <p:cNvPr id="29" name="TextBox 28"/>
          <p:cNvSpPr txBox="1"/>
          <p:nvPr/>
        </p:nvSpPr>
        <p:spPr>
          <a:xfrm>
            <a:off x="8229600" y="4480560"/>
            <a:ext cx="3291840" cy="1631216"/>
          </a:xfrm>
          <a:prstGeom prst="rect">
            <a:avLst/>
          </a:prstGeom>
          <a:noFill/>
        </p:spPr>
        <p:txBody>
          <a:bodyPr wrap="square">
            <a:spAutoFit/>
          </a:bodyPr>
          <a:lstStyle/>
          <a:p>
            <a:r>
              <a:rPr lang="it-IT" sz="2000" dirty="0">
                <a:latin typeface="Aptos Display"/>
              </a:rPr>
              <a:t>Essendo solo il 12% degli annunci con 0 favoriti la forte </a:t>
            </a:r>
            <a:r>
              <a:rPr lang="it-IT" sz="2000" dirty="0" err="1">
                <a:latin typeface="Aptos Display"/>
              </a:rPr>
              <a:t>sovradispersione</a:t>
            </a:r>
            <a:r>
              <a:rPr lang="it-IT" sz="2000" dirty="0">
                <a:latin typeface="Aptos Display"/>
              </a:rPr>
              <a:t> dipende solo dalle scarpe con molti favoriti. </a:t>
            </a:r>
            <a:endParaRPr sz="1100" dirty="0">
              <a:latin typeface="Aptos Display"/>
            </a:endParaRPr>
          </a:p>
        </p:txBody>
      </p:sp>
      <p:sp>
        <p:nvSpPr>
          <p:cNvPr id="999" name="PageNum20"/>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8046720" cy="1077218"/>
          </a:xfrm>
          <a:prstGeom prst="rect">
            <a:avLst/>
          </a:prstGeom>
          <a:noFill/>
        </p:spPr>
        <p:txBody>
          <a:bodyPr wrap="square">
            <a:spAutoFit/>
          </a:bodyPr>
          <a:lstStyle/>
          <a:p>
            <a:pPr algn="l"/>
            <a:r>
              <a:rPr sz="3200" b="0" dirty="0" err="1">
                <a:solidFill>
                  <a:srgbClr val="FFFFFF"/>
                </a:solidFill>
                <a:latin typeface="Aptos Display"/>
              </a:rPr>
              <a:t>Regressione</a:t>
            </a:r>
            <a:r>
              <a:rPr sz="3200" b="0" dirty="0">
                <a:solidFill>
                  <a:srgbClr val="FFFFFF"/>
                </a:solidFill>
                <a:latin typeface="Aptos Display"/>
              </a:rPr>
              <a:t> </a:t>
            </a:r>
            <a:r>
              <a:rPr sz="3200" b="0" dirty="0" err="1">
                <a:solidFill>
                  <a:srgbClr val="FFFFFF"/>
                </a:solidFill>
                <a:latin typeface="Aptos Display"/>
              </a:rPr>
              <a:t>sul</a:t>
            </a:r>
            <a:r>
              <a:rPr sz="3200" b="0" dirty="0">
                <a:solidFill>
                  <a:srgbClr val="FFFFFF"/>
                </a:solidFill>
                <a:latin typeface="Aptos Display"/>
              </a:rPr>
              <a:t> N° di </a:t>
            </a:r>
            <a:r>
              <a:rPr sz="3200" b="0" dirty="0" err="1">
                <a:solidFill>
                  <a:srgbClr val="FFFFFF"/>
                </a:solidFill>
                <a:latin typeface="Aptos Display"/>
              </a:rPr>
              <a:t>Preferiti</a:t>
            </a:r>
            <a:endParaRPr sz="3200" b="0" dirty="0">
              <a:solidFill>
                <a:srgbClr val="FFFFFF"/>
              </a:solidFill>
              <a:latin typeface="Aptos Display"/>
            </a:endParaRPr>
          </a:p>
          <a:p>
            <a:pPr algn="l"/>
            <a:r>
              <a:rPr sz="3200" b="0" i="1" dirty="0" err="1">
                <a:solidFill>
                  <a:srgbClr val="FFFFFF"/>
                </a:solidFill>
                <a:latin typeface="Aptos Display"/>
              </a:rPr>
              <a:t>Confronto</a:t>
            </a:r>
            <a:r>
              <a:rPr sz="3200" b="0" i="1" dirty="0">
                <a:solidFill>
                  <a:srgbClr val="FFFFFF"/>
                </a:solidFill>
                <a:latin typeface="Aptos Display"/>
              </a:rPr>
              <a:t> </a:t>
            </a:r>
            <a:r>
              <a:rPr sz="3200" b="0" i="1" dirty="0" err="1">
                <a:solidFill>
                  <a:srgbClr val="FFFFFF"/>
                </a:solidFill>
                <a:latin typeface="Aptos Display"/>
              </a:rPr>
              <a:t>modelli</a:t>
            </a:r>
            <a:endParaRPr sz="3200" b="0" i="1" dirty="0">
              <a:solidFill>
                <a:srgbClr val="FFFFFF"/>
              </a:solidFill>
              <a:latin typeface="Aptos Display"/>
            </a:endParaRPr>
          </a:p>
        </p:txBody>
      </p:sp>
      <p:pic>
        <p:nvPicPr>
          <p:cNvPr id="4" name="Picture 3" descr="unipd_logo.png"/>
          <p:cNvPicPr>
            <a:picLocks noChangeAspect="1"/>
          </p:cNvPicPr>
          <p:nvPr/>
        </p:nvPicPr>
        <p:blipFill>
          <a:blip r:embed="rId2"/>
          <a:stretch>
            <a:fillRect/>
          </a:stretch>
        </p:blipFill>
        <p:spPr>
          <a:xfrm>
            <a:off x="8549640" y="210312"/>
            <a:ext cx="2651760" cy="1188720"/>
          </a:xfrm>
          <a:prstGeom prst="rect">
            <a:avLst/>
          </a:prstGeom>
        </p:spPr>
      </p:pic>
      <p:sp>
        <p:nvSpPr>
          <p:cNvPr id="5" name="TextBox 4"/>
          <p:cNvSpPr txBox="1"/>
          <p:nvPr/>
        </p:nvSpPr>
        <p:spPr>
          <a:xfrm>
            <a:off x="502920" y="1874520"/>
            <a:ext cx="11247120" cy="365760"/>
          </a:xfrm>
          <a:prstGeom prst="rect">
            <a:avLst/>
          </a:prstGeom>
          <a:noFill/>
        </p:spPr>
        <p:txBody>
          <a:bodyPr wrap="square">
            <a:spAutoFit/>
          </a:bodyPr>
          <a:lstStyle/>
          <a:p>
            <a:pPr algn="l"/>
            <a:r>
              <a:rPr sz="2000" b="1" i="0">
                <a:solidFill>
                  <a:srgbClr val="B20E10"/>
                </a:solidFill>
                <a:latin typeface="Aptos Display"/>
              </a:rPr>
              <a:t>Metriche sul test set (n° preferiti)</a:t>
            </a:r>
          </a:p>
        </p:txBody>
      </p:sp>
      <p:graphicFrame>
        <p:nvGraphicFramePr>
          <p:cNvPr id="6" name="Table 5"/>
          <p:cNvGraphicFramePr>
            <a:graphicFrameLocks noGrp="1"/>
          </p:cNvGraphicFramePr>
          <p:nvPr>
            <p:extLst>
              <p:ext uri="{D42A27DB-BD31-4B8C-83A1-F6EECF244321}">
                <p14:modId xmlns:p14="http://schemas.microsoft.com/office/powerpoint/2010/main" val="3105541014"/>
              </p:ext>
            </p:extLst>
          </p:nvPr>
        </p:nvGraphicFramePr>
        <p:xfrm>
          <a:off x="213360" y="2286000"/>
          <a:ext cx="11828640" cy="3961688"/>
        </p:xfrm>
        <a:graphic>
          <a:graphicData uri="http://schemas.openxmlformats.org/drawingml/2006/table">
            <a:tbl>
              <a:tblPr firstRow="1" bandRow="1">
                <a:tableStyleId>{5C22544A-7EE6-4342-B048-85BDC9FD1C3A}</a:tableStyleId>
              </a:tblPr>
              <a:tblGrid>
                <a:gridCol w="3420329">
                  <a:extLst>
                    <a:ext uri="{9D8B030D-6E8A-4147-A177-3AD203B41FA5}">
                      <a16:colId xmlns:a16="http://schemas.microsoft.com/office/drawing/2014/main" val="20000"/>
                    </a:ext>
                  </a:extLst>
                </a:gridCol>
                <a:gridCol w="1140109">
                  <a:extLst>
                    <a:ext uri="{9D8B030D-6E8A-4147-A177-3AD203B41FA5}">
                      <a16:colId xmlns:a16="http://schemas.microsoft.com/office/drawing/2014/main" val="20001"/>
                    </a:ext>
                  </a:extLst>
                </a:gridCol>
                <a:gridCol w="1710165">
                  <a:extLst>
                    <a:ext uri="{9D8B030D-6E8A-4147-A177-3AD203B41FA5}">
                      <a16:colId xmlns:a16="http://schemas.microsoft.com/office/drawing/2014/main" val="20002"/>
                    </a:ext>
                  </a:extLst>
                </a:gridCol>
                <a:gridCol w="1852679">
                  <a:extLst>
                    <a:ext uri="{9D8B030D-6E8A-4147-A177-3AD203B41FA5}">
                      <a16:colId xmlns:a16="http://schemas.microsoft.com/office/drawing/2014/main" val="20003"/>
                    </a:ext>
                  </a:extLst>
                </a:gridCol>
                <a:gridCol w="3705358">
                  <a:extLst>
                    <a:ext uri="{9D8B030D-6E8A-4147-A177-3AD203B41FA5}">
                      <a16:colId xmlns:a16="http://schemas.microsoft.com/office/drawing/2014/main" val="20004"/>
                    </a:ext>
                  </a:extLst>
                </a:gridCol>
              </a:tblGrid>
              <a:tr h="846515">
                <a:tc>
                  <a:txBody>
                    <a:bodyPr/>
                    <a:lstStyle/>
                    <a:p>
                      <a:pPr algn="ctr"/>
                      <a:r>
                        <a:rPr sz="2000" b="1">
                          <a:solidFill>
                            <a:srgbClr val="FFFFFF"/>
                          </a:solidFill>
                          <a:latin typeface="Aptos Display"/>
                        </a:rPr>
                        <a:t>Modello</a:t>
                      </a:r>
                    </a:p>
                  </a:txBody>
                  <a:tcPr>
                    <a:solidFill>
                      <a:srgbClr val="B20E10"/>
                    </a:solidFill>
                  </a:tcPr>
                </a:tc>
                <a:tc>
                  <a:txBody>
                    <a:bodyPr/>
                    <a:lstStyle/>
                    <a:p>
                      <a:pPr algn="ctr"/>
                      <a:r>
                        <a:rPr sz="2000" b="1" dirty="0">
                          <a:solidFill>
                            <a:srgbClr val="FFFFFF"/>
                          </a:solidFill>
                          <a:latin typeface="Aptos Display"/>
                        </a:rPr>
                        <a:t>R²</a:t>
                      </a:r>
                    </a:p>
                  </a:txBody>
                  <a:tcPr>
                    <a:solidFill>
                      <a:srgbClr val="B20E10"/>
                    </a:solidFill>
                  </a:tcPr>
                </a:tc>
                <a:tc>
                  <a:txBody>
                    <a:bodyPr/>
                    <a:lstStyle/>
                    <a:p>
                      <a:pPr algn="ctr"/>
                      <a:r>
                        <a:rPr sz="2000" b="1">
                          <a:solidFill>
                            <a:srgbClr val="FFFFFF"/>
                          </a:solidFill>
                          <a:latin typeface="Aptos Display"/>
                        </a:rPr>
                        <a:t>MAE (pref.)</a:t>
                      </a:r>
                    </a:p>
                  </a:txBody>
                  <a:tcPr>
                    <a:solidFill>
                      <a:srgbClr val="B20E10"/>
                    </a:solidFill>
                  </a:tcPr>
                </a:tc>
                <a:tc>
                  <a:txBody>
                    <a:bodyPr/>
                    <a:lstStyle/>
                    <a:p>
                      <a:pPr algn="ctr"/>
                      <a:r>
                        <a:rPr sz="2000" b="1">
                          <a:solidFill>
                            <a:srgbClr val="FFFFFF"/>
                          </a:solidFill>
                          <a:latin typeface="Aptos Display"/>
                        </a:rPr>
                        <a:t>RMSE (pref.)</a:t>
                      </a:r>
                    </a:p>
                  </a:txBody>
                  <a:tcPr>
                    <a:solidFill>
                      <a:srgbClr val="B20E10"/>
                    </a:solidFill>
                  </a:tcPr>
                </a:tc>
                <a:tc>
                  <a:txBody>
                    <a:bodyPr/>
                    <a:lstStyle/>
                    <a:p>
                      <a:pPr algn="ctr"/>
                      <a:r>
                        <a:rPr sz="2000" b="1" dirty="0">
                          <a:solidFill>
                            <a:srgbClr val="FFFFFF"/>
                          </a:solidFill>
                          <a:latin typeface="Aptos Display"/>
                        </a:rPr>
                        <a:t>Note</a:t>
                      </a:r>
                    </a:p>
                  </a:txBody>
                  <a:tcPr>
                    <a:solidFill>
                      <a:srgbClr val="B20E10"/>
                    </a:solidFill>
                  </a:tcPr>
                </a:tc>
                <a:extLst>
                  <a:ext uri="{0D108BD9-81ED-4DB2-BD59-A6C34878D82A}">
                    <a16:rowId xmlns:a16="http://schemas.microsoft.com/office/drawing/2014/main" val="10000"/>
                  </a:ext>
                </a:extLst>
              </a:tr>
              <a:tr h="1038391">
                <a:tc>
                  <a:txBody>
                    <a:bodyPr/>
                    <a:lstStyle/>
                    <a:p>
                      <a:pPr algn="ctr"/>
                      <a:r>
                        <a:rPr lang="it-IT" sz="2000" dirty="0">
                          <a:solidFill>
                            <a:srgbClr val="000000"/>
                          </a:solidFill>
                          <a:latin typeface="Aptos Display"/>
                        </a:rPr>
                        <a:t>MLR </a:t>
                      </a:r>
                      <a:r>
                        <a:rPr sz="2000" dirty="0" err="1">
                          <a:solidFill>
                            <a:srgbClr val="000000"/>
                          </a:solidFill>
                          <a:latin typeface="Aptos Display"/>
                        </a:rPr>
                        <a:t>su</a:t>
                      </a:r>
                      <a:r>
                        <a:rPr sz="2000" dirty="0">
                          <a:solidFill>
                            <a:srgbClr val="000000"/>
                          </a:solidFill>
                          <a:latin typeface="Aptos Display"/>
                        </a:rPr>
                        <a:t> log1p</a:t>
                      </a:r>
                    </a:p>
                  </a:txBody>
                  <a:tcPr>
                    <a:solidFill>
                      <a:srgbClr val="F9F9F9"/>
                    </a:solidFill>
                  </a:tcPr>
                </a:tc>
                <a:tc>
                  <a:txBody>
                    <a:bodyPr/>
                    <a:lstStyle/>
                    <a:p>
                      <a:pPr algn="ctr"/>
                      <a:r>
                        <a:rPr sz="2000" b="1" dirty="0">
                          <a:solidFill>
                            <a:srgbClr val="000000"/>
                          </a:solidFill>
                          <a:latin typeface="Aptos Display"/>
                        </a:rPr>
                        <a:t>0.113</a:t>
                      </a:r>
                    </a:p>
                  </a:txBody>
                  <a:tcPr>
                    <a:solidFill>
                      <a:srgbClr val="F9F9F9"/>
                    </a:solidFill>
                  </a:tcPr>
                </a:tc>
                <a:tc>
                  <a:txBody>
                    <a:bodyPr/>
                    <a:lstStyle/>
                    <a:p>
                      <a:pPr algn="ctr"/>
                      <a:r>
                        <a:rPr sz="2000" dirty="0">
                          <a:solidFill>
                            <a:srgbClr val="000000"/>
                          </a:solidFill>
                          <a:latin typeface="Aptos Display"/>
                        </a:rPr>
                        <a:t>12.1</a:t>
                      </a:r>
                    </a:p>
                  </a:txBody>
                  <a:tcPr>
                    <a:solidFill>
                      <a:srgbClr val="F9F9F9"/>
                    </a:solidFill>
                  </a:tcPr>
                </a:tc>
                <a:tc>
                  <a:txBody>
                    <a:bodyPr/>
                    <a:lstStyle/>
                    <a:p>
                      <a:pPr algn="ctr"/>
                      <a:r>
                        <a:rPr sz="2000">
                          <a:solidFill>
                            <a:srgbClr val="000000"/>
                          </a:solidFill>
                          <a:latin typeface="Aptos Display"/>
                        </a:rPr>
                        <a:t>21.8</a:t>
                      </a:r>
                    </a:p>
                  </a:txBody>
                  <a:tcPr>
                    <a:solidFill>
                      <a:srgbClr val="F9F9F9"/>
                    </a:solidFill>
                  </a:tcPr>
                </a:tc>
                <a:tc>
                  <a:txBody>
                    <a:bodyPr/>
                    <a:lstStyle/>
                    <a:p>
                      <a:pPr algn="ctr"/>
                      <a:r>
                        <a:rPr sz="2000" dirty="0">
                          <a:solidFill>
                            <a:srgbClr val="000000"/>
                          </a:solidFill>
                          <a:latin typeface="Aptos Display"/>
                        </a:rPr>
                        <a:t>5 </a:t>
                      </a:r>
                      <a:r>
                        <a:rPr sz="2000" dirty="0" err="1">
                          <a:solidFill>
                            <a:srgbClr val="000000"/>
                          </a:solidFill>
                          <a:latin typeface="Aptos Display"/>
                        </a:rPr>
                        <a:t>variabili</a:t>
                      </a:r>
                      <a:r>
                        <a:rPr sz="2000" dirty="0">
                          <a:solidFill>
                            <a:srgbClr val="000000"/>
                          </a:solidFill>
                          <a:latin typeface="Aptos Display"/>
                        </a:rPr>
                        <a:t> </a:t>
                      </a:r>
                      <a:r>
                        <a:rPr sz="2000" dirty="0" err="1">
                          <a:solidFill>
                            <a:srgbClr val="000000"/>
                          </a:solidFill>
                          <a:latin typeface="Aptos Display"/>
                        </a:rPr>
                        <a:t>selezionate</a:t>
                      </a:r>
                      <a:r>
                        <a:rPr lang="it-IT" sz="2000" dirty="0">
                          <a:solidFill>
                            <a:srgbClr val="000000"/>
                          </a:solidFill>
                          <a:latin typeface="Aptos Display"/>
                        </a:rPr>
                        <a:t> tramite</a:t>
                      </a:r>
                    </a:p>
                    <a:p>
                      <a:pPr algn="ctr"/>
                      <a:r>
                        <a:rPr lang="it-IT" sz="2000" dirty="0" err="1">
                          <a:solidFill>
                            <a:srgbClr val="000000"/>
                          </a:solidFill>
                          <a:latin typeface="Aptos Display"/>
                        </a:rPr>
                        <a:t>Stepwise</a:t>
                      </a:r>
                      <a:r>
                        <a:rPr lang="it-IT" sz="2000" dirty="0">
                          <a:solidFill>
                            <a:srgbClr val="000000"/>
                          </a:solidFill>
                          <a:latin typeface="Aptos Display"/>
                        </a:rPr>
                        <a:t> </a:t>
                      </a:r>
                      <a:endParaRPr sz="1300" dirty="0">
                        <a:solidFill>
                          <a:srgbClr val="000000"/>
                        </a:solidFill>
                        <a:latin typeface="Aptos Display"/>
                      </a:endParaRPr>
                    </a:p>
                  </a:txBody>
                  <a:tcPr>
                    <a:solidFill>
                      <a:srgbClr val="F9F9F9"/>
                    </a:solidFill>
                  </a:tcPr>
                </a:tc>
                <a:extLst>
                  <a:ext uri="{0D108BD9-81ED-4DB2-BD59-A6C34878D82A}">
                    <a16:rowId xmlns:a16="http://schemas.microsoft.com/office/drawing/2014/main" val="10001"/>
                  </a:ext>
                </a:extLst>
              </a:tr>
              <a:tr h="1038391">
                <a:tc>
                  <a:txBody>
                    <a:bodyPr/>
                    <a:lstStyle/>
                    <a:p>
                      <a:pPr algn="ctr"/>
                      <a:r>
                        <a:rPr sz="2000" dirty="0">
                          <a:solidFill>
                            <a:srgbClr val="000000"/>
                          </a:solidFill>
                          <a:latin typeface="Aptos Display"/>
                        </a:rPr>
                        <a:t>Negative Binomial</a:t>
                      </a:r>
                    </a:p>
                  </a:txBody>
                  <a:tcPr>
                    <a:solidFill>
                      <a:srgbClr val="FFFFFF"/>
                    </a:solidFill>
                  </a:tcPr>
                </a:tc>
                <a:tc>
                  <a:txBody>
                    <a:bodyPr/>
                    <a:lstStyle/>
                    <a:p>
                      <a:pPr algn="ctr"/>
                      <a:r>
                        <a:rPr sz="2000" dirty="0">
                          <a:solidFill>
                            <a:srgbClr val="000000"/>
                          </a:solidFill>
                          <a:latin typeface="Aptos Display"/>
                        </a:rPr>
                        <a:t>0.070</a:t>
                      </a:r>
                    </a:p>
                  </a:txBody>
                  <a:tcPr>
                    <a:solidFill>
                      <a:srgbClr val="FFFFFF"/>
                    </a:solidFill>
                  </a:tcPr>
                </a:tc>
                <a:tc>
                  <a:txBody>
                    <a:bodyPr/>
                    <a:lstStyle/>
                    <a:p>
                      <a:pPr algn="ctr"/>
                      <a:r>
                        <a:rPr sz="2000">
                          <a:solidFill>
                            <a:srgbClr val="000000"/>
                          </a:solidFill>
                          <a:latin typeface="Aptos Display"/>
                        </a:rPr>
                        <a:t>13.6</a:t>
                      </a:r>
                    </a:p>
                  </a:txBody>
                  <a:tcPr>
                    <a:solidFill>
                      <a:srgbClr val="FFFFFF"/>
                    </a:solidFill>
                  </a:tcPr>
                </a:tc>
                <a:tc>
                  <a:txBody>
                    <a:bodyPr/>
                    <a:lstStyle/>
                    <a:p>
                      <a:pPr algn="ctr"/>
                      <a:r>
                        <a:rPr sz="2000">
                          <a:solidFill>
                            <a:srgbClr val="000000"/>
                          </a:solidFill>
                          <a:latin typeface="Aptos Display"/>
                        </a:rPr>
                        <a:t>20.8</a:t>
                      </a:r>
                    </a:p>
                  </a:txBody>
                  <a:tcPr>
                    <a:solidFill>
                      <a:srgbClr val="FFFFFF"/>
                    </a:solidFill>
                  </a:tcPr>
                </a:tc>
                <a:tc>
                  <a:txBody>
                    <a:bodyPr/>
                    <a:lstStyle/>
                    <a:p>
                      <a:pPr algn="ctr"/>
                      <a:r>
                        <a:rPr lang="it-IT" sz="2000" dirty="0">
                          <a:solidFill>
                            <a:srgbClr val="000000"/>
                          </a:solidFill>
                          <a:latin typeface="Aptos Display"/>
                        </a:rPr>
                        <a:t>6 variabili selezionate tramite </a:t>
                      </a:r>
                      <a:r>
                        <a:rPr lang="it-IT" sz="2000" dirty="0" err="1">
                          <a:solidFill>
                            <a:srgbClr val="000000"/>
                          </a:solidFill>
                          <a:latin typeface="Aptos Display"/>
                        </a:rPr>
                        <a:t>stepwise</a:t>
                      </a:r>
                      <a:endParaRPr sz="1300" dirty="0">
                        <a:solidFill>
                          <a:srgbClr val="000000"/>
                        </a:solidFill>
                        <a:latin typeface="Aptos Display"/>
                      </a:endParaRPr>
                    </a:p>
                  </a:txBody>
                  <a:tcPr>
                    <a:solidFill>
                      <a:srgbClr val="FFFFFF"/>
                    </a:solidFill>
                  </a:tcPr>
                </a:tc>
                <a:extLst>
                  <a:ext uri="{0D108BD9-81ED-4DB2-BD59-A6C34878D82A}">
                    <a16:rowId xmlns:a16="http://schemas.microsoft.com/office/drawing/2014/main" val="10002"/>
                  </a:ext>
                </a:extLst>
              </a:tr>
              <a:tr h="1038391">
                <a:tc>
                  <a:txBody>
                    <a:bodyPr/>
                    <a:lstStyle/>
                    <a:p>
                      <a:pPr algn="ctr"/>
                      <a:r>
                        <a:rPr sz="2000" dirty="0">
                          <a:solidFill>
                            <a:srgbClr val="000000"/>
                          </a:solidFill>
                          <a:latin typeface="Aptos Display"/>
                        </a:rPr>
                        <a:t>Zero-Inflated NB</a:t>
                      </a:r>
                    </a:p>
                  </a:txBody>
                  <a:tcPr>
                    <a:solidFill>
                      <a:srgbClr val="F9F9F9"/>
                    </a:solidFill>
                  </a:tcPr>
                </a:tc>
                <a:tc>
                  <a:txBody>
                    <a:bodyPr/>
                    <a:lstStyle/>
                    <a:p>
                      <a:pPr algn="ctr"/>
                      <a:r>
                        <a:rPr sz="2000" dirty="0">
                          <a:solidFill>
                            <a:srgbClr val="000000"/>
                          </a:solidFill>
                          <a:latin typeface="Aptos Display"/>
                        </a:rPr>
                        <a:t>0.066</a:t>
                      </a:r>
                    </a:p>
                  </a:txBody>
                  <a:tcPr>
                    <a:solidFill>
                      <a:srgbClr val="F9F9F9"/>
                    </a:solidFill>
                  </a:tcPr>
                </a:tc>
                <a:tc>
                  <a:txBody>
                    <a:bodyPr/>
                    <a:lstStyle/>
                    <a:p>
                      <a:pPr algn="ctr"/>
                      <a:r>
                        <a:rPr sz="2000">
                          <a:solidFill>
                            <a:srgbClr val="000000"/>
                          </a:solidFill>
                          <a:latin typeface="Aptos Display"/>
                        </a:rPr>
                        <a:t>13.6</a:t>
                      </a:r>
                    </a:p>
                  </a:txBody>
                  <a:tcPr>
                    <a:solidFill>
                      <a:srgbClr val="F9F9F9"/>
                    </a:solidFill>
                  </a:tcPr>
                </a:tc>
                <a:tc>
                  <a:txBody>
                    <a:bodyPr/>
                    <a:lstStyle/>
                    <a:p>
                      <a:pPr algn="ctr"/>
                      <a:r>
                        <a:rPr sz="2000">
                          <a:solidFill>
                            <a:srgbClr val="000000"/>
                          </a:solidFill>
                          <a:latin typeface="Aptos Display"/>
                        </a:rPr>
                        <a:t>20.9</a:t>
                      </a:r>
                    </a:p>
                  </a:txBody>
                  <a:tcPr>
                    <a:solidFill>
                      <a:srgbClr val="F9F9F9"/>
                    </a:solidFill>
                  </a:tcPr>
                </a:tc>
                <a:tc>
                  <a:txBody>
                    <a:bodyPr/>
                    <a:lstStyle/>
                    <a:p>
                      <a:pPr algn="ctr"/>
                      <a:r>
                        <a:rPr sz="2000" dirty="0">
                          <a:solidFill>
                            <a:srgbClr val="000000"/>
                          </a:solidFill>
                          <a:latin typeface="Aptos Display"/>
                        </a:rPr>
                        <a:t> </a:t>
                      </a:r>
                      <a:r>
                        <a:rPr sz="2000" dirty="0" err="1">
                          <a:solidFill>
                            <a:srgbClr val="000000"/>
                          </a:solidFill>
                          <a:latin typeface="Aptos Display"/>
                        </a:rPr>
                        <a:t>collassa</a:t>
                      </a:r>
                      <a:r>
                        <a:rPr sz="2000" dirty="0">
                          <a:solidFill>
                            <a:srgbClr val="000000"/>
                          </a:solidFill>
                          <a:latin typeface="Aptos Display"/>
                        </a:rPr>
                        <a:t> </a:t>
                      </a:r>
                      <a:r>
                        <a:rPr sz="2000" dirty="0" err="1">
                          <a:solidFill>
                            <a:srgbClr val="000000"/>
                          </a:solidFill>
                          <a:latin typeface="Aptos Display"/>
                        </a:rPr>
                        <a:t>su</a:t>
                      </a:r>
                      <a:r>
                        <a:rPr sz="2000" dirty="0">
                          <a:solidFill>
                            <a:srgbClr val="000000"/>
                          </a:solidFill>
                          <a:latin typeface="Aptos Display"/>
                        </a:rPr>
                        <a:t> NB</a:t>
                      </a:r>
                    </a:p>
                  </a:txBody>
                  <a:tcPr>
                    <a:solidFill>
                      <a:srgbClr val="F9F9F9"/>
                    </a:solidFill>
                  </a:tcPr>
                </a:tc>
                <a:extLst>
                  <a:ext uri="{0D108BD9-81ED-4DB2-BD59-A6C34878D82A}">
                    <a16:rowId xmlns:a16="http://schemas.microsoft.com/office/drawing/2014/main" val="10003"/>
                  </a:ext>
                </a:extLst>
              </a:tr>
            </a:tbl>
          </a:graphicData>
        </a:graphic>
      </p:graphicFrame>
      <p:sp>
        <p:nvSpPr>
          <p:cNvPr id="999" name="PageNum21"/>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ED955-23A1-DAD6-E746-FFB1373E180E}"/>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44F77EA3-D287-7570-B661-CE13F76D25FF}"/>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8841DB24-9784-E364-6992-BAD6E586A294}"/>
              </a:ext>
            </a:extLst>
          </p:cNvPr>
          <p:cNvSpPr>
            <a:spLocks noGrp="1"/>
          </p:cNvSpPr>
          <p:nvPr>
            <p:ph type="title"/>
          </p:nvPr>
        </p:nvSpPr>
        <p:spPr>
          <a:xfrm>
            <a:off x="838200" y="141658"/>
            <a:ext cx="10515600" cy="1325563"/>
          </a:xfrm>
        </p:spPr>
        <p:txBody>
          <a:bodyPr/>
          <a:lstStyle/>
          <a:p>
            <a:r>
              <a:rPr lang="it-IT" dirty="0">
                <a:solidFill>
                  <a:schemeClr val="bg1"/>
                </a:solidFill>
              </a:rPr>
              <a:t>Albero</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ACADC3C4-4D1D-2760-8465-F10084C34AD4}"/>
                  </a:ext>
                </a:extLst>
              </p:cNvPr>
              <p:cNvSpPr>
                <a:spLocks noGrp="1"/>
              </p:cNvSpPr>
              <p:nvPr>
                <p:ph idx="1"/>
              </p:nvPr>
            </p:nvSpPr>
            <p:spPr>
              <a:xfrm>
                <a:off x="838200" y="1946173"/>
                <a:ext cx="10515600" cy="4703976"/>
              </a:xfrm>
            </p:spPr>
            <p:txBody>
              <a:bodyPr>
                <a:normAutofit/>
              </a:bodyPr>
              <a:lstStyle/>
              <a:p>
                <a:pPr>
                  <a:lnSpc>
                    <a:spcPct val="100000"/>
                  </a:lnSpc>
                </a:pPr>
                <a:r>
                  <a:rPr lang="it-IT" sz="2000" dirty="0">
                    <a:latin typeface="Aptos Display"/>
                  </a:rPr>
                  <a:t>Albero classico:</a:t>
                </a:r>
                <a:endParaRPr lang="it-IT" sz="2400" i="1" dirty="0">
                  <a:latin typeface="Aptos Display"/>
                </a:endParaRP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𝑅</m:t>
                        </m:r>
                      </m:e>
                      <m:sup>
                        <m:r>
                          <a:rPr lang="it-IT" i="1">
                            <a:latin typeface="Cambria Math" panose="02040503050406030204" pitchFamily="18" charset="0"/>
                          </a:rPr>
                          <m:t>2</m:t>
                        </m:r>
                      </m:sup>
                    </m:sSup>
                  </m:oMath>
                </a14:m>
                <a:r>
                  <a:rPr lang="it-IT" dirty="0">
                    <a:latin typeface="Aptos Display"/>
                  </a:rPr>
                  <a:t> = 0.04</a:t>
                </a:r>
              </a:p>
              <a:p>
                <a:pPr lvl="1">
                  <a:lnSpc>
                    <a:spcPct val="100000"/>
                  </a:lnSpc>
                </a:pPr>
                <a:r>
                  <a:rPr lang="it-IT" dirty="0">
                    <a:latin typeface="Aptos Display"/>
                  </a:rPr>
                  <a:t>RMSE = 20.79</a:t>
                </a:r>
              </a:p>
              <a:p>
                <a:pPr lvl="1">
                  <a:lnSpc>
                    <a:spcPct val="100000"/>
                  </a:lnSpc>
                </a:pPr>
                <a:r>
                  <a:rPr lang="it-IT" dirty="0">
                    <a:latin typeface="Aptos Display"/>
                  </a:rPr>
                  <a:t>MAE = 14.01</a:t>
                </a:r>
              </a:p>
              <a:p>
                <a:pPr>
                  <a:lnSpc>
                    <a:spcPct val="100000"/>
                  </a:lnSpc>
                </a:pPr>
                <a:r>
                  <a:rPr lang="it-IT" sz="2000" dirty="0">
                    <a:latin typeface="Aptos Display"/>
                  </a:rPr>
                  <a:t>MERT con l’effetto gerarchico su Brand e su </a:t>
                </a:r>
                <a:r>
                  <a:rPr lang="it-IT" sz="2000" dirty="0" err="1">
                    <a:latin typeface="Aptos Display"/>
                  </a:rPr>
                  <a:t>Condition</a:t>
                </a:r>
                <a:r>
                  <a:rPr lang="it-IT" sz="2000" dirty="0">
                    <a:latin typeface="Aptos Display"/>
                  </a:rPr>
                  <a:t>:</a:t>
                </a:r>
                <a:endParaRPr lang="it-IT" sz="2400" i="1" dirty="0">
                  <a:latin typeface="Aptos Display"/>
                </a:endParaRP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𝑅</m:t>
                        </m:r>
                      </m:e>
                      <m:sup>
                        <m:r>
                          <a:rPr lang="it-IT" i="1">
                            <a:latin typeface="Cambria Math" panose="02040503050406030204" pitchFamily="18" charset="0"/>
                          </a:rPr>
                          <m:t>2</m:t>
                        </m:r>
                      </m:sup>
                    </m:sSup>
                  </m:oMath>
                </a14:m>
                <a:r>
                  <a:rPr lang="it-IT" dirty="0">
                    <a:latin typeface="Aptos Display"/>
                  </a:rPr>
                  <a:t> = 0.02</a:t>
                </a:r>
              </a:p>
              <a:p>
                <a:pPr lvl="1">
                  <a:lnSpc>
                    <a:spcPct val="100000"/>
                  </a:lnSpc>
                </a:pPr>
                <a:r>
                  <a:rPr lang="it-IT" dirty="0">
                    <a:latin typeface="Aptos Display"/>
                  </a:rPr>
                  <a:t>RMSE = 20.99</a:t>
                </a:r>
              </a:p>
              <a:p>
                <a:pPr lvl="1">
                  <a:lnSpc>
                    <a:spcPct val="100000"/>
                  </a:lnSpc>
                </a:pPr>
                <a:r>
                  <a:rPr lang="it-IT" dirty="0">
                    <a:latin typeface="Aptos Display"/>
                  </a:rPr>
                  <a:t>MAE = 13.87</a:t>
                </a:r>
              </a:p>
            </p:txBody>
          </p:sp>
        </mc:Choice>
        <mc:Fallback xmlns="">
          <p:sp>
            <p:nvSpPr>
              <p:cNvPr id="3" name="Segnaposto contenuto 2">
                <a:extLst>
                  <a:ext uri="{FF2B5EF4-FFF2-40B4-BE49-F238E27FC236}">
                    <a16:creationId xmlns:a16="http://schemas.microsoft.com/office/drawing/2014/main" id="{ACADC3C4-4D1D-2760-8465-F10084C34AD4}"/>
                  </a:ext>
                </a:extLst>
              </p:cNvPr>
              <p:cNvSpPr>
                <a:spLocks noGrp="1" noRot="1" noChangeAspect="1" noMove="1" noResize="1" noEditPoints="1" noAdjustHandles="1" noChangeArrowheads="1" noChangeShapeType="1" noTextEdit="1"/>
              </p:cNvSpPr>
              <p:nvPr>
                <p:ph idx="1"/>
              </p:nvPr>
            </p:nvSpPr>
            <p:spPr>
              <a:xfrm>
                <a:off x="838200" y="1946173"/>
                <a:ext cx="10515600" cy="4703976"/>
              </a:xfrm>
              <a:blipFill>
                <a:blip r:embed="rId2"/>
                <a:stretch>
                  <a:fillRect l="-812" t="-1036"/>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0BAC473C-F3F6-A9BA-BE9D-26D4D88E1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22"/>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22</a:t>
            </a:r>
          </a:p>
        </p:txBody>
      </p:sp>
    </p:spTree>
    <p:extLst>
      <p:ext uri="{BB962C8B-B14F-4D97-AF65-F5344CB8AC3E}">
        <p14:creationId xmlns:p14="http://schemas.microsoft.com/office/powerpoint/2010/main" val="3116455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90030-5A7A-1A28-2C3F-6C7E912034DD}"/>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5532A619-0A1C-1B2D-1E8B-893F1D7DF112}"/>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E111BFCC-4352-4DC8-2FCC-5FD7D28A789D}"/>
              </a:ext>
            </a:extLst>
          </p:cNvPr>
          <p:cNvSpPr>
            <a:spLocks noGrp="1"/>
          </p:cNvSpPr>
          <p:nvPr>
            <p:ph type="title"/>
          </p:nvPr>
        </p:nvSpPr>
        <p:spPr>
          <a:xfrm>
            <a:off x="838200" y="141658"/>
            <a:ext cx="10515600" cy="1325563"/>
          </a:xfrm>
        </p:spPr>
        <p:txBody>
          <a:bodyPr/>
          <a:lstStyle/>
          <a:p>
            <a:r>
              <a:rPr lang="it-IT" dirty="0">
                <a:solidFill>
                  <a:schemeClr val="bg1"/>
                </a:solidFill>
              </a:rPr>
              <a:t>Random Forest</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CD907B8E-C88B-A023-B681-ED2BB42F86ED}"/>
                  </a:ext>
                </a:extLst>
              </p:cNvPr>
              <p:cNvSpPr>
                <a:spLocks noGrp="1"/>
              </p:cNvSpPr>
              <p:nvPr>
                <p:ph idx="1"/>
              </p:nvPr>
            </p:nvSpPr>
            <p:spPr>
              <a:xfrm>
                <a:off x="838200" y="1987735"/>
                <a:ext cx="5257800" cy="4607029"/>
              </a:xfrm>
            </p:spPr>
            <p:txBody>
              <a:bodyPr>
                <a:normAutofit/>
              </a:bodyPr>
              <a:lstStyle/>
              <a:p>
                <a:pPr>
                  <a:lnSpc>
                    <a:spcPct val="100000"/>
                  </a:lnSpc>
                </a:pPr>
                <a:r>
                  <a:rPr lang="it-IT" sz="2000" dirty="0">
                    <a:latin typeface="Aptos Display"/>
                  </a:rPr>
                  <a:t>Senza effetto casuale</a:t>
                </a:r>
              </a:p>
              <a:p>
                <a:pPr lvl="1">
                  <a:lnSpc>
                    <a:spcPct val="100000"/>
                  </a:lnSpc>
                </a:pPr>
                <a:r>
                  <a:rPr lang="it-IT" dirty="0">
                    <a:latin typeface="Aptos Display"/>
                  </a:rPr>
                  <a:t>tuning con l’errore OOB.</a:t>
                </a:r>
              </a:p>
              <a:p>
                <a:pPr lvl="1">
                  <a:lnSpc>
                    <a:spcPct val="100000"/>
                  </a:lnSpc>
                </a:pPr>
                <a14:m>
                  <m:oMath xmlns:m="http://schemas.openxmlformats.org/officeDocument/2006/math">
                    <m:sSup>
                      <m:sSupPr>
                        <m:ctrlPr>
                          <a:rPr lang="it-IT" i="1">
                            <a:latin typeface="Cambria Math" panose="02040503050406030204" pitchFamily="18" charset="0"/>
                          </a:rPr>
                        </m:ctrlPr>
                      </m:sSupPr>
                      <m:e>
                        <m:r>
                          <m:rPr>
                            <m:sty m:val="p"/>
                          </m:rPr>
                          <a:rPr lang="it-IT" i="0" smtClean="0">
                            <a:latin typeface="Cambria Math" panose="02040503050406030204" pitchFamily="18" charset="0"/>
                          </a:rPr>
                          <m:t>R</m:t>
                        </m:r>
                      </m:e>
                      <m:sup>
                        <m:r>
                          <a:rPr lang="it-IT" i="0" smtClean="0">
                            <a:latin typeface="Cambria Math" panose="02040503050406030204" pitchFamily="18" charset="0"/>
                          </a:rPr>
                          <m:t>2</m:t>
                        </m:r>
                      </m:sup>
                    </m:sSup>
                  </m:oMath>
                </a14:m>
                <a:r>
                  <a:rPr lang="it-IT" dirty="0">
                    <a:latin typeface="Aptos Display"/>
                  </a:rPr>
                  <a:t> = 0.16</a:t>
                </a:r>
              </a:p>
              <a:p>
                <a:pPr lvl="1">
                  <a:lnSpc>
                    <a:spcPct val="100000"/>
                  </a:lnSpc>
                </a:pPr>
                <a:r>
                  <a:rPr lang="it-IT" dirty="0">
                    <a:latin typeface="Aptos Display"/>
                  </a:rPr>
                  <a:t>RMSE = 19.43</a:t>
                </a:r>
              </a:p>
              <a:p>
                <a:pPr lvl="1">
                  <a:lnSpc>
                    <a:spcPct val="100000"/>
                  </a:lnSpc>
                </a:pPr>
                <a:r>
                  <a:rPr lang="it-IT" dirty="0">
                    <a:latin typeface="Aptos Display"/>
                  </a:rPr>
                  <a:t>MAE = 13.13</a:t>
                </a:r>
              </a:p>
              <a:p>
                <a:pPr>
                  <a:lnSpc>
                    <a:spcPct val="100000"/>
                  </a:lnSpc>
                </a:pPr>
                <a:r>
                  <a:rPr lang="it-IT" sz="2000" dirty="0">
                    <a:latin typeface="Aptos Display"/>
                  </a:rPr>
                  <a:t>MERF (effetto gerarchico sul Brand):</a:t>
                </a:r>
              </a:p>
              <a:p>
                <a:pPr lvl="1">
                  <a:lnSpc>
                    <a:spcPct val="100000"/>
                  </a:lnSpc>
                </a:pPr>
                <a:r>
                  <a:rPr lang="it-IT" dirty="0">
                    <a:latin typeface="Aptos Display"/>
                  </a:rPr>
                  <a:t>Tuning in CI.</a:t>
                </a:r>
              </a:p>
              <a:p>
                <a:pPr lvl="1">
                  <a:lnSpc>
                    <a:spcPct val="100000"/>
                  </a:lnSpc>
                </a:pPr>
                <a14:m>
                  <m:oMath xmlns:m="http://schemas.openxmlformats.org/officeDocument/2006/math">
                    <m:sSup>
                      <m:sSupPr>
                        <m:ctrlPr>
                          <a:rPr lang="it-IT" i="1">
                            <a:latin typeface="Cambria Math" panose="02040503050406030204" pitchFamily="18" charset="0"/>
                          </a:rPr>
                        </m:ctrlPr>
                      </m:sSupPr>
                      <m:e>
                        <m:r>
                          <m:rPr>
                            <m:sty m:val="p"/>
                          </m:rPr>
                          <a:rPr lang="it-IT" i="0" smtClean="0">
                            <a:latin typeface="Cambria Math" panose="02040503050406030204" pitchFamily="18" charset="0"/>
                          </a:rPr>
                          <m:t>R</m:t>
                        </m:r>
                      </m:e>
                      <m:sup>
                        <m:r>
                          <a:rPr lang="it-IT" i="0" smtClean="0">
                            <a:latin typeface="Cambria Math" panose="02040503050406030204" pitchFamily="18" charset="0"/>
                          </a:rPr>
                          <m:t>2</m:t>
                        </m:r>
                      </m:sup>
                    </m:sSup>
                  </m:oMath>
                </a14:m>
                <a:r>
                  <a:rPr lang="it-IT" dirty="0">
                    <a:latin typeface="Aptos Display"/>
                  </a:rPr>
                  <a:t> = 0.17</a:t>
                </a:r>
              </a:p>
              <a:p>
                <a:pPr lvl="1">
                  <a:lnSpc>
                    <a:spcPct val="100000"/>
                  </a:lnSpc>
                </a:pPr>
                <a:r>
                  <a:rPr lang="it-IT" dirty="0">
                    <a:latin typeface="Aptos Display"/>
                  </a:rPr>
                  <a:t>RMSE = 19.29</a:t>
                </a:r>
              </a:p>
              <a:p>
                <a:pPr lvl="1">
                  <a:lnSpc>
                    <a:spcPct val="100000"/>
                  </a:lnSpc>
                </a:pPr>
                <a:r>
                  <a:rPr lang="it-IT" dirty="0">
                    <a:latin typeface="Aptos Display"/>
                  </a:rPr>
                  <a:t>MAE = 12.94</a:t>
                </a:r>
              </a:p>
              <a:p>
                <a:pPr lvl="1">
                  <a:lnSpc>
                    <a:spcPct val="100000"/>
                  </a:lnSpc>
                </a:pPr>
                <a:endParaRPr lang="it-IT" dirty="0">
                  <a:latin typeface="Aptos Display"/>
                </a:endParaRPr>
              </a:p>
              <a:p>
                <a:pPr lvl="1">
                  <a:lnSpc>
                    <a:spcPct val="100000"/>
                  </a:lnSpc>
                </a:pPr>
                <a:endParaRPr lang="it-IT" dirty="0">
                  <a:latin typeface="Aptos Display"/>
                </a:endParaRPr>
              </a:p>
            </p:txBody>
          </p:sp>
        </mc:Choice>
        <mc:Fallback xmlns="">
          <p:sp>
            <p:nvSpPr>
              <p:cNvPr id="3" name="Segnaposto contenuto 2">
                <a:extLst>
                  <a:ext uri="{FF2B5EF4-FFF2-40B4-BE49-F238E27FC236}">
                    <a16:creationId xmlns:a16="http://schemas.microsoft.com/office/drawing/2014/main" id="{CD907B8E-C88B-A023-B681-ED2BB42F86ED}"/>
                  </a:ext>
                </a:extLst>
              </p:cNvPr>
              <p:cNvSpPr>
                <a:spLocks noGrp="1" noRot="1" noChangeAspect="1" noMove="1" noResize="1" noEditPoints="1" noAdjustHandles="1" noChangeArrowheads="1" noChangeShapeType="1" noTextEdit="1"/>
              </p:cNvSpPr>
              <p:nvPr>
                <p:ph idx="1"/>
              </p:nvPr>
            </p:nvSpPr>
            <p:spPr>
              <a:xfrm>
                <a:off x="838200" y="1987735"/>
                <a:ext cx="5257800" cy="4607029"/>
              </a:xfrm>
              <a:blipFill>
                <a:blip r:embed="rId2"/>
                <a:stretch>
                  <a:fillRect l="-1624" t="-1058"/>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5CBAD36C-E099-5C8D-0871-06CBE2FE6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pic>
        <p:nvPicPr>
          <p:cNvPr id="8" name="Immagine 7">
            <a:extLst>
              <a:ext uri="{FF2B5EF4-FFF2-40B4-BE49-F238E27FC236}">
                <a16:creationId xmlns:a16="http://schemas.microsoft.com/office/drawing/2014/main" id="{8E9A3BA3-FA16-7DA0-DDB7-BAD0AB21A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6785" y="2144333"/>
            <a:ext cx="7315215" cy="4572009"/>
          </a:xfrm>
          <a:prstGeom prst="rect">
            <a:avLst/>
          </a:prstGeom>
        </p:spPr>
      </p:pic>
      <p:sp>
        <p:nvSpPr>
          <p:cNvPr id="999" name="PageNum23"/>
          <p:cNvSpPr txBox="1"/>
          <p:nvPr/>
        </p:nvSpPr>
        <p:spPr>
          <a:xfrm>
            <a:off x="11642000" y="6458000"/>
            <a:ext cx="400000" cy="300000"/>
          </a:xfrm>
          <a:prstGeom prst="rect">
            <a:avLst/>
          </a:prstGeom>
          <a:noFill/>
        </p:spPr>
        <p:txBody>
          <a:bodyPr wrap="none" rtlCol="0"/>
          <a:lstStyle/>
          <a:p>
            <a:pPr algn="r"/>
            <a:r>
              <a:rPr lang="it-IT" sz="1400" dirty="0">
                <a:solidFill>
                  <a:srgbClr val="000000"/>
                </a:solidFill>
                <a:latin typeface="Aptos Display"/>
              </a:rPr>
              <a:t>23</a:t>
            </a:r>
            <a:endParaRPr lang="it-IT" sz="1400" b="0" dirty="0">
              <a:solidFill>
                <a:srgbClr val="000000"/>
              </a:solidFill>
              <a:latin typeface="Aptos Display"/>
            </a:endParaRPr>
          </a:p>
        </p:txBody>
      </p:sp>
    </p:spTree>
    <p:extLst>
      <p:ext uri="{BB962C8B-B14F-4D97-AF65-F5344CB8AC3E}">
        <p14:creationId xmlns:p14="http://schemas.microsoft.com/office/powerpoint/2010/main" val="1069193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C1D69-2C82-50DD-B537-C0DB5C5CEB7F}"/>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FC88AB1B-E96B-5A75-A7F2-6AAA97B1B26B}"/>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DBD60185-F41F-764A-989B-8AE1B3DB6521}"/>
              </a:ext>
            </a:extLst>
          </p:cNvPr>
          <p:cNvSpPr>
            <a:spLocks noGrp="1"/>
          </p:cNvSpPr>
          <p:nvPr>
            <p:ph type="title"/>
          </p:nvPr>
        </p:nvSpPr>
        <p:spPr>
          <a:xfrm>
            <a:off x="838200" y="141658"/>
            <a:ext cx="10515600" cy="1325563"/>
          </a:xfrm>
        </p:spPr>
        <p:txBody>
          <a:bodyPr/>
          <a:lstStyle/>
          <a:p>
            <a:r>
              <a:rPr lang="it-IT" dirty="0" err="1">
                <a:solidFill>
                  <a:schemeClr val="bg1"/>
                </a:solidFill>
              </a:rPr>
              <a:t>Gradient</a:t>
            </a:r>
            <a:r>
              <a:rPr lang="it-IT" dirty="0">
                <a:solidFill>
                  <a:schemeClr val="bg1"/>
                </a:solidFill>
              </a:rPr>
              <a:t> </a:t>
            </a:r>
            <a:r>
              <a:rPr lang="it-IT" dirty="0" err="1">
                <a:solidFill>
                  <a:schemeClr val="bg1"/>
                </a:solidFill>
              </a:rPr>
              <a:t>Boosting</a:t>
            </a:r>
            <a:r>
              <a:rPr lang="it-IT" dirty="0">
                <a:solidFill>
                  <a:schemeClr val="bg1"/>
                </a:solidFill>
              </a:rPr>
              <a:t>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68704080-3EDB-FF19-D558-AB797D114CBE}"/>
                  </a:ext>
                </a:extLst>
              </p:cNvPr>
              <p:cNvSpPr>
                <a:spLocks noGrp="1"/>
              </p:cNvSpPr>
              <p:nvPr>
                <p:ph idx="1"/>
              </p:nvPr>
            </p:nvSpPr>
            <p:spPr>
              <a:xfrm>
                <a:off x="838199" y="2389517"/>
                <a:ext cx="9843655" cy="3984215"/>
              </a:xfrm>
            </p:spPr>
            <p:txBody>
              <a:bodyPr>
                <a:normAutofit/>
              </a:bodyPr>
              <a:lstStyle/>
              <a:p>
                <a:pPr>
                  <a:lnSpc>
                    <a:spcPct val="100000"/>
                  </a:lnSpc>
                </a:pPr>
                <a:r>
                  <a:rPr lang="it-IT" sz="2000" dirty="0">
                    <a:latin typeface="Aptos Display"/>
                  </a:rPr>
                  <a:t>Tuning con l’errore OOB:</a:t>
                </a:r>
              </a:p>
              <a:p>
                <a:pPr lvl="1">
                  <a:lnSpc>
                    <a:spcPct val="100000"/>
                  </a:lnSpc>
                </a:pPr>
                <a:r>
                  <a:rPr lang="it-IT" dirty="0">
                    <a:latin typeface="Aptos Display"/>
                  </a:rPr>
                  <a:t>Profondità = 31</a:t>
                </a:r>
              </a:p>
              <a:p>
                <a:pPr lvl="1">
                  <a:lnSpc>
                    <a:spcPct val="100000"/>
                  </a:lnSpc>
                </a:pPr>
                <a:r>
                  <a:rPr lang="it-IT" dirty="0" err="1">
                    <a:latin typeface="Aptos Display"/>
                  </a:rPr>
                  <a:t>Shrinkage</a:t>
                </a:r>
                <a:r>
                  <a:rPr lang="it-IT" dirty="0">
                    <a:latin typeface="Aptos Display"/>
                  </a:rPr>
                  <a:t> = 0.05</a:t>
                </a:r>
              </a:p>
              <a:p>
                <a:pPr>
                  <a:lnSpc>
                    <a:spcPct val="100000"/>
                  </a:lnSpc>
                </a:pPr>
                <a14:m>
                  <m:oMath xmlns:m="http://schemas.openxmlformats.org/officeDocument/2006/math">
                    <m:sSup>
                      <m:sSupPr>
                        <m:ctrlPr>
                          <a:rPr lang="it-IT" sz="2000" i="1" smtClean="0">
                            <a:latin typeface="Cambria Math" panose="02040503050406030204" pitchFamily="18" charset="0"/>
                          </a:rPr>
                        </m:ctrlPr>
                      </m:sSupPr>
                      <m:e>
                        <m:r>
                          <m:rPr>
                            <m:sty m:val="p"/>
                          </m:rPr>
                          <a:rPr lang="it-IT" sz="2000" b="0" i="0" smtClean="0">
                            <a:latin typeface="Cambria Math" panose="02040503050406030204" pitchFamily="18" charset="0"/>
                          </a:rPr>
                          <m:t>R</m:t>
                        </m:r>
                      </m:e>
                      <m:sup>
                        <m:r>
                          <a:rPr lang="it-IT" sz="2000" b="0" i="0" smtClean="0">
                            <a:latin typeface="Cambria Math" panose="02040503050406030204" pitchFamily="18" charset="0"/>
                          </a:rPr>
                          <m:t>2</m:t>
                        </m:r>
                      </m:sup>
                    </m:sSup>
                  </m:oMath>
                </a14:m>
                <a:r>
                  <a:rPr lang="it-IT" sz="2000" dirty="0">
                    <a:latin typeface="Aptos Display"/>
                  </a:rPr>
                  <a:t> = 0.18</a:t>
                </a:r>
              </a:p>
              <a:p>
                <a:pPr>
                  <a:lnSpc>
                    <a:spcPct val="100000"/>
                  </a:lnSpc>
                </a:pPr>
                <a:r>
                  <a:rPr lang="it-IT" sz="2000" dirty="0">
                    <a:latin typeface="Aptos Display"/>
                  </a:rPr>
                  <a:t>RMSE = 19.20</a:t>
                </a:r>
              </a:p>
              <a:p>
                <a:pPr>
                  <a:lnSpc>
                    <a:spcPct val="100000"/>
                  </a:lnSpc>
                </a:pPr>
                <a:r>
                  <a:rPr lang="it-IT" sz="2000" dirty="0">
                    <a:latin typeface="Aptos Display"/>
                  </a:rPr>
                  <a:t>MAE = 12.77</a:t>
                </a:r>
              </a:p>
              <a:p>
                <a:pPr>
                  <a:lnSpc>
                    <a:spcPct val="100000"/>
                  </a:lnSpc>
                </a:pPr>
                <a:endParaRPr lang="it-IT" sz="2400" dirty="0">
                  <a:latin typeface="Aptos Display"/>
                </a:endParaRPr>
              </a:p>
            </p:txBody>
          </p:sp>
        </mc:Choice>
        <mc:Fallback xmlns="">
          <p:sp>
            <p:nvSpPr>
              <p:cNvPr id="3" name="Segnaposto contenuto 2">
                <a:extLst>
                  <a:ext uri="{FF2B5EF4-FFF2-40B4-BE49-F238E27FC236}">
                    <a16:creationId xmlns:a16="http://schemas.microsoft.com/office/drawing/2014/main" id="{68704080-3EDB-FF19-D558-AB797D114CBE}"/>
                  </a:ext>
                </a:extLst>
              </p:cNvPr>
              <p:cNvSpPr>
                <a:spLocks noGrp="1" noRot="1" noChangeAspect="1" noMove="1" noResize="1" noEditPoints="1" noAdjustHandles="1" noChangeArrowheads="1" noChangeShapeType="1" noTextEdit="1"/>
              </p:cNvSpPr>
              <p:nvPr>
                <p:ph idx="1"/>
              </p:nvPr>
            </p:nvSpPr>
            <p:spPr>
              <a:xfrm>
                <a:off x="838199" y="2389517"/>
                <a:ext cx="9843655" cy="3984215"/>
              </a:xfrm>
              <a:blipFill>
                <a:blip r:embed="rId2"/>
                <a:stretch>
                  <a:fillRect l="-805" t="-1223"/>
                </a:stretch>
              </a:blipFill>
            </p:spPr>
            <p:txBody>
              <a:bodyPr/>
              <a:lstStyle/>
              <a:p>
                <a:r>
                  <a:rPr lang="it-IT">
                    <a:noFill/>
                  </a:rPr>
                  <a:t> </a:t>
                </a:r>
              </a:p>
            </p:txBody>
          </p:sp>
        </mc:Fallback>
      </mc:AlternateContent>
      <p:pic>
        <p:nvPicPr>
          <p:cNvPr id="6" name="Picture 5">
            <a:extLst>
              <a:ext uri="{FF2B5EF4-FFF2-40B4-BE49-F238E27FC236}">
                <a16:creationId xmlns:a16="http://schemas.microsoft.com/office/drawing/2014/main" id="{9BA70FDE-23F4-331C-09EA-3596B90741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pic>
        <p:nvPicPr>
          <p:cNvPr id="9" name="Immagine 8">
            <a:extLst>
              <a:ext uri="{FF2B5EF4-FFF2-40B4-BE49-F238E27FC236}">
                <a16:creationId xmlns:a16="http://schemas.microsoft.com/office/drawing/2014/main" id="{1F1D40D1-FF20-FABA-3FB0-529324BEBE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1964" y="1750539"/>
            <a:ext cx="5036127" cy="5036127"/>
          </a:xfrm>
          <a:prstGeom prst="rect">
            <a:avLst/>
          </a:prstGeom>
        </p:spPr>
      </p:pic>
      <p:sp>
        <p:nvSpPr>
          <p:cNvPr id="999" name="PageNum24"/>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24</a:t>
            </a:r>
          </a:p>
        </p:txBody>
      </p:sp>
    </p:spTree>
    <p:extLst>
      <p:ext uri="{BB962C8B-B14F-4D97-AF65-F5344CB8AC3E}">
        <p14:creationId xmlns:p14="http://schemas.microsoft.com/office/powerpoint/2010/main" val="2786527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510A4-B03D-F3B5-03F4-DB358B8A22C4}"/>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CDE48E94-65FB-5845-336B-705D8D7D68CB}"/>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a:extLst>
              <a:ext uri="{FF2B5EF4-FFF2-40B4-BE49-F238E27FC236}">
                <a16:creationId xmlns:a16="http://schemas.microsoft.com/office/drawing/2014/main" id="{C3AD1CBC-AC9F-95A8-7A5A-95877ABBA06C}"/>
              </a:ext>
            </a:extLst>
          </p:cNvPr>
          <p:cNvSpPr>
            <a:spLocks noGrp="1"/>
          </p:cNvSpPr>
          <p:nvPr>
            <p:ph type="title"/>
          </p:nvPr>
        </p:nvSpPr>
        <p:spPr>
          <a:xfrm>
            <a:off x="838200" y="141658"/>
            <a:ext cx="10515600" cy="1325563"/>
          </a:xfrm>
        </p:spPr>
        <p:txBody>
          <a:bodyPr/>
          <a:lstStyle/>
          <a:p>
            <a:r>
              <a:rPr lang="it-IT" dirty="0" err="1">
                <a:solidFill>
                  <a:schemeClr val="bg1"/>
                </a:solidFill>
              </a:rPr>
              <a:t>Gradient</a:t>
            </a:r>
            <a:r>
              <a:rPr lang="it-IT" dirty="0">
                <a:solidFill>
                  <a:schemeClr val="bg1"/>
                </a:solidFill>
              </a:rPr>
              <a:t> </a:t>
            </a:r>
            <a:r>
              <a:rPr lang="it-IT" dirty="0" err="1">
                <a:solidFill>
                  <a:schemeClr val="bg1"/>
                </a:solidFill>
              </a:rPr>
              <a:t>Boosting</a:t>
            </a:r>
            <a:r>
              <a:rPr lang="it-IT" dirty="0">
                <a:solidFill>
                  <a:schemeClr val="bg1"/>
                </a:solidFill>
              </a:rPr>
              <a:t> (2)</a:t>
            </a:r>
          </a:p>
        </p:txBody>
      </p:sp>
      <p:sp>
        <p:nvSpPr>
          <p:cNvPr id="3" name="Segnaposto contenuto 2">
            <a:extLst>
              <a:ext uri="{FF2B5EF4-FFF2-40B4-BE49-F238E27FC236}">
                <a16:creationId xmlns:a16="http://schemas.microsoft.com/office/drawing/2014/main" id="{90736F3A-A464-5387-AAB8-3B9ED2B26403}"/>
              </a:ext>
            </a:extLst>
          </p:cNvPr>
          <p:cNvSpPr>
            <a:spLocks noGrp="1"/>
          </p:cNvSpPr>
          <p:nvPr>
            <p:ph idx="1"/>
          </p:nvPr>
        </p:nvSpPr>
        <p:spPr>
          <a:xfrm>
            <a:off x="838200" y="1750539"/>
            <a:ext cx="9843655" cy="3984215"/>
          </a:xfrm>
        </p:spPr>
        <p:txBody>
          <a:bodyPr>
            <a:normAutofit/>
          </a:bodyPr>
          <a:lstStyle/>
          <a:p>
            <a:pPr>
              <a:lnSpc>
                <a:spcPct val="100000"/>
              </a:lnSpc>
            </a:pPr>
            <a:r>
              <a:rPr lang="it-IT" sz="2000" dirty="0">
                <a:latin typeface="Aptos Display"/>
              </a:rPr>
              <a:t>Interpretazione con i </a:t>
            </a:r>
            <a:r>
              <a:rPr lang="it-IT" sz="2000" dirty="0" err="1">
                <a:latin typeface="Aptos Display"/>
              </a:rPr>
              <a:t>partial</a:t>
            </a:r>
            <a:r>
              <a:rPr lang="it-IT" sz="2000" dirty="0">
                <a:latin typeface="Aptos Display"/>
              </a:rPr>
              <a:t> </a:t>
            </a:r>
            <a:r>
              <a:rPr lang="it-IT" sz="2000" dirty="0" err="1">
                <a:latin typeface="Aptos Display"/>
              </a:rPr>
              <a:t>dependence</a:t>
            </a:r>
            <a:r>
              <a:rPr lang="it-IT" sz="2000" dirty="0">
                <a:latin typeface="Aptos Display"/>
              </a:rPr>
              <a:t> plot</a:t>
            </a:r>
          </a:p>
        </p:txBody>
      </p:sp>
      <p:pic>
        <p:nvPicPr>
          <p:cNvPr id="6" name="Picture 5">
            <a:extLst>
              <a:ext uri="{FF2B5EF4-FFF2-40B4-BE49-F238E27FC236}">
                <a16:creationId xmlns:a16="http://schemas.microsoft.com/office/drawing/2014/main" id="{0A22C7EE-03E7-2737-9766-D2A5B72C1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pic>
        <p:nvPicPr>
          <p:cNvPr id="12" name="Immagine 11">
            <a:extLst>
              <a:ext uri="{FF2B5EF4-FFF2-40B4-BE49-F238E27FC236}">
                <a16:creationId xmlns:a16="http://schemas.microsoft.com/office/drawing/2014/main" id="{92AC8EE3-89BB-A814-2F20-8C8DAA401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89" y="2285991"/>
            <a:ext cx="10972822" cy="4572009"/>
          </a:xfrm>
          <a:prstGeom prst="rect">
            <a:avLst/>
          </a:prstGeom>
        </p:spPr>
      </p:pic>
      <p:sp>
        <p:nvSpPr>
          <p:cNvPr id="999" name="PageNum25"/>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25</a:t>
            </a:r>
          </a:p>
        </p:txBody>
      </p:sp>
    </p:spTree>
    <p:extLst>
      <p:ext uri="{BB962C8B-B14F-4D97-AF65-F5344CB8AC3E}">
        <p14:creationId xmlns:p14="http://schemas.microsoft.com/office/powerpoint/2010/main" val="1401855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8046720" cy="1077218"/>
          </a:xfrm>
          <a:prstGeom prst="rect">
            <a:avLst/>
          </a:prstGeom>
          <a:noFill/>
        </p:spPr>
        <p:txBody>
          <a:bodyPr wrap="square">
            <a:spAutoFit/>
          </a:bodyPr>
          <a:lstStyle/>
          <a:p>
            <a:pPr algn="l"/>
            <a:r>
              <a:rPr sz="3200" b="0" dirty="0" err="1">
                <a:solidFill>
                  <a:srgbClr val="FFFFFF"/>
                </a:solidFill>
                <a:latin typeface="Aptos Display"/>
              </a:rPr>
              <a:t>Regressione</a:t>
            </a:r>
            <a:r>
              <a:rPr sz="3200" b="0" dirty="0">
                <a:solidFill>
                  <a:srgbClr val="FFFFFF"/>
                </a:solidFill>
                <a:latin typeface="Aptos Display"/>
              </a:rPr>
              <a:t> </a:t>
            </a:r>
            <a:r>
              <a:rPr sz="3200" b="0" dirty="0" err="1">
                <a:solidFill>
                  <a:srgbClr val="FFFFFF"/>
                </a:solidFill>
                <a:latin typeface="Aptos Display"/>
              </a:rPr>
              <a:t>sul</a:t>
            </a:r>
            <a:r>
              <a:rPr sz="3200" b="0" dirty="0">
                <a:solidFill>
                  <a:srgbClr val="FFFFFF"/>
                </a:solidFill>
                <a:latin typeface="Aptos Display"/>
              </a:rPr>
              <a:t> N° di </a:t>
            </a:r>
            <a:r>
              <a:rPr sz="3200" b="0" dirty="0" err="1">
                <a:solidFill>
                  <a:srgbClr val="FFFFFF"/>
                </a:solidFill>
                <a:latin typeface="Aptos Display"/>
              </a:rPr>
              <a:t>Preferiti</a:t>
            </a:r>
            <a:endParaRPr sz="3200" b="0" dirty="0">
              <a:solidFill>
                <a:srgbClr val="FFFFFF"/>
              </a:solidFill>
              <a:latin typeface="Aptos Display"/>
            </a:endParaRPr>
          </a:p>
          <a:p>
            <a:pPr algn="l"/>
            <a:r>
              <a:rPr sz="3200" b="0" i="1" dirty="0" err="1">
                <a:solidFill>
                  <a:srgbClr val="FFFFFF"/>
                </a:solidFill>
                <a:latin typeface="Aptos Display"/>
              </a:rPr>
              <a:t>Conclusioni</a:t>
            </a:r>
            <a:endParaRPr sz="3200" b="0" i="1" dirty="0">
              <a:solidFill>
                <a:srgbClr val="FFFFFF"/>
              </a:solidFill>
              <a:latin typeface="Aptos Display"/>
            </a:endParaRPr>
          </a:p>
        </p:txBody>
      </p:sp>
      <p:pic>
        <p:nvPicPr>
          <p:cNvPr id="4" name="Picture 3" descr="unipd_logo.png"/>
          <p:cNvPicPr>
            <a:picLocks noChangeAspect="1"/>
          </p:cNvPicPr>
          <p:nvPr/>
        </p:nvPicPr>
        <p:blipFill>
          <a:blip r:embed="rId3"/>
          <a:stretch>
            <a:fillRect/>
          </a:stretch>
        </p:blipFill>
        <p:spPr>
          <a:xfrm>
            <a:off x="8549640" y="164592"/>
            <a:ext cx="2651760" cy="1188720"/>
          </a:xfrm>
          <a:prstGeom prst="rect">
            <a:avLst/>
          </a:prstGeom>
        </p:spPr>
      </p:pic>
      <p:sp>
        <p:nvSpPr>
          <p:cNvPr id="10" name="TextBox 9"/>
          <p:cNvSpPr txBox="1"/>
          <p:nvPr/>
        </p:nvSpPr>
        <p:spPr>
          <a:xfrm>
            <a:off x="472287" y="2163836"/>
            <a:ext cx="5209503" cy="461665"/>
          </a:xfrm>
          <a:prstGeom prst="rect">
            <a:avLst/>
          </a:prstGeom>
          <a:noFill/>
        </p:spPr>
        <p:txBody>
          <a:bodyPr wrap="none">
            <a:spAutoFit/>
          </a:bodyPr>
          <a:lstStyle/>
          <a:p>
            <a:r>
              <a:rPr sz="2400" b="1" dirty="0">
                <a:solidFill>
                  <a:srgbClr val="B20E10"/>
                </a:solidFill>
                <a:latin typeface="Aptos Display"/>
              </a:rPr>
              <a:t>▸  </a:t>
            </a:r>
            <a:r>
              <a:rPr sz="2400" b="1" dirty="0" err="1">
                <a:solidFill>
                  <a:srgbClr val="B20E10"/>
                </a:solidFill>
                <a:latin typeface="Aptos Display"/>
              </a:rPr>
              <a:t>Stesse</a:t>
            </a:r>
            <a:r>
              <a:rPr sz="2400" b="1" dirty="0">
                <a:solidFill>
                  <a:srgbClr val="B20E10"/>
                </a:solidFill>
                <a:latin typeface="Aptos Display"/>
              </a:rPr>
              <a:t> </a:t>
            </a:r>
            <a:r>
              <a:rPr sz="2400" b="1" dirty="0" err="1">
                <a:solidFill>
                  <a:srgbClr val="B20E10"/>
                </a:solidFill>
                <a:latin typeface="Aptos Display"/>
              </a:rPr>
              <a:t>variabili</a:t>
            </a:r>
            <a:r>
              <a:rPr sz="2400" b="1" dirty="0">
                <a:solidFill>
                  <a:srgbClr val="B20E10"/>
                </a:solidFill>
                <a:latin typeface="Aptos Display"/>
              </a:rPr>
              <a:t>, </a:t>
            </a:r>
            <a:r>
              <a:rPr sz="2400" b="1" dirty="0" err="1">
                <a:solidFill>
                  <a:srgbClr val="B20E10"/>
                </a:solidFill>
                <a:latin typeface="Aptos Display"/>
              </a:rPr>
              <a:t>meccanismi</a:t>
            </a:r>
            <a:r>
              <a:rPr sz="2400" b="1" dirty="0">
                <a:solidFill>
                  <a:srgbClr val="B20E10"/>
                </a:solidFill>
                <a:latin typeface="Aptos Display"/>
              </a:rPr>
              <a:t> </a:t>
            </a:r>
            <a:r>
              <a:rPr sz="2400" b="1" dirty="0" err="1">
                <a:solidFill>
                  <a:srgbClr val="B20E10"/>
                </a:solidFill>
                <a:latin typeface="Aptos Display"/>
              </a:rPr>
              <a:t>diversi</a:t>
            </a:r>
            <a:endParaRPr sz="2400" b="1" dirty="0">
              <a:solidFill>
                <a:srgbClr val="B20E10"/>
              </a:solidFill>
              <a:latin typeface="Aptos Display"/>
            </a:endParaRPr>
          </a:p>
        </p:txBody>
      </p:sp>
      <p:sp>
        <p:nvSpPr>
          <p:cNvPr id="11" name="TextBox 10"/>
          <p:cNvSpPr txBox="1"/>
          <p:nvPr/>
        </p:nvSpPr>
        <p:spPr>
          <a:xfrm>
            <a:off x="716280" y="2845684"/>
            <a:ext cx="10972800" cy="1015663"/>
          </a:xfrm>
          <a:prstGeom prst="rect">
            <a:avLst/>
          </a:prstGeom>
          <a:noFill/>
        </p:spPr>
        <p:txBody>
          <a:bodyPr wrap="square">
            <a:spAutoFit/>
          </a:bodyPr>
          <a:lstStyle/>
          <a:p>
            <a:r>
              <a:rPr sz="2400" dirty="0">
                <a:latin typeface="Aptos Display"/>
              </a:rPr>
              <a:t>Le </a:t>
            </a:r>
            <a:r>
              <a:rPr sz="2400" dirty="0" err="1">
                <a:latin typeface="Aptos Display"/>
              </a:rPr>
              <a:t>variabili</a:t>
            </a:r>
            <a:r>
              <a:rPr sz="2400" dirty="0">
                <a:latin typeface="Aptos Display"/>
              </a:rPr>
              <a:t> </a:t>
            </a:r>
            <a:r>
              <a:rPr sz="2400" dirty="0" err="1">
                <a:latin typeface="Aptos Display"/>
              </a:rPr>
              <a:t>strutturali</a:t>
            </a:r>
            <a:r>
              <a:rPr sz="2400" dirty="0">
                <a:latin typeface="Aptos Display"/>
              </a:rPr>
              <a:t> della scarpa</a:t>
            </a:r>
            <a:r>
              <a:rPr lang="it-IT" sz="2400" dirty="0">
                <a:latin typeface="Aptos Display"/>
              </a:rPr>
              <a:t> </a:t>
            </a:r>
            <a:r>
              <a:rPr sz="2400" dirty="0">
                <a:latin typeface="Aptos Display"/>
              </a:rPr>
              <a:t> </a:t>
            </a:r>
            <a:r>
              <a:rPr sz="2400" dirty="0" err="1">
                <a:latin typeface="Aptos Display"/>
              </a:rPr>
              <a:t>spiegano</a:t>
            </a:r>
            <a:r>
              <a:rPr sz="2400" dirty="0">
                <a:latin typeface="Aptos Display"/>
              </a:rPr>
              <a:t> bene il </a:t>
            </a:r>
            <a:r>
              <a:rPr sz="2400" dirty="0" err="1">
                <a:latin typeface="Aptos Display"/>
              </a:rPr>
              <a:t>prezzo</a:t>
            </a:r>
            <a:r>
              <a:rPr sz="2400" dirty="0">
                <a:latin typeface="Aptos Display"/>
              </a:rPr>
              <a:t> ma </a:t>
            </a:r>
            <a:r>
              <a:rPr lang="it-IT" sz="2400" dirty="0">
                <a:latin typeface="Aptos Display"/>
              </a:rPr>
              <a:t>non </a:t>
            </a:r>
            <a:r>
              <a:rPr sz="2400" dirty="0" err="1">
                <a:latin typeface="Aptos Display"/>
              </a:rPr>
              <a:t>i</a:t>
            </a:r>
            <a:r>
              <a:rPr sz="2400" dirty="0">
                <a:latin typeface="Aptos Display"/>
              </a:rPr>
              <a:t> </a:t>
            </a:r>
            <a:r>
              <a:rPr sz="2400" dirty="0" err="1">
                <a:latin typeface="Aptos Display"/>
              </a:rPr>
              <a:t>preferiti</a:t>
            </a:r>
            <a:r>
              <a:rPr lang="it-IT" sz="2400" dirty="0">
                <a:latin typeface="Aptos Display"/>
              </a:rPr>
              <a:t> e quindi sono fenomeni indipendenti</a:t>
            </a:r>
            <a:r>
              <a:rPr sz="2400" dirty="0">
                <a:latin typeface="Aptos Display"/>
              </a:rPr>
              <a:t>.</a:t>
            </a:r>
            <a:endParaRPr lang="it-IT" sz="2400" dirty="0">
              <a:latin typeface="Aptos Display"/>
            </a:endParaRPr>
          </a:p>
          <a:p>
            <a:endParaRPr sz="1200" dirty="0">
              <a:solidFill>
                <a:srgbClr val="555555"/>
              </a:solidFill>
              <a:latin typeface="Aptos Display"/>
            </a:endParaRPr>
          </a:p>
        </p:txBody>
      </p:sp>
      <p:sp>
        <p:nvSpPr>
          <p:cNvPr id="15" name="TextBox 14"/>
          <p:cNvSpPr txBox="1"/>
          <p:nvPr/>
        </p:nvSpPr>
        <p:spPr>
          <a:xfrm>
            <a:off x="716280" y="3767586"/>
            <a:ext cx="11140440" cy="2492990"/>
          </a:xfrm>
          <a:prstGeom prst="rect">
            <a:avLst/>
          </a:prstGeom>
          <a:noFill/>
        </p:spPr>
        <p:txBody>
          <a:bodyPr wrap="square">
            <a:spAutoFit/>
          </a:bodyPr>
          <a:lstStyle/>
          <a:p>
            <a:r>
              <a:rPr sz="2400" dirty="0">
                <a:latin typeface="Aptos Display"/>
              </a:rPr>
              <a:t>I </a:t>
            </a:r>
            <a:r>
              <a:rPr sz="2400" dirty="0" err="1">
                <a:latin typeface="Aptos Display"/>
              </a:rPr>
              <a:t>preferiti</a:t>
            </a:r>
            <a:r>
              <a:rPr sz="2400" dirty="0">
                <a:latin typeface="Aptos Display"/>
              </a:rPr>
              <a:t> </a:t>
            </a:r>
            <a:r>
              <a:rPr lang="it-IT" sz="2400" dirty="0">
                <a:latin typeface="Aptos Display"/>
              </a:rPr>
              <a:t>potrebbero essere spiegati meglio da variabili non presenti nel dataset come ad esempio:</a:t>
            </a:r>
          </a:p>
          <a:p>
            <a:r>
              <a:rPr lang="it-IT" sz="2400" dirty="0">
                <a:latin typeface="Aptos Display"/>
              </a:rPr>
              <a:t>          - qualità della foto</a:t>
            </a:r>
          </a:p>
          <a:p>
            <a:r>
              <a:rPr lang="it-IT" sz="2400" dirty="0">
                <a:latin typeface="Aptos Display"/>
              </a:rPr>
              <a:t>          - descrizione </a:t>
            </a:r>
          </a:p>
          <a:p>
            <a:r>
              <a:rPr lang="it-IT" sz="2400" dirty="0">
                <a:latin typeface="Aptos Display"/>
              </a:rPr>
              <a:t>          - visibilità dell’algoritmo</a:t>
            </a:r>
          </a:p>
          <a:p>
            <a:r>
              <a:rPr lang="it-IT" sz="2400" dirty="0">
                <a:latin typeface="Aptos Display"/>
              </a:rPr>
              <a:t>          - momento di pubblicazione</a:t>
            </a:r>
          </a:p>
          <a:p>
            <a:endParaRPr lang="it-IT" sz="1200" dirty="0">
              <a:solidFill>
                <a:srgbClr val="555555"/>
              </a:solidFill>
              <a:latin typeface="Aptos Display"/>
            </a:endParaRPr>
          </a:p>
        </p:txBody>
      </p:sp>
      <p:sp>
        <p:nvSpPr>
          <p:cNvPr id="999" name="PageNum26"/>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pd_logo.png"/>
          <p:cNvPicPr>
            <a:picLocks noChangeAspect="1"/>
          </p:cNvPicPr>
          <p:nvPr/>
        </p:nvPicPr>
        <p:blipFill>
          <a:blip r:embed="rId2"/>
          <a:stretch>
            <a:fillRect/>
          </a:stretch>
        </p:blipFill>
        <p:spPr>
          <a:xfrm>
            <a:off x="457200" y="274320"/>
            <a:ext cx="2286000" cy="1005840"/>
          </a:xfrm>
          <a:prstGeom prst="rect">
            <a:avLst/>
          </a:prstGeom>
        </p:spPr>
      </p:pic>
      <p:sp>
        <p:nvSpPr>
          <p:cNvPr id="4" name="TextBox 3"/>
          <p:cNvSpPr txBox="1"/>
          <p:nvPr/>
        </p:nvSpPr>
        <p:spPr>
          <a:xfrm>
            <a:off x="914400" y="2011680"/>
            <a:ext cx="10058400" cy="338554"/>
          </a:xfrm>
          <a:prstGeom prst="rect">
            <a:avLst/>
          </a:prstGeom>
          <a:noFill/>
        </p:spPr>
        <p:txBody>
          <a:bodyPr wrap="square">
            <a:spAutoFit/>
          </a:bodyPr>
          <a:lstStyle/>
          <a:p>
            <a:pPr algn="ctr"/>
            <a:r>
              <a:rPr sz="2000" b="0" i="0" dirty="0">
                <a:solidFill>
                  <a:srgbClr val="FFCCCC"/>
                </a:solidFill>
                <a:latin typeface="Aptos Display"/>
              </a:rPr>
              <a:t>ANALISI DEI DATI AZIENDALI </a:t>
            </a:r>
            <a:r>
              <a:rPr lang="it-IT" sz="2000" dirty="0">
                <a:solidFill>
                  <a:srgbClr val="FFCCCC"/>
                </a:solidFill>
                <a:latin typeface="Aptos Display"/>
              </a:rPr>
              <a:t>: </a:t>
            </a:r>
            <a:r>
              <a:rPr sz="2000" b="0" i="0" dirty="0">
                <a:solidFill>
                  <a:srgbClr val="FFCCCC"/>
                </a:solidFill>
                <a:latin typeface="Aptos Display"/>
              </a:rPr>
              <a:t> VINTED.IT</a:t>
            </a:r>
          </a:p>
        </p:txBody>
      </p:sp>
      <p:sp>
        <p:nvSpPr>
          <p:cNvPr id="5" name="TextBox 4"/>
          <p:cNvSpPr txBox="1"/>
          <p:nvPr/>
        </p:nvSpPr>
        <p:spPr>
          <a:xfrm>
            <a:off x="914400" y="2651760"/>
            <a:ext cx="10058400" cy="1015663"/>
          </a:xfrm>
          <a:prstGeom prst="rect">
            <a:avLst/>
          </a:prstGeom>
          <a:noFill/>
        </p:spPr>
        <p:txBody>
          <a:bodyPr wrap="square">
            <a:spAutoFit/>
          </a:bodyPr>
          <a:lstStyle/>
          <a:p>
            <a:pPr algn="ctr"/>
            <a:r>
              <a:rPr sz="6000" b="0" i="1" dirty="0" err="1">
                <a:solidFill>
                  <a:srgbClr val="FFFFFF"/>
                </a:solidFill>
                <a:latin typeface="Aptos Display"/>
              </a:rPr>
              <a:t>Classificazione</a:t>
            </a:r>
            <a:r>
              <a:rPr sz="6000" b="0" i="1" dirty="0">
                <a:solidFill>
                  <a:srgbClr val="FFFFFF"/>
                </a:solidFill>
                <a:latin typeface="Aptos Display"/>
              </a:rPr>
              <a:t> </a:t>
            </a:r>
            <a:r>
              <a:rPr sz="6000" b="0" i="1" dirty="0" err="1">
                <a:solidFill>
                  <a:srgbClr val="FFFFFF"/>
                </a:solidFill>
                <a:latin typeface="Aptos Display"/>
              </a:rPr>
              <a:t>sulla</a:t>
            </a:r>
            <a:r>
              <a:rPr sz="6000" b="0" i="1" dirty="0">
                <a:solidFill>
                  <a:srgbClr val="FFFFFF"/>
                </a:solidFill>
                <a:latin typeface="Aptos Display"/>
              </a:rPr>
              <a:t> </a:t>
            </a:r>
            <a:r>
              <a:rPr sz="6000" b="0" i="1" dirty="0" err="1">
                <a:solidFill>
                  <a:srgbClr val="FFFFFF"/>
                </a:solidFill>
                <a:latin typeface="Aptos Display"/>
              </a:rPr>
              <a:t>Qualità</a:t>
            </a:r>
            <a:endParaRPr sz="6000" b="0" i="1" dirty="0">
              <a:solidFill>
                <a:srgbClr val="FFFFFF"/>
              </a:solidFill>
              <a:latin typeface="Aptos Display"/>
            </a:endParaRPr>
          </a:p>
        </p:txBody>
      </p:sp>
      <p:sp>
        <p:nvSpPr>
          <p:cNvPr id="6" name="TextBox 5"/>
          <p:cNvSpPr txBox="1"/>
          <p:nvPr/>
        </p:nvSpPr>
        <p:spPr>
          <a:xfrm>
            <a:off x="914400" y="4114800"/>
            <a:ext cx="10058400" cy="461665"/>
          </a:xfrm>
          <a:prstGeom prst="rect">
            <a:avLst/>
          </a:prstGeom>
          <a:noFill/>
        </p:spPr>
        <p:txBody>
          <a:bodyPr wrap="square">
            <a:spAutoFit/>
          </a:bodyPr>
          <a:lstStyle/>
          <a:p>
            <a:pPr algn="ctr"/>
            <a:r>
              <a:rPr sz="2400" b="0" i="1" dirty="0">
                <a:solidFill>
                  <a:srgbClr val="FFCCCC"/>
                </a:solidFill>
                <a:latin typeface="Aptos Display"/>
              </a:rPr>
              <a:t>Probit </a:t>
            </a:r>
            <a:r>
              <a:rPr sz="2400" b="0" i="1" dirty="0" err="1">
                <a:solidFill>
                  <a:srgbClr val="FFCCCC"/>
                </a:solidFill>
                <a:latin typeface="Aptos Display"/>
              </a:rPr>
              <a:t>Ordinale</a:t>
            </a:r>
            <a:r>
              <a:rPr sz="2400" b="0" i="1" dirty="0">
                <a:solidFill>
                  <a:srgbClr val="FFCCCC"/>
                </a:solidFill>
                <a:latin typeface="Aptos Display"/>
              </a:rPr>
              <a:t> · </a:t>
            </a:r>
            <a:r>
              <a:rPr sz="2400" b="0" i="1" dirty="0" err="1">
                <a:solidFill>
                  <a:srgbClr val="FFCCCC"/>
                </a:solidFill>
                <a:latin typeface="Aptos Display"/>
              </a:rPr>
              <a:t>Sbilanciamento</a:t>
            </a:r>
            <a:r>
              <a:rPr sz="2400" b="0" i="1" dirty="0">
                <a:solidFill>
                  <a:srgbClr val="FFCCCC"/>
                </a:solidFill>
                <a:latin typeface="Aptos Display"/>
              </a:rPr>
              <a:t> </a:t>
            </a:r>
          </a:p>
        </p:txBody>
      </p:sp>
      <p:sp>
        <p:nvSpPr>
          <p:cNvPr id="999" name="PageNum27"/>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ADB8-58BA-6EEA-CA9C-D27F55218B1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E9943E4E-EFD8-3453-7B7E-A80A4C7EBDAB}"/>
              </a:ext>
            </a:extLst>
          </p:cNvPr>
          <p:cNvSpPr/>
          <p:nvPr/>
        </p:nvSpPr>
        <p:spPr>
          <a:xfrm>
            <a:off x="-14288" y="-14288"/>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89031575-F608-14C5-8C9E-795D2B72229F}"/>
              </a:ext>
            </a:extLst>
          </p:cNvPr>
          <p:cNvSpPr>
            <a:spLocks noGrp="1"/>
          </p:cNvSpPr>
          <p:nvPr>
            <p:ph type="title"/>
          </p:nvPr>
        </p:nvSpPr>
        <p:spPr>
          <a:xfrm>
            <a:off x="823912" y="141658"/>
            <a:ext cx="10515600" cy="1325563"/>
          </a:xfrm>
        </p:spPr>
        <p:txBody>
          <a:bodyPr>
            <a:normAutofit/>
          </a:bodyPr>
          <a:lstStyle/>
          <a:p>
            <a:r>
              <a:rPr lang="it-IT" dirty="0">
                <a:solidFill>
                  <a:schemeClr val="bg1"/>
                </a:solidFill>
              </a:rPr>
              <a:t>Qualità del prodotto</a:t>
            </a:r>
          </a:p>
        </p:txBody>
      </p:sp>
      <p:sp>
        <p:nvSpPr>
          <p:cNvPr id="3" name="Segnaposto contenuto 2">
            <a:extLst>
              <a:ext uri="{FF2B5EF4-FFF2-40B4-BE49-F238E27FC236}">
                <a16:creationId xmlns:a16="http://schemas.microsoft.com/office/drawing/2014/main" id="{D5338DCB-518E-C2EB-3472-6EB920EC2774}"/>
              </a:ext>
            </a:extLst>
          </p:cNvPr>
          <p:cNvSpPr>
            <a:spLocks noGrp="1"/>
          </p:cNvSpPr>
          <p:nvPr>
            <p:ph idx="1"/>
          </p:nvPr>
        </p:nvSpPr>
        <p:spPr>
          <a:xfrm>
            <a:off x="838200" y="2439998"/>
            <a:ext cx="10803800" cy="4349310"/>
          </a:xfrm>
        </p:spPr>
        <p:txBody>
          <a:bodyPr>
            <a:normAutofit/>
          </a:bodyPr>
          <a:lstStyle/>
          <a:p>
            <a:pPr>
              <a:lnSpc>
                <a:spcPct val="100000"/>
              </a:lnSpc>
            </a:pPr>
            <a:r>
              <a:rPr lang="it-IT" sz="2400" b="1" dirty="0">
                <a:latin typeface="Aptos Display"/>
              </a:rPr>
              <a:t>Il problema aziendale:</a:t>
            </a:r>
            <a:r>
              <a:rPr lang="it-IT" sz="2400" dirty="0">
                <a:latin typeface="Aptos Display"/>
              </a:rPr>
              <a:t> Nel mercato C2C, l'incertezza sulla qualità percepita rappresenta la barriera principale alla conversione d'acquisto.</a:t>
            </a:r>
          </a:p>
          <a:p>
            <a:pPr marL="0" indent="0">
              <a:lnSpc>
                <a:spcPct val="100000"/>
              </a:lnSpc>
              <a:buNone/>
            </a:pPr>
            <a:endParaRPr lang="it-IT" sz="2400" dirty="0">
              <a:latin typeface="Aptos Display"/>
            </a:endParaRPr>
          </a:p>
          <a:p>
            <a:pPr>
              <a:lnSpc>
                <a:spcPct val="100000"/>
              </a:lnSpc>
            </a:pPr>
            <a:r>
              <a:rPr lang="it-IT" sz="2400" b="1" dirty="0">
                <a:latin typeface="Aptos Display"/>
              </a:rPr>
              <a:t>L'obiettivo della consulenza:</a:t>
            </a:r>
            <a:r>
              <a:rPr lang="it-IT" sz="2400" dirty="0">
                <a:latin typeface="Aptos Display"/>
              </a:rPr>
              <a:t> Identificare cosa rende un prodotto di qualità su </a:t>
            </a:r>
            <a:r>
              <a:rPr lang="it-IT" sz="2400" dirty="0" err="1">
                <a:latin typeface="Aptos Display"/>
              </a:rPr>
              <a:t>Vinted</a:t>
            </a:r>
            <a:r>
              <a:rPr lang="it-IT" sz="2400" dirty="0">
                <a:latin typeface="Aptos Display"/>
              </a:rPr>
              <a:t>.</a:t>
            </a:r>
          </a:p>
          <a:p>
            <a:pPr>
              <a:lnSpc>
                <a:spcPct val="100000"/>
              </a:lnSpc>
            </a:pPr>
            <a:endParaRPr lang="it-IT" sz="2400" dirty="0">
              <a:latin typeface="Aptos Display"/>
            </a:endParaRPr>
          </a:p>
          <a:p>
            <a:pPr>
              <a:lnSpc>
                <a:spcPct val="100000"/>
              </a:lnSpc>
            </a:pPr>
            <a:r>
              <a:rPr lang="it-IT" sz="2400" b="1" dirty="0">
                <a:latin typeface="Aptos Display"/>
              </a:rPr>
              <a:t>L'approccio statistico: </a:t>
            </a:r>
            <a:r>
              <a:rPr lang="it-IT" sz="2400" dirty="0">
                <a:latin typeface="Aptos Display"/>
              </a:rPr>
              <a:t>Modello di classificazione ordinata applicato alle categorie di stato del prodotto.</a:t>
            </a:r>
          </a:p>
        </p:txBody>
      </p:sp>
      <p:pic>
        <p:nvPicPr>
          <p:cNvPr id="6" name="Picture 5">
            <a:extLst>
              <a:ext uri="{FF2B5EF4-FFF2-40B4-BE49-F238E27FC236}">
                <a16:creationId xmlns:a16="http://schemas.microsoft.com/office/drawing/2014/main" id="{C66FE20F-CD13-B9CB-8232-C9C733DBDB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28"/>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28</a:t>
            </a:r>
          </a:p>
        </p:txBody>
      </p:sp>
    </p:spTree>
    <p:extLst>
      <p:ext uri="{BB962C8B-B14F-4D97-AF65-F5344CB8AC3E}">
        <p14:creationId xmlns:p14="http://schemas.microsoft.com/office/powerpoint/2010/main" val="2904137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414399"/>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lang="it-IT" sz="3200" i="1" dirty="0">
                <a:solidFill>
                  <a:srgbClr val="FFFFFF"/>
                </a:solidFill>
                <a:latin typeface="Aptos Display"/>
              </a:rPr>
              <a:t>V</a:t>
            </a:r>
            <a:r>
              <a:rPr sz="3200" i="1" dirty="0" err="1">
                <a:solidFill>
                  <a:srgbClr val="FFFFFF"/>
                </a:solidFill>
                <a:latin typeface="Aptos Display"/>
              </a:rPr>
              <a:t>ariabile</a:t>
            </a:r>
            <a:r>
              <a:rPr sz="3200" i="1" dirty="0">
                <a:solidFill>
                  <a:srgbClr val="FFFFFF"/>
                </a:solidFill>
                <a:latin typeface="Aptos Display"/>
              </a:rPr>
              <a:t> </a:t>
            </a:r>
            <a:r>
              <a:rPr sz="3200" i="1" dirty="0" err="1">
                <a:solidFill>
                  <a:srgbClr val="FFFFFF"/>
                </a:solidFill>
                <a:latin typeface="Aptos Display"/>
              </a:rPr>
              <a:t>risposta</a:t>
            </a:r>
            <a:endParaRPr sz="3200" i="1" dirty="0">
              <a:solidFill>
                <a:srgbClr val="FFFFFF"/>
              </a:solidFill>
              <a:latin typeface="Aptos Display"/>
            </a:endParaRPr>
          </a:p>
        </p:txBody>
      </p:sp>
      <p:pic>
        <p:nvPicPr>
          <p:cNvPr id="4" name="Picture 3" descr="unipd_logo.png"/>
          <p:cNvPicPr>
            <a:picLocks noChangeAspect="1"/>
          </p:cNvPicPr>
          <p:nvPr/>
        </p:nvPicPr>
        <p:blipFill>
          <a:blip r:embed="rId2"/>
          <a:stretch>
            <a:fillRect/>
          </a:stretch>
        </p:blipFill>
        <p:spPr>
          <a:xfrm>
            <a:off x="8572500" y="260604"/>
            <a:ext cx="2651760" cy="1188720"/>
          </a:xfrm>
          <a:prstGeom prst="rect">
            <a:avLst/>
          </a:prstGeom>
        </p:spPr>
      </p:pic>
      <p:sp>
        <p:nvSpPr>
          <p:cNvPr id="5" name="TextBox 4"/>
          <p:cNvSpPr txBox="1"/>
          <p:nvPr/>
        </p:nvSpPr>
        <p:spPr>
          <a:xfrm>
            <a:off x="517208" y="1888808"/>
            <a:ext cx="11247120" cy="400110"/>
          </a:xfrm>
          <a:prstGeom prst="rect">
            <a:avLst/>
          </a:prstGeom>
          <a:noFill/>
        </p:spPr>
        <p:txBody>
          <a:bodyPr wrap="square">
            <a:spAutoFit/>
          </a:bodyPr>
          <a:lstStyle/>
          <a:p>
            <a:pPr algn="l"/>
            <a:r>
              <a:rPr lang="it-IT" sz="2000" b="0" i="1" dirty="0">
                <a:latin typeface="Aptos Display"/>
              </a:rPr>
              <a:t>Distribuzione della variabile risposta</a:t>
            </a:r>
            <a:endParaRPr sz="2000" b="0" i="1" dirty="0">
              <a:latin typeface="Aptos Display"/>
            </a:endParaRPr>
          </a:p>
        </p:txBody>
      </p:sp>
      <p:sp>
        <p:nvSpPr>
          <p:cNvPr id="6" name="Rectangle 5"/>
          <p:cNvSpPr/>
          <p:nvPr/>
        </p:nvSpPr>
        <p:spPr>
          <a:xfrm>
            <a:off x="502920" y="2331720"/>
            <a:ext cx="2011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2331720"/>
            <a:ext cx="2011680" cy="9144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555855"/>
            <a:ext cx="2011680" cy="461665"/>
          </a:xfrm>
          <a:prstGeom prst="rect">
            <a:avLst/>
          </a:prstGeom>
          <a:noFill/>
        </p:spPr>
        <p:txBody>
          <a:bodyPr wrap="square">
            <a:spAutoFit/>
          </a:bodyPr>
          <a:lstStyle/>
          <a:p>
            <a:pPr algn="ctr"/>
            <a:r>
              <a:rPr sz="2400" b="1" i="0" dirty="0">
                <a:solidFill>
                  <a:srgbClr val="CC3333"/>
                </a:solidFill>
                <a:latin typeface="Aptos Display"/>
              </a:rPr>
              <a:t>2%</a:t>
            </a:r>
          </a:p>
        </p:txBody>
      </p:sp>
      <p:sp>
        <p:nvSpPr>
          <p:cNvPr id="9" name="TextBox 8"/>
          <p:cNvSpPr txBox="1"/>
          <p:nvPr/>
        </p:nvSpPr>
        <p:spPr>
          <a:xfrm>
            <a:off x="502920" y="2999232"/>
            <a:ext cx="2011680" cy="411480"/>
          </a:xfrm>
          <a:prstGeom prst="rect">
            <a:avLst/>
          </a:prstGeom>
          <a:noFill/>
        </p:spPr>
        <p:txBody>
          <a:bodyPr wrap="square">
            <a:spAutoFit/>
          </a:bodyPr>
          <a:lstStyle/>
          <a:p>
            <a:pPr algn="ctr"/>
            <a:r>
              <a:rPr sz="2000" b="0" i="0" dirty="0">
                <a:latin typeface="Aptos Display"/>
              </a:rPr>
              <a:t>Discrete</a:t>
            </a:r>
          </a:p>
        </p:txBody>
      </p:sp>
      <p:sp>
        <p:nvSpPr>
          <p:cNvPr id="10" name="Rectangle 9"/>
          <p:cNvSpPr/>
          <p:nvPr/>
        </p:nvSpPr>
        <p:spPr>
          <a:xfrm>
            <a:off x="2697480" y="2331720"/>
            <a:ext cx="2011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697480" y="2331720"/>
            <a:ext cx="2011680" cy="914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27960" y="2550169"/>
            <a:ext cx="2011680" cy="461665"/>
          </a:xfrm>
          <a:prstGeom prst="rect">
            <a:avLst/>
          </a:prstGeom>
          <a:noFill/>
        </p:spPr>
        <p:txBody>
          <a:bodyPr wrap="square">
            <a:spAutoFit/>
          </a:bodyPr>
          <a:lstStyle/>
          <a:p>
            <a:pPr algn="ctr"/>
            <a:r>
              <a:rPr sz="2400" b="1" i="0" dirty="0">
                <a:solidFill>
                  <a:srgbClr val="E97132"/>
                </a:solidFill>
                <a:latin typeface="Aptos Display"/>
              </a:rPr>
              <a:t>13%</a:t>
            </a:r>
          </a:p>
        </p:txBody>
      </p:sp>
      <p:sp>
        <p:nvSpPr>
          <p:cNvPr id="13" name="TextBox 12"/>
          <p:cNvSpPr txBox="1"/>
          <p:nvPr/>
        </p:nvSpPr>
        <p:spPr>
          <a:xfrm>
            <a:off x="2697480" y="2999232"/>
            <a:ext cx="2011680" cy="411480"/>
          </a:xfrm>
          <a:prstGeom prst="rect">
            <a:avLst/>
          </a:prstGeom>
          <a:noFill/>
        </p:spPr>
        <p:txBody>
          <a:bodyPr wrap="square">
            <a:spAutoFit/>
          </a:bodyPr>
          <a:lstStyle/>
          <a:p>
            <a:pPr algn="ctr"/>
            <a:r>
              <a:rPr sz="2000" b="0" i="0" dirty="0" err="1">
                <a:latin typeface="Aptos Display"/>
              </a:rPr>
              <a:t>Buone</a:t>
            </a:r>
            <a:endParaRPr sz="1300" b="0" i="0" dirty="0">
              <a:latin typeface="Aptos Display"/>
            </a:endParaRPr>
          </a:p>
        </p:txBody>
      </p:sp>
      <p:sp>
        <p:nvSpPr>
          <p:cNvPr id="14" name="Rectangle 13"/>
          <p:cNvSpPr/>
          <p:nvPr/>
        </p:nvSpPr>
        <p:spPr>
          <a:xfrm>
            <a:off x="4892040" y="2331720"/>
            <a:ext cx="2011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92040" y="2331720"/>
            <a:ext cx="2011680" cy="914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92040" y="2545187"/>
            <a:ext cx="2011680" cy="461665"/>
          </a:xfrm>
          <a:prstGeom prst="rect">
            <a:avLst/>
          </a:prstGeom>
          <a:noFill/>
        </p:spPr>
        <p:txBody>
          <a:bodyPr wrap="square">
            <a:spAutoFit/>
          </a:bodyPr>
          <a:lstStyle/>
          <a:p>
            <a:pPr algn="ctr"/>
            <a:r>
              <a:rPr sz="2400" b="1" i="0" dirty="0">
                <a:solidFill>
                  <a:srgbClr val="156082"/>
                </a:solidFill>
                <a:latin typeface="Aptos Display"/>
              </a:rPr>
              <a:t>50%</a:t>
            </a:r>
          </a:p>
        </p:txBody>
      </p:sp>
      <p:sp>
        <p:nvSpPr>
          <p:cNvPr id="17" name="TextBox 16"/>
          <p:cNvSpPr txBox="1"/>
          <p:nvPr/>
        </p:nvSpPr>
        <p:spPr>
          <a:xfrm>
            <a:off x="4892040" y="2999232"/>
            <a:ext cx="2011680" cy="411480"/>
          </a:xfrm>
          <a:prstGeom prst="rect">
            <a:avLst/>
          </a:prstGeom>
          <a:noFill/>
        </p:spPr>
        <p:txBody>
          <a:bodyPr wrap="square">
            <a:spAutoFit/>
          </a:bodyPr>
          <a:lstStyle/>
          <a:p>
            <a:pPr algn="ctr"/>
            <a:r>
              <a:rPr sz="2000" b="0" i="0" dirty="0" err="1">
                <a:latin typeface="Aptos Display"/>
              </a:rPr>
              <a:t>Ottime</a:t>
            </a:r>
            <a:endParaRPr sz="2000" b="0" i="0" dirty="0">
              <a:latin typeface="Aptos Display"/>
            </a:endParaRPr>
          </a:p>
        </p:txBody>
      </p:sp>
      <p:sp>
        <p:nvSpPr>
          <p:cNvPr id="18" name="Rectangle 17"/>
          <p:cNvSpPr/>
          <p:nvPr/>
        </p:nvSpPr>
        <p:spPr>
          <a:xfrm>
            <a:off x="7086600" y="2331720"/>
            <a:ext cx="2011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086600" y="2331720"/>
            <a:ext cx="2011680" cy="914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2544370"/>
            <a:ext cx="2011680" cy="461665"/>
          </a:xfrm>
          <a:prstGeom prst="rect">
            <a:avLst/>
          </a:prstGeom>
          <a:noFill/>
        </p:spPr>
        <p:txBody>
          <a:bodyPr wrap="square">
            <a:spAutoFit/>
          </a:bodyPr>
          <a:lstStyle/>
          <a:p>
            <a:pPr algn="ctr"/>
            <a:r>
              <a:rPr sz="2400" b="1" i="0" dirty="0">
                <a:solidFill>
                  <a:srgbClr val="196B24"/>
                </a:solidFill>
                <a:latin typeface="Aptos Display"/>
              </a:rPr>
              <a:t>16%</a:t>
            </a:r>
          </a:p>
        </p:txBody>
      </p:sp>
      <p:sp>
        <p:nvSpPr>
          <p:cNvPr id="21" name="TextBox 20"/>
          <p:cNvSpPr txBox="1"/>
          <p:nvPr/>
        </p:nvSpPr>
        <p:spPr>
          <a:xfrm>
            <a:off x="7086600" y="2954732"/>
            <a:ext cx="2011680" cy="707886"/>
          </a:xfrm>
          <a:prstGeom prst="rect">
            <a:avLst/>
          </a:prstGeom>
          <a:noFill/>
        </p:spPr>
        <p:txBody>
          <a:bodyPr wrap="square">
            <a:spAutoFit/>
          </a:bodyPr>
          <a:lstStyle/>
          <a:p>
            <a:pPr algn="ctr"/>
            <a:r>
              <a:rPr sz="2000" b="0" i="0" dirty="0">
                <a:latin typeface="Aptos Display"/>
              </a:rPr>
              <a:t>Nuovo s</a:t>
            </a:r>
            <a:r>
              <a:rPr lang="it-IT" sz="2000" dirty="0" err="1">
                <a:latin typeface="Aptos Display"/>
              </a:rPr>
              <a:t>enza</a:t>
            </a:r>
            <a:r>
              <a:rPr lang="it-IT" sz="2000" dirty="0">
                <a:latin typeface="Aptos Display"/>
              </a:rPr>
              <a:t> </a:t>
            </a:r>
          </a:p>
          <a:p>
            <a:pPr algn="ctr"/>
            <a:r>
              <a:rPr lang="it-IT" sz="2000" b="0" i="0" dirty="0">
                <a:latin typeface="Aptos Display"/>
              </a:rPr>
              <a:t>cartellino</a:t>
            </a:r>
            <a:endParaRPr sz="1300" b="0" i="0" dirty="0">
              <a:latin typeface="Aptos Display"/>
            </a:endParaRPr>
          </a:p>
        </p:txBody>
      </p:sp>
      <p:sp>
        <p:nvSpPr>
          <p:cNvPr id="22" name="Rectangle 21"/>
          <p:cNvSpPr/>
          <p:nvPr/>
        </p:nvSpPr>
        <p:spPr>
          <a:xfrm>
            <a:off x="9281160" y="2331720"/>
            <a:ext cx="2011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81160" y="2331720"/>
            <a:ext cx="2011680" cy="914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81160" y="2544370"/>
            <a:ext cx="2011680" cy="461665"/>
          </a:xfrm>
          <a:prstGeom prst="rect">
            <a:avLst/>
          </a:prstGeom>
          <a:noFill/>
        </p:spPr>
        <p:txBody>
          <a:bodyPr wrap="square">
            <a:spAutoFit/>
          </a:bodyPr>
          <a:lstStyle/>
          <a:p>
            <a:pPr algn="ctr"/>
            <a:r>
              <a:rPr sz="2400" b="1" i="0" dirty="0">
                <a:solidFill>
                  <a:srgbClr val="196B24"/>
                </a:solidFill>
                <a:latin typeface="Aptos Display"/>
              </a:rPr>
              <a:t>19%</a:t>
            </a:r>
          </a:p>
        </p:txBody>
      </p:sp>
      <p:sp>
        <p:nvSpPr>
          <p:cNvPr id="25" name="TextBox 24"/>
          <p:cNvSpPr txBox="1"/>
          <p:nvPr/>
        </p:nvSpPr>
        <p:spPr>
          <a:xfrm>
            <a:off x="9281160" y="2954732"/>
            <a:ext cx="2011680" cy="707886"/>
          </a:xfrm>
          <a:prstGeom prst="rect">
            <a:avLst/>
          </a:prstGeom>
          <a:noFill/>
        </p:spPr>
        <p:txBody>
          <a:bodyPr wrap="square">
            <a:spAutoFit/>
          </a:bodyPr>
          <a:lstStyle/>
          <a:p>
            <a:pPr algn="ctr"/>
            <a:r>
              <a:rPr sz="2000" b="0" i="0" dirty="0">
                <a:latin typeface="Aptos Display"/>
              </a:rPr>
              <a:t>Nuovo c</a:t>
            </a:r>
            <a:r>
              <a:rPr lang="it-IT" sz="2000" dirty="0">
                <a:latin typeface="Aptos Display"/>
              </a:rPr>
              <a:t>on cartellino</a:t>
            </a:r>
            <a:endParaRPr sz="1300" b="0" i="0" dirty="0">
              <a:latin typeface="Aptos Display"/>
            </a:endParaRPr>
          </a:p>
        </p:txBody>
      </p:sp>
      <p:sp>
        <p:nvSpPr>
          <p:cNvPr id="27" name="TextBox 26"/>
          <p:cNvSpPr txBox="1"/>
          <p:nvPr/>
        </p:nvSpPr>
        <p:spPr>
          <a:xfrm>
            <a:off x="502920" y="3886200"/>
            <a:ext cx="11247120" cy="320040"/>
          </a:xfrm>
          <a:prstGeom prst="rect">
            <a:avLst/>
          </a:prstGeom>
          <a:noFill/>
        </p:spPr>
        <p:txBody>
          <a:bodyPr wrap="square">
            <a:spAutoFit/>
          </a:bodyPr>
          <a:lstStyle/>
          <a:p>
            <a:pPr algn="l"/>
            <a:r>
              <a:rPr sz="2000" b="1" i="0">
                <a:solidFill>
                  <a:srgbClr val="B20E10"/>
                </a:solidFill>
                <a:latin typeface="Aptos Display"/>
              </a:rPr>
              <a:t>Il problema: classi fortemente sbilanciate</a:t>
            </a:r>
          </a:p>
        </p:txBody>
      </p:sp>
      <p:sp>
        <p:nvSpPr>
          <p:cNvPr id="28" name="Rectangle 27"/>
          <p:cNvSpPr/>
          <p:nvPr/>
        </p:nvSpPr>
        <p:spPr>
          <a:xfrm>
            <a:off x="502920" y="4297680"/>
            <a:ext cx="3611880" cy="23317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 name="Rectangle 28"/>
          <p:cNvSpPr/>
          <p:nvPr/>
        </p:nvSpPr>
        <p:spPr>
          <a:xfrm>
            <a:off x="502920" y="4297680"/>
            <a:ext cx="3611880" cy="73152"/>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4407408"/>
            <a:ext cx="3337560" cy="365760"/>
          </a:xfrm>
          <a:prstGeom prst="rect">
            <a:avLst/>
          </a:prstGeom>
          <a:noFill/>
        </p:spPr>
        <p:txBody>
          <a:bodyPr wrap="square">
            <a:spAutoFit/>
          </a:bodyPr>
          <a:lstStyle/>
          <a:p>
            <a:pPr algn="l"/>
            <a:r>
              <a:rPr sz="2000" b="1" i="0">
                <a:solidFill>
                  <a:srgbClr val="B20E10"/>
                </a:solidFill>
                <a:latin typeface="Aptos Display"/>
              </a:rPr>
              <a:t>Discrete solo 2%</a:t>
            </a:r>
          </a:p>
        </p:txBody>
      </p:sp>
      <p:sp>
        <p:nvSpPr>
          <p:cNvPr id="31" name="TextBox 30"/>
          <p:cNvSpPr txBox="1"/>
          <p:nvPr/>
        </p:nvSpPr>
        <p:spPr>
          <a:xfrm>
            <a:off x="640080" y="4828032"/>
            <a:ext cx="3337560" cy="1323439"/>
          </a:xfrm>
          <a:prstGeom prst="rect">
            <a:avLst/>
          </a:prstGeom>
          <a:noFill/>
        </p:spPr>
        <p:txBody>
          <a:bodyPr wrap="square">
            <a:spAutoFit/>
          </a:bodyPr>
          <a:lstStyle/>
          <a:p>
            <a:pPr algn="l"/>
            <a:r>
              <a:rPr sz="2000" b="0" i="1" dirty="0">
                <a:latin typeface="Aptos Display"/>
              </a:rPr>
              <a:t>Il </a:t>
            </a:r>
            <a:r>
              <a:rPr sz="2000" b="0" i="1" dirty="0" err="1">
                <a:latin typeface="Aptos Display"/>
              </a:rPr>
              <a:t>modello</a:t>
            </a:r>
            <a:r>
              <a:rPr sz="2000" b="0" i="1" dirty="0">
                <a:latin typeface="Aptos Display"/>
              </a:rPr>
              <a:t> </a:t>
            </a:r>
            <a:r>
              <a:rPr sz="2000" b="0" i="1" dirty="0" err="1">
                <a:latin typeface="Aptos Display"/>
              </a:rPr>
              <a:t>tende</a:t>
            </a:r>
            <a:r>
              <a:rPr sz="2000" b="0" i="1" dirty="0">
                <a:latin typeface="Aptos Display"/>
              </a:rPr>
              <a:t> a </a:t>
            </a:r>
            <a:r>
              <a:rPr sz="2000" b="0" i="1" dirty="0" err="1">
                <a:latin typeface="Aptos Display"/>
              </a:rPr>
              <a:t>ignorare</a:t>
            </a:r>
            <a:r>
              <a:rPr sz="2000" b="0" i="1" dirty="0">
                <a:latin typeface="Aptos Display"/>
              </a:rPr>
              <a:t> </a:t>
            </a:r>
            <a:r>
              <a:rPr sz="2000" b="0" i="1" dirty="0" err="1">
                <a:latin typeface="Aptos Display"/>
              </a:rPr>
              <a:t>completamente</a:t>
            </a:r>
            <a:r>
              <a:rPr sz="2000" b="0" i="1" dirty="0">
                <a:latin typeface="Aptos Display"/>
              </a:rPr>
              <a:t> la </a:t>
            </a:r>
            <a:r>
              <a:rPr sz="2000" b="0" i="1" dirty="0" err="1">
                <a:latin typeface="Aptos Display"/>
              </a:rPr>
              <a:t>classe</a:t>
            </a:r>
            <a:r>
              <a:rPr sz="2000" b="0" i="1" dirty="0">
                <a:latin typeface="Aptos Display"/>
              </a:rPr>
              <a:t> </a:t>
            </a:r>
            <a:r>
              <a:rPr sz="2000" b="0" i="1" dirty="0" err="1">
                <a:latin typeface="Aptos Display"/>
              </a:rPr>
              <a:t>più</a:t>
            </a:r>
            <a:r>
              <a:rPr sz="2000" b="0" i="1" dirty="0">
                <a:latin typeface="Aptos Display"/>
              </a:rPr>
              <a:t> rara</a:t>
            </a:r>
            <a:r>
              <a:rPr lang="it-IT" sz="2000" b="0" i="1" dirty="0">
                <a:latin typeface="Aptos Display"/>
              </a:rPr>
              <a:t>, </a:t>
            </a:r>
            <a:r>
              <a:rPr sz="2000" b="0" i="1" dirty="0">
                <a:latin typeface="Aptos Display"/>
              </a:rPr>
              <a:t> in </a:t>
            </a:r>
            <a:r>
              <a:rPr sz="2000" b="0" i="1" dirty="0" err="1">
                <a:latin typeface="Aptos Display"/>
              </a:rPr>
              <a:t>effetti</a:t>
            </a:r>
            <a:r>
              <a:rPr sz="2000" b="0" i="1" dirty="0">
                <a:latin typeface="Aptos Display"/>
              </a:rPr>
              <a:t> il </a:t>
            </a:r>
            <a:r>
              <a:rPr sz="2000" b="0" i="1" dirty="0" err="1">
                <a:latin typeface="Aptos Display"/>
              </a:rPr>
              <a:t>modello</a:t>
            </a:r>
            <a:r>
              <a:rPr sz="2000" b="0" i="1" dirty="0">
                <a:latin typeface="Aptos Display"/>
              </a:rPr>
              <a:t> step non </a:t>
            </a:r>
            <a:r>
              <a:rPr sz="2000" b="0" i="1" dirty="0" err="1">
                <a:latin typeface="Aptos Display"/>
              </a:rPr>
              <a:t>predice</a:t>
            </a:r>
            <a:r>
              <a:rPr sz="2000" b="0" i="1" dirty="0">
                <a:latin typeface="Aptos Display"/>
              </a:rPr>
              <a:t> </a:t>
            </a:r>
            <a:r>
              <a:rPr sz="2000" b="0" i="1" dirty="0" err="1">
                <a:latin typeface="Aptos Display"/>
              </a:rPr>
              <a:t>mai</a:t>
            </a:r>
            <a:r>
              <a:rPr sz="2000" b="0" i="1" dirty="0">
                <a:latin typeface="Aptos Display"/>
              </a:rPr>
              <a:t> 'Discrete'.</a:t>
            </a:r>
          </a:p>
        </p:txBody>
      </p:sp>
      <p:sp>
        <p:nvSpPr>
          <p:cNvPr id="32" name="Rectangle 31"/>
          <p:cNvSpPr/>
          <p:nvPr/>
        </p:nvSpPr>
        <p:spPr>
          <a:xfrm>
            <a:off x="4297680" y="4297680"/>
            <a:ext cx="3611880" cy="23317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297680" y="4297680"/>
            <a:ext cx="3611880" cy="73152"/>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34840" y="4407408"/>
            <a:ext cx="3337560" cy="365760"/>
          </a:xfrm>
          <a:prstGeom prst="rect">
            <a:avLst/>
          </a:prstGeom>
          <a:noFill/>
        </p:spPr>
        <p:txBody>
          <a:bodyPr wrap="square">
            <a:spAutoFit/>
          </a:bodyPr>
          <a:lstStyle/>
          <a:p>
            <a:pPr algn="l"/>
            <a:r>
              <a:rPr sz="2000" b="1" i="0">
                <a:solidFill>
                  <a:srgbClr val="B20E10"/>
                </a:solidFill>
                <a:latin typeface="Aptos Display"/>
              </a:rPr>
              <a:t>Ottime = 50%</a:t>
            </a:r>
          </a:p>
        </p:txBody>
      </p:sp>
      <p:sp>
        <p:nvSpPr>
          <p:cNvPr id="35" name="TextBox 34"/>
          <p:cNvSpPr txBox="1"/>
          <p:nvPr/>
        </p:nvSpPr>
        <p:spPr>
          <a:xfrm>
            <a:off x="4434840" y="4828032"/>
            <a:ext cx="3474720" cy="1631216"/>
          </a:xfrm>
          <a:prstGeom prst="rect">
            <a:avLst/>
          </a:prstGeom>
          <a:noFill/>
        </p:spPr>
        <p:txBody>
          <a:bodyPr wrap="square">
            <a:spAutoFit/>
          </a:bodyPr>
          <a:lstStyle/>
          <a:p>
            <a:pPr algn="l"/>
            <a:r>
              <a:rPr lang="it-IT" sz="2000" i="1" dirty="0">
                <a:latin typeface="Aptos Display"/>
              </a:rPr>
              <a:t>Un modello che non impara nulla ma che dice solo «Ottime» ha comunque un 50% di </a:t>
            </a:r>
            <a:r>
              <a:rPr lang="it-IT" sz="2000" i="1" dirty="0" err="1">
                <a:latin typeface="Aptos Display"/>
              </a:rPr>
              <a:t>accuracy</a:t>
            </a:r>
            <a:r>
              <a:rPr lang="it-IT" sz="2000" i="1" dirty="0">
                <a:latin typeface="Aptos Display"/>
              </a:rPr>
              <a:t> che non risulta essere una metrica </a:t>
            </a:r>
            <a:r>
              <a:rPr lang="it-IT" sz="2000" i="1" dirty="0" err="1">
                <a:latin typeface="Aptos Display"/>
              </a:rPr>
              <a:t>afffidabile</a:t>
            </a:r>
            <a:r>
              <a:rPr lang="it-IT" sz="2000" i="1" dirty="0">
                <a:solidFill>
                  <a:srgbClr val="555555"/>
                </a:solidFill>
                <a:latin typeface="Aptos Display"/>
              </a:rPr>
              <a:t>.</a:t>
            </a:r>
            <a:endParaRPr sz="1100" b="0" i="1" dirty="0">
              <a:solidFill>
                <a:srgbClr val="555555"/>
              </a:solidFill>
              <a:latin typeface="Aptos Display"/>
            </a:endParaRPr>
          </a:p>
        </p:txBody>
      </p:sp>
      <p:sp>
        <p:nvSpPr>
          <p:cNvPr id="36" name="Rectangle 35"/>
          <p:cNvSpPr/>
          <p:nvPr/>
        </p:nvSpPr>
        <p:spPr>
          <a:xfrm>
            <a:off x="8092440" y="4297680"/>
            <a:ext cx="3611880" cy="233172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092440" y="4297680"/>
            <a:ext cx="3611880" cy="73152"/>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0" y="4407408"/>
            <a:ext cx="3337560" cy="365760"/>
          </a:xfrm>
          <a:prstGeom prst="rect">
            <a:avLst/>
          </a:prstGeom>
          <a:noFill/>
        </p:spPr>
        <p:txBody>
          <a:bodyPr wrap="square">
            <a:spAutoFit/>
          </a:bodyPr>
          <a:lstStyle/>
          <a:p>
            <a:pPr algn="l"/>
            <a:r>
              <a:rPr sz="2000" b="1" i="0">
                <a:solidFill>
                  <a:srgbClr val="B20E10"/>
                </a:solidFill>
                <a:latin typeface="Aptos Display"/>
              </a:rPr>
              <a:t>Stepwise elimina il profilo venditore</a:t>
            </a:r>
          </a:p>
        </p:txBody>
      </p:sp>
      <p:sp>
        <p:nvSpPr>
          <p:cNvPr id="39" name="TextBox 38"/>
          <p:cNvSpPr txBox="1"/>
          <p:nvPr/>
        </p:nvSpPr>
        <p:spPr>
          <a:xfrm>
            <a:off x="8198440" y="4966084"/>
            <a:ext cx="3337560" cy="1323439"/>
          </a:xfrm>
          <a:prstGeom prst="rect">
            <a:avLst/>
          </a:prstGeom>
          <a:noFill/>
        </p:spPr>
        <p:txBody>
          <a:bodyPr wrap="square">
            <a:spAutoFit/>
          </a:bodyPr>
          <a:lstStyle/>
          <a:p>
            <a:pPr algn="l"/>
            <a:r>
              <a:rPr sz="2000" b="0" i="1" dirty="0">
                <a:latin typeface="Aptos Display"/>
              </a:rPr>
              <a:t>Rating, </a:t>
            </a:r>
            <a:r>
              <a:rPr sz="2000" b="0" i="1" dirty="0" err="1">
                <a:latin typeface="Aptos Display"/>
              </a:rPr>
              <a:t>recensioni</a:t>
            </a:r>
            <a:r>
              <a:rPr sz="2000" b="0" i="1" dirty="0">
                <a:latin typeface="Aptos Display"/>
              </a:rPr>
              <a:t>, </a:t>
            </a:r>
            <a:r>
              <a:rPr sz="2000" b="0" i="1" dirty="0" err="1">
                <a:latin typeface="Aptos Display"/>
              </a:rPr>
              <a:t>distintivi</a:t>
            </a:r>
            <a:r>
              <a:rPr sz="2000" b="0" i="1" dirty="0">
                <a:latin typeface="Aptos Display"/>
              </a:rPr>
              <a:t> e N° </a:t>
            </a:r>
            <a:r>
              <a:rPr sz="2000" b="0" i="1" dirty="0" err="1">
                <a:latin typeface="Aptos Display"/>
              </a:rPr>
              <a:t>articoli</a:t>
            </a:r>
            <a:r>
              <a:rPr sz="2000" b="0" i="1" dirty="0">
                <a:latin typeface="Aptos Display"/>
              </a:rPr>
              <a:t> </a:t>
            </a:r>
            <a:r>
              <a:rPr sz="2000" b="0" i="1" dirty="0" err="1">
                <a:latin typeface="Aptos Display"/>
              </a:rPr>
              <a:t>vengono</a:t>
            </a:r>
            <a:r>
              <a:rPr sz="2000" b="0" i="1" dirty="0">
                <a:latin typeface="Aptos Display"/>
              </a:rPr>
              <a:t> tutti </a:t>
            </a:r>
            <a:r>
              <a:rPr sz="2000" b="0" i="1" dirty="0" err="1">
                <a:latin typeface="Aptos Display"/>
              </a:rPr>
              <a:t>eliminati</a:t>
            </a:r>
            <a:r>
              <a:rPr sz="2000" b="0" i="1" dirty="0">
                <a:latin typeface="Aptos Display"/>
              </a:rPr>
              <a:t>. La </a:t>
            </a:r>
            <a:r>
              <a:rPr sz="2000" b="0" i="1" dirty="0" err="1">
                <a:latin typeface="Aptos Display"/>
              </a:rPr>
              <a:t>qualità</a:t>
            </a:r>
            <a:r>
              <a:rPr sz="2000" b="0" i="1" dirty="0">
                <a:latin typeface="Aptos Display"/>
              </a:rPr>
              <a:t> </a:t>
            </a:r>
            <a:r>
              <a:rPr sz="2000" b="0" i="1" dirty="0" err="1">
                <a:latin typeface="Aptos Display"/>
              </a:rPr>
              <a:t>dipende</a:t>
            </a:r>
            <a:r>
              <a:rPr sz="2000" b="0" i="1" dirty="0">
                <a:latin typeface="Aptos Display"/>
              </a:rPr>
              <a:t> dal </a:t>
            </a:r>
            <a:r>
              <a:rPr sz="2000" b="0" i="1" dirty="0" err="1">
                <a:latin typeface="Aptos Display"/>
              </a:rPr>
              <a:t>prodotto</a:t>
            </a:r>
            <a:r>
              <a:rPr sz="2000" b="0" i="1" dirty="0">
                <a:latin typeface="Aptos Display"/>
              </a:rPr>
              <a:t>, non da chi </a:t>
            </a:r>
            <a:r>
              <a:rPr sz="2000" b="0" i="1" dirty="0" err="1">
                <a:latin typeface="Aptos Display"/>
              </a:rPr>
              <a:t>vende</a:t>
            </a:r>
            <a:r>
              <a:rPr sz="2000" b="0" i="1" dirty="0">
                <a:solidFill>
                  <a:srgbClr val="555555"/>
                </a:solidFill>
                <a:latin typeface="Aptos Display"/>
              </a:rPr>
              <a:t>.</a:t>
            </a:r>
          </a:p>
        </p:txBody>
      </p:sp>
      <p:sp>
        <p:nvSpPr>
          <p:cNvPr id="999" name="PageNum29"/>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12064" y="474822"/>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sz="3200" i="1" dirty="0" err="1">
                <a:solidFill>
                  <a:srgbClr val="FFFFFF"/>
                </a:solidFill>
                <a:latin typeface="Aptos Display"/>
              </a:rPr>
              <a:t>Percorso</a:t>
            </a:r>
            <a:r>
              <a:rPr sz="3200" i="1" dirty="0">
                <a:solidFill>
                  <a:srgbClr val="FFFFFF"/>
                </a:solidFill>
                <a:latin typeface="Aptos Display"/>
              </a:rPr>
              <a:t> </a:t>
            </a:r>
            <a:r>
              <a:rPr sz="3200" i="1" dirty="0" err="1">
                <a:solidFill>
                  <a:srgbClr val="FFFFFF"/>
                </a:solidFill>
                <a:latin typeface="Aptos Display"/>
              </a:rPr>
              <a:t>modellistico</a:t>
            </a:r>
            <a:endParaRPr sz="3200" i="1" dirty="0">
              <a:solidFill>
                <a:srgbClr val="FFFFFF"/>
              </a:solidFill>
              <a:latin typeface="Aptos Display"/>
            </a:endParaRPr>
          </a:p>
        </p:txBody>
      </p:sp>
      <p:pic>
        <p:nvPicPr>
          <p:cNvPr id="4" name="Picture 3" descr="unipd_logo.png"/>
          <p:cNvPicPr>
            <a:picLocks noChangeAspect="1"/>
          </p:cNvPicPr>
          <p:nvPr/>
        </p:nvPicPr>
        <p:blipFill>
          <a:blip r:embed="rId3"/>
          <a:stretch>
            <a:fillRect/>
          </a:stretch>
        </p:blipFill>
        <p:spPr>
          <a:xfrm>
            <a:off x="8558784" y="210312"/>
            <a:ext cx="2651760" cy="1188720"/>
          </a:xfrm>
          <a:prstGeom prst="rect">
            <a:avLst/>
          </a:prstGeom>
        </p:spPr>
      </p:pic>
      <p:sp>
        <p:nvSpPr>
          <p:cNvPr id="5" name="TextBox 4"/>
          <p:cNvSpPr txBox="1"/>
          <p:nvPr/>
        </p:nvSpPr>
        <p:spPr>
          <a:xfrm>
            <a:off x="502920" y="1874520"/>
            <a:ext cx="11247120" cy="400110"/>
          </a:xfrm>
          <a:prstGeom prst="rect">
            <a:avLst/>
          </a:prstGeom>
          <a:noFill/>
        </p:spPr>
        <p:txBody>
          <a:bodyPr wrap="square">
            <a:spAutoFit/>
          </a:bodyPr>
          <a:lstStyle/>
          <a:p>
            <a:pPr algn="l"/>
            <a:r>
              <a:rPr sz="2000" b="0" i="1" dirty="0">
                <a:latin typeface="Aptos Display"/>
              </a:rPr>
              <a:t>Quattro </a:t>
            </a:r>
            <a:r>
              <a:rPr sz="2000" b="0" i="1" dirty="0" err="1">
                <a:latin typeface="Aptos Display"/>
              </a:rPr>
              <a:t>strategie</a:t>
            </a:r>
            <a:r>
              <a:rPr sz="2000" b="0" i="1" dirty="0">
                <a:latin typeface="Aptos Display"/>
              </a:rPr>
              <a:t> per </a:t>
            </a:r>
            <a:r>
              <a:rPr sz="2000" b="0" i="1" dirty="0" err="1">
                <a:latin typeface="Aptos Display"/>
              </a:rPr>
              <a:t>gestire</a:t>
            </a:r>
            <a:r>
              <a:rPr sz="2000" b="0" i="1" dirty="0">
                <a:latin typeface="Aptos Display"/>
              </a:rPr>
              <a:t> lo </a:t>
            </a:r>
            <a:r>
              <a:rPr sz="2000" b="0" i="1" dirty="0" err="1">
                <a:latin typeface="Aptos Display"/>
              </a:rPr>
              <a:t>sbilanciamento</a:t>
            </a:r>
            <a:r>
              <a:rPr sz="2000" b="0" i="1" dirty="0">
                <a:latin typeface="Aptos Display"/>
              </a:rPr>
              <a:t> delle </a:t>
            </a:r>
            <a:r>
              <a:rPr sz="2000" b="0" i="1" dirty="0" err="1">
                <a:latin typeface="Aptos Display"/>
              </a:rPr>
              <a:t>classi</a:t>
            </a:r>
            <a:endParaRPr sz="2000" b="0" i="1" dirty="0">
              <a:latin typeface="Aptos Display"/>
            </a:endParaRPr>
          </a:p>
        </p:txBody>
      </p:sp>
      <p:sp>
        <p:nvSpPr>
          <p:cNvPr id="6" name="Rectangle 5"/>
          <p:cNvSpPr/>
          <p:nvPr/>
        </p:nvSpPr>
        <p:spPr>
          <a:xfrm>
            <a:off x="502920" y="2286000"/>
            <a:ext cx="2514600" cy="425196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2286000"/>
            <a:ext cx="2514600" cy="91440"/>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395728"/>
            <a:ext cx="457200" cy="548640"/>
          </a:xfrm>
          <a:prstGeom prst="rect">
            <a:avLst/>
          </a:prstGeom>
          <a:noFill/>
        </p:spPr>
        <p:txBody>
          <a:bodyPr wrap="square">
            <a:spAutoFit/>
          </a:bodyPr>
          <a:lstStyle/>
          <a:p>
            <a:pPr algn="l"/>
            <a:r>
              <a:rPr sz="2000" b="1" i="0">
                <a:solidFill>
                  <a:srgbClr val="B20E10"/>
                </a:solidFill>
                <a:latin typeface="Aptos Display"/>
              </a:rPr>
              <a:t>1</a:t>
            </a:r>
          </a:p>
        </p:txBody>
      </p:sp>
      <p:sp>
        <p:nvSpPr>
          <p:cNvPr id="9" name="TextBox 8"/>
          <p:cNvSpPr txBox="1"/>
          <p:nvPr/>
        </p:nvSpPr>
        <p:spPr>
          <a:xfrm>
            <a:off x="640080" y="2955738"/>
            <a:ext cx="2320888" cy="707886"/>
          </a:xfrm>
          <a:prstGeom prst="rect">
            <a:avLst/>
          </a:prstGeom>
          <a:noFill/>
        </p:spPr>
        <p:txBody>
          <a:bodyPr wrap="square">
            <a:spAutoFit/>
          </a:bodyPr>
          <a:lstStyle/>
          <a:p>
            <a:pPr algn="l"/>
            <a:r>
              <a:rPr sz="2000" b="1" i="0" dirty="0">
                <a:solidFill>
                  <a:srgbClr val="000000"/>
                </a:solidFill>
                <a:latin typeface="Aptos Display"/>
              </a:rPr>
              <a:t>Probit </a:t>
            </a:r>
            <a:r>
              <a:rPr sz="2000" b="1" i="0" dirty="0" err="1">
                <a:solidFill>
                  <a:srgbClr val="000000"/>
                </a:solidFill>
                <a:latin typeface="Aptos Display"/>
              </a:rPr>
              <a:t>Ordinale</a:t>
            </a:r>
            <a:r>
              <a:rPr sz="2000" b="1" i="0" dirty="0">
                <a:solidFill>
                  <a:srgbClr val="000000"/>
                </a:solidFill>
                <a:latin typeface="Aptos Display"/>
              </a:rPr>
              <a:t>
Stepwise (5 </a:t>
            </a:r>
            <a:r>
              <a:rPr sz="2000" b="1" i="0" dirty="0" err="1">
                <a:solidFill>
                  <a:srgbClr val="000000"/>
                </a:solidFill>
                <a:latin typeface="Aptos Display"/>
              </a:rPr>
              <a:t>classi</a:t>
            </a:r>
            <a:r>
              <a:rPr sz="2000" b="1" i="0" dirty="0">
                <a:solidFill>
                  <a:srgbClr val="000000"/>
                </a:solidFill>
                <a:latin typeface="Aptos Display"/>
              </a:rPr>
              <a:t>)</a:t>
            </a:r>
          </a:p>
        </p:txBody>
      </p:sp>
      <p:sp>
        <p:nvSpPr>
          <p:cNvPr id="10" name="TextBox 9"/>
          <p:cNvSpPr txBox="1"/>
          <p:nvPr/>
        </p:nvSpPr>
        <p:spPr>
          <a:xfrm>
            <a:off x="640080" y="3749039"/>
            <a:ext cx="2240280" cy="1631216"/>
          </a:xfrm>
          <a:prstGeom prst="rect">
            <a:avLst/>
          </a:prstGeom>
          <a:noFill/>
        </p:spPr>
        <p:txBody>
          <a:bodyPr wrap="square">
            <a:spAutoFit/>
          </a:bodyPr>
          <a:lstStyle/>
          <a:p>
            <a:r>
              <a:rPr sz="2000" dirty="0">
                <a:latin typeface="Aptos Display"/>
              </a:rPr>
              <a:t>Accuracy: 46%</a:t>
            </a:r>
          </a:p>
          <a:p>
            <a:r>
              <a:rPr sz="2000" dirty="0">
                <a:latin typeface="Aptos Display"/>
              </a:rPr>
              <a:t>Kappa: 0.017</a:t>
            </a:r>
          </a:p>
          <a:p>
            <a:r>
              <a:rPr sz="2000" dirty="0">
                <a:latin typeface="Aptos Display"/>
              </a:rPr>
              <a:t>MAE: 0.78</a:t>
            </a:r>
            <a:endParaRPr lang="it-IT" sz="2000" dirty="0">
              <a:latin typeface="Aptos Display"/>
            </a:endParaRPr>
          </a:p>
          <a:p>
            <a:r>
              <a:rPr lang="it-IT" sz="2000" dirty="0">
                <a:latin typeface="Aptos Display"/>
              </a:rPr>
              <a:t>Collassa tutto su Ottime</a:t>
            </a:r>
          </a:p>
        </p:txBody>
      </p:sp>
      <p:sp>
        <p:nvSpPr>
          <p:cNvPr id="12" name="Rectangle 11"/>
          <p:cNvSpPr/>
          <p:nvPr/>
        </p:nvSpPr>
        <p:spPr>
          <a:xfrm>
            <a:off x="3273552" y="2286000"/>
            <a:ext cx="2514600" cy="4251960"/>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73552" y="2286000"/>
            <a:ext cx="2514600" cy="914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10712" y="2395728"/>
            <a:ext cx="457200" cy="548640"/>
          </a:xfrm>
          <a:prstGeom prst="rect">
            <a:avLst/>
          </a:prstGeom>
          <a:noFill/>
        </p:spPr>
        <p:txBody>
          <a:bodyPr wrap="square">
            <a:spAutoFit/>
          </a:bodyPr>
          <a:lstStyle/>
          <a:p>
            <a:pPr algn="l"/>
            <a:r>
              <a:rPr sz="2000" b="1" i="0">
                <a:solidFill>
                  <a:srgbClr val="E97132"/>
                </a:solidFill>
                <a:latin typeface="Aptos Display"/>
              </a:rPr>
              <a:t>2</a:t>
            </a:r>
          </a:p>
        </p:txBody>
      </p:sp>
      <p:sp>
        <p:nvSpPr>
          <p:cNvPr id="15" name="TextBox 14"/>
          <p:cNvSpPr txBox="1"/>
          <p:nvPr/>
        </p:nvSpPr>
        <p:spPr>
          <a:xfrm>
            <a:off x="3410712" y="2955738"/>
            <a:ext cx="2240280" cy="640080"/>
          </a:xfrm>
          <a:prstGeom prst="rect">
            <a:avLst/>
          </a:prstGeom>
          <a:noFill/>
        </p:spPr>
        <p:txBody>
          <a:bodyPr wrap="square">
            <a:spAutoFit/>
          </a:bodyPr>
          <a:lstStyle/>
          <a:p>
            <a:pPr algn="l"/>
            <a:r>
              <a:rPr sz="2000" b="1" i="0" dirty="0" err="1">
                <a:solidFill>
                  <a:srgbClr val="000000"/>
                </a:solidFill>
                <a:latin typeface="Aptos Display"/>
              </a:rPr>
              <a:t>Modello</a:t>
            </a:r>
            <a:r>
              <a:rPr sz="2000" b="1" i="0" dirty="0">
                <a:solidFill>
                  <a:srgbClr val="000000"/>
                </a:solidFill>
                <a:latin typeface="Aptos Display"/>
              </a:rPr>
              <a:t> </a:t>
            </a:r>
            <a:r>
              <a:rPr sz="2000" b="1" i="0" dirty="0" err="1">
                <a:solidFill>
                  <a:srgbClr val="000000"/>
                </a:solidFill>
                <a:latin typeface="Aptos Display"/>
              </a:rPr>
              <a:t>Pesato</a:t>
            </a:r>
            <a:r>
              <a:rPr sz="2000" b="1" i="0" dirty="0">
                <a:solidFill>
                  <a:srgbClr val="000000"/>
                </a:solidFill>
                <a:latin typeface="Aptos Display"/>
              </a:rPr>
              <a:t>
(5 </a:t>
            </a:r>
            <a:r>
              <a:rPr sz="2000" b="1" i="0" dirty="0" err="1">
                <a:solidFill>
                  <a:srgbClr val="000000"/>
                </a:solidFill>
                <a:latin typeface="Aptos Display"/>
              </a:rPr>
              <a:t>classi</a:t>
            </a:r>
            <a:r>
              <a:rPr sz="2000" b="1" i="0" dirty="0">
                <a:solidFill>
                  <a:srgbClr val="000000"/>
                </a:solidFill>
                <a:latin typeface="Aptos Display"/>
              </a:rPr>
              <a:t>)</a:t>
            </a:r>
          </a:p>
        </p:txBody>
      </p:sp>
      <p:sp>
        <p:nvSpPr>
          <p:cNvPr id="16" name="TextBox 15"/>
          <p:cNvSpPr txBox="1"/>
          <p:nvPr/>
        </p:nvSpPr>
        <p:spPr>
          <a:xfrm>
            <a:off x="3410712" y="3749039"/>
            <a:ext cx="2240280" cy="1631216"/>
          </a:xfrm>
          <a:prstGeom prst="rect">
            <a:avLst/>
          </a:prstGeom>
          <a:noFill/>
        </p:spPr>
        <p:txBody>
          <a:bodyPr wrap="square">
            <a:spAutoFit/>
          </a:bodyPr>
          <a:lstStyle/>
          <a:p>
            <a:r>
              <a:rPr sz="2000" dirty="0">
                <a:latin typeface="Aptos Display"/>
              </a:rPr>
              <a:t>Accuracy: 32%</a:t>
            </a:r>
          </a:p>
          <a:p>
            <a:r>
              <a:rPr sz="2000" dirty="0">
                <a:latin typeface="Aptos Display"/>
              </a:rPr>
              <a:t>Kappa: 0.134 </a:t>
            </a:r>
          </a:p>
          <a:p>
            <a:r>
              <a:rPr sz="2000" dirty="0">
                <a:latin typeface="Aptos Display"/>
              </a:rPr>
              <a:t>MAE: 1.04 </a:t>
            </a:r>
          </a:p>
          <a:p>
            <a:r>
              <a:rPr sz="2000" dirty="0">
                <a:latin typeface="Aptos Display"/>
              </a:rPr>
              <a:t>Non </a:t>
            </a:r>
            <a:r>
              <a:rPr sz="2000" dirty="0" err="1">
                <a:latin typeface="Aptos Display"/>
              </a:rPr>
              <a:t>risolve</a:t>
            </a:r>
            <a:r>
              <a:rPr sz="2000" dirty="0">
                <a:latin typeface="Aptos Display"/>
              </a:rPr>
              <a:t> il </a:t>
            </a:r>
            <a:r>
              <a:rPr sz="2000" dirty="0" err="1">
                <a:latin typeface="Aptos Display"/>
              </a:rPr>
              <a:t>problema</a:t>
            </a:r>
            <a:endParaRPr sz="1200" dirty="0">
              <a:latin typeface="Aptos Display"/>
            </a:endParaRPr>
          </a:p>
        </p:txBody>
      </p:sp>
      <p:sp>
        <p:nvSpPr>
          <p:cNvPr id="18" name="Rectangle 17"/>
          <p:cNvSpPr/>
          <p:nvPr/>
        </p:nvSpPr>
        <p:spPr>
          <a:xfrm>
            <a:off x="6044184" y="2286000"/>
            <a:ext cx="2514600" cy="4251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44184" y="2286000"/>
            <a:ext cx="2514600" cy="914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81344" y="2395728"/>
            <a:ext cx="457200" cy="548640"/>
          </a:xfrm>
          <a:prstGeom prst="rect">
            <a:avLst/>
          </a:prstGeom>
          <a:noFill/>
        </p:spPr>
        <p:txBody>
          <a:bodyPr wrap="square">
            <a:spAutoFit/>
          </a:bodyPr>
          <a:lstStyle/>
          <a:p>
            <a:pPr algn="l"/>
            <a:r>
              <a:rPr sz="2000" b="1" i="0">
                <a:solidFill>
                  <a:srgbClr val="156082"/>
                </a:solidFill>
                <a:latin typeface="Aptos Display"/>
              </a:rPr>
              <a:t>3</a:t>
            </a:r>
          </a:p>
        </p:txBody>
      </p:sp>
      <p:sp>
        <p:nvSpPr>
          <p:cNvPr id="21" name="TextBox 20"/>
          <p:cNvSpPr txBox="1"/>
          <p:nvPr/>
        </p:nvSpPr>
        <p:spPr>
          <a:xfrm>
            <a:off x="6062472" y="2909798"/>
            <a:ext cx="2633472" cy="707886"/>
          </a:xfrm>
          <a:prstGeom prst="rect">
            <a:avLst/>
          </a:prstGeom>
          <a:noFill/>
        </p:spPr>
        <p:txBody>
          <a:bodyPr wrap="square">
            <a:spAutoFit/>
          </a:bodyPr>
          <a:lstStyle/>
          <a:p>
            <a:pPr algn="l"/>
            <a:r>
              <a:rPr lang="it-IT" sz="2000" b="1" i="0" dirty="0">
                <a:solidFill>
                  <a:srgbClr val="000000"/>
                </a:solidFill>
                <a:latin typeface="Aptos Display"/>
              </a:rPr>
              <a:t>Divisione </a:t>
            </a:r>
            <a:r>
              <a:rPr sz="2000" b="1" i="0" dirty="0">
                <a:solidFill>
                  <a:srgbClr val="000000"/>
                </a:solidFill>
                <a:latin typeface="Aptos Display"/>
              </a:rPr>
              <a:t>3 </a:t>
            </a:r>
            <a:r>
              <a:rPr sz="2000" b="1" i="0" dirty="0" err="1">
                <a:solidFill>
                  <a:srgbClr val="000000"/>
                </a:solidFill>
                <a:latin typeface="Aptos Display"/>
              </a:rPr>
              <a:t>classi</a:t>
            </a:r>
            <a:r>
              <a:rPr sz="2000" b="1" i="0" dirty="0">
                <a:solidFill>
                  <a:srgbClr val="000000"/>
                </a:solidFill>
                <a:latin typeface="Aptos Display"/>
              </a:rPr>
              <a:t>
(</a:t>
            </a:r>
            <a:r>
              <a:rPr sz="2000" b="1" i="0" dirty="0" err="1">
                <a:solidFill>
                  <a:srgbClr val="000000"/>
                </a:solidFill>
                <a:latin typeface="Aptos Display"/>
              </a:rPr>
              <a:t>Usato</a:t>
            </a:r>
            <a:r>
              <a:rPr sz="2000" b="1" i="0" dirty="0">
                <a:solidFill>
                  <a:srgbClr val="000000"/>
                </a:solidFill>
                <a:latin typeface="Aptos Display"/>
              </a:rPr>
              <a:t>/</a:t>
            </a:r>
            <a:r>
              <a:rPr sz="2000" b="1" i="0" dirty="0" err="1">
                <a:solidFill>
                  <a:srgbClr val="000000"/>
                </a:solidFill>
                <a:latin typeface="Aptos Display"/>
              </a:rPr>
              <a:t>Ottime</a:t>
            </a:r>
            <a:r>
              <a:rPr sz="2000" b="1" i="0" dirty="0">
                <a:solidFill>
                  <a:srgbClr val="000000"/>
                </a:solidFill>
                <a:latin typeface="Aptos Display"/>
              </a:rPr>
              <a:t>/Nuovo)</a:t>
            </a:r>
          </a:p>
        </p:txBody>
      </p:sp>
      <p:sp>
        <p:nvSpPr>
          <p:cNvPr id="22" name="TextBox 21"/>
          <p:cNvSpPr txBox="1"/>
          <p:nvPr/>
        </p:nvSpPr>
        <p:spPr>
          <a:xfrm>
            <a:off x="6181344" y="3749039"/>
            <a:ext cx="2240280" cy="1631216"/>
          </a:xfrm>
          <a:prstGeom prst="rect">
            <a:avLst/>
          </a:prstGeom>
          <a:noFill/>
        </p:spPr>
        <p:txBody>
          <a:bodyPr wrap="square">
            <a:spAutoFit/>
          </a:bodyPr>
          <a:lstStyle/>
          <a:p>
            <a:r>
              <a:rPr lang="it-IT" sz="2000" dirty="0" err="1">
                <a:latin typeface="Aptos Display"/>
              </a:rPr>
              <a:t>Accuracy</a:t>
            </a:r>
            <a:r>
              <a:rPr lang="it-IT" sz="2000" dirty="0">
                <a:latin typeface="Aptos Display"/>
              </a:rPr>
              <a:t>: 53%</a:t>
            </a:r>
          </a:p>
          <a:p>
            <a:r>
              <a:rPr lang="it-IT" sz="2000" dirty="0">
                <a:latin typeface="Aptos Display"/>
              </a:rPr>
              <a:t>Kappa: 0.138</a:t>
            </a:r>
          </a:p>
          <a:p>
            <a:r>
              <a:rPr lang="it-IT" sz="2000" dirty="0">
                <a:latin typeface="Aptos Display"/>
              </a:rPr>
              <a:t>MAE: 0.477</a:t>
            </a:r>
          </a:p>
          <a:p>
            <a:r>
              <a:rPr lang="it-IT" sz="2000" b="1" dirty="0">
                <a:latin typeface="Aptos Display"/>
              </a:rPr>
              <a:t>Sensitivity Usato: 7.7%</a:t>
            </a:r>
            <a:endParaRPr sz="1200" b="1" dirty="0">
              <a:latin typeface="Aptos Display"/>
            </a:endParaRPr>
          </a:p>
        </p:txBody>
      </p:sp>
      <p:sp>
        <p:nvSpPr>
          <p:cNvPr id="24" name="Rectangle 23"/>
          <p:cNvSpPr/>
          <p:nvPr/>
        </p:nvSpPr>
        <p:spPr>
          <a:xfrm>
            <a:off x="8814816" y="2286000"/>
            <a:ext cx="2514600" cy="4251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814816" y="2286000"/>
            <a:ext cx="2514600" cy="914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51976" y="2395728"/>
            <a:ext cx="457200" cy="548640"/>
          </a:xfrm>
          <a:prstGeom prst="rect">
            <a:avLst/>
          </a:prstGeom>
          <a:noFill/>
        </p:spPr>
        <p:txBody>
          <a:bodyPr wrap="square">
            <a:spAutoFit/>
          </a:bodyPr>
          <a:lstStyle/>
          <a:p>
            <a:pPr algn="l"/>
            <a:r>
              <a:rPr sz="2000" b="1" i="0">
                <a:solidFill>
                  <a:srgbClr val="196B24"/>
                </a:solidFill>
                <a:latin typeface="Aptos Display"/>
              </a:rPr>
              <a:t>4</a:t>
            </a:r>
          </a:p>
        </p:txBody>
      </p:sp>
      <p:sp>
        <p:nvSpPr>
          <p:cNvPr id="27" name="TextBox 26"/>
          <p:cNvSpPr txBox="1"/>
          <p:nvPr/>
        </p:nvSpPr>
        <p:spPr>
          <a:xfrm>
            <a:off x="8951976" y="2936836"/>
            <a:ext cx="2240280" cy="492443"/>
          </a:xfrm>
          <a:prstGeom prst="rect">
            <a:avLst/>
          </a:prstGeom>
          <a:noFill/>
        </p:spPr>
        <p:txBody>
          <a:bodyPr wrap="square">
            <a:spAutoFit/>
          </a:bodyPr>
          <a:lstStyle/>
          <a:p>
            <a:pPr algn="l"/>
            <a:r>
              <a:rPr lang="it-IT" sz="2000" b="1" i="0" dirty="0">
                <a:solidFill>
                  <a:srgbClr val="000000"/>
                </a:solidFill>
                <a:latin typeface="Aptos Display"/>
              </a:rPr>
              <a:t>Divisione</a:t>
            </a:r>
            <a:r>
              <a:rPr sz="2000" b="1" i="0" dirty="0">
                <a:solidFill>
                  <a:srgbClr val="000000"/>
                </a:solidFill>
                <a:latin typeface="Aptos Display"/>
              </a:rPr>
              <a:t>+ </a:t>
            </a:r>
            <a:r>
              <a:rPr sz="2000" b="1" i="0" dirty="0" err="1">
                <a:solidFill>
                  <a:srgbClr val="000000"/>
                </a:solidFill>
                <a:latin typeface="Aptos Display"/>
              </a:rPr>
              <a:t>Pesi</a:t>
            </a:r>
            <a:r>
              <a:rPr sz="2000" b="1" i="0" dirty="0">
                <a:solidFill>
                  <a:srgbClr val="000000"/>
                </a:solidFill>
                <a:latin typeface="Aptos Display"/>
              </a:rPr>
              <a:t>
(</a:t>
            </a:r>
            <a:r>
              <a:rPr sz="2000" b="1" i="0" dirty="0" err="1">
                <a:solidFill>
                  <a:srgbClr val="000000"/>
                </a:solidFill>
                <a:latin typeface="Aptos Display"/>
              </a:rPr>
              <a:t>modello</a:t>
            </a:r>
            <a:r>
              <a:rPr sz="2000" b="1" i="0" dirty="0">
                <a:solidFill>
                  <a:srgbClr val="000000"/>
                </a:solidFill>
                <a:latin typeface="Aptos Display"/>
              </a:rPr>
              <a:t> finale)</a:t>
            </a:r>
          </a:p>
        </p:txBody>
      </p:sp>
      <p:sp>
        <p:nvSpPr>
          <p:cNvPr id="28" name="TextBox 27"/>
          <p:cNvSpPr txBox="1"/>
          <p:nvPr/>
        </p:nvSpPr>
        <p:spPr>
          <a:xfrm>
            <a:off x="8951976" y="3749039"/>
            <a:ext cx="2240280" cy="1815882"/>
          </a:xfrm>
          <a:prstGeom prst="rect">
            <a:avLst/>
          </a:prstGeom>
          <a:noFill/>
        </p:spPr>
        <p:txBody>
          <a:bodyPr wrap="square">
            <a:spAutoFit/>
          </a:bodyPr>
          <a:lstStyle/>
          <a:p>
            <a:r>
              <a:rPr sz="2000" dirty="0">
                <a:latin typeface="Aptos Display"/>
              </a:rPr>
              <a:t>Accuracy: </a:t>
            </a:r>
            <a:r>
              <a:rPr lang="it-IT" sz="2000" dirty="0">
                <a:latin typeface="Aptos Display"/>
              </a:rPr>
              <a:t>55</a:t>
            </a:r>
            <a:r>
              <a:rPr sz="2000" dirty="0">
                <a:latin typeface="Aptos Display"/>
              </a:rPr>
              <a:t>%</a:t>
            </a:r>
          </a:p>
          <a:p>
            <a:r>
              <a:rPr sz="2000" dirty="0">
                <a:latin typeface="Aptos Display"/>
              </a:rPr>
              <a:t>Kappa: 0.207 </a:t>
            </a:r>
          </a:p>
          <a:p>
            <a:r>
              <a:rPr sz="2000" dirty="0">
                <a:latin typeface="Aptos Display"/>
              </a:rPr>
              <a:t>MAE: 0.</a:t>
            </a:r>
            <a:r>
              <a:rPr lang="it-IT" sz="2000" dirty="0">
                <a:latin typeface="Aptos Display"/>
              </a:rPr>
              <a:t>32</a:t>
            </a:r>
            <a:endParaRPr sz="2000" dirty="0">
              <a:latin typeface="Aptos Display"/>
            </a:endParaRPr>
          </a:p>
          <a:p>
            <a:r>
              <a:rPr sz="2000" b="1" dirty="0">
                <a:latin typeface="Aptos Display"/>
              </a:rPr>
              <a:t>Sensitivity </a:t>
            </a:r>
            <a:r>
              <a:rPr sz="2000" b="1" dirty="0" err="1">
                <a:latin typeface="Aptos Display"/>
              </a:rPr>
              <a:t>Usato</a:t>
            </a:r>
            <a:r>
              <a:rPr sz="2000" b="1" dirty="0">
                <a:latin typeface="Aptos Display"/>
              </a:rPr>
              <a:t>: 66%</a:t>
            </a:r>
            <a:endParaRPr lang="it-IT" sz="2000" b="1" dirty="0">
              <a:latin typeface="Aptos Display"/>
            </a:endParaRPr>
          </a:p>
          <a:p>
            <a:endParaRPr sz="1200" dirty="0">
              <a:solidFill>
                <a:srgbClr val="555555"/>
              </a:solidFill>
              <a:latin typeface="Aptos Display"/>
            </a:endParaRPr>
          </a:p>
        </p:txBody>
      </p:sp>
      <p:sp>
        <p:nvSpPr>
          <p:cNvPr id="999" name="PageNum30"/>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199" y="472803"/>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sz="3200" i="1" dirty="0" err="1">
                <a:solidFill>
                  <a:srgbClr val="FFFFFF"/>
                </a:solidFill>
                <a:latin typeface="Aptos Display"/>
              </a:rPr>
              <a:t>Modello</a:t>
            </a:r>
            <a:r>
              <a:rPr sz="3200" i="1" dirty="0">
                <a:solidFill>
                  <a:srgbClr val="FFFFFF"/>
                </a:solidFill>
                <a:latin typeface="Aptos Display"/>
              </a:rPr>
              <a:t> Finale 3 Classi + </a:t>
            </a:r>
            <a:r>
              <a:rPr sz="3200" i="1" dirty="0" err="1">
                <a:solidFill>
                  <a:srgbClr val="FFFFFF"/>
                </a:solidFill>
                <a:latin typeface="Aptos Display"/>
              </a:rPr>
              <a:t>Pesi</a:t>
            </a:r>
            <a:endParaRPr sz="3200" i="1" dirty="0">
              <a:solidFill>
                <a:srgbClr val="FFFFFF"/>
              </a:solidFill>
              <a:latin typeface="Aptos Display"/>
            </a:endParaRPr>
          </a:p>
        </p:txBody>
      </p:sp>
      <p:pic>
        <p:nvPicPr>
          <p:cNvPr id="4" name="Picture 3" descr="unipd_logo.png"/>
          <p:cNvPicPr>
            <a:picLocks noChangeAspect="1"/>
          </p:cNvPicPr>
          <p:nvPr/>
        </p:nvPicPr>
        <p:blipFill>
          <a:blip r:embed="rId3"/>
          <a:stretch>
            <a:fillRect/>
          </a:stretch>
        </p:blipFill>
        <p:spPr>
          <a:xfrm>
            <a:off x="8373705" y="179116"/>
            <a:ext cx="2651760" cy="1188720"/>
          </a:xfrm>
          <a:prstGeom prst="rect">
            <a:avLst/>
          </a:prstGeom>
        </p:spPr>
      </p:pic>
      <p:sp>
        <p:nvSpPr>
          <p:cNvPr id="5" name="TextBox 4"/>
          <p:cNvSpPr txBox="1"/>
          <p:nvPr/>
        </p:nvSpPr>
        <p:spPr>
          <a:xfrm>
            <a:off x="502920" y="1874520"/>
            <a:ext cx="5943600" cy="292388"/>
          </a:xfrm>
          <a:prstGeom prst="rect">
            <a:avLst/>
          </a:prstGeom>
          <a:noFill/>
        </p:spPr>
        <p:txBody>
          <a:bodyPr wrap="square">
            <a:spAutoFit/>
          </a:bodyPr>
          <a:lstStyle/>
          <a:p>
            <a:pPr algn="l"/>
            <a:r>
              <a:rPr sz="2000" b="1" i="0" dirty="0">
                <a:solidFill>
                  <a:srgbClr val="B20E10"/>
                </a:solidFill>
                <a:latin typeface="Aptos Display"/>
              </a:rPr>
              <a:t>Confusion Matrix </a:t>
            </a:r>
            <a:r>
              <a:rPr lang="it-IT" sz="2000" b="1" dirty="0">
                <a:solidFill>
                  <a:srgbClr val="B20E10"/>
                </a:solidFill>
                <a:latin typeface="Aptos Display"/>
              </a:rPr>
              <a:t>su</a:t>
            </a:r>
            <a:r>
              <a:rPr sz="2000" b="1" i="0" dirty="0">
                <a:solidFill>
                  <a:srgbClr val="B20E10"/>
                </a:solidFill>
                <a:latin typeface="Aptos Display"/>
              </a:rPr>
              <a:t> Test set (n=478)</a:t>
            </a:r>
          </a:p>
        </p:txBody>
      </p:sp>
      <p:sp>
        <p:nvSpPr>
          <p:cNvPr id="7" name="TextBox 6"/>
          <p:cNvSpPr txBox="1"/>
          <p:nvPr/>
        </p:nvSpPr>
        <p:spPr>
          <a:xfrm>
            <a:off x="548640" y="2450592"/>
            <a:ext cx="1325880" cy="457200"/>
          </a:xfrm>
          <a:prstGeom prst="rect">
            <a:avLst/>
          </a:prstGeom>
          <a:noFill/>
        </p:spPr>
        <p:txBody>
          <a:bodyPr wrap="square">
            <a:spAutoFit/>
          </a:bodyPr>
          <a:lstStyle/>
          <a:p>
            <a:pPr algn="ctr"/>
            <a:endParaRPr/>
          </a:p>
        </p:txBody>
      </p:sp>
      <p:sp>
        <p:nvSpPr>
          <p:cNvPr id="8" name="Rectangle 7"/>
          <p:cNvSpPr/>
          <p:nvPr/>
        </p:nvSpPr>
        <p:spPr>
          <a:xfrm>
            <a:off x="1920240" y="2286000"/>
            <a:ext cx="123444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2450592"/>
            <a:ext cx="1143000" cy="276999"/>
          </a:xfrm>
          <a:prstGeom prst="rect">
            <a:avLst/>
          </a:prstGeom>
          <a:noFill/>
        </p:spPr>
        <p:txBody>
          <a:bodyPr wrap="square">
            <a:spAutoFit/>
          </a:bodyPr>
          <a:lstStyle/>
          <a:p>
            <a:pPr algn="ctr"/>
            <a:r>
              <a:rPr sz="2000" b="1" i="0" dirty="0">
                <a:solidFill>
                  <a:srgbClr val="FFFFFF"/>
                </a:solidFill>
                <a:latin typeface="Aptos Display"/>
              </a:rPr>
              <a:t> </a:t>
            </a:r>
            <a:r>
              <a:rPr sz="2000" b="1" i="0" dirty="0" err="1">
                <a:solidFill>
                  <a:srgbClr val="FFFFFF"/>
                </a:solidFill>
                <a:latin typeface="Aptos Display"/>
              </a:rPr>
              <a:t>Usato</a:t>
            </a:r>
            <a:endParaRPr sz="1200" b="1" i="0" dirty="0">
              <a:solidFill>
                <a:srgbClr val="FFFFFF"/>
              </a:solidFill>
              <a:latin typeface="Aptos Display"/>
            </a:endParaRPr>
          </a:p>
        </p:txBody>
      </p:sp>
      <p:sp>
        <p:nvSpPr>
          <p:cNvPr id="10" name="Rectangle 9"/>
          <p:cNvSpPr/>
          <p:nvPr/>
        </p:nvSpPr>
        <p:spPr>
          <a:xfrm>
            <a:off x="3154680" y="2286000"/>
            <a:ext cx="132588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2450592"/>
            <a:ext cx="1234439" cy="276999"/>
          </a:xfrm>
          <a:prstGeom prst="rect">
            <a:avLst/>
          </a:prstGeom>
          <a:noFill/>
        </p:spPr>
        <p:txBody>
          <a:bodyPr wrap="square">
            <a:spAutoFit/>
          </a:bodyPr>
          <a:lstStyle/>
          <a:p>
            <a:pPr algn="ctr"/>
            <a:r>
              <a:rPr sz="2000" b="1" i="0" dirty="0" err="1">
                <a:solidFill>
                  <a:srgbClr val="FFFFFF"/>
                </a:solidFill>
                <a:latin typeface="Aptos Display"/>
              </a:rPr>
              <a:t>Ottime</a:t>
            </a:r>
            <a:endParaRPr sz="1200" b="1" i="0" dirty="0">
              <a:solidFill>
                <a:srgbClr val="FFFFFF"/>
              </a:solidFill>
              <a:latin typeface="Aptos Display"/>
            </a:endParaRPr>
          </a:p>
        </p:txBody>
      </p:sp>
      <p:sp>
        <p:nvSpPr>
          <p:cNvPr id="12" name="Rectangle 11"/>
          <p:cNvSpPr/>
          <p:nvPr/>
        </p:nvSpPr>
        <p:spPr>
          <a:xfrm>
            <a:off x="4480559" y="2286000"/>
            <a:ext cx="123444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79" y="2450592"/>
            <a:ext cx="1143000" cy="276999"/>
          </a:xfrm>
          <a:prstGeom prst="rect">
            <a:avLst/>
          </a:prstGeom>
          <a:noFill/>
        </p:spPr>
        <p:txBody>
          <a:bodyPr wrap="square">
            <a:spAutoFit/>
          </a:bodyPr>
          <a:lstStyle/>
          <a:p>
            <a:pPr algn="ctr"/>
            <a:r>
              <a:rPr sz="2000" b="1" i="0" dirty="0">
                <a:solidFill>
                  <a:srgbClr val="FFFFFF"/>
                </a:solidFill>
                <a:latin typeface="Aptos Display"/>
              </a:rPr>
              <a:t> Nuovo</a:t>
            </a:r>
          </a:p>
        </p:txBody>
      </p:sp>
      <p:sp>
        <p:nvSpPr>
          <p:cNvPr id="14" name="Rectangle 13"/>
          <p:cNvSpPr/>
          <p:nvPr/>
        </p:nvSpPr>
        <p:spPr>
          <a:xfrm>
            <a:off x="502920" y="3035808"/>
            <a:ext cx="141732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042740"/>
            <a:ext cx="1325880" cy="457200"/>
          </a:xfrm>
          <a:prstGeom prst="rect">
            <a:avLst/>
          </a:prstGeom>
          <a:noFill/>
        </p:spPr>
        <p:txBody>
          <a:bodyPr wrap="square">
            <a:spAutoFit/>
          </a:bodyPr>
          <a:lstStyle/>
          <a:p>
            <a:pPr algn="ctr"/>
            <a:r>
              <a:rPr sz="2000" b="1" i="0">
                <a:solidFill>
                  <a:srgbClr val="FFFFFF"/>
                </a:solidFill>
                <a:latin typeface="Aptos Display"/>
              </a:rPr>
              <a:t>Pred: Usato</a:t>
            </a:r>
          </a:p>
        </p:txBody>
      </p:sp>
      <p:sp>
        <p:nvSpPr>
          <p:cNvPr id="16" name="Rectangle 15"/>
          <p:cNvSpPr/>
          <p:nvPr/>
        </p:nvSpPr>
        <p:spPr>
          <a:xfrm>
            <a:off x="1920240" y="3035808"/>
            <a:ext cx="1234440" cy="65836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965960" y="3200400"/>
            <a:ext cx="1143000" cy="457200"/>
          </a:xfrm>
          <a:prstGeom prst="rect">
            <a:avLst/>
          </a:prstGeom>
          <a:noFill/>
        </p:spPr>
        <p:txBody>
          <a:bodyPr wrap="square">
            <a:spAutoFit/>
          </a:bodyPr>
          <a:lstStyle/>
          <a:p>
            <a:pPr algn="ctr"/>
            <a:r>
              <a:rPr sz="2000" b="0" i="0">
                <a:solidFill>
                  <a:srgbClr val="000000"/>
                </a:solidFill>
                <a:latin typeface="Aptos Display"/>
              </a:rPr>
              <a:t>43 (66%)</a:t>
            </a:r>
          </a:p>
        </p:txBody>
      </p:sp>
      <p:sp>
        <p:nvSpPr>
          <p:cNvPr id="18" name="Rectangle 17"/>
          <p:cNvSpPr/>
          <p:nvPr/>
        </p:nvSpPr>
        <p:spPr>
          <a:xfrm>
            <a:off x="3154680" y="3035808"/>
            <a:ext cx="132588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0" y="3200400"/>
            <a:ext cx="1234439" cy="457200"/>
          </a:xfrm>
          <a:prstGeom prst="rect">
            <a:avLst/>
          </a:prstGeom>
          <a:noFill/>
        </p:spPr>
        <p:txBody>
          <a:bodyPr wrap="square">
            <a:spAutoFit/>
          </a:bodyPr>
          <a:lstStyle/>
          <a:p>
            <a:pPr algn="ctr"/>
            <a:r>
              <a:rPr sz="2000" b="0" i="0">
                <a:solidFill>
                  <a:srgbClr val="000000"/>
                </a:solidFill>
                <a:latin typeface="Aptos Display"/>
              </a:rPr>
              <a:t>86</a:t>
            </a:r>
          </a:p>
        </p:txBody>
      </p:sp>
      <p:sp>
        <p:nvSpPr>
          <p:cNvPr id="20" name="Rectangle 19"/>
          <p:cNvSpPr/>
          <p:nvPr/>
        </p:nvSpPr>
        <p:spPr>
          <a:xfrm>
            <a:off x="4480559" y="3035808"/>
            <a:ext cx="123444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26279" y="3200400"/>
            <a:ext cx="1143000" cy="457200"/>
          </a:xfrm>
          <a:prstGeom prst="rect">
            <a:avLst/>
          </a:prstGeom>
          <a:noFill/>
        </p:spPr>
        <p:txBody>
          <a:bodyPr wrap="square">
            <a:spAutoFit/>
          </a:bodyPr>
          <a:lstStyle/>
          <a:p>
            <a:pPr algn="ctr"/>
            <a:r>
              <a:rPr sz="2000" b="0" i="0">
                <a:solidFill>
                  <a:srgbClr val="000000"/>
                </a:solidFill>
                <a:latin typeface="Aptos Display"/>
              </a:rPr>
              <a:t>15</a:t>
            </a:r>
          </a:p>
        </p:txBody>
      </p:sp>
      <p:sp>
        <p:nvSpPr>
          <p:cNvPr id="22" name="Rectangle 21"/>
          <p:cNvSpPr/>
          <p:nvPr/>
        </p:nvSpPr>
        <p:spPr>
          <a:xfrm>
            <a:off x="502920" y="3785615"/>
            <a:ext cx="141732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3776781"/>
            <a:ext cx="1325880" cy="457200"/>
          </a:xfrm>
          <a:prstGeom prst="rect">
            <a:avLst/>
          </a:prstGeom>
          <a:noFill/>
        </p:spPr>
        <p:txBody>
          <a:bodyPr wrap="square">
            <a:spAutoFit/>
          </a:bodyPr>
          <a:lstStyle/>
          <a:p>
            <a:pPr algn="ctr"/>
            <a:r>
              <a:rPr sz="2000" b="1" i="0" dirty="0">
                <a:solidFill>
                  <a:srgbClr val="FFFFFF"/>
                </a:solidFill>
                <a:latin typeface="Aptos Display"/>
              </a:rPr>
              <a:t>Pred: </a:t>
            </a:r>
            <a:r>
              <a:rPr sz="2000" b="1" i="0" dirty="0" err="1">
                <a:solidFill>
                  <a:srgbClr val="FFFFFF"/>
                </a:solidFill>
                <a:latin typeface="Aptos Display"/>
              </a:rPr>
              <a:t>Ottime</a:t>
            </a:r>
            <a:endParaRPr sz="2000" b="1" i="0" dirty="0">
              <a:solidFill>
                <a:srgbClr val="FFFFFF"/>
              </a:solidFill>
              <a:latin typeface="Aptos Display"/>
            </a:endParaRPr>
          </a:p>
        </p:txBody>
      </p:sp>
      <p:sp>
        <p:nvSpPr>
          <p:cNvPr id="24" name="Rectangle 23"/>
          <p:cNvSpPr/>
          <p:nvPr/>
        </p:nvSpPr>
        <p:spPr>
          <a:xfrm>
            <a:off x="1920240" y="3785615"/>
            <a:ext cx="123444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965960" y="3950207"/>
            <a:ext cx="1143000" cy="457200"/>
          </a:xfrm>
          <a:prstGeom prst="rect">
            <a:avLst/>
          </a:prstGeom>
          <a:noFill/>
        </p:spPr>
        <p:txBody>
          <a:bodyPr wrap="square">
            <a:spAutoFit/>
          </a:bodyPr>
          <a:lstStyle/>
          <a:p>
            <a:pPr algn="ctr"/>
            <a:r>
              <a:rPr sz="2000" b="0" i="0">
                <a:solidFill>
                  <a:srgbClr val="000000"/>
                </a:solidFill>
                <a:latin typeface="Aptos Display"/>
              </a:rPr>
              <a:t>17</a:t>
            </a:r>
          </a:p>
        </p:txBody>
      </p:sp>
      <p:sp>
        <p:nvSpPr>
          <p:cNvPr id="26" name="Rectangle 25"/>
          <p:cNvSpPr/>
          <p:nvPr/>
        </p:nvSpPr>
        <p:spPr>
          <a:xfrm>
            <a:off x="3154680" y="3785615"/>
            <a:ext cx="1325880" cy="65836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0" y="3950207"/>
            <a:ext cx="1234439" cy="457200"/>
          </a:xfrm>
          <a:prstGeom prst="rect">
            <a:avLst/>
          </a:prstGeom>
          <a:noFill/>
        </p:spPr>
        <p:txBody>
          <a:bodyPr wrap="square">
            <a:spAutoFit/>
          </a:bodyPr>
          <a:lstStyle/>
          <a:p>
            <a:pPr algn="ctr"/>
            <a:r>
              <a:rPr sz="2000" b="0" i="0">
                <a:solidFill>
                  <a:srgbClr val="000000"/>
                </a:solidFill>
                <a:latin typeface="Aptos Display"/>
              </a:rPr>
              <a:t>72 (30%)</a:t>
            </a:r>
          </a:p>
        </p:txBody>
      </p:sp>
      <p:sp>
        <p:nvSpPr>
          <p:cNvPr id="28" name="Rectangle 27"/>
          <p:cNvSpPr/>
          <p:nvPr/>
        </p:nvSpPr>
        <p:spPr>
          <a:xfrm>
            <a:off x="4480559" y="3785615"/>
            <a:ext cx="123444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79" y="3950207"/>
            <a:ext cx="1143000" cy="457200"/>
          </a:xfrm>
          <a:prstGeom prst="rect">
            <a:avLst/>
          </a:prstGeom>
          <a:noFill/>
        </p:spPr>
        <p:txBody>
          <a:bodyPr wrap="square">
            <a:spAutoFit/>
          </a:bodyPr>
          <a:lstStyle/>
          <a:p>
            <a:pPr algn="ctr"/>
            <a:r>
              <a:rPr sz="2000" b="0" i="0">
                <a:solidFill>
                  <a:srgbClr val="000000"/>
                </a:solidFill>
                <a:latin typeface="Aptos Display"/>
              </a:rPr>
              <a:t>50</a:t>
            </a:r>
          </a:p>
        </p:txBody>
      </p:sp>
      <p:sp>
        <p:nvSpPr>
          <p:cNvPr id="30" name="Rectangle 29"/>
          <p:cNvSpPr/>
          <p:nvPr/>
        </p:nvSpPr>
        <p:spPr>
          <a:xfrm>
            <a:off x="502920" y="4535424"/>
            <a:ext cx="1417320" cy="658368"/>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5780" y="4557537"/>
            <a:ext cx="1325880" cy="457200"/>
          </a:xfrm>
          <a:prstGeom prst="rect">
            <a:avLst/>
          </a:prstGeom>
          <a:noFill/>
        </p:spPr>
        <p:txBody>
          <a:bodyPr wrap="square">
            <a:spAutoFit/>
          </a:bodyPr>
          <a:lstStyle/>
          <a:p>
            <a:pPr algn="ctr"/>
            <a:r>
              <a:rPr sz="2000" b="1" i="0" dirty="0">
                <a:solidFill>
                  <a:srgbClr val="FFFFFF"/>
                </a:solidFill>
                <a:latin typeface="Aptos Display"/>
              </a:rPr>
              <a:t>Pred: Nuovo</a:t>
            </a:r>
          </a:p>
        </p:txBody>
      </p:sp>
      <p:sp>
        <p:nvSpPr>
          <p:cNvPr id="32" name="Rectangle 31"/>
          <p:cNvSpPr/>
          <p:nvPr/>
        </p:nvSpPr>
        <p:spPr>
          <a:xfrm>
            <a:off x="1920240" y="4535424"/>
            <a:ext cx="123444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965960" y="4700016"/>
            <a:ext cx="1143000" cy="457200"/>
          </a:xfrm>
          <a:prstGeom prst="rect">
            <a:avLst/>
          </a:prstGeom>
          <a:noFill/>
        </p:spPr>
        <p:txBody>
          <a:bodyPr wrap="square">
            <a:spAutoFit/>
          </a:bodyPr>
          <a:lstStyle/>
          <a:p>
            <a:pPr algn="ctr"/>
            <a:r>
              <a:rPr sz="2000" b="0" i="0" dirty="0">
                <a:solidFill>
                  <a:srgbClr val="000000"/>
                </a:solidFill>
                <a:latin typeface="Aptos Display"/>
              </a:rPr>
              <a:t>5</a:t>
            </a:r>
          </a:p>
        </p:txBody>
      </p:sp>
      <p:sp>
        <p:nvSpPr>
          <p:cNvPr id="34" name="Rectangle 33"/>
          <p:cNvSpPr/>
          <p:nvPr/>
        </p:nvSpPr>
        <p:spPr>
          <a:xfrm>
            <a:off x="3154680" y="4535424"/>
            <a:ext cx="1325880" cy="6583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00400" y="4700016"/>
            <a:ext cx="1234439" cy="457200"/>
          </a:xfrm>
          <a:prstGeom prst="rect">
            <a:avLst/>
          </a:prstGeom>
          <a:noFill/>
        </p:spPr>
        <p:txBody>
          <a:bodyPr wrap="square">
            <a:spAutoFit/>
          </a:bodyPr>
          <a:lstStyle/>
          <a:p>
            <a:pPr algn="ctr"/>
            <a:r>
              <a:rPr sz="2000" b="0" i="0">
                <a:solidFill>
                  <a:srgbClr val="000000"/>
                </a:solidFill>
                <a:latin typeface="Aptos Display"/>
              </a:rPr>
              <a:t>79</a:t>
            </a:r>
          </a:p>
        </p:txBody>
      </p:sp>
      <p:sp>
        <p:nvSpPr>
          <p:cNvPr id="36" name="Rectangle 35"/>
          <p:cNvSpPr/>
          <p:nvPr/>
        </p:nvSpPr>
        <p:spPr>
          <a:xfrm>
            <a:off x="4480559" y="4535424"/>
            <a:ext cx="1234440" cy="65836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34839" y="4700016"/>
            <a:ext cx="1417320" cy="400110"/>
          </a:xfrm>
          <a:prstGeom prst="rect">
            <a:avLst/>
          </a:prstGeom>
          <a:noFill/>
        </p:spPr>
        <p:txBody>
          <a:bodyPr wrap="square">
            <a:spAutoFit/>
          </a:bodyPr>
          <a:lstStyle/>
          <a:p>
            <a:pPr algn="ctr"/>
            <a:r>
              <a:rPr sz="2000" b="0" i="0" dirty="0">
                <a:solidFill>
                  <a:srgbClr val="000000"/>
                </a:solidFill>
                <a:latin typeface="Aptos Display"/>
              </a:rPr>
              <a:t>111 (63%)</a:t>
            </a:r>
          </a:p>
        </p:txBody>
      </p:sp>
      <p:sp>
        <p:nvSpPr>
          <p:cNvPr id="38" name="TextBox 37"/>
          <p:cNvSpPr txBox="1"/>
          <p:nvPr/>
        </p:nvSpPr>
        <p:spPr>
          <a:xfrm>
            <a:off x="6675120" y="1874520"/>
            <a:ext cx="5029200" cy="320040"/>
          </a:xfrm>
          <a:prstGeom prst="rect">
            <a:avLst/>
          </a:prstGeom>
          <a:noFill/>
        </p:spPr>
        <p:txBody>
          <a:bodyPr wrap="square">
            <a:spAutoFit/>
          </a:bodyPr>
          <a:lstStyle/>
          <a:p>
            <a:pPr algn="l"/>
            <a:r>
              <a:rPr sz="2000" b="1" i="0">
                <a:solidFill>
                  <a:srgbClr val="B20E10"/>
                </a:solidFill>
                <a:latin typeface="Aptos Display"/>
              </a:rPr>
              <a:t>Metriche sul test set</a:t>
            </a:r>
          </a:p>
        </p:txBody>
      </p:sp>
      <p:sp>
        <p:nvSpPr>
          <p:cNvPr id="39" name="Rectangle 38"/>
          <p:cNvSpPr/>
          <p:nvPr/>
        </p:nvSpPr>
        <p:spPr>
          <a:xfrm>
            <a:off x="6675120" y="2286000"/>
            <a:ext cx="5029200" cy="5303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12280" y="2377440"/>
            <a:ext cx="2926080" cy="400110"/>
          </a:xfrm>
          <a:prstGeom prst="rect">
            <a:avLst/>
          </a:prstGeom>
          <a:noFill/>
        </p:spPr>
        <p:txBody>
          <a:bodyPr wrap="square">
            <a:spAutoFit/>
          </a:bodyPr>
          <a:lstStyle/>
          <a:p>
            <a:pPr algn="l"/>
            <a:r>
              <a:rPr sz="2000" b="0" i="0" dirty="0">
                <a:latin typeface="Aptos Display"/>
              </a:rPr>
              <a:t>Accuracy</a:t>
            </a:r>
          </a:p>
        </p:txBody>
      </p:sp>
      <p:sp>
        <p:nvSpPr>
          <p:cNvPr id="41" name="TextBox 40"/>
          <p:cNvSpPr txBox="1"/>
          <p:nvPr/>
        </p:nvSpPr>
        <p:spPr>
          <a:xfrm>
            <a:off x="9144000" y="2359152"/>
            <a:ext cx="2377440" cy="307777"/>
          </a:xfrm>
          <a:prstGeom prst="rect">
            <a:avLst/>
          </a:prstGeom>
          <a:noFill/>
        </p:spPr>
        <p:txBody>
          <a:bodyPr wrap="square">
            <a:spAutoFit/>
          </a:bodyPr>
          <a:lstStyle/>
          <a:p>
            <a:pPr algn="r"/>
            <a:r>
              <a:rPr lang="it-IT" sz="2000" b="1" dirty="0">
                <a:solidFill>
                  <a:schemeClr val="tx1">
                    <a:lumMod val="95000"/>
                    <a:lumOff val="5000"/>
                  </a:schemeClr>
                </a:solidFill>
                <a:latin typeface="Aptos Display"/>
              </a:rPr>
              <a:t>55</a:t>
            </a:r>
            <a:r>
              <a:rPr sz="2000" b="1" i="0" dirty="0">
                <a:solidFill>
                  <a:schemeClr val="tx1">
                    <a:lumMod val="95000"/>
                    <a:lumOff val="5000"/>
                  </a:schemeClr>
                </a:solidFill>
                <a:latin typeface="Aptos Display"/>
              </a:rPr>
              <a:t>.3%</a:t>
            </a:r>
          </a:p>
        </p:txBody>
      </p:sp>
      <p:sp>
        <p:nvSpPr>
          <p:cNvPr id="42" name="Rectangle 41"/>
          <p:cNvSpPr/>
          <p:nvPr/>
        </p:nvSpPr>
        <p:spPr>
          <a:xfrm>
            <a:off x="6675120" y="2852928"/>
            <a:ext cx="50292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12280" y="2944368"/>
            <a:ext cx="2926080" cy="400110"/>
          </a:xfrm>
          <a:prstGeom prst="rect">
            <a:avLst/>
          </a:prstGeom>
          <a:noFill/>
        </p:spPr>
        <p:txBody>
          <a:bodyPr wrap="square">
            <a:spAutoFit/>
          </a:bodyPr>
          <a:lstStyle/>
          <a:p>
            <a:pPr algn="l"/>
            <a:r>
              <a:rPr sz="2000" b="0" i="0" dirty="0">
                <a:latin typeface="Aptos Display"/>
              </a:rPr>
              <a:t>Kappa di Cohen</a:t>
            </a:r>
          </a:p>
        </p:txBody>
      </p:sp>
      <p:sp>
        <p:nvSpPr>
          <p:cNvPr id="44" name="TextBox 43"/>
          <p:cNvSpPr txBox="1"/>
          <p:nvPr/>
        </p:nvSpPr>
        <p:spPr>
          <a:xfrm>
            <a:off x="9144000" y="2926080"/>
            <a:ext cx="2377440" cy="307777"/>
          </a:xfrm>
          <a:prstGeom prst="rect">
            <a:avLst/>
          </a:prstGeom>
          <a:noFill/>
        </p:spPr>
        <p:txBody>
          <a:bodyPr wrap="square">
            <a:spAutoFit/>
          </a:bodyPr>
          <a:lstStyle/>
          <a:p>
            <a:pPr algn="r"/>
            <a:r>
              <a:rPr sz="2000" b="1" i="0" dirty="0">
                <a:solidFill>
                  <a:schemeClr val="tx1">
                    <a:lumMod val="95000"/>
                    <a:lumOff val="5000"/>
                  </a:schemeClr>
                </a:solidFill>
                <a:latin typeface="Aptos Display"/>
              </a:rPr>
              <a:t>0.207</a:t>
            </a:r>
            <a:r>
              <a:rPr sz="2000" b="1" i="0" dirty="0">
                <a:solidFill>
                  <a:srgbClr val="B20E10"/>
                </a:solidFill>
                <a:latin typeface="Aptos Display"/>
              </a:rPr>
              <a:t> </a:t>
            </a:r>
          </a:p>
        </p:txBody>
      </p:sp>
      <p:sp>
        <p:nvSpPr>
          <p:cNvPr id="45" name="Rectangle 44"/>
          <p:cNvSpPr/>
          <p:nvPr/>
        </p:nvSpPr>
        <p:spPr>
          <a:xfrm>
            <a:off x="6675120" y="3419856"/>
            <a:ext cx="5029200" cy="5303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12280" y="3511296"/>
            <a:ext cx="2926080" cy="400110"/>
          </a:xfrm>
          <a:prstGeom prst="rect">
            <a:avLst/>
          </a:prstGeom>
          <a:noFill/>
        </p:spPr>
        <p:txBody>
          <a:bodyPr wrap="square">
            <a:spAutoFit/>
          </a:bodyPr>
          <a:lstStyle/>
          <a:p>
            <a:pPr algn="l"/>
            <a:r>
              <a:rPr sz="2000" b="0" i="0" dirty="0">
                <a:latin typeface="Aptos Display"/>
              </a:rPr>
              <a:t>MAE </a:t>
            </a:r>
            <a:r>
              <a:rPr sz="2000" b="0" i="0" dirty="0" err="1">
                <a:latin typeface="Aptos Display"/>
              </a:rPr>
              <a:t>ordinale</a:t>
            </a:r>
            <a:endParaRPr sz="2000" b="0" i="0" dirty="0">
              <a:latin typeface="Aptos Display"/>
            </a:endParaRPr>
          </a:p>
        </p:txBody>
      </p:sp>
      <p:sp>
        <p:nvSpPr>
          <p:cNvPr id="47" name="TextBox 46"/>
          <p:cNvSpPr txBox="1"/>
          <p:nvPr/>
        </p:nvSpPr>
        <p:spPr>
          <a:xfrm>
            <a:off x="9144000" y="3493008"/>
            <a:ext cx="2377440" cy="307777"/>
          </a:xfrm>
          <a:prstGeom prst="rect">
            <a:avLst/>
          </a:prstGeom>
          <a:noFill/>
        </p:spPr>
        <p:txBody>
          <a:bodyPr wrap="square">
            <a:spAutoFit/>
          </a:bodyPr>
          <a:lstStyle/>
          <a:p>
            <a:pPr algn="r"/>
            <a:r>
              <a:rPr sz="2000" b="1" i="0" dirty="0">
                <a:solidFill>
                  <a:schemeClr val="tx1">
                    <a:lumMod val="95000"/>
                    <a:lumOff val="5000"/>
                  </a:schemeClr>
                </a:solidFill>
                <a:latin typeface="Aptos Display"/>
              </a:rPr>
              <a:t>0.</a:t>
            </a:r>
            <a:r>
              <a:rPr lang="it-IT" sz="2000" b="1" i="0" dirty="0">
                <a:solidFill>
                  <a:schemeClr val="tx1">
                    <a:lumMod val="95000"/>
                    <a:lumOff val="5000"/>
                  </a:schemeClr>
                </a:solidFill>
                <a:latin typeface="Aptos Display"/>
              </a:rPr>
              <a:t>32</a:t>
            </a:r>
            <a:endParaRPr sz="1400" b="1" i="0" dirty="0">
              <a:solidFill>
                <a:schemeClr val="tx1">
                  <a:lumMod val="95000"/>
                  <a:lumOff val="5000"/>
                </a:schemeClr>
              </a:solidFill>
              <a:latin typeface="Aptos Display"/>
            </a:endParaRPr>
          </a:p>
        </p:txBody>
      </p:sp>
      <p:sp>
        <p:nvSpPr>
          <p:cNvPr id="48" name="Rectangle 47"/>
          <p:cNvSpPr/>
          <p:nvPr/>
        </p:nvSpPr>
        <p:spPr>
          <a:xfrm>
            <a:off x="6675120" y="3986783"/>
            <a:ext cx="50292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675120" y="4553712"/>
            <a:ext cx="5029200" cy="5303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12280" y="4078223"/>
            <a:ext cx="2926080" cy="400110"/>
          </a:xfrm>
          <a:prstGeom prst="rect">
            <a:avLst/>
          </a:prstGeom>
          <a:noFill/>
        </p:spPr>
        <p:txBody>
          <a:bodyPr wrap="square">
            <a:spAutoFit/>
          </a:bodyPr>
          <a:lstStyle/>
          <a:p>
            <a:pPr algn="l"/>
            <a:r>
              <a:rPr sz="2000" b="0" i="0" dirty="0">
                <a:latin typeface="Aptos Display"/>
              </a:rPr>
              <a:t>Sensitivity </a:t>
            </a:r>
            <a:r>
              <a:rPr sz="2000" b="0" i="0" dirty="0" err="1">
                <a:latin typeface="Aptos Display"/>
              </a:rPr>
              <a:t>Usato</a:t>
            </a:r>
            <a:endParaRPr sz="1300" b="0" i="0" dirty="0">
              <a:latin typeface="Aptos Display"/>
            </a:endParaRPr>
          </a:p>
        </p:txBody>
      </p:sp>
      <p:sp>
        <p:nvSpPr>
          <p:cNvPr id="53" name="TextBox 52"/>
          <p:cNvSpPr txBox="1"/>
          <p:nvPr/>
        </p:nvSpPr>
        <p:spPr>
          <a:xfrm>
            <a:off x="9175252" y="4110719"/>
            <a:ext cx="2377440" cy="307777"/>
          </a:xfrm>
          <a:prstGeom prst="rect">
            <a:avLst/>
          </a:prstGeom>
          <a:noFill/>
        </p:spPr>
        <p:txBody>
          <a:bodyPr wrap="square">
            <a:spAutoFit/>
          </a:bodyPr>
          <a:lstStyle/>
          <a:p>
            <a:pPr algn="r"/>
            <a:r>
              <a:rPr sz="2000" b="1" i="0" dirty="0">
                <a:solidFill>
                  <a:schemeClr val="tx1">
                    <a:lumMod val="95000"/>
                    <a:lumOff val="5000"/>
                  </a:schemeClr>
                </a:solidFill>
                <a:latin typeface="Aptos Display"/>
              </a:rPr>
              <a:t>66.2%</a:t>
            </a:r>
          </a:p>
        </p:txBody>
      </p:sp>
      <p:sp>
        <p:nvSpPr>
          <p:cNvPr id="54" name="Rectangle 53"/>
          <p:cNvSpPr/>
          <p:nvPr/>
        </p:nvSpPr>
        <p:spPr>
          <a:xfrm>
            <a:off x="6675120" y="5120640"/>
            <a:ext cx="50292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5" name="TextBox 54"/>
          <p:cNvSpPr txBox="1"/>
          <p:nvPr/>
        </p:nvSpPr>
        <p:spPr>
          <a:xfrm>
            <a:off x="6812280" y="4666450"/>
            <a:ext cx="2926080" cy="400110"/>
          </a:xfrm>
          <a:prstGeom prst="rect">
            <a:avLst/>
          </a:prstGeom>
          <a:noFill/>
        </p:spPr>
        <p:txBody>
          <a:bodyPr wrap="square">
            <a:spAutoFit/>
          </a:bodyPr>
          <a:lstStyle/>
          <a:p>
            <a:pPr algn="l"/>
            <a:r>
              <a:rPr sz="2000" b="0" i="0" dirty="0">
                <a:latin typeface="Aptos Display"/>
              </a:rPr>
              <a:t>Sensitivity Nuovo</a:t>
            </a:r>
          </a:p>
        </p:txBody>
      </p:sp>
      <p:sp>
        <p:nvSpPr>
          <p:cNvPr id="56" name="TextBox 55"/>
          <p:cNvSpPr txBox="1"/>
          <p:nvPr/>
        </p:nvSpPr>
        <p:spPr>
          <a:xfrm>
            <a:off x="9175252" y="4674667"/>
            <a:ext cx="2377440" cy="307777"/>
          </a:xfrm>
          <a:prstGeom prst="rect">
            <a:avLst/>
          </a:prstGeom>
          <a:noFill/>
        </p:spPr>
        <p:txBody>
          <a:bodyPr wrap="square">
            <a:spAutoFit/>
          </a:bodyPr>
          <a:lstStyle/>
          <a:p>
            <a:pPr algn="r"/>
            <a:r>
              <a:rPr sz="2000" b="1" i="0" dirty="0">
                <a:solidFill>
                  <a:schemeClr val="tx1">
                    <a:lumMod val="95000"/>
                    <a:lumOff val="5000"/>
                  </a:schemeClr>
                </a:solidFill>
                <a:latin typeface="Aptos Display"/>
              </a:rPr>
              <a:t>63.1%</a:t>
            </a:r>
          </a:p>
        </p:txBody>
      </p:sp>
      <p:sp>
        <p:nvSpPr>
          <p:cNvPr id="58" name="TextBox 57"/>
          <p:cNvSpPr txBox="1"/>
          <p:nvPr/>
        </p:nvSpPr>
        <p:spPr>
          <a:xfrm>
            <a:off x="6773505" y="5257800"/>
            <a:ext cx="2926080" cy="400110"/>
          </a:xfrm>
          <a:prstGeom prst="rect">
            <a:avLst/>
          </a:prstGeom>
          <a:noFill/>
        </p:spPr>
        <p:txBody>
          <a:bodyPr wrap="square">
            <a:spAutoFit/>
          </a:bodyPr>
          <a:lstStyle/>
          <a:p>
            <a:pPr algn="l"/>
            <a:r>
              <a:rPr sz="2000" b="0" i="0" dirty="0">
                <a:latin typeface="Aptos Display"/>
              </a:rPr>
              <a:t>Sensitivity </a:t>
            </a:r>
            <a:r>
              <a:rPr sz="2000" b="0" i="0" dirty="0" err="1">
                <a:latin typeface="Aptos Display"/>
              </a:rPr>
              <a:t>Ottime</a:t>
            </a:r>
            <a:endParaRPr sz="1300" b="0" i="0" dirty="0">
              <a:latin typeface="Aptos Display"/>
            </a:endParaRPr>
          </a:p>
        </p:txBody>
      </p:sp>
      <p:sp>
        <p:nvSpPr>
          <p:cNvPr id="59" name="TextBox 58"/>
          <p:cNvSpPr txBox="1"/>
          <p:nvPr/>
        </p:nvSpPr>
        <p:spPr>
          <a:xfrm>
            <a:off x="9144000" y="5253228"/>
            <a:ext cx="2377440" cy="411480"/>
          </a:xfrm>
          <a:prstGeom prst="rect">
            <a:avLst/>
          </a:prstGeom>
          <a:noFill/>
        </p:spPr>
        <p:txBody>
          <a:bodyPr wrap="square">
            <a:spAutoFit/>
          </a:bodyPr>
          <a:lstStyle/>
          <a:p>
            <a:pPr algn="r"/>
            <a:r>
              <a:rPr sz="2000" b="1" i="0" dirty="0">
                <a:solidFill>
                  <a:srgbClr val="B20E10"/>
                </a:solidFill>
                <a:latin typeface="Aptos Display"/>
              </a:rPr>
              <a:t>30.4%</a:t>
            </a:r>
          </a:p>
        </p:txBody>
      </p:sp>
      <p:sp>
        <p:nvSpPr>
          <p:cNvPr id="61" name="TextBox 60"/>
          <p:cNvSpPr txBox="1"/>
          <p:nvPr/>
        </p:nvSpPr>
        <p:spPr>
          <a:xfrm>
            <a:off x="319514" y="5472143"/>
            <a:ext cx="11872486" cy="1354217"/>
          </a:xfrm>
          <a:prstGeom prst="rect">
            <a:avLst/>
          </a:prstGeom>
          <a:noFill/>
        </p:spPr>
        <p:txBody>
          <a:bodyPr wrap="square">
            <a:spAutoFit/>
          </a:bodyPr>
          <a:lstStyle/>
          <a:p>
            <a:pPr algn="l"/>
            <a:r>
              <a:rPr sz="2000" b="0" i="1" dirty="0" err="1">
                <a:latin typeface="Aptos Display"/>
              </a:rPr>
              <a:t>Ottime</a:t>
            </a:r>
            <a:r>
              <a:rPr sz="2000" b="0" i="1" dirty="0">
                <a:latin typeface="Aptos Display"/>
              </a:rPr>
              <a:t> è la </a:t>
            </a:r>
            <a:r>
              <a:rPr sz="2000" b="0" i="1" dirty="0" err="1">
                <a:latin typeface="Aptos Display"/>
              </a:rPr>
              <a:t>classe</a:t>
            </a:r>
            <a:r>
              <a:rPr sz="2000" b="0" i="1" dirty="0">
                <a:latin typeface="Aptos Display"/>
              </a:rPr>
              <a:t> centrale </a:t>
            </a:r>
            <a:r>
              <a:rPr sz="2000" b="0" i="1" dirty="0" err="1">
                <a:latin typeface="Aptos Display"/>
              </a:rPr>
              <a:t>strutturalmente</a:t>
            </a:r>
            <a:r>
              <a:rPr sz="2000" b="0" i="1" dirty="0">
                <a:latin typeface="Aptos Display"/>
              </a:rPr>
              <a:t> </a:t>
            </a:r>
            <a:r>
              <a:rPr sz="2000" b="0" i="1" dirty="0" err="1">
                <a:latin typeface="Aptos Display"/>
              </a:rPr>
              <a:t>ambigua</a:t>
            </a:r>
            <a:r>
              <a:rPr sz="2000" b="0" i="1" dirty="0">
                <a:latin typeface="Aptos Display"/>
              </a:rPr>
              <a:t>. </a:t>
            </a:r>
            <a:endParaRPr lang="it-IT" sz="1100" b="0" i="1" dirty="0">
              <a:latin typeface="Aptos Display"/>
            </a:endParaRPr>
          </a:p>
          <a:p>
            <a:pPr algn="l"/>
            <a:endParaRPr lang="it-IT" sz="1100" b="0" i="1" dirty="0">
              <a:latin typeface="Aptos Display"/>
            </a:endParaRPr>
          </a:p>
          <a:p>
            <a:pPr algn="l"/>
            <a:r>
              <a:rPr sz="2000" b="0" i="1" dirty="0">
                <a:latin typeface="Aptos Display"/>
              </a:rPr>
              <a:t>Il 65% degli </a:t>
            </a:r>
            <a:r>
              <a:rPr sz="2000" b="0" i="1" dirty="0" err="1">
                <a:latin typeface="Aptos Display"/>
              </a:rPr>
              <a:t>errori</a:t>
            </a:r>
            <a:r>
              <a:rPr sz="2000" b="0" i="1" dirty="0">
                <a:latin typeface="Aptos Display"/>
              </a:rPr>
              <a:t> </a:t>
            </a:r>
            <a:r>
              <a:rPr sz="2000" b="0" i="1" dirty="0" err="1">
                <a:latin typeface="Aptos Display"/>
              </a:rPr>
              <a:t>coinvolge</a:t>
            </a:r>
            <a:r>
              <a:rPr sz="2000" b="0" i="1" dirty="0">
                <a:latin typeface="Aptos Display"/>
              </a:rPr>
              <a:t> </a:t>
            </a:r>
            <a:r>
              <a:rPr sz="2000" b="0" i="1" dirty="0" err="1">
                <a:latin typeface="Aptos Display"/>
              </a:rPr>
              <a:t>questa</a:t>
            </a:r>
            <a:r>
              <a:rPr sz="2000" b="0" i="1" dirty="0">
                <a:latin typeface="Aptos Display"/>
              </a:rPr>
              <a:t> </a:t>
            </a:r>
            <a:r>
              <a:rPr sz="2000" b="0" i="1" dirty="0" err="1">
                <a:latin typeface="Aptos Display"/>
              </a:rPr>
              <a:t>classe</a:t>
            </a:r>
            <a:r>
              <a:rPr sz="2000" b="0" i="1" dirty="0">
                <a:latin typeface="Aptos Display"/>
              </a:rPr>
              <a:t>, </a:t>
            </a:r>
            <a:r>
              <a:rPr sz="2000" b="0" i="1" dirty="0" err="1">
                <a:latin typeface="Aptos Display"/>
              </a:rPr>
              <a:t>classificata</a:t>
            </a:r>
            <a:r>
              <a:rPr sz="2000" b="0" i="1" dirty="0">
                <a:latin typeface="Aptos Display"/>
              </a:rPr>
              <a:t> </a:t>
            </a:r>
            <a:r>
              <a:rPr sz="2000" b="0" i="1" dirty="0" err="1">
                <a:latin typeface="Aptos Display"/>
              </a:rPr>
              <a:t>erroneamente</a:t>
            </a:r>
            <a:r>
              <a:rPr sz="2000" b="0" i="1" dirty="0">
                <a:latin typeface="Aptos Display"/>
              </a:rPr>
              <a:t> in </a:t>
            </a:r>
            <a:r>
              <a:rPr sz="2000" b="0" i="1" dirty="0" err="1">
                <a:latin typeface="Aptos Display"/>
              </a:rPr>
              <a:t>entrambe</a:t>
            </a:r>
            <a:r>
              <a:rPr sz="2000" b="0" i="1" dirty="0">
                <a:latin typeface="Aptos Display"/>
              </a:rPr>
              <a:t> le </a:t>
            </a:r>
            <a:r>
              <a:rPr sz="2000" b="0" i="1" dirty="0" err="1">
                <a:latin typeface="Aptos Display"/>
              </a:rPr>
              <a:t>direzioni</a:t>
            </a:r>
            <a:r>
              <a:rPr sz="2000" b="0" i="1" dirty="0">
                <a:latin typeface="Aptos Display"/>
              </a:rPr>
              <a:t>.</a:t>
            </a:r>
            <a:endParaRPr lang="it-IT" sz="1100" b="0" i="1" dirty="0">
              <a:latin typeface="Aptos Display"/>
            </a:endParaRPr>
          </a:p>
          <a:p>
            <a:pPr algn="l"/>
            <a:endParaRPr lang="it-IT" sz="1100" b="0" i="1" dirty="0">
              <a:latin typeface="Aptos Display"/>
            </a:endParaRPr>
          </a:p>
          <a:p>
            <a:pPr algn="l"/>
            <a:r>
              <a:rPr sz="2000" b="0" i="1" dirty="0">
                <a:latin typeface="Aptos Display"/>
              </a:rPr>
              <a:t> </a:t>
            </a:r>
            <a:r>
              <a:rPr sz="2000" b="0" i="1" dirty="0" err="1">
                <a:latin typeface="Aptos Display"/>
              </a:rPr>
              <a:t>Gli</a:t>
            </a:r>
            <a:r>
              <a:rPr sz="2000" b="0" i="1" dirty="0">
                <a:latin typeface="Aptos Display"/>
              </a:rPr>
              <a:t> </a:t>
            </a:r>
            <a:r>
              <a:rPr sz="2000" b="0" i="1" dirty="0" err="1">
                <a:latin typeface="Aptos Display"/>
              </a:rPr>
              <a:t>errori</a:t>
            </a:r>
            <a:r>
              <a:rPr sz="2000" b="0" i="1" dirty="0">
                <a:latin typeface="Aptos Display"/>
              </a:rPr>
              <a:t> </a:t>
            </a:r>
            <a:r>
              <a:rPr sz="2000" b="0" i="1" dirty="0" err="1">
                <a:latin typeface="Aptos Display"/>
              </a:rPr>
              <a:t>gravi</a:t>
            </a:r>
            <a:r>
              <a:rPr sz="2000" b="0" i="1" dirty="0">
                <a:latin typeface="Aptos Display"/>
              </a:rPr>
              <a:t> (Nuovo</a:t>
            </a:r>
            <a:r>
              <a:rPr lang="it-IT" sz="2000" b="0" i="1" dirty="0">
                <a:latin typeface="Aptos Display"/>
              </a:rPr>
              <a:t>↔</a:t>
            </a:r>
            <a:r>
              <a:rPr sz="2000" b="0" i="1" dirty="0" err="1">
                <a:latin typeface="Aptos Display"/>
              </a:rPr>
              <a:t>Usato</a:t>
            </a:r>
            <a:r>
              <a:rPr sz="2000" b="0" i="1" dirty="0">
                <a:latin typeface="Aptos Display"/>
              </a:rPr>
              <a:t>) </a:t>
            </a:r>
            <a:r>
              <a:rPr sz="2000" b="0" i="1" dirty="0" err="1">
                <a:latin typeface="Aptos Display"/>
              </a:rPr>
              <a:t>sono</a:t>
            </a:r>
            <a:r>
              <a:rPr sz="2000" b="0" i="1" dirty="0">
                <a:latin typeface="Aptos Display"/>
              </a:rPr>
              <a:t> solo</a:t>
            </a:r>
            <a:r>
              <a:rPr lang="it-IT" sz="2000" b="0" i="1" dirty="0">
                <a:latin typeface="Aptos Display"/>
              </a:rPr>
              <a:t> 8% ovvero 20/252 </a:t>
            </a:r>
            <a:endParaRPr sz="1100" b="0" i="1" dirty="0">
              <a:latin typeface="Aptos Display"/>
            </a:endParaRPr>
          </a:p>
        </p:txBody>
      </p:sp>
      <p:sp>
        <p:nvSpPr>
          <p:cNvPr id="999" name="PageNum31"/>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11575"/>
            <a:ext cx="12192000" cy="1608881"/>
          </a:xfrm>
          <a:prstGeom prst="rect">
            <a:avLst/>
          </a:prstGeom>
          <a:solidFill>
            <a:srgbClr val="B20E10"/>
          </a:solidFill>
          <a:ln>
            <a:solidFill>
              <a:srgbClr val="B20E10"/>
            </a:solidFill>
          </a:ln>
        </p:spPr>
        <p:txBody>
          <a:bodyPr/>
          <a:lstStyle/>
          <a:p>
            <a:endParaRPr/>
          </a:p>
        </p:txBody>
      </p:sp>
      <p:sp>
        <p:nvSpPr>
          <p:cNvPr id="3" name="Title"/>
          <p:cNvSpPr>
            <a:spLocks noGrp="1"/>
          </p:cNvSpPr>
          <p:nvPr>
            <p:ph type="title"/>
          </p:nvPr>
        </p:nvSpPr>
        <p:spPr>
          <a:xfrm>
            <a:off x="457200" y="114300"/>
            <a:ext cx="11277600" cy="1494581"/>
          </a:xfrm>
        </p:spPr>
        <p:txBody>
          <a:bodyPr anchor="ctr">
            <a:normAutofit/>
          </a:bodyPr>
          <a:lstStyle/>
          <a:p>
            <a:r>
              <a:rPr lang="it-IT" sz="2400" dirty="0">
                <a:solidFill>
                  <a:srgbClr val="FFFFFF"/>
                </a:solidFill>
                <a:latin typeface="Aptos Display"/>
              </a:rPr>
              <a:t>Classificazione sulla Qualità</a:t>
            </a:r>
          </a:p>
          <a:p>
            <a:r>
              <a:rPr lang="it-IT" sz="2400" dirty="0">
                <a:solidFill>
                  <a:srgbClr val="FFFFFF"/>
                </a:solidFill>
                <a:latin typeface="Aptos Display"/>
              </a:rPr>
              <a:t>Permutation Feature </a:t>
            </a:r>
            <a:r>
              <a:rPr lang="it-IT" sz="2400" dirty="0" err="1">
                <a:solidFill>
                  <a:srgbClr val="FFFFFF"/>
                </a:solidFill>
                <a:latin typeface="Aptos Display"/>
              </a:rPr>
              <a:t>Importance</a:t>
            </a:r>
            <a:r>
              <a:rPr lang="it-IT" sz="2400" dirty="0">
                <a:solidFill>
                  <a:srgbClr val="FFFFFF"/>
                </a:solidFill>
                <a:latin typeface="Aptos Display"/>
              </a:rPr>
              <a:t>: Modello 3C + Pesi</a:t>
            </a:r>
          </a:p>
        </p:txBody>
      </p:sp>
      <p:pic>
        <p:nvPicPr>
          <p:cNvPr id="4" name="PermChart"/>
          <p:cNvPicPr>
            <a:picLocks noChangeAspect="1"/>
          </p:cNvPicPr>
          <p:nvPr/>
        </p:nvPicPr>
        <p:blipFill>
          <a:blip r:embed="rId2"/>
          <a:stretch>
            <a:fillRect/>
          </a:stretch>
        </p:blipFill>
        <p:spPr>
          <a:xfrm>
            <a:off x="1005840" y="1854581"/>
            <a:ext cx="9890760" cy="4889119"/>
          </a:xfrm>
          <a:prstGeom prst="rect">
            <a:avLst/>
          </a:prstGeom>
        </p:spPr>
      </p:pic>
      <p:sp>
        <p:nvSpPr>
          <p:cNvPr id="99" name="PgNum"/>
          <p:cNvSpPr txBox="1"/>
          <p:nvPr/>
        </p:nvSpPr>
        <p:spPr>
          <a:xfrm>
            <a:off x="11642000" y="6458000"/>
            <a:ext cx="400000" cy="300000"/>
          </a:xfrm>
          <a:prstGeom prst="rect">
            <a:avLst/>
          </a:prstGeom>
          <a:noFill/>
        </p:spPr>
        <p:txBody>
          <a:bodyPr wrap="none" rtlCol="0"/>
          <a:lstStyle/>
          <a:p>
            <a:pPr algn="r"/>
            <a:r>
              <a:rPr lang="it-IT" sz="1400" dirty="0">
                <a:solidFill>
                  <a:srgbClr val="000000"/>
                </a:solidFill>
                <a:latin typeface="Aptos Display"/>
              </a:rPr>
              <a:t>32</a:t>
            </a:r>
          </a:p>
        </p:txBody>
      </p:sp>
      <p:pic>
        <p:nvPicPr>
          <p:cNvPr id="5" name="Picture 3" descr="unipd_logo.png">
            <a:extLst>
              <a:ext uri="{FF2B5EF4-FFF2-40B4-BE49-F238E27FC236}">
                <a16:creationId xmlns:a16="http://schemas.microsoft.com/office/drawing/2014/main" id="{0931AA95-D792-A5EF-7EB3-8B97B655E768}"/>
              </a:ext>
            </a:extLst>
          </p:cNvPr>
          <p:cNvPicPr>
            <a:picLocks noChangeAspect="1"/>
          </p:cNvPicPr>
          <p:nvPr/>
        </p:nvPicPr>
        <p:blipFill>
          <a:blip r:embed="rId3"/>
          <a:stretch>
            <a:fillRect/>
          </a:stretch>
        </p:blipFill>
        <p:spPr>
          <a:xfrm>
            <a:off x="8805046" y="210080"/>
            <a:ext cx="2651760" cy="11887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427249"/>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sz="3200" i="1" dirty="0" err="1">
                <a:solidFill>
                  <a:srgbClr val="FFFFFF"/>
                </a:solidFill>
                <a:latin typeface="Aptos Display"/>
              </a:rPr>
              <a:t>Analisi</a:t>
            </a:r>
            <a:r>
              <a:rPr sz="3200" i="1" dirty="0">
                <a:solidFill>
                  <a:srgbClr val="FFFFFF"/>
                </a:solidFill>
                <a:latin typeface="Aptos Display"/>
              </a:rPr>
              <a:t> degli </a:t>
            </a:r>
            <a:r>
              <a:rPr sz="3200" i="1" dirty="0" err="1">
                <a:solidFill>
                  <a:srgbClr val="FFFFFF"/>
                </a:solidFill>
                <a:latin typeface="Aptos Display"/>
              </a:rPr>
              <a:t>errori</a:t>
            </a:r>
            <a:r>
              <a:rPr sz="3200" i="1" dirty="0">
                <a:solidFill>
                  <a:srgbClr val="FFFFFF"/>
                </a:solidFill>
                <a:latin typeface="Aptos Display"/>
              </a:rPr>
              <a:t> </a:t>
            </a:r>
            <a:r>
              <a:rPr lang="it-IT" sz="3200" i="1" dirty="0">
                <a:solidFill>
                  <a:srgbClr val="FFFFFF"/>
                </a:solidFill>
                <a:latin typeface="Aptos Display"/>
              </a:rPr>
              <a:t>:</a:t>
            </a:r>
            <a:r>
              <a:rPr sz="3200" i="1" dirty="0" err="1">
                <a:solidFill>
                  <a:srgbClr val="FFFFFF"/>
                </a:solidFill>
                <a:latin typeface="Aptos Display"/>
              </a:rPr>
              <a:t>Modello</a:t>
            </a:r>
            <a:r>
              <a:rPr sz="3200" i="1" dirty="0">
                <a:solidFill>
                  <a:srgbClr val="FFFFFF"/>
                </a:solidFill>
                <a:latin typeface="Aptos Display"/>
              </a:rPr>
              <a:t> 3C+Pesi</a:t>
            </a:r>
          </a:p>
        </p:txBody>
      </p:sp>
      <p:pic>
        <p:nvPicPr>
          <p:cNvPr id="4" name="Picture 3" descr="unipd_logo.png"/>
          <p:cNvPicPr>
            <a:picLocks noChangeAspect="1"/>
          </p:cNvPicPr>
          <p:nvPr/>
        </p:nvPicPr>
        <p:blipFill>
          <a:blip r:embed="rId2"/>
          <a:stretch>
            <a:fillRect/>
          </a:stretch>
        </p:blipFill>
        <p:spPr>
          <a:xfrm>
            <a:off x="8458200" y="171305"/>
            <a:ext cx="2651760" cy="1188720"/>
          </a:xfrm>
          <a:prstGeom prst="rect">
            <a:avLst/>
          </a:prstGeom>
        </p:spPr>
      </p:pic>
      <p:sp>
        <p:nvSpPr>
          <p:cNvPr id="6" name="TextBox 5"/>
          <p:cNvSpPr txBox="1"/>
          <p:nvPr/>
        </p:nvSpPr>
        <p:spPr>
          <a:xfrm>
            <a:off x="502920" y="1943819"/>
            <a:ext cx="5029200" cy="320040"/>
          </a:xfrm>
          <a:prstGeom prst="rect">
            <a:avLst/>
          </a:prstGeom>
          <a:noFill/>
        </p:spPr>
        <p:txBody>
          <a:bodyPr wrap="square">
            <a:spAutoFit/>
          </a:bodyPr>
          <a:lstStyle/>
          <a:p>
            <a:pPr algn="l"/>
            <a:r>
              <a:rPr sz="2000" b="1" i="0" dirty="0">
                <a:solidFill>
                  <a:srgbClr val="B20E10"/>
                </a:solidFill>
                <a:latin typeface="Aptos Display"/>
              </a:rPr>
              <a:t>Tasso di </a:t>
            </a:r>
            <a:r>
              <a:rPr sz="2000" b="1" i="0" dirty="0" err="1">
                <a:solidFill>
                  <a:srgbClr val="B20E10"/>
                </a:solidFill>
                <a:latin typeface="Aptos Display"/>
              </a:rPr>
              <a:t>errore</a:t>
            </a:r>
            <a:r>
              <a:rPr sz="2000" b="1" i="0" dirty="0">
                <a:solidFill>
                  <a:srgbClr val="B20E10"/>
                </a:solidFill>
                <a:latin typeface="Aptos Display"/>
              </a:rPr>
              <a:t> per brand</a:t>
            </a:r>
          </a:p>
        </p:txBody>
      </p:sp>
      <p:graphicFrame>
        <p:nvGraphicFramePr>
          <p:cNvPr id="7" name="Table 6"/>
          <p:cNvGraphicFramePr>
            <a:graphicFrameLocks noGrp="1"/>
          </p:cNvGraphicFramePr>
          <p:nvPr>
            <p:extLst>
              <p:ext uri="{D42A27DB-BD31-4B8C-83A1-F6EECF244321}">
                <p14:modId xmlns:p14="http://schemas.microsoft.com/office/powerpoint/2010/main" val="1913563923"/>
              </p:ext>
            </p:extLst>
          </p:nvPr>
        </p:nvGraphicFramePr>
        <p:xfrm>
          <a:off x="502920" y="2315968"/>
          <a:ext cx="4297680" cy="395871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65530">
                <a:tc>
                  <a:txBody>
                    <a:bodyPr/>
                    <a:lstStyle/>
                    <a:p>
                      <a:pPr algn="ctr"/>
                      <a:r>
                        <a:rPr sz="2000" b="1" dirty="0">
                          <a:solidFill>
                            <a:srgbClr val="FFFFFF"/>
                          </a:solidFill>
                          <a:latin typeface="Aptos Display"/>
                        </a:rPr>
                        <a:t>Brand</a:t>
                      </a:r>
                    </a:p>
                  </a:txBody>
                  <a:tcPr>
                    <a:solidFill>
                      <a:srgbClr val="B20E10"/>
                    </a:solidFill>
                  </a:tcPr>
                </a:tc>
                <a:tc>
                  <a:txBody>
                    <a:bodyPr/>
                    <a:lstStyle/>
                    <a:p>
                      <a:pPr algn="ctr"/>
                      <a:r>
                        <a:rPr sz="2000" b="1">
                          <a:solidFill>
                            <a:srgbClr val="FFFFFF"/>
                          </a:solidFill>
                          <a:latin typeface="Aptos Display"/>
                        </a:rPr>
                        <a:t>N</a:t>
                      </a:r>
                    </a:p>
                  </a:txBody>
                  <a:tcPr>
                    <a:solidFill>
                      <a:srgbClr val="B20E10"/>
                    </a:solidFill>
                  </a:tcPr>
                </a:tc>
                <a:tc>
                  <a:txBody>
                    <a:bodyPr/>
                    <a:lstStyle/>
                    <a:p>
                      <a:pPr algn="ctr"/>
                      <a:r>
                        <a:rPr sz="2000" b="1">
                          <a:solidFill>
                            <a:srgbClr val="FFFFFF"/>
                          </a:solidFill>
                          <a:latin typeface="Aptos Display"/>
                        </a:rPr>
                        <a:t>Errori</a:t>
                      </a:r>
                    </a:p>
                  </a:txBody>
                  <a:tcPr>
                    <a:solidFill>
                      <a:srgbClr val="B20E10"/>
                    </a:solidFill>
                  </a:tcPr>
                </a:tc>
                <a:tc>
                  <a:txBody>
                    <a:bodyPr/>
                    <a:lstStyle/>
                    <a:p>
                      <a:pPr algn="ctr"/>
                      <a:r>
                        <a:rPr sz="2000" b="1">
                          <a:solidFill>
                            <a:srgbClr val="FFFFFF"/>
                          </a:solidFill>
                          <a:latin typeface="Aptos Display"/>
                        </a:rPr>
                        <a:t>Tasso</a:t>
                      </a:r>
                    </a:p>
                  </a:txBody>
                  <a:tcPr>
                    <a:solidFill>
                      <a:srgbClr val="B20E10"/>
                    </a:solidFill>
                  </a:tcPr>
                </a:tc>
                <a:extLst>
                  <a:ext uri="{0D108BD9-81ED-4DB2-BD59-A6C34878D82A}">
                    <a16:rowId xmlns:a16="http://schemas.microsoft.com/office/drawing/2014/main" val="10000"/>
                  </a:ext>
                </a:extLst>
              </a:tr>
              <a:tr h="565530">
                <a:tc>
                  <a:txBody>
                    <a:bodyPr/>
                    <a:lstStyle/>
                    <a:p>
                      <a:pPr algn="ctr"/>
                      <a:r>
                        <a:rPr sz="2000" dirty="0">
                          <a:solidFill>
                            <a:srgbClr val="000000"/>
                          </a:solidFill>
                          <a:latin typeface="Aptos Display"/>
                        </a:rPr>
                        <a:t>Nike</a:t>
                      </a:r>
                    </a:p>
                  </a:txBody>
                  <a:tcPr>
                    <a:solidFill>
                      <a:srgbClr val="F9F9F9"/>
                    </a:solidFill>
                  </a:tcPr>
                </a:tc>
                <a:tc>
                  <a:txBody>
                    <a:bodyPr/>
                    <a:lstStyle/>
                    <a:p>
                      <a:pPr algn="ctr"/>
                      <a:r>
                        <a:rPr sz="2000">
                          <a:solidFill>
                            <a:srgbClr val="000000"/>
                          </a:solidFill>
                          <a:latin typeface="Aptos Display"/>
                        </a:rPr>
                        <a:t>73</a:t>
                      </a:r>
                    </a:p>
                  </a:txBody>
                  <a:tcPr>
                    <a:solidFill>
                      <a:srgbClr val="F9F9F9"/>
                    </a:solidFill>
                  </a:tcPr>
                </a:tc>
                <a:tc>
                  <a:txBody>
                    <a:bodyPr/>
                    <a:lstStyle/>
                    <a:p>
                      <a:pPr algn="ctr"/>
                      <a:r>
                        <a:rPr sz="2000">
                          <a:solidFill>
                            <a:srgbClr val="000000"/>
                          </a:solidFill>
                          <a:latin typeface="Aptos Display"/>
                        </a:rPr>
                        <a:t>45</a:t>
                      </a:r>
                    </a:p>
                  </a:txBody>
                  <a:tcPr>
                    <a:solidFill>
                      <a:srgbClr val="F9F9F9"/>
                    </a:solidFill>
                  </a:tcPr>
                </a:tc>
                <a:tc>
                  <a:txBody>
                    <a:bodyPr/>
                    <a:lstStyle/>
                    <a:p>
                      <a:pPr algn="ctr"/>
                      <a:r>
                        <a:rPr sz="2000" b="1" dirty="0">
                          <a:solidFill>
                            <a:srgbClr val="000000"/>
                          </a:solidFill>
                          <a:latin typeface="Aptos Display"/>
                        </a:rPr>
                        <a:t>61.6%</a:t>
                      </a:r>
                    </a:p>
                  </a:txBody>
                  <a:tcPr>
                    <a:solidFill>
                      <a:srgbClr val="F9F9F9"/>
                    </a:solidFill>
                  </a:tcPr>
                </a:tc>
                <a:extLst>
                  <a:ext uri="{0D108BD9-81ED-4DB2-BD59-A6C34878D82A}">
                    <a16:rowId xmlns:a16="http://schemas.microsoft.com/office/drawing/2014/main" val="10001"/>
                  </a:ext>
                </a:extLst>
              </a:tr>
              <a:tr h="565530">
                <a:tc>
                  <a:txBody>
                    <a:bodyPr/>
                    <a:lstStyle/>
                    <a:p>
                      <a:pPr algn="ctr"/>
                      <a:r>
                        <a:rPr sz="2000" dirty="0">
                          <a:solidFill>
                            <a:srgbClr val="000000"/>
                          </a:solidFill>
                          <a:latin typeface="Aptos Display"/>
                        </a:rPr>
                        <a:t>Champion</a:t>
                      </a:r>
                    </a:p>
                  </a:txBody>
                  <a:tcPr>
                    <a:solidFill>
                      <a:srgbClr val="FFFFFF"/>
                    </a:solidFill>
                  </a:tcPr>
                </a:tc>
                <a:tc>
                  <a:txBody>
                    <a:bodyPr/>
                    <a:lstStyle/>
                    <a:p>
                      <a:pPr algn="ctr"/>
                      <a:r>
                        <a:rPr sz="2000">
                          <a:solidFill>
                            <a:srgbClr val="000000"/>
                          </a:solidFill>
                          <a:latin typeface="Aptos Display"/>
                        </a:rPr>
                        <a:t>13</a:t>
                      </a:r>
                    </a:p>
                  </a:txBody>
                  <a:tcPr>
                    <a:solidFill>
                      <a:srgbClr val="FFFFFF"/>
                    </a:solidFill>
                  </a:tcPr>
                </a:tc>
                <a:tc>
                  <a:txBody>
                    <a:bodyPr/>
                    <a:lstStyle/>
                    <a:p>
                      <a:pPr algn="ctr"/>
                      <a:r>
                        <a:rPr sz="2000">
                          <a:solidFill>
                            <a:srgbClr val="000000"/>
                          </a:solidFill>
                          <a:latin typeface="Aptos Display"/>
                        </a:rPr>
                        <a:t>8</a:t>
                      </a:r>
                    </a:p>
                  </a:txBody>
                  <a:tcPr>
                    <a:solidFill>
                      <a:srgbClr val="FFFFFF"/>
                    </a:solidFill>
                  </a:tcPr>
                </a:tc>
                <a:tc>
                  <a:txBody>
                    <a:bodyPr/>
                    <a:lstStyle/>
                    <a:p>
                      <a:pPr algn="ctr"/>
                      <a:r>
                        <a:rPr sz="2000" b="1" dirty="0">
                          <a:solidFill>
                            <a:srgbClr val="000000"/>
                          </a:solidFill>
                          <a:latin typeface="Aptos Display"/>
                        </a:rPr>
                        <a:t>61.5%</a:t>
                      </a:r>
                    </a:p>
                  </a:txBody>
                  <a:tcPr>
                    <a:solidFill>
                      <a:srgbClr val="FFFFFF"/>
                    </a:solidFill>
                  </a:tcPr>
                </a:tc>
                <a:extLst>
                  <a:ext uri="{0D108BD9-81ED-4DB2-BD59-A6C34878D82A}">
                    <a16:rowId xmlns:a16="http://schemas.microsoft.com/office/drawing/2014/main" val="10002"/>
                  </a:ext>
                </a:extLst>
              </a:tr>
              <a:tr h="565530">
                <a:tc>
                  <a:txBody>
                    <a:bodyPr/>
                    <a:lstStyle/>
                    <a:p>
                      <a:pPr algn="ctr"/>
                      <a:r>
                        <a:rPr lang="it-IT" sz="2000" dirty="0">
                          <a:solidFill>
                            <a:srgbClr val="000000"/>
                          </a:solidFill>
                          <a:latin typeface="Aptos Display"/>
                        </a:rPr>
                        <a:t>Ignoto</a:t>
                      </a:r>
                      <a:endParaRPr sz="1200" dirty="0">
                        <a:solidFill>
                          <a:srgbClr val="000000"/>
                        </a:solidFill>
                        <a:latin typeface="Aptos Display"/>
                      </a:endParaRPr>
                    </a:p>
                  </a:txBody>
                  <a:tcPr>
                    <a:solidFill>
                      <a:srgbClr val="F9F9F9"/>
                    </a:solidFill>
                  </a:tcPr>
                </a:tc>
                <a:tc>
                  <a:txBody>
                    <a:bodyPr/>
                    <a:lstStyle/>
                    <a:p>
                      <a:pPr algn="ctr"/>
                      <a:r>
                        <a:rPr sz="2000">
                          <a:solidFill>
                            <a:srgbClr val="000000"/>
                          </a:solidFill>
                          <a:latin typeface="Aptos Display"/>
                        </a:rPr>
                        <a:t>124</a:t>
                      </a:r>
                    </a:p>
                  </a:txBody>
                  <a:tcPr>
                    <a:solidFill>
                      <a:srgbClr val="F9F9F9"/>
                    </a:solidFill>
                  </a:tcPr>
                </a:tc>
                <a:tc>
                  <a:txBody>
                    <a:bodyPr/>
                    <a:lstStyle/>
                    <a:p>
                      <a:pPr algn="ctr"/>
                      <a:r>
                        <a:rPr sz="2000">
                          <a:solidFill>
                            <a:srgbClr val="000000"/>
                          </a:solidFill>
                          <a:latin typeface="Aptos Display"/>
                        </a:rPr>
                        <a:t>74</a:t>
                      </a:r>
                    </a:p>
                  </a:txBody>
                  <a:tcPr>
                    <a:solidFill>
                      <a:srgbClr val="F9F9F9"/>
                    </a:solidFill>
                  </a:tcPr>
                </a:tc>
                <a:tc>
                  <a:txBody>
                    <a:bodyPr/>
                    <a:lstStyle/>
                    <a:p>
                      <a:pPr algn="ctr"/>
                      <a:r>
                        <a:rPr sz="2000" b="1" dirty="0">
                          <a:solidFill>
                            <a:srgbClr val="000000"/>
                          </a:solidFill>
                          <a:latin typeface="Aptos Display"/>
                        </a:rPr>
                        <a:t>59.7%</a:t>
                      </a:r>
                    </a:p>
                  </a:txBody>
                  <a:tcPr>
                    <a:solidFill>
                      <a:srgbClr val="F9F9F9"/>
                    </a:solidFill>
                  </a:tcPr>
                </a:tc>
                <a:extLst>
                  <a:ext uri="{0D108BD9-81ED-4DB2-BD59-A6C34878D82A}">
                    <a16:rowId xmlns:a16="http://schemas.microsoft.com/office/drawing/2014/main" val="10003"/>
                  </a:ext>
                </a:extLst>
              </a:tr>
              <a:tr h="565530">
                <a:tc>
                  <a:txBody>
                    <a:bodyPr/>
                    <a:lstStyle/>
                    <a:p>
                      <a:pPr algn="ctr"/>
                      <a:r>
                        <a:rPr sz="2000">
                          <a:solidFill>
                            <a:srgbClr val="000000"/>
                          </a:solidFill>
                          <a:latin typeface="Aptos Display"/>
                        </a:rPr>
                        <a:t>Asics</a:t>
                      </a:r>
                    </a:p>
                  </a:txBody>
                  <a:tcPr>
                    <a:solidFill>
                      <a:srgbClr val="FFFFFF"/>
                    </a:solidFill>
                  </a:tcPr>
                </a:tc>
                <a:tc>
                  <a:txBody>
                    <a:bodyPr/>
                    <a:lstStyle/>
                    <a:p>
                      <a:pPr algn="ctr"/>
                      <a:r>
                        <a:rPr sz="2000">
                          <a:solidFill>
                            <a:srgbClr val="000000"/>
                          </a:solidFill>
                          <a:latin typeface="Aptos Display"/>
                        </a:rPr>
                        <a:t>17</a:t>
                      </a:r>
                    </a:p>
                  </a:txBody>
                  <a:tcPr>
                    <a:solidFill>
                      <a:srgbClr val="FFFFFF"/>
                    </a:solidFill>
                  </a:tcPr>
                </a:tc>
                <a:tc>
                  <a:txBody>
                    <a:bodyPr/>
                    <a:lstStyle/>
                    <a:p>
                      <a:pPr algn="ctr"/>
                      <a:r>
                        <a:rPr sz="2000">
                          <a:solidFill>
                            <a:srgbClr val="000000"/>
                          </a:solidFill>
                          <a:latin typeface="Aptos Display"/>
                        </a:rPr>
                        <a:t>5</a:t>
                      </a:r>
                    </a:p>
                  </a:txBody>
                  <a:tcPr>
                    <a:solidFill>
                      <a:srgbClr val="FFFFFF"/>
                    </a:solidFill>
                  </a:tcPr>
                </a:tc>
                <a:tc>
                  <a:txBody>
                    <a:bodyPr/>
                    <a:lstStyle/>
                    <a:p>
                      <a:pPr algn="ctr"/>
                      <a:r>
                        <a:rPr sz="2000">
                          <a:solidFill>
                            <a:srgbClr val="000000"/>
                          </a:solidFill>
                          <a:latin typeface="Aptos Display"/>
                        </a:rPr>
                        <a:t>29.4%</a:t>
                      </a:r>
                    </a:p>
                  </a:txBody>
                  <a:tcPr>
                    <a:solidFill>
                      <a:srgbClr val="FFFFFF"/>
                    </a:solidFill>
                  </a:tcPr>
                </a:tc>
                <a:extLst>
                  <a:ext uri="{0D108BD9-81ED-4DB2-BD59-A6C34878D82A}">
                    <a16:rowId xmlns:a16="http://schemas.microsoft.com/office/drawing/2014/main" val="10004"/>
                  </a:ext>
                </a:extLst>
              </a:tr>
              <a:tr h="565530">
                <a:tc>
                  <a:txBody>
                    <a:bodyPr/>
                    <a:lstStyle/>
                    <a:p>
                      <a:pPr algn="ctr"/>
                      <a:r>
                        <a:rPr sz="2000">
                          <a:solidFill>
                            <a:srgbClr val="000000"/>
                          </a:solidFill>
                          <a:latin typeface="Aptos Display"/>
                        </a:rPr>
                        <a:t>Autry</a:t>
                      </a:r>
                    </a:p>
                  </a:txBody>
                  <a:tcPr>
                    <a:solidFill>
                      <a:srgbClr val="F9F9F9"/>
                    </a:solidFill>
                  </a:tcPr>
                </a:tc>
                <a:tc>
                  <a:txBody>
                    <a:bodyPr/>
                    <a:lstStyle/>
                    <a:p>
                      <a:pPr algn="ctr"/>
                      <a:r>
                        <a:rPr sz="2000">
                          <a:solidFill>
                            <a:srgbClr val="000000"/>
                          </a:solidFill>
                          <a:latin typeface="Aptos Display"/>
                        </a:rPr>
                        <a:t>15</a:t>
                      </a:r>
                    </a:p>
                  </a:txBody>
                  <a:tcPr>
                    <a:solidFill>
                      <a:srgbClr val="F9F9F9"/>
                    </a:solidFill>
                  </a:tcPr>
                </a:tc>
                <a:tc>
                  <a:txBody>
                    <a:bodyPr/>
                    <a:lstStyle/>
                    <a:p>
                      <a:pPr algn="ctr"/>
                      <a:r>
                        <a:rPr sz="2000">
                          <a:solidFill>
                            <a:srgbClr val="000000"/>
                          </a:solidFill>
                          <a:latin typeface="Aptos Display"/>
                        </a:rPr>
                        <a:t>5</a:t>
                      </a:r>
                    </a:p>
                  </a:txBody>
                  <a:tcPr>
                    <a:solidFill>
                      <a:srgbClr val="F9F9F9"/>
                    </a:solidFill>
                  </a:tcPr>
                </a:tc>
                <a:tc>
                  <a:txBody>
                    <a:bodyPr/>
                    <a:lstStyle/>
                    <a:p>
                      <a:pPr algn="ctr"/>
                      <a:r>
                        <a:rPr sz="2000">
                          <a:solidFill>
                            <a:srgbClr val="000000"/>
                          </a:solidFill>
                          <a:latin typeface="Aptos Display"/>
                        </a:rPr>
                        <a:t>33.3%</a:t>
                      </a:r>
                    </a:p>
                  </a:txBody>
                  <a:tcPr>
                    <a:solidFill>
                      <a:srgbClr val="F9F9F9"/>
                    </a:solidFill>
                  </a:tcPr>
                </a:tc>
                <a:extLst>
                  <a:ext uri="{0D108BD9-81ED-4DB2-BD59-A6C34878D82A}">
                    <a16:rowId xmlns:a16="http://schemas.microsoft.com/office/drawing/2014/main" val="10005"/>
                  </a:ext>
                </a:extLst>
              </a:tr>
              <a:tr h="565530">
                <a:tc>
                  <a:txBody>
                    <a:bodyPr/>
                    <a:lstStyle/>
                    <a:p>
                      <a:pPr algn="ctr"/>
                      <a:r>
                        <a:rPr sz="2000" dirty="0">
                          <a:solidFill>
                            <a:srgbClr val="000000"/>
                          </a:solidFill>
                          <a:latin typeface="Aptos Display"/>
                        </a:rPr>
                        <a:t>Vans</a:t>
                      </a:r>
                    </a:p>
                  </a:txBody>
                  <a:tcPr>
                    <a:solidFill>
                      <a:srgbClr val="FFFFFF"/>
                    </a:solidFill>
                  </a:tcPr>
                </a:tc>
                <a:tc>
                  <a:txBody>
                    <a:bodyPr/>
                    <a:lstStyle/>
                    <a:p>
                      <a:pPr algn="ctr"/>
                      <a:r>
                        <a:rPr sz="2000">
                          <a:solidFill>
                            <a:srgbClr val="000000"/>
                          </a:solidFill>
                          <a:latin typeface="Aptos Display"/>
                        </a:rPr>
                        <a:t>12</a:t>
                      </a:r>
                    </a:p>
                  </a:txBody>
                  <a:tcPr>
                    <a:solidFill>
                      <a:srgbClr val="FFFFFF"/>
                    </a:solidFill>
                  </a:tcPr>
                </a:tc>
                <a:tc>
                  <a:txBody>
                    <a:bodyPr/>
                    <a:lstStyle/>
                    <a:p>
                      <a:pPr algn="ctr"/>
                      <a:r>
                        <a:rPr sz="2000" dirty="0">
                          <a:solidFill>
                            <a:srgbClr val="000000"/>
                          </a:solidFill>
                          <a:latin typeface="Aptos Display"/>
                        </a:rPr>
                        <a:t>4</a:t>
                      </a:r>
                    </a:p>
                  </a:txBody>
                  <a:tcPr>
                    <a:solidFill>
                      <a:srgbClr val="FFFFFF"/>
                    </a:solidFill>
                  </a:tcPr>
                </a:tc>
                <a:tc>
                  <a:txBody>
                    <a:bodyPr/>
                    <a:lstStyle/>
                    <a:p>
                      <a:pPr algn="ctr"/>
                      <a:r>
                        <a:rPr sz="2000" dirty="0">
                          <a:solidFill>
                            <a:srgbClr val="000000"/>
                          </a:solidFill>
                          <a:latin typeface="Aptos Display"/>
                        </a:rPr>
                        <a:t>33.3%</a:t>
                      </a:r>
                    </a:p>
                  </a:txBody>
                  <a:tcPr>
                    <a:solidFill>
                      <a:srgbClr val="FFFFFF"/>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623560" y="1943819"/>
            <a:ext cx="6080760" cy="320040"/>
          </a:xfrm>
          <a:prstGeom prst="rect">
            <a:avLst/>
          </a:prstGeom>
          <a:noFill/>
        </p:spPr>
        <p:txBody>
          <a:bodyPr wrap="square">
            <a:spAutoFit/>
          </a:bodyPr>
          <a:lstStyle/>
          <a:p>
            <a:pPr algn="l"/>
            <a:r>
              <a:rPr sz="2000" b="1" i="0" dirty="0">
                <a:solidFill>
                  <a:srgbClr val="B20E10"/>
                </a:solidFill>
                <a:latin typeface="Aptos Display"/>
              </a:rPr>
              <a:t>Tasso di </a:t>
            </a:r>
            <a:r>
              <a:rPr sz="2000" b="1" i="0" dirty="0" err="1">
                <a:solidFill>
                  <a:srgbClr val="B20E10"/>
                </a:solidFill>
                <a:latin typeface="Aptos Display"/>
              </a:rPr>
              <a:t>errore</a:t>
            </a:r>
            <a:r>
              <a:rPr sz="2000" b="1" i="0" dirty="0">
                <a:solidFill>
                  <a:srgbClr val="B20E10"/>
                </a:solidFill>
                <a:latin typeface="Aptos Display"/>
              </a:rPr>
              <a:t> per fascia di </a:t>
            </a:r>
            <a:r>
              <a:rPr sz="2000" b="1" i="0" dirty="0" err="1">
                <a:solidFill>
                  <a:srgbClr val="B20E10"/>
                </a:solidFill>
                <a:latin typeface="Aptos Display"/>
              </a:rPr>
              <a:t>prezzo</a:t>
            </a:r>
            <a:endParaRPr sz="1300" b="1" i="0" dirty="0">
              <a:solidFill>
                <a:srgbClr val="B20E10"/>
              </a:solidFill>
              <a:latin typeface="Aptos Display"/>
            </a:endParaRPr>
          </a:p>
        </p:txBody>
      </p:sp>
      <p:graphicFrame>
        <p:nvGraphicFramePr>
          <p:cNvPr id="9" name="Table 8"/>
          <p:cNvGraphicFramePr>
            <a:graphicFrameLocks noGrp="1"/>
          </p:cNvGraphicFramePr>
          <p:nvPr>
            <p:extLst>
              <p:ext uri="{D42A27DB-BD31-4B8C-83A1-F6EECF244321}">
                <p14:modId xmlns:p14="http://schemas.microsoft.com/office/powerpoint/2010/main" val="1004484057"/>
              </p:ext>
            </p:extLst>
          </p:nvPr>
        </p:nvGraphicFramePr>
        <p:xfrm>
          <a:off x="5669280" y="2277067"/>
          <a:ext cx="4114800" cy="395871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659785">
                <a:tc>
                  <a:txBody>
                    <a:bodyPr/>
                    <a:lstStyle/>
                    <a:p>
                      <a:pPr algn="ctr"/>
                      <a:r>
                        <a:rPr sz="2000" b="1">
                          <a:solidFill>
                            <a:srgbClr val="FFFFFF"/>
                          </a:solidFill>
                          <a:latin typeface="Aptos Display"/>
                        </a:rPr>
                        <a:t>Fascia</a:t>
                      </a:r>
                    </a:p>
                  </a:txBody>
                  <a:tcPr>
                    <a:solidFill>
                      <a:srgbClr val="B20E10"/>
                    </a:solidFill>
                  </a:tcPr>
                </a:tc>
                <a:tc>
                  <a:txBody>
                    <a:bodyPr/>
                    <a:lstStyle/>
                    <a:p>
                      <a:pPr algn="ctr"/>
                      <a:r>
                        <a:rPr sz="2000" b="1" dirty="0">
                          <a:solidFill>
                            <a:srgbClr val="FFFFFF"/>
                          </a:solidFill>
                          <a:latin typeface="Aptos Display"/>
                        </a:rPr>
                        <a:t>N</a:t>
                      </a:r>
                    </a:p>
                  </a:txBody>
                  <a:tcPr>
                    <a:solidFill>
                      <a:srgbClr val="B20E10"/>
                    </a:solidFill>
                  </a:tcPr>
                </a:tc>
                <a:tc>
                  <a:txBody>
                    <a:bodyPr/>
                    <a:lstStyle/>
                    <a:p>
                      <a:pPr algn="ctr"/>
                      <a:r>
                        <a:rPr sz="2000" b="1">
                          <a:solidFill>
                            <a:srgbClr val="FFFFFF"/>
                          </a:solidFill>
                          <a:latin typeface="Aptos Display"/>
                        </a:rPr>
                        <a:t>Errori</a:t>
                      </a:r>
                    </a:p>
                  </a:txBody>
                  <a:tcPr>
                    <a:solidFill>
                      <a:srgbClr val="B20E10"/>
                    </a:solidFill>
                  </a:tcPr>
                </a:tc>
                <a:tc>
                  <a:txBody>
                    <a:bodyPr/>
                    <a:lstStyle/>
                    <a:p>
                      <a:pPr algn="ctr"/>
                      <a:r>
                        <a:rPr sz="2000" b="1">
                          <a:solidFill>
                            <a:srgbClr val="FFFFFF"/>
                          </a:solidFill>
                          <a:latin typeface="Aptos Display"/>
                        </a:rPr>
                        <a:t>Tasso</a:t>
                      </a:r>
                    </a:p>
                  </a:txBody>
                  <a:tcPr>
                    <a:solidFill>
                      <a:srgbClr val="B20E10"/>
                    </a:solidFill>
                  </a:tcPr>
                </a:tc>
                <a:extLst>
                  <a:ext uri="{0D108BD9-81ED-4DB2-BD59-A6C34878D82A}">
                    <a16:rowId xmlns:a16="http://schemas.microsoft.com/office/drawing/2014/main" val="10000"/>
                  </a:ext>
                </a:extLst>
              </a:tr>
              <a:tr h="659785">
                <a:tc>
                  <a:txBody>
                    <a:bodyPr/>
                    <a:lstStyle/>
                    <a:p>
                      <a:pPr algn="ctr"/>
                      <a:r>
                        <a:rPr sz="2000" dirty="0">
                          <a:solidFill>
                            <a:srgbClr val="000000"/>
                          </a:solidFill>
                          <a:latin typeface="Aptos Display"/>
                        </a:rPr>
                        <a:t>&lt; 10€</a:t>
                      </a:r>
                    </a:p>
                  </a:txBody>
                  <a:tcPr>
                    <a:solidFill>
                      <a:srgbClr val="F9F9F9"/>
                    </a:solidFill>
                  </a:tcPr>
                </a:tc>
                <a:tc>
                  <a:txBody>
                    <a:bodyPr/>
                    <a:lstStyle/>
                    <a:p>
                      <a:pPr algn="ctr"/>
                      <a:r>
                        <a:rPr sz="2000">
                          <a:solidFill>
                            <a:srgbClr val="000000"/>
                          </a:solidFill>
                          <a:latin typeface="Aptos Display"/>
                        </a:rPr>
                        <a:t>85</a:t>
                      </a:r>
                    </a:p>
                  </a:txBody>
                  <a:tcPr>
                    <a:solidFill>
                      <a:srgbClr val="F9F9F9"/>
                    </a:solidFill>
                  </a:tcPr>
                </a:tc>
                <a:tc>
                  <a:txBody>
                    <a:bodyPr/>
                    <a:lstStyle/>
                    <a:p>
                      <a:pPr algn="ctr"/>
                      <a:r>
                        <a:rPr sz="2000">
                          <a:solidFill>
                            <a:srgbClr val="000000"/>
                          </a:solidFill>
                          <a:latin typeface="Aptos Display"/>
                        </a:rPr>
                        <a:t>54</a:t>
                      </a:r>
                    </a:p>
                  </a:txBody>
                  <a:tcPr>
                    <a:solidFill>
                      <a:srgbClr val="F9F9F9"/>
                    </a:solidFill>
                  </a:tcPr>
                </a:tc>
                <a:tc>
                  <a:txBody>
                    <a:bodyPr/>
                    <a:lstStyle/>
                    <a:p>
                      <a:pPr algn="ctr"/>
                      <a:r>
                        <a:rPr sz="2000" b="1" dirty="0">
                          <a:solidFill>
                            <a:srgbClr val="000000"/>
                          </a:solidFill>
                          <a:latin typeface="Aptos Display"/>
                        </a:rPr>
                        <a:t>63.5%</a:t>
                      </a:r>
                    </a:p>
                  </a:txBody>
                  <a:tcPr>
                    <a:solidFill>
                      <a:srgbClr val="F9F9F9"/>
                    </a:solidFill>
                  </a:tcPr>
                </a:tc>
                <a:extLst>
                  <a:ext uri="{0D108BD9-81ED-4DB2-BD59-A6C34878D82A}">
                    <a16:rowId xmlns:a16="http://schemas.microsoft.com/office/drawing/2014/main" val="10001"/>
                  </a:ext>
                </a:extLst>
              </a:tr>
              <a:tr h="659785">
                <a:tc>
                  <a:txBody>
                    <a:bodyPr/>
                    <a:lstStyle/>
                    <a:p>
                      <a:pPr algn="ctr"/>
                      <a:r>
                        <a:rPr sz="2000" dirty="0">
                          <a:solidFill>
                            <a:srgbClr val="000000"/>
                          </a:solidFill>
                          <a:latin typeface="Aptos Display"/>
                        </a:rPr>
                        <a:t>10-20€</a:t>
                      </a:r>
                    </a:p>
                  </a:txBody>
                  <a:tcPr>
                    <a:solidFill>
                      <a:srgbClr val="FFFFFF"/>
                    </a:solidFill>
                  </a:tcPr>
                </a:tc>
                <a:tc>
                  <a:txBody>
                    <a:bodyPr/>
                    <a:lstStyle/>
                    <a:p>
                      <a:pPr algn="ctr"/>
                      <a:r>
                        <a:rPr sz="2000">
                          <a:solidFill>
                            <a:srgbClr val="000000"/>
                          </a:solidFill>
                          <a:latin typeface="Aptos Display"/>
                        </a:rPr>
                        <a:t>120</a:t>
                      </a:r>
                    </a:p>
                  </a:txBody>
                  <a:tcPr>
                    <a:solidFill>
                      <a:srgbClr val="FFFFFF"/>
                    </a:solidFill>
                  </a:tcPr>
                </a:tc>
                <a:tc>
                  <a:txBody>
                    <a:bodyPr/>
                    <a:lstStyle/>
                    <a:p>
                      <a:pPr algn="ctr"/>
                      <a:r>
                        <a:rPr sz="2000" dirty="0">
                          <a:solidFill>
                            <a:srgbClr val="000000"/>
                          </a:solidFill>
                          <a:latin typeface="Aptos Display"/>
                        </a:rPr>
                        <a:t>71</a:t>
                      </a:r>
                    </a:p>
                  </a:txBody>
                  <a:tcPr>
                    <a:solidFill>
                      <a:srgbClr val="FFFFFF"/>
                    </a:solidFill>
                  </a:tcPr>
                </a:tc>
                <a:tc>
                  <a:txBody>
                    <a:bodyPr/>
                    <a:lstStyle/>
                    <a:p>
                      <a:pPr algn="ctr"/>
                      <a:r>
                        <a:rPr sz="2000" b="1" dirty="0">
                          <a:solidFill>
                            <a:srgbClr val="000000"/>
                          </a:solidFill>
                          <a:latin typeface="Aptos Display"/>
                        </a:rPr>
                        <a:t>59.2%</a:t>
                      </a:r>
                    </a:p>
                  </a:txBody>
                  <a:tcPr>
                    <a:solidFill>
                      <a:srgbClr val="FFFFFF"/>
                    </a:solidFill>
                  </a:tcPr>
                </a:tc>
                <a:extLst>
                  <a:ext uri="{0D108BD9-81ED-4DB2-BD59-A6C34878D82A}">
                    <a16:rowId xmlns:a16="http://schemas.microsoft.com/office/drawing/2014/main" val="10002"/>
                  </a:ext>
                </a:extLst>
              </a:tr>
              <a:tr h="659785">
                <a:tc>
                  <a:txBody>
                    <a:bodyPr/>
                    <a:lstStyle/>
                    <a:p>
                      <a:pPr algn="ctr"/>
                      <a:r>
                        <a:rPr sz="2000" dirty="0">
                          <a:solidFill>
                            <a:srgbClr val="000000"/>
                          </a:solidFill>
                          <a:latin typeface="Aptos Display"/>
                        </a:rPr>
                        <a:t>20-35€</a:t>
                      </a:r>
                    </a:p>
                  </a:txBody>
                  <a:tcPr>
                    <a:solidFill>
                      <a:srgbClr val="F9F9F9"/>
                    </a:solidFill>
                  </a:tcPr>
                </a:tc>
                <a:tc>
                  <a:txBody>
                    <a:bodyPr/>
                    <a:lstStyle/>
                    <a:p>
                      <a:pPr algn="ctr"/>
                      <a:r>
                        <a:rPr sz="2000">
                          <a:solidFill>
                            <a:srgbClr val="000000"/>
                          </a:solidFill>
                          <a:latin typeface="Aptos Display"/>
                        </a:rPr>
                        <a:t>62</a:t>
                      </a:r>
                    </a:p>
                  </a:txBody>
                  <a:tcPr>
                    <a:solidFill>
                      <a:srgbClr val="F9F9F9"/>
                    </a:solidFill>
                  </a:tcPr>
                </a:tc>
                <a:tc>
                  <a:txBody>
                    <a:bodyPr/>
                    <a:lstStyle/>
                    <a:p>
                      <a:pPr algn="ctr"/>
                      <a:r>
                        <a:rPr sz="2000">
                          <a:solidFill>
                            <a:srgbClr val="000000"/>
                          </a:solidFill>
                          <a:latin typeface="Aptos Display"/>
                        </a:rPr>
                        <a:t>32</a:t>
                      </a:r>
                    </a:p>
                  </a:txBody>
                  <a:tcPr>
                    <a:solidFill>
                      <a:srgbClr val="F9F9F9"/>
                    </a:solidFill>
                  </a:tcPr>
                </a:tc>
                <a:tc>
                  <a:txBody>
                    <a:bodyPr/>
                    <a:lstStyle/>
                    <a:p>
                      <a:pPr algn="ctr"/>
                      <a:r>
                        <a:rPr sz="2000" b="1" dirty="0">
                          <a:solidFill>
                            <a:srgbClr val="000000"/>
                          </a:solidFill>
                          <a:latin typeface="Aptos Display"/>
                        </a:rPr>
                        <a:t>51.6%</a:t>
                      </a:r>
                    </a:p>
                  </a:txBody>
                  <a:tcPr>
                    <a:solidFill>
                      <a:srgbClr val="F9F9F9"/>
                    </a:solidFill>
                  </a:tcPr>
                </a:tc>
                <a:extLst>
                  <a:ext uri="{0D108BD9-81ED-4DB2-BD59-A6C34878D82A}">
                    <a16:rowId xmlns:a16="http://schemas.microsoft.com/office/drawing/2014/main" val="10003"/>
                  </a:ext>
                </a:extLst>
              </a:tr>
              <a:tr h="659785">
                <a:tc>
                  <a:txBody>
                    <a:bodyPr/>
                    <a:lstStyle/>
                    <a:p>
                      <a:pPr algn="ctr"/>
                      <a:r>
                        <a:rPr sz="2000" dirty="0">
                          <a:solidFill>
                            <a:srgbClr val="000000"/>
                          </a:solidFill>
                          <a:latin typeface="Aptos Display"/>
                        </a:rPr>
                        <a:t>35-50€</a:t>
                      </a:r>
                    </a:p>
                  </a:txBody>
                  <a:tcPr>
                    <a:solidFill>
                      <a:srgbClr val="FFFFFF"/>
                    </a:solidFill>
                  </a:tcPr>
                </a:tc>
                <a:tc>
                  <a:txBody>
                    <a:bodyPr/>
                    <a:lstStyle/>
                    <a:p>
                      <a:pPr algn="ctr"/>
                      <a:r>
                        <a:rPr sz="2000">
                          <a:solidFill>
                            <a:srgbClr val="000000"/>
                          </a:solidFill>
                          <a:latin typeface="Aptos Display"/>
                        </a:rPr>
                        <a:t>53</a:t>
                      </a:r>
                    </a:p>
                  </a:txBody>
                  <a:tcPr>
                    <a:solidFill>
                      <a:srgbClr val="FFFFFF"/>
                    </a:solidFill>
                  </a:tcPr>
                </a:tc>
                <a:tc>
                  <a:txBody>
                    <a:bodyPr/>
                    <a:lstStyle/>
                    <a:p>
                      <a:pPr algn="ctr"/>
                      <a:r>
                        <a:rPr sz="2000">
                          <a:solidFill>
                            <a:srgbClr val="000000"/>
                          </a:solidFill>
                          <a:latin typeface="Aptos Display"/>
                        </a:rPr>
                        <a:t>20</a:t>
                      </a:r>
                    </a:p>
                  </a:txBody>
                  <a:tcPr>
                    <a:solidFill>
                      <a:srgbClr val="FFFFFF"/>
                    </a:solidFill>
                  </a:tcPr>
                </a:tc>
                <a:tc>
                  <a:txBody>
                    <a:bodyPr/>
                    <a:lstStyle/>
                    <a:p>
                      <a:pPr algn="ctr"/>
                      <a:r>
                        <a:rPr sz="2000" dirty="0">
                          <a:solidFill>
                            <a:srgbClr val="000000"/>
                          </a:solidFill>
                          <a:latin typeface="Aptos Display"/>
                        </a:rPr>
                        <a:t>37.7% </a:t>
                      </a:r>
                    </a:p>
                  </a:txBody>
                  <a:tcPr>
                    <a:solidFill>
                      <a:srgbClr val="FFFFFF"/>
                    </a:solidFill>
                  </a:tcPr>
                </a:tc>
                <a:extLst>
                  <a:ext uri="{0D108BD9-81ED-4DB2-BD59-A6C34878D82A}">
                    <a16:rowId xmlns:a16="http://schemas.microsoft.com/office/drawing/2014/main" val="10004"/>
                  </a:ext>
                </a:extLst>
              </a:tr>
              <a:tr h="659785">
                <a:tc>
                  <a:txBody>
                    <a:bodyPr/>
                    <a:lstStyle/>
                    <a:p>
                      <a:pPr algn="ctr"/>
                      <a:r>
                        <a:rPr sz="2000" dirty="0">
                          <a:solidFill>
                            <a:srgbClr val="000000"/>
                          </a:solidFill>
                          <a:latin typeface="Aptos Display"/>
                        </a:rPr>
                        <a:t>&gt; 50€</a:t>
                      </a:r>
                    </a:p>
                  </a:txBody>
                  <a:tcPr>
                    <a:solidFill>
                      <a:srgbClr val="F9F9F9"/>
                    </a:solidFill>
                  </a:tcPr>
                </a:tc>
                <a:tc>
                  <a:txBody>
                    <a:bodyPr/>
                    <a:lstStyle/>
                    <a:p>
                      <a:pPr algn="ctr"/>
                      <a:r>
                        <a:rPr sz="2000" dirty="0">
                          <a:solidFill>
                            <a:srgbClr val="000000"/>
                          </a:solidFill>
                          <a:latin typeface="Aptos Display"/>
                        </a:rPr>
                        <a:t>158</a:t>
                      </a:r>
                    </a:p>
                  </a:txBody>
                  <a:tcPr>
                    <a:solidFill>
                      <a:srgbClr val="F9F9F9"/>
                    </a:solidFill>
                  </a:tcPr>
                </a:tc>
                <a:tc>
                  <a:txBody>
                    <a:bodyPr/>
                    <a:lstStyle/>
                    <a:p>
                      <a:pPr algn="ctr"/>
                      <a:r>
                        <a:rPr sz="2000">
                          <a:solidFill>
                            <a:srgbClr val="000000"/>
                          </a:solidFill>
                          <a:latin typeface="Aptos Display"/>
                        </a:rPr>
                        <a:t>75</a:t>
                      </a:r>
                    </a:p>
                  </a:txBody>
                  <a:tcPr>
                    <a:solidFill>
                      <a:srgbClr val="F9F9F9"/>
                    </a:solidFill>
                  </a:tcPr>
                </a:tc>
                <a:tc>
                  <a:txBody>
                    <a:bodyPr/>
                    <a:lstStyle/>
                    <a:p>
                      <a:pPr algn="ctr"/>
                      <a:r>
                        <a:rPr sz="2000" dirty="0">
                          <a:solidFill>
                            <a:srgbClr val="000000"/>
                          </a:solidFill>
                          <a:latin typeface="Aptos Display"/>
                        </a:rPr>
                        <a:t>47.5%</a:t>
                      </a:r>
                    </a:p>
                  </a:txBody>
                  <a:tcPr>
                    <a:solidFill>
                      <a:srgbClr val="F9F9F9"/>
                    </a:solidFill>
                  </a:tcPr>
                </a:tc>
                <a:extLst>
                  <a:ext uri="{0D108BD9-81ED-4DB2-BD59-A6C34878D82A}">
                    <a16:rowId xmlns:a16="http://schemas.microsoft.com/office/drawing/2014/main" val="10005"/>
                  </a:ext>
                </a:extLst>
              </a:tr>
            </a:tbl>
          </a:graphicData>
        </a:graphic>
      </p:graphicFrame>
      <p:sp>
        <p:nvSpPr>
          <p:cNvPr id="999" name="PageNum32"/>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3453"/>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sz="3200" i="1" dirty="0" err="1">
                <a:solidFill>
                  <a:srgbClr val="FFFFFF"/>
                </a:solidFill>
                <a:latin typeface="Aptos Display"/>
              </a:rPr>
              <a:t>Confronto</a:t>
            </a:r>
            <a:r>
              <a:rPr sz="3200" i="1" dirty="0">
                <a:solidFill>
                  <a:srgbClr val="FFFFFF"/>
                </a:solidFill>
                <a:latin typeface="Aptos Display"/>
              </a:rPr>
              <a:t> tutti </a:t>
            </a:r>
            <a:r>
              <a:rPr sz="3200" i="1" dirty="0" err="1">
                <a:solidFill>
                  <a:srgbClr val="FFFFFF"/>
                </a:solidFill>
                <a:latin typeface="Aptos Display"/>
              </a:rPr>
              <a:t>i</a:t>
            </a:r>
            <a:r>
              <a:rPr sz="3200" i="1" dirty="0">
                <a:solidFill>
                  <a:srgbClr val="FFFFFF"/>
                </a:solidFill>
                <a:latin typeface="Aptos Display"/>
              </a:rPr>
              <a:t> </a:t>
            </a:r>
            <a:r>
              <a:rPr sz="3200" i="1" dirty="0" err="1">
                <a:solidFill>
                  <a:srgbClr val="FFFFFF"/>
                </a:solidFill>
                <a:latin typeface="Aptos Display"/>
              </a:rPr>
              <a:t>modelli</a:t>
            </a:r>
            <a:endParaRPr sz="3200" i="1" dirty="0">
              <a:solidFill>
                <a:srgbClr val="FFFFFF"/>
              </a:solidFill>
              <a:latin typeface="Aptos Display"/>
            </a:endParaRPr>
          </a:p>
        </p:txBody>
      </p:sp>
      <p:pic>
        <p:nvPicPr>
          <p:cNvPr id="4" name="Picture 3" descr="unipd_logo.png"/>
          <p:cNvPicPr>
            <a:picLocks noChangeAspect="1"/>
          </p:cNvPicPr>
          <p:nvPr/>
        </p:nvPicPr>
        <p:blipFill>
          <a:blip r:embed="rId2"/>
          <a:stretch>
            <a:fillRect/>
          </a:stretch>
        </p:blipFill>
        <p:spPr>
          <a:xfrm>
            <a:off x="8529384" y="164592"/>
            <a:ext cx="2651760" cy="1188720"/>
          </a:xfrm>
          <a:prstGeom prst="rect">
            <a:avLst/>
          </a:prstGeom>
        </p:spPr>
      </p:pic>
      <p:sp>
        <p:nvSpPr>
          <p:cNvPr id="5" name="TextBox 4"/>
          <p:cNvSpPr txBox="1"/>
          <p:nvPr/>
        </p:nvSpPr>
        <p:spPr>
          <a:xfrm>
            <a:off x="502920" y="1874520"/>
            <a:ext cx="11247120" cy="320040"/>
          </a:xfrm>
          <a:prstGeom prst="rect">
            <a:avLst/>
          </a:prstGeom>
          <a:noFill/>
        </p:spPr>
        <p:txBody>
          <a:bodyPr wrap="square">
            <a:spAutoFit/>
          </a:bodyPr>
          <a:lstStyle/>
          <a:p>
            <a:pPr algn="l"/>
            <a:r>
              <a:rPr sz="2000" b="1" i="0">
                <a:solidFill>
                  <a:srgbClr val="B20E10"/>
                </a:solidFill>
                <a:latin typeface="Aptos Display"/>
              </a:rPr>
              <a:t>Metriche sul test set</a:t>
            </a:r>
          </a:p>
        </p:txBody>
      </p:sp>
      <p:graphicFrame>
        <p:nvGraphicFramePr>
          <p:cNvPr id="6" name="Table 5"/>
          <p:cNvGraphicFramePr>
            <a:graphicFrameLocks noGrp="1"/>
          </p:cNvGraphicFramePr>
          <p:nvPr>
            <p:extLst>
              <p:ext uri="{D42A27DB-BD31-4B8C-83A1-F6EECF244321}">
                <p14:modId xmlns:p14="http://schemas.microsoft.com/office/powerpoint/2010/main" val="3075039849"/>
              </p:ext>
            </p:extLst>
          </p:nvPr>
        </p:nvGraphicFramePr>
        <p:xfrm>
          <a:off x="502920" y="2286000"/>
          <a:ext cx="10678224" cy="3589674"/>
        </p:xfrm>
        <a:graphic>
          <a:graphicData uri="http://schemas.openxmlformats.org/drawingml/2006/table">
            <a:tbl>
              <a:tblPr firstRow="1" bandRow="1">
                <a:tableStyleId>{5C22544A-7EE6-4342-B048-85BDC9FD1C3A}</a:tableStyleId>
              </a:tblPr>
              <a:tblGrid>
                <a:gridCol w="3602292">
                  <a:extLst>
                    <a:ext uri="{9D8B030D-6E8A-4147-A177-3AD203B41FA5}">
                      <a16:colId xmlns:a16="http://schemas.microsoft.com/office/drawing/2014/main" val="20000"/>
                    </a:ext>
                  </a:extLst>
                </a:gridCol>
                <a:gridCol w="1286533">
                  <a:extLst>
                    <a:ext uri="{9D8B030D-6E8A-4147-A177-3AD203B41FA5}">
                      <a16:colId xmlns:a16="http://schemas.microsoft.com/office/drawing/2014/main" val="20001"/>
                    </a:ext>
                  </a:extLst>
                </a:gridCol>
                <a:gridCol w="1093553">
                  <a:extLst>
                    <a:ext uri="{9D8B030D-6E8A-4147-A177-3AD203B41FA5}">
                      <a16:colId xmlns:a16="http://schemas.microsoft.com/office/drawing/2014/main" val="20002"/>
                    </a:ext>
                  </a:extLst>
                </a:gridCol>
                <a:gridCol w="1222206">
                  <a:extLst>
                    <a:ext uri="{9D8B030D-6E8A-4147-A177-3AD203B41FA5}">
                      <a16:colId xmlns:a16="http://schemas.microsoft.com/office/drawing/2014/main" val="20003"/>
                    </a:ext>
                  </a:extLst>
                </a:gridCol>
                <a:gridCol w="1736820">
                  <a:extLst>
                    <a:ext uri="{9D8B030D-6E8A-4147-A177-3AD203B41FA5}">
                      <a16:colId xmlns:a16="http://schemas.microsoft.com/office/drawing/2014/main" val="20005"/>
                    </a:ext>
                  </a:extLst>
                </a:gridCol>
                <a:gridCol w="1736820">
                  <a:extLst>
                    <a:ext uri="{9D8B030D-6E8A-4147-A177-3AD203B41FA5}">
                      <a16:colId xmlns:a16="http://schemas.microsoft.com/office/drawing/2014/main" val="20006"/>
                    </a:ext>
                  </a:extLst>
                </a:gridCol>
              </a:tblGrid>
              <a:tr h="940526">
                <a:tc>
                  <a:txBody>
                    <a:bodyPr/>
                    <a:lstStyle/>
                    <a:p>
                      <a:pPr algn="ctr"/>
                      <a:r>
                        <a:rPr sz="2000" b="1">
                          <a:solidFill>
                            <a:srgbClr val="FFFFFF"/>
                          </a:solidFill>
                          <a:latin typeface="Aptos Display"/>
                        </a:rPr>
                        <a:t>Modello</a:t>
                      </a:r>
                    </a:p>
                  </a:txBody>
                  <a:tcPr>
                    <a:solidFill>
                      <a:srgbClr val="B20E10"/>
                    </a:solidFill>
                  </a:tcPr>
                </a:tc>
                <a:tc>
                  <a:txBody>
                    <a:bodyPr/>
                    <a:lstStyle/>
                    <a:p>
                      <a:pPr algn="ctr"/>
                      <a:r>
                        <a:rPr sz="2000" b="1">
                          <a:solidFill>
                            <a:srgbClr val="FFFFFF"/>
                          </a:solidFill>
                          <a:latin typeface="Aptos Display"/>
                        </a:rPr>
                        <a:t>Accuracy</a:t>
                      </a:r>
                    </a:p>
                  </a:txBody>
                  <a:tcPr>
                    <a:solidFill>
                      <a:srgbClr val="B20E10"/>
                    </a:solidFill>
                  </a:tcPr>
                </a:tc>
                <a:tc>
                  <a:txBody>
                    <a:bodyPr/>
                    <a:lstStyle/>
                    <a:p>
                      <a:pPr algn="ctr"/>
                      <a:r>
                        <a:rPr sz="2000" b="1" dirty="0">
                          <a:solidFill>
                            <a:srgbClr val="FFFFFF"/>
                          </a:solidFill>
                          <a:latin typeface="Aptos Display"/>
                        </a:rPr>
                        <a:t>Kappa</a:t>
                      </a:r>
                    </a:p>
                  </a:txBody>
                  <a:tcPr>
                    <a:solidFill>
                      <a:srgbClr val="B20E10"/>
                    </a:solidFill>
                  </a:tcPr>
                </a:tc>
                <a:tc>
                  <a:txBody>
                    <a:bodyPr/>
                    <a:lstStyle/>
                    <a:p>
                      <a:pPr algn="ctr"/>
                      <a:r>
                        <a:rPr sz="2000" b="1" dirty="0">
                          <a:solidFill>
                            <a:srgbClr val="FFFFFF"/>
                          </a:solidFill>
                          <a:latin typeface="Aptos Display"/>
                        </a:rPr>
                        <a:t>MAE ord.</a:t>
                      </a:r>
                    </a:p>
                  </a:txBody>
                  <a:tcPr>
                    <a:solidFill>
                      <a:srgbClr val="B20E10"/>
                    </a:solidFill>
                  </a:tcPr>
                </a:tc>
                <a:tc>
                  <a:txBody>
                    <a:bodyPr/>
                    <a:lstStyle/>
                    <a:p>
                      <a:pPr algn="ctr"/>
                      <a:r>
                        <a:rPr sz="2000" b="1" dirty="0">
                          <a:solidFill>
                            <a:srgbClr val="FFFFFF"/>
                          </a:solidFill>
                          <a:latin typeface="Aptos Display"/>
                        </a:rPr>
                        <a:t>Sensitivity
</a:t>
                      </a:r>
                      <a:r>
                        <a:rPr sz="2000" b="1" dirty="0" err="1">
                          <a:solidFill>
                            <a:srgbClr val="FFFFFF"/>
                          </a:solidFill>
                          <a:latin typeface="Aptos Display"/>
                        </a:rPr>
                        <a:t>Usato</a:t>
                      </a:r>
                      <a:endParaRPr sz="1200" b="1" dirty="0">
                        <a:solidFill>
                          <a:srgbClr val="FFFFFF"/>
                        </a:solidFill>
                        <a:latin typeface="Aptos Display"/>
                      </a:endParaRPr>
                    </a:p>
                  </a:txBody>
                  <a:tcPr>
                    <a:solidFill>
                      <a:srgbClr val="B20E10"/>
                    </a:solidFill>
                  </a:tcPr>
                </a:tc>
                <a:tc>
                  <a:txBody>
                    <a:bodyPr/>
                    <a:lstStyle/>
                    <a:p>
                      <a:pPr algn="ctr"/>
                      <a:r>
                        <a:rPr sz="2000" b="1" dirty="0">
                          <a:solidFill>
                            <a:srgbClr val="FFFFFF"/>
                          </a:solidFill>
                          <a:latin typeface="Aptos Display"/>
                        </a:rPr>
                        <a:t>Sensitivity
Nuovo</a:t>
                      </a:r>
                    </a:p>
                  </a:txBody>
                  <a:tcPr>
                    <a:solidFill>
                      <a:srgbClr val="B20E10"/>
                    </a:solidFill>
                  </a:tcPr>
                </a:tc>
                <a:extLst>
                  <a:ext uri="{0D108BD9-81ED-4DB2-BD59-A6C34878D82A}">
                    <a16:rowId xmlns:a16="http://schemas.microsoft.com/office/drawing/2014/main" val="10000"/>
                  </a:ext>
                </a:extLst>
              </a:tr>
              <a:tr h="662287">
                <a:tc>
                  <a:txBody>
                    <a:bodyPr/>
                    <a:lstStyle/>
                    <a:p>
                      <a:pPr algn="ctr"/>
                      <a:r>
                        <a:rPr sz="2000">
                          <a:solidFill>
                            <a:srgbClr val="000000"/>
                          </a:solidFill>
                          <a:latin typeface="Aptos Display"/>
                        </a:rPr>
                        <a:t>Step (5 classi)</a:t>
                      </a:r>
                    </a:p>
                  </a:txBody>
                  <a:tcPr>
                    <a:solidFill>
                      <a:srgbClr val="F9F9F9"/>
                    </a:solidFill>
                  </a:tcPr>
                </a:tc>
                <a:tc>
                  <a:txBody>
                    <a:bodyPr/>
                    <a:lstStyle/>
                    <a:p>
                      <a:pPr algn="ctr"/>
                      <a:r>
                        <a:rPr sz="2000">
                          <a:solidFill>
                            <a:srgbClr val="000000"/>
                          </a:solidFill>
                          <a:latin typeface="Aptos Display"/>
                        </a:rPr>
                        <a:t>0.464</a:t>
                      </a:r>
                    </a:p>
                  </a:txBody>
                  <a:tcPr>
                    <a:solidFill>
                      <a:srgbClr val="F9F9F9"/>
                    </a:solidFill>
                  </a:tcPr>
                </a:tc>
                <a:tc>
                  <a:txBody>
                    <a:bodyPr/>
                    <a:lstStyle/>
                    <a:p>
                      <a:pPr algn="ctr"/>
                      <a:r>
                        <a:rPr sz="2000">
                          <a:solidFill>
                            <a:srgbClr val="000000"/>
                          </a:solidFill>
                          <a:latin typeface="Aptos Display"/>
                        </a:rPr>
                        <a:t>0.017</a:t>
                      </a:r>
                    </a:p>
                  </a:txBody>
                  <a:tcPr>
                    <a:solidFill>
                      <a:srgbClr val="F9F9F9"/>
                    </a:solidFill>
                  </a:tcPr>
                </a:tc>
                <a:tc>
                  <a:txBody>
                    <a:bodyPr/>
                    <a:lstStyle/>
                    <a:p>
                      <a:pPr algn="ctr"/>
                      <a:r>
                        <a:rPr sz="2000">
                          <a:solidFill>
                            <a:srgbClr val="000000"/>
                          </a:solidFill>
                          <a:latin typeface="Aptos Display"/>
                        </a:rPr>
                        <a:t>0.776</a:t>
                      </a:r>
                    </a:p>
                  </a:txBody>
                  <a:tcPr>
                    <a:solidFill>
                      <a:srgbClr val="F9F9F9"/>
                    </a:solidFill>
                  </a:tcPr>
                </a:tc>
                <a:tc>
                  <a:txBody>
                    <a:bodyPr/>
                    <a:lstStyle/>
                    <a:p>
                      <a:pPr algn="ctr"/>
                      <a:r>
                        <a:rPr sz="2000" dirty="0">
                          <a:solidFill>
                            <a:srgbClr val="000000"/>
                          </a:solidFill>
                          <a:latin typeface="Aptos Display"/>
                        </a:rPr>
                        <a:t>0.0%</a:t>
                      </a:r>
                    </a:p>
                  </a:txBody>
                  <a:tcPr>
                    <a:solidFill>
                      <a:srgbClr val="F9F9F9"/>
                    </a:solidFill>
                  </a:tcPr>
                </a:tc>
                <a:tc>
                  <a:txBody>
                    <a:bodyPr/>
                    <a:lstStyle/>
                    <a:p>
                      <a:pPr algn="ctr"/>
                      <a:r>
                        <a:rPr sz="2000" dirty="0">
                          <a:solidFill>
                            <a:srgbClr val="000000"/>
                          </a:solidFill>
                          <a:latin typeface="Aptos Display"/>
                        </a:rPr>
                        <a:t>15.7%</a:t>
                      </a:r>
                    </a:p>
                  </a:txBody>
                  <a:tcPr>
                    <a:solidFill>
                      <a:srgbClr val="F9F9F9"/>
                    </a:solidFill>
                  </a:tcPr>
                </a:tc>
                <a:extLst>
                  <a:ext uri="{0D108BD9-81ED-4DB2-BD59-A6C34878D82A}">
                    <a16:rowId xmlns:a16="http://schemas.microsoft.com/office/drawing/2014/main" val="10001"/>
                  </a:ext>
                </a:extLst>
              </a:tr>
              <a:tr h="662287">
                <a:tc>
                  <a:txBody>
                    <a:bodyPr/>
                    <a:lstStyle/>
                    <a:p>
                      <a:pPr algn="ctr"/>
                      <a:r>
                        <a:rPr sz="2000">
                          <a:solidFill>
                            <a:srgbClr val="000000"/>
                          </a:solidFill>
                          <a:latin typeface="Aptos Display"/>
                        </a:rPr>
                        <a:t>Pesato (5 classi)</a:t>
                      </a:r>
                    </a:p>
                  </a:txBody>
                  <a:tcPr>
                    <a:solidFill>
                      <a:srgbClr val="FFFFFF"/>
                    </a:solidFill>
                  </a:tcPr>
                </a:tc>
                <a:tc>
                  <a:txBody>
                    <a:bodyPr/>
                    <a:lstStyle/>
                    <a:p>
                      <a:pPr algn="ctr"/>
                      <a:r>
                        <a:rPr sz="2000">
                          <a:solidFill>
                            <a:srgbClr val="000000"/>
                          </a:solidFill>
                          <a:latin typeface="Aptos Display"/>
                        </a:rPr>
                        <a:t>0.318</a:t>
                      </a:r>
                    </a:p>
                  </a:txBody>
                  <a:tcPr>
                    <a:solidFill>
                      <a:srgbClr val="FFFFFF"/>
                    </a:solidFill>
                  </a:tcPr>
                </a:tc>
                <a:tc>
                  <a:txBody>
                    <a:bodyPr/>
                    <a:lstStyle/>
                    <a:p>
                      <a:pPr algn="ctr"/>
                      <a:r>
                        <a:rPr sz="2000">
                          <a:solidFill>
                            <a:srgbClr val="000000"/>
                          </a:solidFill>
                          <a:latin typeface="Aptos Display"/>
                        </a:rPr>
                        <a:t>0.134</a:t>
                      </a:r>
                    </a:p>
                  </a:txBody>
                  <a:tcPr>
                    <a:solidFill>
                      <a:srgbClr val="FFFFFF"/>
                    </a:solidFill>
                  </a:tcPr>
                </a:tc>
                <a:tc>
                  <a:txBody>
                    <a:bodyPr/>
                    <a:lstStyle/>
                    <a:p>
                      <a:pPr algn="ctr"/>
                      <a:r>
                        <a:rPr sz="2000">
                          <a:solidFill>
                            <a:srgbClr val="000000"/>
                          </a:solidFill>
                          <a:latin typeface="Aptos Display"/>
                        </a:rPr>
                        <a:t>1.044</a:t>
                      </a:r>
                    </a:p>
                  </a:txBody>
                  <a:tcPr>
                    <a:solidFill>
                      <a:srgbClr val="FFFFFF"/>
                    </a:solidFill>
                  </a:tcPr>
                </a:tc>
                <a:tc>
                  <a:txBody>
                    <a:bodyPr/>
                    <a:lstStyle/>
                    <a:p>
                      <a:pPr algn="ctr"/>
                      <a:r>
                        <a:rPr sz="2000">
                          <a:solidFill>
                            <a:srgbClr val="000000"/>
                          </a:solidFill>
                          <a:latin typeface="Aptos Display"/>
                        </a:rPr>
                        <a:t>53.8%</a:t>
                      </a:r>
                    </a:p>
                  </a:txBody>
                  <a:tcPr>
                    <a:solidFill>
                      <a:srgbClr val="FFFFFF"/>
                    </a:solidFill>
                  </a:tcPr>
                </a:tc>
                <a:tc>
                  <a:txBody>
                    <a:bodyPr/>
                    <a:lstStyle/>
                    <a:p>
                      <a:pPr algn="ctr"/>
                      <a:r>
                        <a:rPr sz="2000" dirty="0">
                          <a:solidFill>
                            <a:srgbClr val="000000"/>
                          </a:solidFill>
                          <a:latin typeface="Aptos Display"/>
                        </a:rPr>
                        <a:t>57.3%</a:t>
                      </a:r>
                    </a:p>
                  </a:txBody>
                  <a:tcPr>
                    <a:solidFill>
                      <a:srgbClr val="FFFFFF"/>
                    </a:solidFill>
                  </a:tcPr>
                </a:tc>
                <a:extLst>
                  <a:ext uri="{0D108BD9-81ED-4DB2-BD59-A6C34878D82A}">
                    <a16:rowId xmlns:a16="http://schemas.microsoft.com/office/drawing/2014/main" val="10002"/>
                  </a:ext>
                </a:extLst>
              </a:tr>
              <a:tr h="662287">
                <a:tc>
                  <a:txBody>
                    <a:bodyPr/>
                    <a:lstStyle/>
                    <a:p>
                      <a:pPr algn="ctr"/>
                      <a:r>
                        <a:rPr sz="2000">
                          <a:solidFill>
                            <a:srgbClr val="000000"/>
                          </a:solidFill>
                          <a:latin typeface="Aptos Display"/>
                        </a:rPr>
                        <a:t>3 Classi (no pesi)</a:t>
                      </a:r>
                    </a:p>
                  </a:txBody>
                  <a:tcPr>
                    <a:solidFill>
                      <a:srgbClr val="F9F9F9"/>
                    </a:solidFill>
                  </a:tcPr>
                </a:tc>
                <a:tc>
                  <a:txBody>
                    <a:bodyPr/>
                    <a:lstStyle/>
                    <a:p>
                      <a:pPr algn="ctr"/>
                      <a:r>
                        <a:rPr sz="2000">
                          <a:solidFill>
                            <a:srgbClr val="000000"/>
                          </a:solidFill>
                          <a:latin typeface="Aptos Display"/>
                        </a:rPr>
                        <a:t>0.529</a:t>
                      </a:r>
                    </a:p>
                  </a:txBody>
                  <a:tcPr>
                    <a:solidFill>
                      <a:srgbClr val="F9F9F9"/>
                    </a:solidFill>
                  </a:tcPr>
                </a:tc>
                <a:tc>
                  <a:txBody>
                    <a:bodyPr/>
                    <a:lstStyle/>
                    <a:p>
                      <a:pPr algn="ctr"/>
                      <a:r>
                        <a:rPr sz="2000">
                          <a:solidFill>
                            <a:srgbClr val="000000"/>
                          </a:solidFill>
                          <a:latin typeface="Aptos Display"/>
                        </a:rPr>
                        <a:t>0.138</a:t>
                      </a:r>
                    </a:p>
                  </a:txBody>
                  <a:tcPr>
                    <a:solidFill>
                      <a:srgbClr val="F9F9F9"/>
                    </a:solidFill>
                  </a:tcPr>
                </a:tc>
                <a:tc>
                  <a:txBody>
                    <a:bodyPr/>
                    <a:lstStyle/>
                    <a:p>
                      <a:pPr algn="ctr"/>
                      <a:r>
                        <a:rPr sz="2000">
                          <a:solidFill>
                            <a:srgbClr val="000000"/>
                          </a:solidFill>
                          <a:latin typeface="Aptos Display"/>
                        </a:rPr>
                        <a:t>0.477</a:t>
                      </a:r>
                    </a:p>
                  </a:txBody>
                  <a:tcPr>
                    <a:solidFill>
                      <a:srgbClr val="F9F9F9"/>
                    </a:solidFill>
                  </a:tcPr>
                </a:tc>
                <a:tc>
                  <a:txBody>
                    <a:bodyPr/>
                    <a:lstStyle/>
                    <a:p>
                      <a:pPr algn="ctr"/>
                      <a:r>
                        <a:rPr sz="2000">
                          <a:solidFill>
                            <a:srgbClr val="000000"/>
                          </a:solidFill>
                          <a:latin typeface="Aptos Display"/>
                        </a:rPr>
                        <a:t>7.7%</a:t>
                      </a:r>
                    </a:p>
                  </a:txBody>
                  <a:tcPr>
                    <a:solidFill>
                      <a:srgbClr val="F9F9F9"/>
                    </a:solidFill>
                  </a:tcPr>
                </a:tc>
                <a:tc>
                  <a:txBody>
                    <a:bodyPr/>
                    <a:lstStyle/>
                    <a:p>
                      <a:pPr algn="ctr"/>
                      <a:r>
                        <a:rPr sz="2000">
                          <a:solidFill>
                            <a:srgbClr val="000000"/>
                          </a:solidFill>
                          <a:latin typeface="Aptos Display"/>
                        </a:rPr>
                        <a:t>37.5%</a:t>
                      </a:r>
                    </a:p>
                  </a:txBody>
                  <a:tcPr>
                    <a:solidFill>
                      <a:srgbClr val="F9F9F9"/>
                    </a:solidFill>
                  </a:tcPr>
                </a:tc>
                <a:extLst>
                  <a:ext uri="{0D108BD9-81ED-4DB2-BD59-A6C34878D82A}">
                    <a16:rowId xmlns:a16="http://schemas.microsoft.com/office/drawing/2014/main" val="10003"/>
                  </a:ext>
                </a:extLst>
              </a:tr>
              <a:tr h="662287">
                <a:tc>
                  <a:txBody>
                    <a:bodyPr/>
                    <a:lstStyle/>
                    <a:p>
                      <a:pPr algn="ctr"/>
                      <a:r>
                        <a:rPr sz="2000" b="1" dirty="0">
                          <a:solidFill>
                            <a:srgbClr val="000000"/>
                          </a:solidFill>
                          <a:latin typeface="Aptos Display"/>
                        </a:rPr>
                        <a:t>3C + </a:t>
                      </a:r>
                      <a:r>
                        <a:rPr sz="2000" b="1" dirty="0" err="1">
                          <a:solidFill>
                            <a:srgbClr val="000000"/>
                          </a:solidFill>
                          <a:latin typeface="Aptos Display"/>
                        </a:rPr>
                        <a:t>Pesi</a:t>
                      </a:r>
                      <a:r>
                        <a:rPr sz="2000" b="1" dirty="0">
                          <a:solidFill>
                            <a:srgbClr val="000000"/>
                          </a:solidFill>
                          <a:latin typeface="Aptos Display"/>
                        </a:rPr>
                        <a:t> </a:t>
                      </a:r>
                    </a:p>
                  </a:txBody>
                  <a:tcPr>
                    <a:solidFill>
                      <a:srgbClr val="FFFFFF"/>
                    </a:solidFill>
                  </a:tcPr>
                </a:tc>
                <a:tc>
                  <a:txBody>
                    <a:bodyPr/>
                    <a:lstStyle/>
                    <a:p>
                      <a:pPr algn="ctr"/>
                      <a:r>
                        <a:rPr sz="2000" b="1" dirty="0">
                          <a:solidFill>
                            <a:srgbClr val="000000"/>
                          </a:solidFill>
                          <a:latin typeface="Aptos Display"/>
                        </a:rPr>
                        <a:t>0.</a:t>
                      </a:r>
                      <a:r>
                        <a:rPr lang="it-IT" sz="2000" b="1" dirty="0">
                          <a:solidFill>
                            <a:srgbClr val="000000"/>
                          </a:solidFill>
                          <a:latin typeface="Aptos Display"/>
                        </a:rPr>
                        <a:t>553</a:t>
                      </a:r>
                      <a:endParaRPr sz="1200" b="1" dirty="0">
                        <a:solidFill>
                          <a:srgbClr val="000000"/>
                        </a:solidFill>
                        <a:latin typeface="Aptos Display"/>
                      </a:endParaRPr>
                    </a:p>
                  </a:txBody>
                  <a:tcPr>
                    <a:solidFill>
                      <a:srgbClr val="FFFFFF"/>
                    </a:solidFill>
                  </a:tcPr>
                </a:tc>
                <a:tc>
                  <a:txBody>
                    <a:bodyPr/>
                    <a:lstStyle/>
                    <a:p>
                      <a:pPr algn="ctr"/>
                      <a:r>
                        <a:rPr sz="2000" b="1" dirty="0">
                          <a:solidFill>
                            <a:srgbClr val="000000"/>
                          </a:solidFill>
                          <a:latin typeface="Aptos Display"/>
                        </a:rPr>
                        <a:t>0.207</a:t>
                      </a:r>
                    </a:p>
                  </a:txBody>
                  <a:tcPr>
                    <a:solidFill>
                      <a:srgbClr val="FFFFFF"/>
                    </a:solidFill>
                  </a:tcPr>
                </a:tc>
                <a:tc>
                  <a:txBody>
                    <a:bodyPr/>
                    <a:lstStyle/>
                    <a:p>
                      <a:pPr algn="ctr"/>
                      <a:r>
                        <a:rPr sz="2000" b="1" dirty="0">
                          <a:solidFill>
                            <a:srgbClr val="000000"/>
                          </a:solidFill>
                          <a:latin typeface="Aptos Display"/>
                        </a:rPr>
                        <a:t>0.</a:t>
                      </a:r>
                      <a:r>
                        <a:rPr lang="it-IT" sz="2000" b="1" dirty="0">
                          <a:solidFill>
                            <a:srgbClr val="000000"/>
                          </a:solidFill>
                          <a:latin typeface="Aptos Display"/>
                        </a:rPr>
                        <a:t>32</a:t>
                      </a:r>
                      <a:endParaRPr sz="1200" b="1" dirty="0">
                        <a:solidFill>
                          <a:srgbClr val="000000"/>
                        </a:solidFill>
                        <a:latin typeface="Aptos Display"/>
                      </a:endParaRPr>
                    </a:p>
                  </a:txBody>
                  <a:tcPr>
                    <a:solidFill>
                      <a:srgbClr val="FFFFFF"/>
                    </a:solidFill>
                  </a:tcPr>
                </a:tc>
                <a:tc>
                  <a:txBody>
                    <a:bodyPr/>
                    <a:lstStyle/>
                    <a:p>
                      <a:pPr algn="ctr"/>
                      <a:r>
                        <a:rPr sz="2000" b="1" dirty="0">
                          <a:solidFill>
                            <a:srgbClr val="000000"/>
                          </a:solidFill>
                          <a:latin typeface="Aptos Display"/>
                        </a:rPr>
                        <a:t>66.2%</a:t>
                      </a:r>
                    </a:p>
                  </a:txBody>
                  <a:tcPr>
                    <a:solidFill>
                      <a:srgbClr val="FFFFFF"/>
                    </a:solidFill>
                  </a:tcPr>
                </a:tc>
                <a:tc>
                  <a:txBody>
                    <a:bodyPr/>
                    <a:lstStyle/>
                    <a:p>
                      <a:pPr algn="ctr"/>
                      <a:r>
                        <a:rPr sz="2000" b="1" dirty="0">
                          <a:solidFill>
                            <a:srgbClr val="000000"/>
                          </a:solidFill>
                          <a:latin typeface="Aptos Display"/>
                        </a:rPr>
                        <a:t>63.1%</a:t>
                      </a:r>
                    </a:p>
                  </a:txBody>
                  <a:tcPr>
                    <a:solidFill>
                      <a:srgbClr val="FFFFFF"/>
                    </a:solidFill>
                  </a:tcPr>
                </a:tc>
                <a:extLst>
                  <a:ext uri="{0D108BD9-81ED-4DB2-BD59-A6C34878D82A}">
                    <a16:rowId xmlns:a16="http://schemas.microsoft.com/office/drawing/2014/main" val="10004"/>
                  </a:ext>
                </a:extLst>
              </a:tr>
            </a:tbl>
          </a:graphicData>
        </a:graphic>
      </p:graphicFrame>
      <p:sp>
        <p:nvSpPr>
          <p:cNvPr id="999" name="PageNum33"/>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09344"/>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50792"/>
            <a:ext cx="8046720" cy="1077218"/>
          </a:xfrm>
          <a:prstGeom prst="rect">
            <a:avLst/>
          </a:prstGeom>
          <a:noFill/>
        </p:spPr>
        <p:txBody>
          <a:bodyPr wrap="square">
            <a:spAutoFit/>
          </a:bodyPr>
          <a:lstStyle/>
          <a:p>
            <a:pPr algn="l"/>
            <a:r>
              <a:rPr sz="3200" dirty="0" err="1">
                <a:solidFill>
                  <a:srgbClr val="FFFFFF"/>
                </a:solidFill>
                <a:latin typeface="Aptos Display"/>
              </a:rPr>
              <a:t>Classificazione</a:t>
            </a:r>
            <a:r>
              <a:rPr sz="3200" dirty="0">
                <a:solidFill>
                  <a:srgbClr val="FFFFFF"/>
                </a:solidFill>
                <a:latin typeface="Aptos Display"/>
              </a:rPr>
              <a:t> </a:t>
            </a:r>
            <a:r>
              <a:rPr sz="3200" dirty="0" err="1">
                <a:solidFill>
                  <a:srgbClr val="FFFFFF"/>
                </a:solidFill>
                <a:latin typeface="Aptos Display"/>
              </a:rPr>
              <a:t>sulla</a:t>
            </a:r>
            <a:r>
              <a:rPr sz="3200" dirty="0">
                <a:solidFill>
                  <a:srgbClr val="FFFFFF"/>
                </a:solidFill>
                <a:latin typeface="Aptos Display"/>
              </a:rPr>
              <a:t> </a:t>
            </a:r>
            <a:r>
              <a:rPr sz="3200" dirty="0" err="1">
                <a:solidFill>
                  <a:srgbClr val="FFFFFF"/>
                </a:solidFill>
                <a:latin typeface="Aptos Display"/>
              </a:rPr>
              <a:t>Qualità</a:t>
            </a:r>
            <a:endParaRPr sz="3200" dirty="0">
              <a:solidFill>
                <a:srgbClr val="FFFFFF"/>
              </a:solidFill>
              <a:latin typeface="Aptos Display"/>
            </a:endParaRPr>
          </a:p>
          <a:p>
            <a:pPr algn="l"/>
            <a:r>
              <a:rPr sz="3200" i="1" dirty="0" err="1">
                <a:solidFill>
                  <a:srgbClr val="FFFFFF"/>
                </a:solidFill>
                <a:latin typeface="Aptos Display"/>
              </a:rPr>
              <a:t>Conclusioni</a:t>
            </a:r>
            <a:endParaRPr sz="3200" i="1" dirty="0">
              <a:solidFill>
                <a:srgbClr val="FFFFFF"/>
              </a:solidFill>
              <a:latin typeface="Aptos Display"/>
            </a:endParaRPr>
          </a:p>
        </p:txBody>
      </p:sp>
      <p:pic>
        <p:nvPicPr>
          <p:cNvPr id="4" name="Picture 3" descr="unipd_logo.png"/>
          <p:cNvPicPr>
            <a:picLocks noChangeAspect="1"/>
          </p:cNvPicPr>
          <p:nvPr/>
        </p:nvPicPr>
        <p:blipFill>
          <a:blip r:embed="rId2"/>
          <a:stretch>
            <a:fillRect/>
          </a:stretch>
        </p:blipFill>
        <p:spPr>
          <a:xfrm>
            <a:off x="8549640" y="185310"/>
            <a:ext cx="2651760" cy="1188720"/>
          </a:xfrm>
          <a:prstGeom prst="rect">
            <a:avLst/>
          </a:prstGeom>
        </p:spPr>
      </p:pic>
      <p:sp>
        <p:nvSpPr>
          <p:cNvPr id="5" name="Rectangle 4"/>
          <p:cNvSpPr/>
          <p:nvPr/>
        </p:nvSpPr>
        <p:spPr>
          <a:xfrm>
            <a:off x="502920" y="1920240"/>
            <a:ext cx="502920" cy="502920"/>
          </a:xfrm>
          <a:prstGeom prst="rect">
            <a:avLst/>
          </a:prstGeom>
          <a:solidFill>
            <a:srgbClr val="B20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02920" cy="502920"/>
          </a:xfrm>
          <a:prstGeom prst="rect">
            <a:avLst/>
          </a:prstGeom>
          <a:noFill/>
        </p:spPr>
        <p:txBody>
          <a:bodyPr wrap="square">
            <a:spAutoFit/>
          </a:bodyPr>
          <a:lstStyle/>
          <a:p>
            <a:pPr algn="ctr"/>
            <a:r>
              <a:rPr sz="2000" b="1" i="0">
                <a:solidFill>
                  <a:srgbClr val="FFFFFF"/>
                </a:solidFill>
                <a:latin typeface="Aptos Display"/>
              </a:rPr>
              <a:t>1</a:t>
            </a:r>
          </a:p>
        </p:txBody>
      </p:sp>
      <p:sp>
        <p:nvSpPr>
          <p:cNvPr id="7" name="TextBox 6"/>
          <p:cNvSpPr txBox="1"/>
          <p:nvPr/>
        </p:nvSpPr>
        <p:spPr>
          <a:xfrm>
            <a:off x="1143000" y="1920240"/>
            <a:ext cx="10561320" cy="320040"/>
          </a:xfrm>
          <a:prstGeom prst="rect">
            <a:avLst/>
          </a:prstGeom>
          <a:noFill/>
        </p:spPr>
        <p:txBody>
          <a:bodyPr wrap="square">
            <a:spAutoFit/>
          </a:bodyPr>
          <a:lstStyle/>
          <a:p>
            <a:pPr algn="l"/>
            <a:r>
              <a:rPr sz="2000" b="1" i="0" dirty="0" err="1">
                <a:solidFill>
                  <a:srgbClr val="000000"/>
                </a:solidFill>
                <a:latin typeface="Aptos Display"/>
              </a:rPr>
              <a:t>Variabili</a:t>
            </a:r>
            <a:r>
              <a:rPr sz="2000" b="1" i="0" dirty="0">
                <a:solidFill>
                  <a:srgbClr val="000000"/>
                </a:solidFill>
                <a:latin typeface="Aptos Display"/>
              </a:rPr>
              <a:t> del </a:t>
            </a:r>
            <a:r>
              <a:rPr sz="2000" b="1" i="0" dirty="0" err="1">
                <a:solidFill>
                  <a:srgbClr val="000000"/>
                </a:solidFill>
                <a:latin typeface="Aptos Display"/>
              </a:rPr>
              <a:t>prodotto</a:t>
            </a:r>
            <a:r>
              <a:rPr sz="2000" b="1" i="0" dirty="0">
                <a:solidFill>
                  <a:srgbClr val="000000"/>
                </a:solidFill>
                <a:latin typeface="Aptos Display"/>
              </a:rPr>
              <a:t>, non del </a:t>
            </a:r>
            <a:r>
              <a:rPr sz="2000" b="1" i="0" dirty="0" err="1">
                <a:solidFill>
                  <a:srgbClr val="000000"/>
                </a:solidFill>
                <a:latin typeface="Aptos Display"/>
              </a:rPr>
              <a:t>venditore</a:t>
            </a:r>
            <a:endParaRPr sz="1400" b="1" i="0" dirty="0">
              <a:solidFill>
                <a:srgbClr val="000000"/>
              </a:solidFill>
              <a:latin typeface="Aptos Display"/>
            </a:endParaRPr>
          </a:p>
        </p:txBody>
      </p:sp>
      <p:sp>
        <p:nvSpPr>
          <p:cNvPr id="8" name="TextBox 7"/>
          <p:cNvSpPr txBox="1"/>
          <p:nvPr/>
        </p:nvSpPr>
        <p:spPr>
          <a:xfrm>
            <a:off x="1143000" y="2267712"/>
            <a:ext cx="10561320" cy="707886"/>
          </a:xfrm>
          <a:prstGeom prst="rect">
            <a:avLst/>
          </a:prstGeom>
          <a:noFill/>
        </p:spPr>
        <p:txBody>
          <a:bodyPr wrap="square">
            <a:spAutoFit/>
          </a:bodyPr>
          <a:lstStyle/>
          <a:p>
            <a:pPr algn="l"/>
            <a:r>
              <a:rPr sz="2000" b="0" i="0" dirty="0">
                <a:latin typeface="Aptos Display"/>
              </a:rPr>
              <a:t>Lo stepwise </a:t>
            </a:r>
            <a:r>
              <a:rPr sz="2000" b="0" i="0" dirty="0" err="1">
                <a:latin typeface="Aptos Display"/>
              </a:rPr>
              <a:t>elimina</a:t>
            </a:r>
            <a:r>
              <a:rPr lang="it-IT" sz="2000" b="0" i="0" dirty="0">
                <a:latin typeface="Aptos Display"/>
              </a:rPr>
              <a:t> per tutti i modelli la maggior parte dell</a:t>
            </a:r>
            <a:r>
              <a:rPr lang="it-IT" sz="2000" dirty="0">
                <a:latin typeface="Aptos Display"/>
              </a:rPr>
              <a:t>e variabili relative al venditore</a:t>
            </a:r>
            <a:r>
              <a:rPr sz="2000" b="0" i="0" dirty="0">
                <a:latin typeface="Aptos Display"/>
              </a:rPr>
              <a:t>. </a:t>
            </a:r>
            <a:endParaRPr lang="it-IT" sz="2000" b="0" i="0" dirty="0">
              <a:latin typeface="Aptos Display"/>
            </a:endParaRPr>
          </a:p>
          <a:p>
            <a:pPr algn="l"/>
            <a:r>
              <a:rPr sz="2000" b="0" i="0" dirty="0">
                <a:latin typeface="Aptos Display"/>
              </a:rPr>
              <a:t>La </a:t>
            </a:r>
            <a:r>
              <a:rPr sz="2000" b="0" i="0" dirty="0" err="1">
                <a:latin typeface="Aptos Display"/>
              </a:rPr>
              <a:t>condizione</a:t>
            </a:r>
            <a:r>
              <a:rPr sz="2000" b="0" i="0" dirty="0">
                <a:latin typeface="Aptos Display"/>
              </a:rPr>
              <a:t> </a:t>
            </a:r>
            <a:r>
              <a:rPr sz="2000" b="0" i="0" dirty="0" err="1">
                <a:latin typeface="Aptos Display"/>
              </a:rPr>
              <a:t>fisica</a:t>
            </a:r>
            <a:r>
              <a:rPr sz="2000" b="0" i="0" dirty="0">
                <a:latin typeface="Aptos Display"/>
              </a:rPr>
              <a:t> </a:t>
            </a:r>
            <a:r>
              <a:rPr sz="2000" b="0" i="0" dirty="0" err="1">
                <a:latin typeface="Aptos Display"/>
              </a:rPr>
              <a:t>dipende</a:t>
            </a:r>
            <a:r>
              <a:rPr sz="2000" b="0" i="0" dirty="0">
                <a:latin typeface="Aptos Display"/>
              </a:rPr>
              <a:t> </a:t>
            </a:r>
            <a:r>
              <a:rPr sz="2000" b="0" i="0" dirty="0" err="1">
                <a:latin typeface="Aptos Display"/>
              </a:rPr>
              <a:t>dalle</a:t>
            </a:r>
            <a:r>
              <a:rPr sz="2000" b="0" i="0" dirty="0">
                <a:latin typeface="Aptos Display"/>
              </a:rPr>
              <a:t> </a:t>
            </a:r>
            <a:r>
              <a:rPr sz="2000" b="0" i="0" dirty="0" err="1">
                <a:latin typeface="Aptos Display"/>
              </a:rPr>
              <a:t>caratteristiche</a:t>
            </a:r>
            <a:r>
              <a:rPr sz="2000" b="0" i="0" dirty="0">
                <a:latin typeface="Aptos Display"/>
              </a:rPr>
              <a:t> della scarpa, non da chi la </a:t>
            </a:r>
            <a:r>
              <a:rPr sz="2000" b="0" i="0" dirty="0" err="1">
                <a:latin typeface="Aptos Display"/>
              </a:rPr>
              <a:t>vende</a:t>
            </a:r>
            <a:r>
              <a:rPr sz="2000" b="0" i="0" dirty="0">
                <a:latin typeface="Aptos Display"/>
              </a:rPr>
              <a:t>.</a:t>
            </a:r>
          </a:p>
        </p:txBody>
      </p:sp>
      <p:sp>
        <p:nvSpPr>
          <p:cNvPr id="9" name="Rectangle 8"/>
          <p:cNvSpPr/>
          <p:nvPr/>
        </p:nvSpPr>
        <p:spPr>
          <a:xfrm>
            <a:off x="502920" y="3017520"/>
            <a:ext cx="11247120"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3108960"/>
            <a:ext cx="502920"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3108960"/>
            <a:ext cx="502920" cy="502920"/>
          </a:xfrm>
          <a:prstGeom prst="rect">
            <a:avLst/>
          </a:prstGeom>
          <a:noFill/>
        </p:spPr>
        <p:txBody>
          <a:bodyPr wrap="square">
            <a:spAutoFit/>
          </a:bodyPr>
          <a:lstStyle/>
          <a:p>
            <a:pPr algn="ctr"/>
            <a:r>
              <a:rPr sz="2000" b="1" i="0">
                <a:solidFill>
                  <a:srgbClr val="FFFFFF"/>
                </a:solidFill>
                <a:latin typeface="Aptos Display"/>
              </a:rPr>
              <a:t>2</a:t>
            </a:r>
          </a:p>
        </p:txBody>
      </p:sp>
      <p:sp>
        <p:nvSpPr>
          <p:cNvPr id="12" name="TextBox 11"/>
          <p:cNvSpPr txBox="1"/>
          <p:nvPr/>
        </p:nvSpPr>
        <p:spPr>
          <a:xfrm>
            <a:off x="1127760" y="5498810"/>
            <a:ext cx="10561320" cy="320040"/>
          </a:xfrm>
          <a:prstGeom prst="rect">
            <a:avLst/>
          </a:prstGeom>
          <a:noFill/>
        </p:spPr>
        <p:txBody>
          <a:bodyPr wrap="square">
            <a:spAutoFit/>
          </a:bodyPr>
          <a:lstStyle/>
          <a:p>
            <a:pPr algn="l"/>
            <a:r>
              <a:rPr sz="2000" b="1" i="0" dirty="0" err="1">
                <a:solidFill>
                  <a:srgbClr val="000000"/>
                </a:solidFill>
                <a:latin typeface="Aptos Display"/>
              </a:rPr>
              <a:t>LogPrice</a:t>
            </a:r>
            <a:r>
              <a:rPr sz="2000" b="1" i="0" dirty="0">
                <a:solidFill>
                  <a:srgbClr val="000000"/>
                </a:solidFill>
                <a:latin typeface="Aptos Display"/>
              </a:rPr>
              <a:t> è il </a:t>
            </a:r>
            <a:r>
              <a:rPr sz="2000" b="1" i="0" dirty="0" err="1">
                <a:solidFill>
                  <a:srgbClr val="000000"/>
                </a:solidFill>
                <a:latin typeface="Aptos Display"/>
              </a:rPr>
              <a:t>predittore</a:t>
            </a:r>
            <a:r>
              <a:rPr sz="2000" b="1" i="0" dirty="0">
                <a:solidFill>
                  <a:srgbClr val="000000"/>
                </a:solidFill>
                <a:latin typeface="Aptos Display"/>
              </a:rPr>
              <a:t> </a:t>
            </a:r>
            <a:r>
              <a:rPr sz="2000" b="1" i="0" dirty="0" err="1">
                <a:solidFill>
                  <a:srgbClr val="000000"/>
                </a:solidFill>
                <a:latin typeface="Aptos Display"/>
              </a:rPr>
              <a:t>principale</a:t>
            </a:r>
            <a:endParaRPr sz="1400" b="1" i="0" dirty="0">
              <a:solidFill>
                <a:srgbClr val="000000"/>
              </a:solidFill>
              <a:latin typeface="Aptos Display"/>
            </a:endParaRPr>
          </a:p>
        </p:txBody>
      </p:sp>
      <p:sp>
        <p:nvSpPr>
          <p:cNvPr id="13" name="TextBox 12"/>
          <p:cNvSpPr txBox="1"/>
          <p:nvPr/>
        </p:nvSpPr>
        <p:spPr>
          <a:xfrm>
            <a:off x="1157288" y="5837197"/>
            <a:ext cx="10561320" cy="400110"/>
          </a:xfrm>
          <a:prstGeom prst="rect">
            <a:avLst/>
          </a:prstGeom>
          <a:noFill/>
        </p:spPr>
        <p:txBody>
          <a:bodyPr wrap="square">
            <a:spAutoFit/>
          </a:bodyPr>
          <a:lstStyle/>
          <a:p>
            <a:pPr algn="l"/>
            <a:r>
              <a:rPr lang="it-IT" sz="2000" dirty="0">
                <a:latin typeface="Aptos Display"/>
              </a:rPr>
              <a:t>Seguito da </a:t>
            </a:r>
            <a:r>
              <a:rPr sz="2000" b="0" i="0" dirty="0">
                <a:latin typeface="Aptos Display"/>
              </a:rPr>
              <a:t>Brand e </a:t>
            </a:r>
            <a:r>
              <a:rPr lang="it-IT" sz="2000" b="0" i="0" dirty="0">
                <a:latin typeface="Aptos Display"/>
              </a:rPr>
              <a:t>Size</a:t>
            </a:r>
            <a:endParaRPr sz="1200" b="0" i="0" dirty="0">
              <a:latin typeface="Aptos Display"/>
            </a:endParaRPr>
          </a:p>
        </p:txBody>
      </p:sp>
      <p:sp>
        <p:nvSpPr>
          <p:cNvPr id="14" name="Rectangle 13"/>
          <p:cNvSpPr/>
          <p:nvPr/>
        </p:nvSpPr>
        <p:spPr>
          <a:xfrm>
            <a:off x="502920" y="4206240"/>
            <a:ext cx="11247120"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4297680"/>
            <a:ext cx="502920" cy="50292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297680"/>
            <a:ext cx="502920" cy="502920"/>
          </a:xfrm>
          <a:prstGeom prst="rect">
            <a:avLst/>
          </a:prstGeom>
          <a:noFill/>
        </p:spPr>
        <p:txBody>
          <a:bodyPr wrap="square">
            <a:spAutoFit/>
          </a:bodyPr>
          <a:lstStyle/>
          <a:p>
            <a:pPr algn="ctr"/>
            <a:r>
              <a:rPr sz="2000" b="1" i="0">
                <a:solidFill>
                  <a:srgbClr val="FFFFFF"/>
                </a:solidFill>
                <a:latin typeface="Aptos Display"/>
              </a:rPr>
              <a:t>3</a:t>
            </a:r>
          </a:p>
        </p:txBody>
      </p:sp>
      <p:sp>
        <p:nvSpPr>
          <p:cNvPr id="17" name="TextBox 16"/>
          <p:cNvSpPr txBox="1"/>
          <p:nvPr/>
        </p:nvSpPr>
        <p:spPr>
          <a:xfrm>
            <a:off x="1127760" y="3168108"/>
            <a:ext cx="10561320" cy="320040"/>
          </a:xfrm>
          <a:prstGeom prst="rect">
            <a:avLst/>
          </a:prstGeom>
          <a:noFill/>
        </p:spPr>
        <p:txBody>
          <a:bodyPr wrap="square">
            <a:spAutoFit/>
          </a:bodyPr>
          <a:lstStyle/>
          <a:p>
            <a:pPr algn="l"/>
            <a:r>
              <a:rPr sz="2000" b="1" i="0" dirty="0" err="1">
                <a:solidFill>
                  <a:srgbClr val="000000"/>
                </a:solidFill>
                <a:latin typeface="Aptos Display"/>
              </a:rPr>
              <a:t>Sbilanciamento</a:t>
            </a:r>
            <a:r>
              <a:rPr sz="2000" b="1" i="0" dirty="0">
                <a:solidFill>
                  <a:srgbClr val="000000"/>
                </a:solidFill>
                <a:latin typeface="Aptos Display"/>
              </a:rPr>
              <a:t> </a:t>
            </a:r>
            <a:r>
              <a:rPr sz="2000" b="1" i="0" dirty="0" err="1">
                <a:solidFill>
                  <a:srgbClr val="000000"/>
                </a:solidFill>
                <a:latin typeface="Aptos Display"/>
              </a:rPr>
              <a:t>richiede</a:t>
            </a:r>
            <a:r>
              <a:rPr sz="2000" b="1" i="0" dirty="0">
                <a:solidFill>
                  <a:srgbClr val="000000"/>
                </a:solidFill>
                <a:latin typeface="Aptos Display"/>
              </a:rPr>
              <a:t> </a:t>
            </a:r>
            <a:r>
              <a:rPr sz="2000" b="1" i="0" dirty="0" err="1">
                <a:solidFill>
                  <a:srgbClr val="000000"/>
                </a:solidFill>
                <a:latin typeface="Aptos Display"/>
              </a:rPr>
              <a:t>intervento</a:t>
            </a:r>
            <a:endParaRPr sz="1400" b="1" i="0" dirty="0">
              <a:solidFill>
                <a:srgbClr val="000000"/>
              </a:solidFill>
              <a:latin typeface="Aptos Display"/>
            </a:endParaRPr>
          </a:p>
        </p:txBody>
      </p:sp>
      <p:sp>
        <p:nvSpPr>
          <p:cNvPr id="18" name="TextBox 17"/>
          <p:cNvSpPr txBox="1"/>
          <p:nvPr/>
        </p:nvSpPr>
        <p:spPr>
          <a:xfrm>
            <a:off x="1143000" y="3515580"/>
            <a:ext cx="10561320" cy="707886"/>
          </a:xfrm>
          <a:prstGeom prst="rect">
            <a:avLst/>
          </a:prstGeom>
          <a:noFill/>
        </p:spPr>
        <p:txBody>
          <a:bodyPr wrap="square">
            <a:spAutoFit/>
          </a:bodyPr>
          <a:lstStyle/>
          <a:p>
            <a:pPr algn="l"/>
            <a:r>
              <a:rPr sz="2000" b="0" i="0" dirty="0">
                <a:latin typeface="Aptos Display"/>
              </a:rPr>
              <a:t>Il </a:t>
            </a:r>
            <a:r>
              <a:rPr sz="2000" b="0" i="0" dirty="0" err="1">
                <a:latin typeface="Aptos Display"/>
              </a:rPr>
              <a:t>modello</a:t>
            </a:r>
            <a:r>
              <a:rPr sz="2000" b="0" i="0" dirty="0">
                <a:latin typeface="Aptos Display"/>
              </a:rPr>
              <a:t> base </a:t>
            </a:r>
            <a:r>
              <a:rPr sz="2000" b="0" i="0" dirty="0" err="1">
                <a:latin typeface="Aptos Display"/>
              </a:rPr>
              <a:t>collassa</a:t>
            </a:r>
            <a:r>
              <a:rPr sz="2000" b="0" i="0" dirty="0">
                <a:latin typeface="Aptos Display"/>
              </a:rPr>
              <a:t> </a:t>
            </a:r>
            <a:r>
              <a:rPr sz="2000" b="0" i="0" dirty="0" err="1">
                <a:latin typeface="Aptos Display"/>
              </a:rPr>
              <a:t>su</a:t>
            </a:r>
            <a:r>
              <a:rPr sz="2000" b="0" i="0" dirty="0">
                <a:latin typeface="Aptos Display"/>
              </a:rPr>
              <a:t> </a:t>
            </a:r>
            <a:r>
              <a:rPr sz="2000" b="0" i="0" dirty="0" err="1">
                <a:latin typeface="Aptos Display"/>
              </a:rPr>
              <a:t>Ottime</a:t>
            </a:r>
            <a:r>
              <a:rPr lang="it-IT" sz="2000" dirty="0">
                <a:latin typeface="Aptos Display"/>
              </a:rPr>
              <a:t> mentre il nuovo modello che</a:t>
            </a:r>
            <a:r>
              <a:rPr sz="2000" b="0" i="0" dirty="0">
                <a:latin typeface="Aptos Display"/>
              </a:rPr>
              <a:t> </a:t>
            </a:r>
            <a:r>
              <a:rPr sz="2000" b="0" i="0" dirty="0" err="1">
                <a:latin typeface="Aptos Display"/>
              </a:rPr>
              <a:t>combinazione</a:t>
            </a:r>
            <a:r>
              <a:rPr sz="2000" b="0" i="0" dirty="0">
                <a:latin typeface="Aptos Display"/>
              </a:rPr>
              <a:t> </a:t>
            </a:r>
            <a:r>
              <a:rPr sz="2000" b="0" i="0" dirty="0" err="1">
                <a:latin typeface="Aptos Display"/>
              </a:rPr>
              <a:t>collasso+pesi</a:t>
            </a:r>
            <a:r>
              <a:rPr sz="2000" b="0" i="0" dirty="0">
                <a:latin typeface="Aptos Display"/>
              </a:rPr>
              <a:t> porta Kappa a 0.207 e la sensitivity di </a:t>
            </a:r>
            <a:r>
              <a:rPr sz="2000" b="0" i="0" dirty="0" err="1">
                <a:latin typeface="Aptos Display"/>
              </a:rPr>
              <a:t>Usato</a:t>
            </a:r>
            <a:r>
              <a:rPr sz="2000" b="0" i="0" dirty="0">
                <a:latin typeface="Aptos Display"/>
              </a:rPr>
              <a:t> da 0% a 66%.</a:t>
            </a:r>
          </a:p>
        </p:txBody>
      </p:sp>
      <p:sp>
        <p:nvSpPr>
          <p:cNvPr id="19" name="Rectangle 18"/>
          <p:cNvSpPr/>
          <p:nvPr/>
        </p:nvSpPr>
        <p:spPr>
          <a:xfrm>
            <a:off x="489030" y="5440197"/>
            <a:ext cx="11247120"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5486400"/>
            <a:ext cx="502920" cy="50292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5486400"/>
            <a:ext cx="502920" cy="502920"/>
          </a:xfrm>
          <a:prstGeom prst="rect">
            <a:avLst/>
          </a:prstGeom>
          <a:noFill/>
        </p:spPr>
        <p:txBody>
          <a:bodyPr wrap="square">
            <a:spAutoFit/>
          </a:bodyPr>
          <a:lstStyle/>
          <a:p>
            <a:pPr algn="ctr"/>
            <a:r>
              <a:rPr sz="2000" b="1" i="0">
                <a:solidFill>
                  <a:srgbClr val="FFFFFF"/>
                </a:solidFill>
                <a:latin typeface="Aptos Display"/>
              </a:rPr>
              <a:t>4</a:t>
            </a:r>
          </a:p>
        </p:txBody>
      </p:sp>
      <p:sp>
        <p:nvSpPr>
          <p:cNvPr id="22" name="TextBox 21"/>
          <p:cNvSpPr txBox="1"/>
          <p:nvPr/>
        </p:nvSpPr>
        <p:spPr>
          <a:xfrm>
            <a:off x="1115799" y="4318149"/>
            <a:ext cx="10561320" cy="320040"/>
          </a:xfrm>
          <a:prstGeom prst="rect">
            <a:avLst/>
          </a:prstGeom>
          <a:noFill/>
        </p:spPr>
        <p:txBody>
          <a:bodyPr wrap="square">
            <a:spAutoFit/>
          </a:bodyPr>
          <a:lstStyle/>
          <a:p>
            <a:pPr algn="l"/>
            <a:r>
              <a:rPr sz="2000" b="1" i="0">
                <a:solidFill>
                  <a:srgbClr val="000000"/>
                </a:solidFill>
                <a:latin typeface="Aptos Display"/>
              </a:rPr>
              <a:t>La classe Ottime è strutturalmente ambigua</a:t>
            </a:r>
          </a:p>
        </p:txBody>
      </p:sp>
      <p:sp>
        <p:nvSpPr>
          <p:cNvPr id="23" name="TextBox 22"/>
          <p:cNvSpPr txBox="1"/>
          <p:nvPr/>
        </p:nvSpPr>
        <p:spPr>
          <a:xfrm>
            <a:off x="1115799" y="4671043"/>
            <a:ext cx="10561320" cy="707886"/>
          </a:xfrm>
          <a:prstGeom prst="rect">
            <a:avLst/>
          </a:prstGeom>
          <a:noFill/>
        </p:spPr>
        <p:txBody>
          <a:bodyPr wrap="square">
            <a:spAutoFit/>
          </a:bodyPr>
          <a:lstStyle/>
          <a:p>
            <a:pPr algn="l"/>
            <a:r>
              <a:rPr sz="2000" b="0" i="0" dirty="0">
                <a:latin typeface="Aptos Display"/>
              </a:rPr>
              <a:t>Il 65% degli </a:t>
            </a:r>
            <a:r>
              <a:rPr sz="2000" b="0" i="0" dirty="0" err="1">
                <a:latin typeface="Aptos Display"/>
              </a:rPr>
              <a:t>errori</a:t>
            </a:r>
            <a:r>
              <a:rPr sz="2000" b="0" i="0" dirty="0">
                <a:latin typeface="Aptos Display"/>
              </a:rPr>
              <a:t> la </a:t>
            </a:r>
            <a:r>
              <a:rPr sz="2000" b="0" i="0" dirty="0" err="1">
                <a:latin typeface="Aptos Display"/>
              </a:rPr>
              <a:t>coinvolge</a:t>
            </a:r>
            <a:r>
              <a:rPr sz="2000" b="0" i="0" dirty="0">
                <a:latin typeface="Aptos Display"/>
              </a:rPr>
              <a:t> in </a:t>
            </a:r>
            <a:r>
              <a:rPr sz="2000" b="0" i="0" dirty="0" err="1">
                <a:latin typeface="Aptos Display"/>
              </a:rPr>
              <a:t>entrambe</a:t>
            </a:r>
            <a:r>
              <a:rPr sz="2000" b="0" i="0" dirty="0">
                <a:latin typeface="Aptos Display"/>
              </a:rPr>
              <a:t> le </a:t>
            </a:r>
            <a:r>
              <a:rPr sz="2000" b="0" i="0" dirty="0" err="1">
                <a:latin typeface="Aptos Display"/>
              </a:rPr>
              <a:t>direzioni</a:t>
            </a:r>
            <a:r>
              <a:rPr lang="it-IT" sz="2000" b="0" i="0" dirty="0">
                <a:latin typeface="Aptos Display"/>
              </a:rPr>
              <a:t>, n</a:t>
            </a:r>
            <a:r>
              <a:rPr sz="2000" b="0" i="0" dirty="0">
                <a:latin typeface="Aptos Display"/>
              </a:rPr>
              <a:t>on è un </a:t>
            </a:r>
            <a:r>
              <a:rPr sz="2000" b="0" i="0" dirty="0" err="1">
                <a:latin typeface="Aptos Display"/>
              </a:rPr>
              <a:t>fallimento</a:t>
            </a:r>
            <a:r>
              <a:rPr sz="2000" b="0" i="0" dirty="0">
                <a:latin typeface="Aptos Display"/>
              </a:rPr>
              <a:t> del </a:t>
            </a:r>
            <a:r>
              <a:rPr sz="2000" b="0" i="0" dirty="0" err="1">
                <a:latin typeface="Aptos Display"/>
              </a:rPr>
              <a:t>modello</a:t>
            </a:r>
            <a:r>
              <a:rPr sz="2000" b="0" i="0" dirty="0">
                <a:latin typeface="Aptos Display"/>
              </a:rPr>
              <a:t>: la </a:t>
            </a:r>
            <a:r>
              <a:rPr sz="2000" b="0" i="0" dirty="0" err="1">
                <a:latin typeface="Aptos Display"/>
              </a:rPr>
              <a:t>classe</a:t>
            </a:r>
            <a:r>
              <a:rPr sz="2000" b="0" i="0" dirty="0">
                <a:latin typeface="Aptos Display"/>
              </a:rPr>
              <a:t> centrale </a:t>
            </a:r>
            <a:r>
              <a:rPr sz="2000" b="0" i="0" dirty="0" err="1">
                <a:latin typeface="Aptos Display"/>
              </a:rPr>
              <a:t>condivide</a:t>
            </a:r>
            <a:r>
              <a:rPr sz="2000" b="0" i="0" dirty="0">
                <a:latin typeface="Aptos Display"/>
              </a:rPr>
              <a:t> </a:t>
            </a:r>
            <a:r>
              <a:rPr sz="2000" b="0" i="0" dirty="0" err="1">
                <a:latin typeface="Aptos Display"/>
              </a:rPr>
              <a:t>caratteristiche</a:t>
            </a:r>
            <a:r>
              <a:rPr sz="2000" b="0" i="0" dirty="0">
                <a:latin typeface="Aptos Display"/>
              </a:rPr>
              <a:t> con </a:t>
            </a:r>
            <a:r>
              <a:rPr sz="2000" b="0" i="0" dirty="0" err="1">
                <a:latin typeface="Aptos Display"/>
              </a:rPr>
              <a:t>entrambe</a:t>
            </a:r>
            <a:r>
              <a:rPr sz="2000" b="0" i="0" dirty="0">
                <a:latin typeface="Aptos Display"/>
              </a:rPr>
              <a:t> le </a:t>
            </a:r>
            <a:r>
              <a:rPr sz="2000" b="0" i="0" dirty="0" err="1">
                <a:latin typeface="Aptos Display"/>
              </a:rPr>
              <a:t>adiacenti</a:t>
            </a:r>
            <a:r>
              <a:rPr lang="it-IT" sz="2000" b="0" i="0" dirty="0">
                <a:latin typeface="Aptos Display"/>
              </a:rPr>
              <a:t>.</a:t>
            </a:r>
            <a:r>
              <a:rPr sz="2000" b="0" i="0" dirty="0">
                <a:latin typeface="Aptos Display"/>
              </a:rPr>
              <a:t>.</a:t>
            </a:r>
          </a:p>
        </p:txBody>
      </p:sp>
      <p:sp>
        <p:nvSpPr>
          <p:cNvPr id="999" name="PageNum34"/>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BB0B-FC80-5201-8344-8D9B6E6FD72C}"/>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303B0B2D-557C-1639-4149-426A1C59486C}"/>
              </a:ext>
            </a:extLst>
          </p:cNvPr>
          <p:cNvSpPr>
            <a:spLocks noGrp="1"/>
          </p:cNvSpPr>
          <p:nvPr>
            <p:ph type="subTitle" idx="1"/>
          </p:nvPr>
        </p:nvSpPr>
        <p:spPr/>
        <p:txBody>
          <a:bodyPr/>
          <a:lstStyle/>
          <a:p>
            <a:endParaRPr lang="it-IT"/>
          </a:p>
        </p:txBody>
      </p:sp>
      <p:sp>
        <p:nvSpPr>
          <p:cNvPr id="8" name="Rettangolo 7">
            <a:extLst>
              <a:ext uri="{FF2B5EF4-FFF2-40B4-BE49-F238E27FC236}">
                <a16:creationId xmlns:a16="http://schemas.microsoft.com/office/drawing/2014/main" id="{711C169F-627E-E8E6-E948-429D71830C43}"/>
              </a:ext>
            </a:extLst>
          </p:cNvPr>
          <p:cNvSpPr/>
          <p:nvPr/>
        </p:nvSpPr>
        <p:spPr>
          <a:xfrm>
            <a:off x="0" y="-34390"/>
            <a:ext cx="12192000" cy="6892390"/>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9" name="CasellaDiTesto 48">
            <a:extLst>
              <a:ext uri="{FF2B5EF4-FFF2-40B4-BE49-F238E27FC236}">
                <a16:creationId xmlns:a16="http://schemas.microsoft.com/office/drawing/2014/main" id="{A5177E27-73A6-346C-A282-4AB6345FD0BE}"/>
              </a:ext>
            </a:extLst>
          </p:cNvPr>
          <p:cNvSpPr txBox="1"/>
          <p:nvPr/>
        </p:nvSpPr>
        <p:spPr>
          <a:xfrm>
            <a:off x="1075261" y="2442309"/>
            <a:ext cx="10041477" cy="1015663"/>
          </a:xfrm>
          <a:prstGeom prst="rect">
            <a:avLst/>
          </a:prstGeom>
          <a:noFill/>
        </p:spPr>
        <p:txBody>
          <a:bodyPr wrap="square" rtlCol="0">
            <a:spAutoFit/>
          </a:bodyPr>
          <a:lstStyle/>
          <a:p>
            <a:pPr algn="ctr"/>
            <a:r>
              <a:rPr lang="it-IT" sz="6000" dirty="0">
                <a:solidFill>
                  <a:schemeClr val="bg1"/>
                </a:solidFill>
              </a:rPr>
              <a:t>Brand intelligence</a:t>
            </a:r>
          </a:p>
        </p:txBody>
      </p:sp>
      <p:sp>
        <p:nvSpPr>
          <p:cNvPr id="999" name="PageNum35"/>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36</a:t>
            </a:r>
          </a:p>
        </p:txBody>
      </p:sp>
    </p:spTree>
    <p:extLst>
      <p:ext uri="{BB962C8B-B14F-4D97-AF65-F5344CB8AC3E}">
        <p14:creationId xmlns:p14="http://schemas.microsoft.com/office/powerpoint/2010/main" val="114783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504D8-2B39-4DFF-572F-43385DBB51FF}"/>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999FCE4D-CC11-F817-CCBD-531651E031A0}"/>
              </a:ext>
            </a:extLst>
          </p:cNvPr>
          <p:cNvSpPr/>
          <p:nvPr/>
        </p:nvSpPr>
        <p:spPr>
          <a:xfrm>
            <a:off x="0" y="0"/>
            <a:ext cx="12192000" cy="1608881"/>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D0F7F230-F5BD-803E-2E56-D8CC845DB9F3}"/>
              </a:ext>
            </a:extLst>
          </p:cNvPr>
          <p:cNvSpPr>
            <a:spLocks noGrp="1"/>
          </p:cNvSpPr>
          <p:nvPr>
            <p:ph type="title"/>
          </p:nvPr>
        </p:nvSpPr>
        <p:spPr>
          <a:xfrm>
            <a:off x="838200" y="141658"/>
            <a:ext cx="10515600" cy="1325563"/>
          </a:xfrm>
        </p:spPr>
        <p:txBody>
          <a:bodyPr>
            <a:normAutofit/>
          </a:bodyPr>
          <a:lstStyle/>
          <a:p>
            <a:r>
              <a:rPr lang="it-IT" dirty="0">
                <a:solidFill>
                  <a:schemeClr val="bg1"/>
                </a:solidFill>
              </a:rPr>
              <a:t>Brand intelligence</a:t>
            </a:r>
          </a:p>
        </p:txBody>
      </p:sp>
      <p:sp>
        <p:nvSpPr>
          <p:cNvPr id="3" name="Segnaposto contenuto 2">
            <a:extLst>
              <a:ext uri="{FF2B5EF4-FFF2-40B4-BE49-F238E27FC236}">
                <a16:creationId xmlns:a16="http://schemas.microsoft.com/office/drawing/2014/main" id="{21C63EF7-A881-E692-50F1-CAB003E643DE}"/>
              </a:ext>
            </a:extLst>
          </p:cNvPr>
          <p:cNvSpPr>
            <a:spLocks noGrp="1"/>
          </p:cNvSpPr>
          <p:nvPr>
            <p:ph idx="1"/>
          </p:nvPr>
        </p:nvSpPr>
        <p:spPr>
          <a:xfrm>
            <a:off x="838200" y="2398847"/>
            <a:ext cx="10515600" cy="3984215"/>
          </a:xfrm>
        </p:spPr>
        <p:txBody>
          <a:bodyPr>
            <a:normAutofit/>
          </a:bodyPr>
          <a:lstStyle/>
          <a:p>
            <a:pPr>
              <a:lnSpc>
                <a:spcPct val="100000"/>
              </a:lnSpc>
            </a:pPr>
            <a:r>
              <a:rPr lang="it-IT" sz="2400" b="1" dirty="0">
                <a:latin typeface="Aptos Display"/>
              </a:rPr>
              <a:t>Il problema aziendale:</a:t>
            </a:r>
            <a:r>
              <a:rPr lang="it-IT" sz="2400" dirty="0">
                <a:latin typeface="Aptos Display"/>
              </a:rPr>
              <a:t> Massimizzare la scoperta spontanea di nuovi articoli, suggerendo brand affini a chi acquista o possiede già marchi specifici ("Se hai amato Zara, ti piacerà..."). </a:t>
            </a:r>
          </a:p>
          <a:p>
            <a:pPr marL="0" indent="0">
              <a:lnSpc>
                <a:spcPct val="100000"/>
              </a:lnSpc>
              <a:buNone/>
            </a:pPr>
            <a:r>
              <a:rPr lang="it-IT" sz="2400" dirty="0">
                <a:latin typeface="Aptos Display"/>
              </a:rPr>
              <a:t>    Suggerire nuovi venditori che potrebbero vendere quel brand in futuro. </a:t>
            </a:r>
          </a:p>
          <a:p>
            <a:pPr>
              <a:lnSpc>
                <a:spcPct val="100000"/>
              </a:lnSpc>
            </a:pPr>
            <a:r>
              <a:rPr lang="it-IT" sz="2400" b="1" dirty="0">
                <a:latin typeface="Aptos Display"/>
              </a:rPr>
              <a:t>L'obiettivo della consulenza:</a:t>
            </a:r>
            <a:r>
              <a:rPr lang="it-IT" sz="2400" dirty="0">
                <a:latin typeface="Aptos Display"/>
              </a:rPr>
              <a:t> Mappare la co-occorrenza sistematica dei brand negli armadi degli utenti virtuali ed individuare network di somiglianza. </a:t>
            </a:r>
          </a:p>
          <a:p>
            <a:pPr>
              <a:lnSpc>
                <a:spcPct val="100000"/>
              </a:lnSpc>
            </a:pPr>
            <a:r>
              <a:rPr lang="it-IT" sz="2400" b="1" dirty="0">
                <a:latin typeface="Aptos Display"/>
              </a:rPr>
              <a:t>L'approccio statistico: </a:t>
            </a:r>
            <a:r>
              <a:rPr lang="it-IT" sz="2400" dirty="0">
                <a:latin typeface="Aptos Display"/>
              </a:rPr>
              <a:t>Integrazione di Market Basket Analysis e Analisi dei dati di rete. </a:t>
            </a:r>
          </a:p>
        </p:txBody>
      </p:sp>
      <p:pic>
        <p:nvPicPr>
          <p:cNvPr id="6" name="Picture 5">
            <a:extLst>
              <a:ext uri="{FF2B5EF4-FFF2-40B4-BE49-F238E27FC236}">
                <a16:creationId xmlns:a16="http://schemas.microsoft.com/office/drawing/2014/main" id="{2E3A408A-7EEE-D057-946F-A880DED33E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786" y="207851"/>
            <a:ext cx="2656114" cy="1193176"/>
          </a:xfrm>
          <a:prstGeom prst="rect">
            <a:avLst/>
          </a:prstGeom>
        </p:spPr>
      </p:pic>
      <p:sp>
        <p:nvSpPr>
          <p:cNvPr id="999" name="PageNum36"/>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37</a:t>
            </a:r>
          </a:p>
        </p:txBody>
      </p:sp>
    </p:spTree>
    <p:extLst>
      <p:ext uri="{BB962C8B-B14F-4D97-AF65-F5344CB8AC3E}">
        <p14:creationId xmlns:p14="http://schemas.microsoft.com/office/powerpoint/2010/main" val="3915030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90240" y="236545"/>
            <a:ext cx="8100000" cy="1325563"/>
          </a:xfrm>
        </p:spPr>
        <p:txBody>
          <a:bodyPr>
            <a:normAutofit/>
          </a:bodyPr>
          <a:lstStyle/>
          <a:p>
            <a:r>
              <a:rPr lang="it-IT" sz="4000" dirty="0">
                <a:solidFill>
                  <a:schemeClr val="bg1"/>
                </a:solidFill>
                <a:latin typeface="Aptos Display"/>
              </a:rPr>
              <a:t>  Market Basket Analysis sui Brand</a:t>
            </a:r>
          </a:p>
        </p:txBody>
      </p:sp>
      <p:sp>
        <p:nvSpPr>
          <p:cNvPr id="3" name="Content"/>
          <p:cNvSpPr>
            <a:spLocks noGrp="1"/>
          </p:cNvSpPr>
          <p:nvPr>
            <p:ph idx="1"/>
          </p:nvPr>
        </p:nvSpPr>
        <p:spPr>
          <a:xfrm>
            <a:off x="457200" y="1750000"/>
            <a:ext cx="5400000" cy="4900000"/>
          </a:xfrm>
        </p:spPr>
        <p:txBody>
          <a:bodyPr anchor="t">
            <a:normAutofit/>
          </a:bodyPr>
          <a:lstStyle/>
          <a:p>
            <a:pPr>
              <a:lnSpc>
                <a:spcPct val="100000"/>
              </a:lnSpc>
            </a:pPr>
            <a:r>
              <a:rPr lang="it-IT" sz="1400" b="1" dirty="0">
                <a:solidFill>
                  <a:srgbClr val="B20E10"/>
                </a:solidFill>
                <a:latin typeface="Aptos Display"/>
              </a:rPr>
              <a:t>Preparazione dei Dati e Matrice di incidenza:</a:t>
            </a:r>
          </a:p>
          <a:p>
            <a:pPr>
              <a:lnSpc>
                <a:spcPct val="60000"/>
              </a:lnSpc>
            </a:pPr>
            <a:endParaRPr lang="it-IT" sz="1400" dirty="0"/>
          </a:p>
          <a:p>
            <a:pPr marL="342900" indent="-342900">
              <a:lnSpc>
                <a:spcPct val="100000"/>
              </a:lnSpc>
              <a:buChar char="•"/>
            </a:pPr>
            <a:r>
              <a:rPr lang="it-IT" sz="1400" b="1" dirty="0">
                <a:latin typeface="Aptos Display"/>
              </a:rPr>
              <a:t>Variabili utili dal dataset</a:t>
            </a:r>
            <a:r>
              <a:rPr lang="it-IT" sz="1400" dirty="0">
                <a:latin typeface="Aptos Display"/>
              </a:rPr>
              <a:t>:</a:t>
            </a:r>
          </a:p>
          <a:p>
            <a:pPr marL="685800" indent="0">
              <a:lnSpc>
                <a:spcPct val="100000"/>
              </a:lnSpc>
              <a:buNone/>
            </a:pPr>
            <a:r>
              <a:rPr lang="it-IT" sz="1400" dirty="0">
                <a:latin typeface="Aptos Display"/>
              </a:rPr>
              <a:t>Brand, Venditore, URL altri articoli</a:t>
            </a:r>
          </a:p>
          <a:p>
            <a:pPr>
              <a:lnSpc>
                <a:spcPct val="50000"/>
              </a:lnSpc>
            </a:pPr>
            <a:endParaRPr lang="it-IT" sz="1400" dirty="0"/>
          </a:p>
          <a:p>
            <a:pPr marL="342900" indent="-342900">
              <a:lnSpc>
                <a:spcPct val="100000"/>
              </a:lnSpc>
              <a:buChar char="•"/>
            </a:pPr>
            <a:r>
              <a:rPr lang="it-IT" sz="1400" b="1" dirty="0">
                <a:latin typeface="Aptos Display"/>
              </a:rPr>
              <a:t>Pulizia Brand</a:t>
            </a:r>
            <a:r>
              <a:rPr lang="it-IT" sz="1400" dirty="0">
                <a:latin typeface="Aptos Display"/>
              </a:rPr>
              <a:t>:</a:t>
            </a:r>
          </a:p>
          <a:p>
            <a:pPr marL="685800" indent="0">
              <a:lnSpc>
                <a:spcPct val="100000"/>
              </a:lnSpc>
              <a:buNone/>
            </a:pPr>
            <a:r>
              <a:rPr lang="it-IT" sz="1400" dirty="0">
                <a:latin typeface="Aptos Display"/>
              </a:rPr>
              <a:t>Rimozione dei non-brand (ad es. “scarpe”, “ignoto”, …)</a:t>
            </a:r>
          </a:p>
          <a:p>
            <a:pPr>
              <a:lnSpc>
                <a:spcPct val="50000"/>
              </a:lnSpc>
            </a:pPr>
            <a:endParaRPr lang="it-IT" sz="1400" dirty="0"/>
          </a:p>
          <a:p>
            <a:pPr marL="342900" indent="-342900">
              <a:lnSpc>
                <a:spcPct val="100000"/>
              </a:lnSpc>
              <a:buChar char="•"/>
            </a:pPr>
            <a:r>
              <a:rPr lang="it-IT" sz="1400" b="1" dirty="0">
                <a:latin typeface="Aptos Display"/>
              </a:rPr>
              <a:t>Estrazione brand</a:t>
            </a:r>
            <a:r>
              <a:rPr lang="it-IT" sz="1400" dirty="0">
                <a:latin typeface="Aptos Display"/>
              </a:rPr>
              <a:t>:</a:t>
            </a:r>
          </a:p>
          <a:p>
            <a:pPr marL="685800" indent="0">
              <a:lnSpc>
                <a:spcPct val="100000"/>
              </a:lnSpc>
              <a:buNone/>
            </a:pPr>
            <a:r>
              <a:rPr lang="it-IT" sz="1400" dirty="0">
                <a:latin typeface="Aptos Display"/>
              </a:rPr>
              <a:t>Unione dei brand puliti con i brand dall’URL di altri articoli (tramite dizionario di brand di calzature e abbigliamento)</a:t>
            </a:r>
          </a:p>
          <a:p>
            <a:pPr>
              <a:lnSpc>
                <a:spcPct val="50000"/>
              </a:lnSpc>
            </a:pPr>
            <a:endParaRPr lang="it-IT" sz="1400" dirty="0"/>
          </a:p>
          <a:p>
            <a:pPr marL="342900" indent="-342900">
              <a:lnSpc>
                <a:spcPct val="100000"/>
              </a:lnSpc>
              <a:buChar char="•"/>
            </a:pPr>
            <a:r>
              <a:rPr lang="it-IT" sz="1400" b="1" dirty="0">
                <a:latin typeface="Aptos Display"/>
              </a:rPr>
              <a:t>Creazione nuovo dataset</a:t>
            </a:r>
            <a:r>
              <a:rPr lang="it-IT" sz="1400" dirty="0">
                <a:latin typeface="Aptos Display"/>
              </a:rPr>
              <a:t>:</a:t>
            </a:r>
          </a:p>
          <a:p>
            <a:pPr marL="685800" indent="0">
              <a:lnSpc>
                <a:spcPct val="100000"/>
              </a:lnSpc>
              <a:buNone/>
            </a:pPr>
            <a:r>
              <a:rPr lang="it-IT" sz="1400" dirty="0">
                <a:latin typeface="Aptos Display"/>
              </a:rPr>
              <a:t>→ matrice di incidenza Venditori × Brand</a:t>
            </a:r>
          </a:p>
          <a:p>
            <a:pPr marL="685800" indent="0">
              <a:lnSpc>
                <a:spcPct val="100000"/>
              </a:lnSpc>
              <a:buNone/>
            </a:pPr>
            <a:r>
              <a:rPr lang="it-IT" sz="1400" dirty="0">
                <a:latin typeface="Aptos Display"/>
              </a:rPr>
              <a:t>(Ogni cella = 1 se quel brand compare tra gli articoli in vendita del venditore, 0 altrimenti</a:t>
            </a:r>
            <a:r>
              <a:rPr lang="it-IT" sz="1600" dirty="0">
                <a:latin typeface="Aptos Display"/>
              </a:rPr>
              <a:t>)</a:t>
            </a:r>
          </a:p>
        </p:txBody>
      </p:sp>
      <p:sp>
        <p:nvSpPr>
          <p:cNvPr id="20" name="Box1912"/>
          <p:cNvSpPr/>
          <p:nvPr/>
        </p:nvSpPr>
        <p:spPr>
          <a:xfrm>
            <a:off x="5971200" y="2200000"/>
            <a:ext cx="1800000" cy="1200000"/>
          </a:xfrm>
          <a:prstGeom prst="rect">
            <a:avLst/>
          </a:prstGeom>
          <a:solidFill>
            <a:srgbClr val="FFFFFF"/>
          </a:solidFill>
          <a:ln w="19050">
            <a:solidFill>
              <a:srgbClr val="DDDDDD"/>
            </a:solidFill>
          </a:ln>
        </p:spPr>
        <p:txBody>
          <a:bodyPr anchor="ctr">
            <a:normAutofit/>
          </a:bodyPr>
          <a:lstStyle/>
          <a:p>
            <a:pPr algn="ctr"/>
            <a:r>
              <a:rPr lang="it-IT" sz="3200" b="1" dirty="0">
                <a:solidFill>
                  <a:srgbClr val="B20E10"/>
                </a:solidFill>
                <a:latin typeface="Aptos Display"/>
              </a:rPr>
              <a:t>1912</a:t>
            </a:r>
          </a:p>
          <a:p>
            <a:pPr algn="ctr"/>
            <a:r>
              <a:rPr lang="it-IT" sz="1600" dirty="0">
                <a:solidFill>
                  <a:srgbClr val="555555"/>
                </a:solidFill>
                <a:latin typeface="Aptos Display"/>
              </a:rPr>
              <a:t>Prodotti</a:t>
            </a:r>
          </a:p>
        </p:txBody>
      </p:sp>
      <p:sp>
        <p:nvSpPr>
          <p:cNvPr id="21" name="Box1725"/>
          <p:cNvSpPr/>
          <p:nvPr/>
        </p:nvSpPr>
        <p:spPr>
          <a:xfrm>
            <a:off x="5971200" y="3600000"/>
            <a:ext cx="1800000" cy="1200000"/>
          </a:xfrm>
          <a:prstGeom prst="rect">
            <a:avLst/>
          </a:prstGeom>
          <a:solidFill>
            <a:srgbClr val="FFFFFF"/>
          </a:solidFill>
          <a:ln w="19050">
            <a:solidFill>
              <a:srgbClr val="DDDDDD"/>
            </a:solidFill>
          </a:ln>
        </p:spPr>
        <p:txBody>
          <a:bodyPr anchor="ctr">
            <a:normAutofit/>
          </a:bodyPr>
          <a:lstStyle/>
          <a:p>
            <a:pPr algn="ctr"/>
            <a:r>
              <a:rPr lang="it-IT" sz="3200" b="1" dirty="0">
                <a:solidFill>
                  <a:srgbClr val="B20E10"/>
                </a:solidFill>
                <a:latin typeface="Aptos Display"/>
              </a:rPr>
              <a:t>1725</a:t>
            </a:r>
          </a:p>
          <a:p>
            <a:pPr algn="ctr"/>
            <a:r>
              <a:rPr lang="it-IT" sz="1600" dirty="0">
                <a:solidFill>
                  <a:srgbClr val="555555"/>
                </a:solidFill>
                <a:latin typeface="Aptos Display"/>
              </a:rPr>
              <a:t>Venditori</a:t>
            </a:r>
          </a:p>
        </p:txBody>
      </p:sp>
      <p:sp>
        <p:nvSpPr>
          <p:cNvPr id="22" name="Box236"/>
          <p:cNvSpPr/>
          <p:nvPr/>
        </p:nvSpPr>
        <p:spPr>
          <a:xfrm>
            <a:off x="5971200" y="5000000"/>
            <a:ext cx="1800000" cy="1200000"/>
          </a:xfrm>
          <a:prstGeom prst="rect">
            <a:avLst/>
          </a:prstGeom>
          <a:solidFill>
            <a:srgbClr val="FFFFFF"/>
          </a:solidFill>
          <a:ln w="19050">
            <a:solidFill>
              <a:srgbClr val="DDDDDD"/>
            </a:solidFill>
          </a:ln>
        </p:spPr>
        <p:txBody>
          <a:bodyPr anchor="ctr">
            <a:normAutofit/>
          </a:bodyPr>
          <a:lstStyle/>
          <a:p>
            <a:pPr algn="ctr"/>
            <a:r>
              <a:rPr lang="it-IT" sz="3200" b="1" dirty="0">
                <a:solidFill>
                  <a:srgbClr val="B20E10"/>
                </a:solidFill>
                <a:latin typeface="Aptos Display"/>
              </a:rPr>
              <a:t>236</a:t>
            </a:r>
          </a:p>
          <a:p>
            <a:pPr algn="ctr"/>
            <a:r>
              <a:rPr lang="it-IT" sz="1600" dirty="0">
                <a:solidFill>
                  <a:srgbClr val="555555"/>
                </a:solidFill>
                <a:latin typeface="Aptos Display"/>
              </a:rPr>
              <a:t>Brand</a:t>
            </a:r>
          </a:p>
        </p:txBody>
      </p:sp>
      <p:pic>
        <p:nvPicPr>
          <p:cNvPr id="6" name="Logo"/>
          <p:cNvPicPr>
            <a:picLocks noChangeAspect="1"/>
          </p:cNvPicPr>
          <p:nvPr/>
        </p:nvPicPr>
        <p:blipFill>
          <a:blip r:embed="rId3"/>
          <a:stretch>
            <a:fillRect/>
          </a:stretch>
        </p:blipFill>
        <p:spPr>
          <a:xfrm>
            <a:off x="9116786" y="207851"/>
            <a:ext cx="2656114" cy="1193176"/>
          </a:xfrm>
          <a:prstGeom prst="rect">
            <a:avLst/>
          </a:prstGeom>
        </p:spPr>
      </p:pic>
      <p:sp>
        <p:nvSpPr>
          <p:cNvPr id="999" name="PageNum39"/>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38</a:t>
            </a:r>
          </a:p>
        </p:txBody>
      </p:sp>
      <p:pic>
        <p:nvPicPr>
          <p:cNvPr id="5" name="Image 0">
            <a:extLst>
              <a:ext uri="{FF2B5EF4-FFF2-40B4-BE49-F238E27FC236}">
                <a16:creationId xmlns:a16="http://schemas.microsoft.com/office/drawing/2014/main" id="{95C5F4B4-7A83-B176-6C13-671434A011E1}"/>
              </a:ext>
            </a:extLst>
          </p:cNvPr>
          <p:cNvPicPr>
            <a:picLocks noChangeAspect="1"/>
          </p:cNvPicPr>
          <p:nvPr/>
        </p:nvPicPr>
        <p:blipFill>
          <a:blip r:embed="rId4"/>
          <a:srcRect l="35825" t="4174" r="35070" b="2228"/>
          <a:stretch>
            <a:fillRect/>
          </a:stretch>
        </p:blipFill>
        <p:spPr>
          <a:xfrm>
            <a:off x="8529781" y="1750001"/>
            <a:ext cx="2117846" cy="510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ct 31">
            <a:extLst>
              <a:ext uri="{FF2B5EF4-FFF2-40B4-BE49-F238E27FC236}">
                <a16:creationId xmlns:a16="http://schemas.microsoft.com/office/drawing/2014/main" id="{D306A5CB-C4AD-32F5-B99E-C97F0C924FB6}"/>
              </a:ext>
            </a:extLst>
          </p:cNvPr>
          <p:cNvGraphicFramePr>
            <a:graphicFrameLocks noChangeAspect="1"/>
          </p:cNvGraphicFramePr>
          <p:nvPr/>
        </p:nvGraphicFramePr>
        <p:xfrm>
          <a:off x="243841" y="1788122"/>
          <a:ext cx="6456956" cy="4568012"/>
        </p:xfrm>
        <a:graphic>
          <a:graphicData uri="http://schemas.openxmlformats.org/presentationml/2006/ole">
            <mc:AlternateContent xmlns:mc="http://schemas.openxmlformats.org/markup-compatibility/2006">
              <mc:Choice xmlns:v="urn:schemas-microsoft-com:vml" Requires="v">
                <p:oleObj name="Acrobat Document" r:id="rId3" imgW="6408030" imgH="4533529" progId="Acrobat.Document.DC">
                  <p:embed/>
                </p:oleObj>
              </mc:Choice>
              <mc:Fallback>
                <p:oleObj name="Acrobat Document" r:id="rId3" imgW="6408030" imgH="4533529" progId="Acrobat.Document.DC">
                  <p:embed/>
                  <p:pic>
                    <p:nvPicPr>
                      <p:cNvPr id="32" name="Object 31">
                        <a:extLst>
                          <a:ext uri="{FF2B5EF4-FFF2-40B4-BE49-F238E27FC236}">
                            <a16:creationId xmlns:a16="http://schemas.microsoft.com/office/drawing/2014/main" id="{D306A5CB-C4AD-32F5-B99E-C97F0C924FB6}"/>
                          </a:ext>
                        </a:extLst>
                      </p:cNvPr>
                      <p:cNvPicPr/>
                      <p:nvPr/>
                    </p:nvPicPr>
                    <p:blipFill>
                      <a:blip r:embed="rId4"/>
                      <a:stretch>
                        <a:fillRect/>
                      </a:stretch>
                    </p:blipFill>
                    <p:spPr>
                      <a:xfrm>
                        <a:off x="243841" y="1788122"/>
                        <a:ext cx="6456956" cy="4568012"/>
                      </a:xfrm>
                      <a:prstGeom prst="rect">
                        <a:avLst/>
                      </a:prstGeom>
                    </p:spPr>
                  </p:pic>
                </p:oleObj>
              </mc:Fallback>
            </mc:AlternateContent>
          </a:graphicData>
        </a:graphic>
      </p:graphicFrame>
      <p:sp>
        <p:nvSpPr>
          <p:cNvPr id="29" name="Shape 26"/>
          <p:cNvSpPr/>
          <p:nvPr/>
        </p:nvSpPr>
        <p:spPr>
          <a:xfrm>
            <a:off x="6461760" y="4689989"/>
            <a:ext cx="5486400" cy="975360"/>
          </a:xfrm>
          <a:prstGeom prst="rect">
            <a:avLst/>
          </a:prstGeom>
          <a:solidFill>
            <a:srgbClr val="FFF0F0"/>
          </a:solidFill>
          <a:ln w="12700">
            <a:solidFill>
              <a:srgbClr val="CC0000"/>
            </a:solidFill>
            <a:prstDash val="solid"/>
          </a:ln>
        </p:spPr>
        <p:txBody>
          <a:bodyPr/>
          <a:lstStyle/>
          <a:p>
            <a:endParaRPr lang="it-IT" sz="2400"/>
          </a:p>
        </p:txBody>
      </p:sp>
      <p:sp>
        <p:nvSpPr>
          <p:cNvPr id="3" name="Text 1"/>
          <p:cNvSpPr/>
          <p:nvPr/>
        </p:nvSpPr>
        <p:spPr>
          <a:xfrm>
            <a:off x="426720" y="0"/>
            <a:ext cx="11338560" cy="914400"/>
          </a:xfrm>
          <a:prstGeom prst="rect">
            <a:avLst/>
          </a:prstGeom>
          <a:noFill/>
          <a:ln/>
        </p:spPr>
        <p:txBody>
          <a:bodyPr wrap="square" lIns="0" tIns="0" rIns="0" bIns="0" rtlCol="0" anchor="ctr"/>
          <a:lstStyle/>
          <a:p>
            <a:r>
              <a:rPr lang="en-US" sz="2933" b="1" dirty="0">
                <a:solidFill>
                  <a:srgbClr val="FFFFFF"/>
                </a:solidFill>
              </a:rPr>
              <a:t>Market Basket Analysis - </a:t>
            </a:r>
            <a:r>
              <a:rPr lang="en-US" sz="2933" b="1" dirty="0" err="1">
                <a:solidFill>
                  <a:srgbClr val="FFFFFF"/>
                </a:solidFill>
              </a:rPr>
              <a:t>Regole</a:t>
            </a:r>
            <a:r>
              <a:rPr lang="en-US" sz="2933" b="1" dirty="0">
                <a:solidFill>
                  <a:srgbClr val="FFFFFF"/>
                </a:solidFill>
              </a:rPr>
              <a:t> di </a:t>
            </a:r>
            <a:r>
              <a:rPr lang="en-US" sz="2933" b="1" dirty="0" err="1">
                <a:solidFill>
                  <a:srgbClr val="FFFFFF"/>
                </a:solidFill>
              </a:rPr>
              <a:t>associazione</a:t>
            </a:r>
            <a:r>
              <a:rPr lang="en-US" sz="2933" b="1" dirty="0">
                <a:solidFill>
                  <a:srgbClr val="FFFFFF"/>
                </a:solidFill>
              </a:rPr>
              <a:t> per </a:t>
            </a:r>
            <a:r>
              <a:rPr lang="en-US" sz="2933" b="1" dirty="0" err="1">
                <a:solidFill>
                  <a:srgbClr val="FFFFFF"/>
                </a:solidFill>
              </a:rPr>
              <a:t>i</a:t>
            </a:r>
            <a:r>
              <a:rPr lang="en-US" sz="2933" b="1" dirty="0">
                <a:solidFill>
                  <a:srgbClr val="FFFFFF"/>
                </a:solidFill>
              </a:rPr>
              <a:t> Brand</a:t>
            </a:r>
            <a:endParaRPr lang="en-US" sz="2933" dirty="0"/>
          </a:p>
        </p:txBody>
      </p:sp>
      <p:sp>
        <p:nvSpPr>
          <p:cNvPr id="6" name="Text 4"/>
          <p:cNvSpPr/>
          <p:nvPr/>
        </p:nvSpPr>
        <p:spPr>
          <a:xfrm>
            <a:off x="729117" y="1507417"/>
            <a:ext cx="5486400" cy="426720"/>
          </a:xfrm>
          <a:prstGeom prst="rect">
            <a:avLst/>
          </a:prstGeom>
          <a:noFill/>
          <a:ln/>
        </p:spPr>
        <p:txBody>
          <a:bodyPr wrap="square" rtlCol="0" anchor="ctr"/>
          <a:lstStyle/>
          <a:p>
            <a:r>
              <a:rPr lang="en-US" sz="2133" b="1" dirty="0">
                <a:solidFill>
                  <a:srgbClr val="333333"/>
                </a:solidFill>
              </a:rPr>
              <a:t>Brand più frequenti </a:t>
            </a:r>
            <a:r>
              <a:rPr lang="en-US" sz="2133" b="1" dirty="0" err="1">
                <a:solidFill>
                  <a:srgbClr val="333333"/>
                </a:solidFill>
              </a:rPr>
              <a:t>negli</a:t>
            </a:r>
            <a:r>
              <a:rPr lang="en-US" sz="2133" b="1" dirty="0">
                <a:solidFill>
                  <a:srgbClr val="333333"/>
                </a:solidFill>
              </a:rPr>
              <a:t> </a:t>
            </a:r>
            <a:r>
              <a:rPr lang="en-US" sz="2133" b="1" dirty="0" err="1">
                <a:solidFill>
                  <a:srgbClr val="333333"/>
                </a:solidFill>
              </a:rPr>
              <a:t>armadi</a:t>
            </a:r>
            <a:r>
              <a:rPr lang="en-US" sz="2133" b="1" dirty="0">
                <a:solidFill>
                  <a:srgbClr val="333333"/>
                </a:solidFill>
              </a:rPr>
              <a:t>:</a:t>
            </a:r>
            <a:endParaRPr lang="en-US" sz="2133" dirty="0"/>
          </a:p>
        </p:txBody>
      </p:sp>
      <p:sp>
        <p:nvSpPr>
          <p:cNvPr id="8" name="Text 5"/>
          <p:cNvSpPr/>
          <p:nvPr/>
        </p:nvSpPr>
        <p:spPr>
          <a:xfrm>
            <a:off x="6428879" y="1497451"/>
            <a:ext cx="6456956" cy="436687"/>
          </a:xfrm>
          <a:prstGeom prst="rect">
            <a:avLst/>
          </a:prstGeom>
          <a:noFill/>
          <a:ln/>
        </p:spPr>
        <p:txBody>
          <a:bodyPr wrap="square" rtlCol="0" anchor="ctr"/>
          <a:lstStyle/>
          <a:p>
            <a:r>
              <a:rPr lang="en-US" sz="2133" b="1" dirty="0" err="1">
                <a:solidFill>
                  <a:srgbClr val="333333"/>
                </a:solidFill>
              </a:rPr>
              <a:t>Soglie</a:t>
            </a:r>
            <a:r>
              <a:rPr lang="en-US" sz="2133" b="1" dirty="0">
                <a:solidFill>
                  <a:srgbClr val="333333"/>
                </a:solidFill>
              </a:rPr>
              <a:t> </a:t>
            </a:r>
            <a:r>
              <a:rPr lang="en-US" sz="2133" b="1" dirty="0" err="1">
                <a:solidFill>
                  <a:srgbClr val="333333"/>
                </a:solidFill>
              </a:rPr>
              <a:t>minime</a:t>
            </a:r>
            <a:r>
              <a:rPr lang="en-US" sz="2133" b="1" dirty="0">
                <a:solidFill>
                  <a:srgbClr val="333333"/>
                </a:solidFill>
              </a:rPr>
              <a:t> per le </a:t>
            </a:r>
            <a:r>
              <a:rPr lang="en-US" sz="2133" b="1" dirty="0" err="1">
                <a:solidFill>
                  <a:srgbClr val="333333"/>
                </a:solidFill>
              </a:rPr>
              <a:t>regole</a:t>
            </a:r>
            <a:r>
              <a:rPr lang="en-US" sz="2133" b="1" dirty="0">
                <a:solidFill>
                  <a:srgbClr val="333333"/>
                </a:solidFill>
              </a:rPr>
              <a:t> di </a:t>
            </a:r>
            <a:r>
              <a:rPr lang="en-US" sz="2133" b="1" dirty="0" err="1">
                <a:solidFill>
                  <a:srgbClr val="333333"/>
                </a:solidFill>
              </a:rPr>
              <a:t>associazione</a:t>
            </a:r>
            <a:r>
              <a:rPr lang="en-US" sz="2133" b="1" dirty="0">
                <a:solidFill>
                  <a:srgbClr val="333333"/>
                </a:solidFill>
              </a:rPr>
              <a:t>:</a:t>
            </a:r>
            <a:endParaRPr lang="en-US" sz="2133" dirty="0"/>
          </a:p>
        </p:txBody>
      </p:sp>
      <p:sp>
        <p:nvSpPr>
          <p:cNvPr id="9" name="Shape 6"/>
          <p:cNvSpPr/>
          <p:nvPr/>
        </p:nvSpPr>
        <p:spPr>
          <a:xfrm>
            <a:off x="6428879" y="2292540"/>
            <a:ext cx="5486400" cy="929459"/>
          </a:xfrm>
          <a:prstGeom prst="rect">
            <a:avLst/>
          </a:prstGeom>
          <a:solidFill>
            <a:srgbClr val="F8F8F8"/>
          </a:solidFill>
          <a:ln w="12700">
            <a:solidFill>
              <a:srgbClr val="DDDDDD"/>
            </a:solidFill>
            <a:prstDash val="solid"/>
          </a:ln>
        </p:spPr>
        <p:txBody>
          <a:bodyPr/>
          <a:lstStyle/>
          <a:p>
            <a:endParaRPr lang="it-IT" sz="2400"/>
          </a:p>
        </p:txBody>
      </p:sp>
      <p:sp>
        <p:nvSpPr>
          <p:cNvPr id="10" name="Text 7"/>
          <p:cNvSpPr/>
          <p:nvPr/>
        </p:nvSpPr>
        <p:spPr>
          <a:xfrm>
            <a:off x="6584973" y="2403503"/>
            <a:ext cx="1706880" cy="304800"/>
          </a:xfrm>
          <a:prstGeom prst="rect">
            <a:avLst/>
          </a:prstGeom>
          <a:noFill/>
          <a:ln/>
        </p:spPr>
        <p:txBody>
          <a:bodyPr wrap="square" rtlCol="0" anchor="t"/>
          <a:lstStyle/>
          <a:p>
            <a:r>
              <a:rPr lang="en-US" sz="1867" b="1" dirty="0">
                <a:solidFill>
                  <a:srgbClr val="333333"/>
                </a:solidFill>
              </a:rPr>
              <a:t>Supporto minimo</a:t>
            </a:r>
            <a:endParaRPr lang="en-US" sz="1867" dirty="0"/>
          </a:p>
        </p:txBody>
      </p:sp>
      <p:sp>
        <p:nvSpPr>
          <p:cNvPr id="11" name="Shape 8"/>
          <p:cNvSpPr/>
          <p:nvPr/>
        </p:nvSpPr>
        <p:spPr>
          <a:xfrm>
            <a:off x="8011436" y="2560995"/>
            <a:ext cx="975360" cy="365760"/>
          </a:xfrm>
          <a:prstGeom prst="rect">
            <a:avLst/>
          </a:prstGeom>
          <a:solidFill>
            <a:srgbClr val="CC0000"/>
          </a:solidFill>
          <a:ln w="12700">
            <a:solidFill>
              <a:srgbClr val="CC0000"/>
            </a:solidFill>
            <a:prstDash val="solid"/>
          </a:ln>
        </p:spPr>
        <p:txBody>
          <a:bodyPr/>
          <a:lstStyle/>
          <a:p>
            <a:endParaRPr lang="it-IT" sz="2400"/>
          </a:p>
        </p:txBody>
      </p:sp>
      <p:sp>
        <p:nvSpPr>
          <p:cNvPr id="12" name="Text 9"/>
          <p:cNvSpPr/>
          <p:nvPr/>
        </p:nvSpPr>
        <p:spPr>
          <a:xfrm>
            <a:off x="8015131" y="2560995"/>
            <a:ext cx="975360" cy="365760"/>
          </a:xfrm>
          <a:prstGeom prst="rect">
            <a:avLst/>
          </a:prstGeom>
          <a:noFill/>
          <a:ln/>
        </p:spPr>
        <p:txBody>
          <a:bodyPr wrap="square" lIns="0" tIns="0" rIns="0" bIns="0" rtlCol="0" anchor="ctr"/>
          <a:lstStyle/>
          <a:p>
            <a:pPr algn="ctr"/>
            <a:r>
              <a:rPr lang="en-US" sz="1867" b="1" dirty="0">
                <a:solidFill>
                  <a:srgbClr val="FFFFFF"/>
                </a:solidFill>
              </a:rPr>
              <a:t>2%</a:t>
            </a:r>
            <a:endParaRPr lang="en-US" sz="1867" dirty="0"/>
          </a:p>
        </p:txBody>
      </p:sp>
      <p:sp>
        <p:nvSpPr>
          <p:cNvPr id="13" name="Text 10"/>
          <p:cNvSpPr/>
          <p:nvPr/>
        </p:nvSpPr>
        <p:spPr>
          <a:xfrm>
            <a:off x="9324479" y="2467529"/>
            <a:ext cx="2560320" cy="609600"/>
          </a:xfrm>
          <a:prstGeom prst="rect">
            <a:avLst/>
          </a:prstGeom>
          <a:noFill/>
          <a:ln/>
        </p:spPr>
        <p:txBody>
          <a:bodyPr wrap="square" rtlCol="0" anchor="ctr"/>
          <a:lstStyle/>
          <a:p>
            <a:pPr>
              <a:lnSpc>
                <a:spcPct val="120000"/>
              </a:lnSpc>
            </a:pPr>
            <a:r>
              <a:rPr lang="it-IT" sz="1600" dirty="0">
                <a:solidFill>
                  <a:srgbClr val="666666"/>
                </a:solidFill>
              </a:rPr>
              <a:t>La combinazione di brand deve comparire in almeno il 2% degli armadi.</a:t>
            </a:r>
            <a:endParaRPr lang="en-US" sz="1600" dirty="0">
              <a:solidFill>
                <a:srgbClr val="666666"/>
              </a:solidFill>
            </a:endParaRPr>
          </a:p>
        </p:txBody>
      </p:sp>
      <p:sp>
        <p:nvSpPr>
          <p:cNvPr id="14" name="Shape 11"/>
          <p:cNvSpPr/>
          <p:nvPr/>
        </p:nvSpPr>
        <p:spPr>
          <a:xfrm>
            <a:off x="6428879" y="3302959"/>
            <a:ext cx="5486400" cy="955055"/>
          </a:xfrm>
          <a:prstGeom prst="rect">
            <a:avLst/>
          </a:prstGeom>
          <a:solidFill>
            <a:srgbClr val="FFFFFF"/>
          </a:solidFill>
          <a:ln w="12700">
            <a:solidFill>
              <a:srgbClr val="DDDDDD"/>
            </a:solidFill>
            <a:prstDash val="solid"/>
          </a:ln>
        </p:spPr>
        <p:txBody>
          <a:bodyPr/>
          <a:lstStyle/>
          <a:p>
            <a:endParaRPr lang="it-IT" sz="2400"/>
          </a:p>
        </p:txBody>
      </p:sp>
      <p:sp>
        <p:nvSpPr>
          <p:cNvPr id="15" name="Text 12"/>
          <p:cNvSpPr/>
          <p:nvPr/>
        </p:nvSpPr>
        <p:spPr>
          <a:xfrm>
            <a:off x="6584973" y="3434512"/>
            <a:ext cx="1706880" cy="304800"/>
          </a:xfrm>
          <a:prstGeom prst="rect">
            <a:avLst/>
          </a:prstGeom>
          <a:noFill/>
          <a:ln/>
        </p:spPr>
        <p:txBody>
          <a:bodyPr wrap="square" rtlCol="0" anchor="t"/>
          <a:lstStyle/>
          <a:p>
            <a:r>
              <a:rPr lang="en-US" sz="1867" b="1" dirty="0">
                <a:solidFill>
                  <a:srgbClr val="333333"/>
                </a:solidFill>
              </a:rPr>
              <a:t>Fiducia minima</a:t>
            </a:r>
            <a:endParaRPr lang="en-US" sz="1867" dirty="0"/>
          </a:p>
        </p:txBody>
      </p:sp>
      <p:sp>
        <p:nvSpPr>
          <p:cNvPr id="16" name="Shape 13"/>
          <p:cNvSpPr/>
          <p:nvPr/>
        </p:nvSpPr>
        <p:spPr>
          <a:xfrm>
            <a:off x="8015131" y="3556432"/>
            <a:ext cx="975360" cy="365760"/>
          </a:xfrm>
          <a:prstGeom prst="rect">
            <a:avLst/>
          </a:prstGeom>
          <a:solidFill>
            <a:srgbClr val="CC0000"/>
          </a:solidFill>
          <a:ln w="12700">
            <a:solidFill>
              <a:srgbClr val="CC0000"/>
            </a:solidFill>
            <a:prstDash val="solid"/>
          </a:ln>
        </p:spPr>
        <p:txBody>
          <a:bodyPr/>
          <a:lstStyle/>
          <a:p>
            <a:endParaRPr lang="it-IT" sz="2400"/>
          </a:p>
        </p:txBody>
      </p:sp>
      <p:sp>
        <p:nvSpPr>
          <p:cNvPr id="17" name="Text 14"/>
          <p:cNvSpPr/>
          <p:nvPr/>
        </p:nvSpPr>
        <p:spPr>
          <a:xfrm>
            <a:off x="8015131" y="3556432"/>
            <a:ext cx="975360" cy="365760"/>
          </a:xfrm>
          <a:prstGeom prst="rect">
            <a:avLst/>
          </a:prstGeom>
          <a:noFill/>
          <a:ln/>
        </p:spPr>
        <p:txBody>
          <a:bodyPr wrap="square" lIns="0" tIns="0" rIns="0" bIns="0" rtlCol="0" anchor="ctr"/>
          <a:lstStyle/>
          <a:p>
            <a:pPr algn="ctr"/>
            <a:r>
              <a:rPr lang="en-US" sz="1867" b="1" dirty="0">
                <a:solidFill>
                  <a:srgbClr val="FFFFFF"/>
                </a:solidFill>
              </a:rPr>
              <a:t>50%</a:t>
            </a:r>
            <a:endParaRPr lang="en-US" sz="1867" dirty="0"/>
          </a:p>
        </p:txBody>
      </p:sp>
      <p:sp>
        <p:nvSpPr>
          <p:cNvPr id="18" name="Text 15"/>
          <p:cNvSpPr/>
          <p:nvPr/>
        </p:nvSpPr>
        <p:spPr>
          <a:xfrm>
            <a:off x="9328173" y="3471088"/>
            <a:ext cx="2560320" cy="609600"/>
          </a:xfrm>
          <a:prstGeom prst="rect">
            <a:avLst/>
          </a:prstGeom>
          <a:noFill/>
          <a:ln/>
        </p:spPr>
        <p:txBody>
          <a:bodyPr wrap="square" rtlCol="0" anchor="ctr"/>
          <a:lstStyle/>
          <a:p>
            <a:pPr>
              <a:lnSpc>
                <a:spcPct val="120000"/>
              </a:lnSpc>
            </a:pPr>
            <a:r>
              <a:rPr lang="en-US" sz="1600" dirty="0">
                <a:solidFill>
                  <a:srgbClr val="666666"/>
                </a:solidFill>
              </a:rPr>
              <a:t>Almeno 50% di probabilità condizionata</a:t>
            </a:r>
            <a:endParaRPr lang="en-US" sz="1600" dirty="0"/>
          </a:p>
        </p:txBody>
      </p:sp>
      <p:sp>
        <p:nvSpPr>
          <p:cNvPr id="21" name="Shape 18"/>
          <p:cNvSpPr/>
          <p:nvPr/>
        </p:nvSpPr>
        <p:spPr>
          <a:xfrm>
            <a:off x="8011436" y="5006605"/>
            <a:ext cx="975360" cy="365760"/>
          </a:xfrm>
          <a:prstGeom prst="rect">
            <a:avLst/>
          </a:prstGeom>
          <a:solidFill>
            <a:srgbClr val="CC0000"/>
          </a:solidFill>
          <a:ln w="12700">
            <a:solidFill>
              <a:srgbClr val="CC0000"/>
            </a:solidFill>
            <a:prstDash val="solid"/>
          </a:ln>
        </p:spPr>
        <p:txBody>
          <a:bodyPr/>
          <a:lstStyle/>
          <a:p>
            <a:endParaRPr lang="it-IT" sz="2400"/>
          </a:p>
        </p:txBody>
      </p:sp>
      <p:sp>
        <p:nvSpPr>
          <p:cNvPr id="25" name="Text 22"/>
          <p:cNvSpPr/>
          <p:nvPr/>
        </p:nvSpPr>
        <p:spPr>
          <a:xfrm>
            <a:off x="6581279" y="4836375"/>
            <a:ext cx="1706880" cy="304800"/>
          </a:xfrm>
          <a:prstGeom prst="rect">
            <a:avLst/>
          </a:prstGeom>
          <a:noFill/>
          <a:ln/>
        </p:spPr>
        <p:txBody>
          <a:bodyPr wrap="square" rtlCol="0" anchor="t"/>
          <a:lstStyle/>
          <a:p>
            <a:r>
              <a:rPr lang="en-US" sz="1867" b="1" dirty="0" err="1">
                <a:solidFill>
                  <a:srgbClr val="333333"/>
                </a:solidFill>
              </a:rPr>
              <a:t>Regole</a:t>
            </a:r>
            <a:r>
              <a:rPr lang="en-US" sz="1867" b="1" dirty="0">
                <a:solidFill>
                  <a:srgbClr val="333333"/>
                </a:solidFill>
              </a:rPr>
              <a:t> </a:t>
            </a:r>
            <a:r>
              <a:rPr lang="en-US" sz="1867" b="1" dirty="0" err="1">
                <a:solidFill>
                  <a:srgbClr val="333333"/>
                </a:solidFill>
              </a:rPr>
              <a:t>estratte</a:t>
            </a:r>
            <a:endParaRPr lang="en-US" sz="1867" dirty="0"/>
          </a:p>
        </p:txBody>
      </p:sp>
      <p:sp>
        <p:nvSpPr>
          <p:cNvPr id="27" name="Text 24"/>
          <p:cNvSpPr/>
          <p:nvPr/>
        </p:nvSpPr>
        <p:spPr>
          <a:xfrm>
            <a:off x="8011436" y="5002984"/>
            <a:ext cx="975360" cy="365760"/>
          </a:xfrm>
          <a:prstGeom prst="rect">
            <a:avLst/>
          </a:prstGeom>
          <a:noFill/>
          <a:ln/>
        </p:spPr>
        <p:txBody>
          <a:bodyPr wrap="square" lIns="0" tIns="0" rIns="0" bIns="0" rtlCol="0" anchor="ctr"/>
          <a:lstStyle/>
          <a:p>
            <a:pPr algn="ctr"/>
            <a:r>
              <a:rPr lang="en-US" sz="1867" b="1" dirty="0">
                <a:solidFill>
                  <a:srgbClr val="FFFFFF"/>
                </a:solidFill>
              </a:rPr>
              <a:t>66</a:t>
            </a:r>
            <a:endParaRPr lang="en-US" sz="1467" dirty="0"/>
          </a:p>
        </p:txBody>
      </p:sp>
      <p:sp>
        <p:nvSpPr>
          <p:cNvPr id="28" name="Text 25"/>
          <p:cNvSpPr/>
          <p:nvPr/>
        </p:nvSpPr>
        <p:spPr>
          <a:xfrm>
            <a:off x="9324479" y="4883655"/>
            <a:ext cx="2560320" cy="609600"/>
          </a:xfrm>
          <a:prstGeom prst="rect">
            <a:avLst/>
          </a:prstGeom>
          <a:noFill/>
          <a:ln/>
        </p:spPr>
        <p:txBody>
          <a:bodyPr wrap="square" rtlCol="0" anchor="ctr"/>
          <a:lstStyle/>
          <a:p>
            <a:pPr>
              <a:lnSpc>
                <a:spcPct val="120000"/>
              </a:lnSpc>
            </a:pPr>
            <a:r>
              <a:rPr lang="en-US" sz="1600" dirty="0">
                <a:solidFill>
                  <a:srgbClr val="666666"/>
                </a:solidFill>
              </a:rPr>
              <a:t>Ordinate per Lift (forza associazione)</a:t>
            </a:r>
            <a:endParaRPr lang="en-US" sz="1600" dirty="0"/>
          </a:p>
        </p:txBody>
      </p:sp>
      <p:sp>
        <p:nvSpPr>
          <p:cNvPr id="30" name="Text 27"/>
          <p:cNvSpPr/>
          <p:nvPr/>
        </p:nvSpPr>
        <p:spPr>
          <a:xfrm>
            <a:off x="6644640" y="4750949"/>
            <a:ext cx="5120640" cy="853440"/>
          </a:xfrm>
          <a:prstGeom prst="rect">
            <a:avLst/>
          </a:prstGeom>
          <a:noFill/>
          <a:ln/>
        </p:spPr>
        <p:txBody>
          <a:bodyPr wrap="square" rtlCol="0" anchor="ctr"/>
          <a:lstStyle/>
          <a:p>
            <a:pPr>
              <a:lnSpc>
                <a:spcPct val="130000"/>
              </a:lnSpc>
            </a:pPr>
            <a:endParaRPr lang="en-US" sz="1600" dirty="0"/>
          </a:p>
        </p:txBody>
      </p:sp>
      <p:sp>
        <p:nvSpPr>
          <p:cNvPr id="4" name="Rettangolo 3">
            <a:extLst>
              <a:ext uri="{FF2B5EF4-FFF2-40B4-BE49-F238E27FC236}">
                <a16:creationId xmlns:a16="http://schemas.microsoft.com/office/drawing/2014/main" id="{C5AEEFF9-D275-C52F-9C74-7DFB91722A5C}"/>
              </a:ext>
            </a:extLst>
          </p:cNvPr>
          <p:cNvSpPr/>
          <p:nvPr/>
        </p:nvSpPr>
        <p:spPr>
          <a:xfrm>
            <a:off x="0" y="-23446"/>
            <a:ext cx="12192000" cy="1469903"/>
          </a:xfrm>
          <a:prstGeom prst="rect">
            <a:avLst/>
          </a:prstGeom>
          <a:solidFill>
            <a:srgbClr val="B20E10"/>
          </a:solidFill>
          <a:ln>
            <a:solidFill>
              <a:srgbClr val="B20E10"/>
            </a:solidFill>
          </a:ln>
        </p:spPr>
        <p:txBody>
          <a:bodyPr rtlCol="0" anchor="ctr"/>
          <a:lstStyle/>
          <a:p>
            <a:r>
              <a:rPr lang="it-IT" sz="4000" dirty="0">
                <a:solidFill>
                  <a:schemeClr val="bg1"/>
                </a:solidFill>
              </a:rPr>
              <a:t>  MBA: Regole di Associazione per Brand </a:t>
            </a:r>
            <a:endParaRPr lang="it-IT" sz="4000" dirty="0"/>
          </a:p>
        </p:txBody>
      </p:sp>
      <p:pic>
        <p:nvPicPr>
          <p:cNvPr id="5" name="Logo">
            <a:extLst>
              <a:ext uri="{FF2B5EF4-FFF2-40B4-BE49-F238E27FC236}">
                <a16:creationId xmlns:a16="http://schemas.microsoft.com/office/drawing/2014/main" id="{BB059118-689A-2AD7-7647-2B4920495764}"/>
              </a:ext>
            </a:extLst>
          </p:cNvPr>
          <p:cNvPicPr>
            <a:picLocks noChangeAspect="1"/>
          </p:cNvPicPr>
          <p:nvPr/>
        </p:nvPicPr>
        <p:blipFill>
          <a:blip r:embed="rId5"/>
          <a:stretch>
            <a:fillRect/>
          </a:stretch>
        </p:blipFill>
        <p:spPr>
          <a:xfrm>
            <a:off x="9324479" y="93260"/>
            <a:ext cx="2656114" cy="1193176"/>
          </a:xfrm>
          <a:prstGeom prst="rect">
            <a:avLst/>
          </a:prstGeom>
        </p:spPr>
      </p:pic>
      <p:sp>
        <p:nvSpPr>
          <p:cNvPr id="22" name="CasellaDiTesto 21">
            <a:extLst>
              <a:ext uri="{FF2B5EF4-FFF2-40B4-BE49-F238E27FC236}">
                <a16:creationId xmlns:a16="http://schemas.microsoft.com/office/drawing/2014/main" id="{45876E61-8F6E-5B7A-7F8E-08FB5ECAF016}"/>
              </a:ext>
            </a:extLst>
          </p:cNvPr>
          <p:cNvSpPr txBox="1"/>
          <p:nvPr/>
        </p:nvSpPr>
        <p:spPr>
          <a:xfrm>
            <a:off x="11465169" y="6408888"/>
            <a:ext cx="6564922" cy="307777"/>
          </a:xfrm>
          <a:prstGeom prst="rect">
            <a:avLst/>
          </a:prstGeom>
          <a:noFill/>
        </p:spPr>
        <p:txBody>
          <a:bodyPr wrap="square">
            <a:spAutoFit/>
          </a:bodyPr>
          <a:lstStyle/>
          <a:p>
            <a:r>
              <a:rPr lang="it-IT" sz="1400" b="0" dirty="0">
                <a:solidFill>
                  <a:srgbClr val="000000"/>
                </a:solidFill>
                <a:latin typeface="Aptos Display"/>
              </a:rPr>
              <a:t>39</a:t>
            </a:r>
            <a:endParaRPr lang="it-IT"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251550" y="207851"/>
            <a:ext cx="8865236" cy="1325563"/>
          </a:xfrm>
        </p:spPr>
        <p:txBody>
          <a:bodyPr>
            <a:normAutofit/>
          </a:bodyPr>
          <a:lstStyle/>
          <a:p>
            <a:r>
              <a:rPr lang="it-IT" sz="4000" dirty="0">
                <a:solidFill>
                  <a:schemeClr val="bg1"/>
                </a:solidFill>
                <a:latin typeface="Aptos Display"/>
              </a:rPr>
              <a:t>MBA: Regole di Associazione per i Brand</a:t>
            </a:r>
          </a:p>
        </p:txBody>
      </p:sp>
      <p:sp>
        <p:nvSpPr>
          <p:cNvPr id="3" name="Content"/>
          <p:cNvSpPr>
            <a:spLocks noGrp="1"/>
          </p:cNvSpPr>
          <p:nvPr>
            <p:ph idx="1"/>
          </p:nvPr>
        </p:nvSpPr>
        <p:spPr>
          <a:xfrm>
            <a:off x="6900000" y="2500000"/>
            <a:ext cx="5000000" cy="4000000"/>
          </a:xfrm>
        </p:spPr>
        <p:txBody>
          <a:bodyPr anchor="t">
            <a:normAutofit/>
          </a:bodyPr>
          <a:lstStyle/>
          <a:p>
            <a:pPr>
              <a:lnSpc>
                <a:spcPct val="100000"/>
              </a:lnSpc>
            </a:pPr>
            <a:r>
              <a:rPr lang="it-IT" sz="2000" b="1" dirty="0">
                <a:latin typeface="Aptos Display"/>
              </a:rPr>
              <a:t>Nike e Adidas dominano il Supporto.</a:t>
            </a:r>
          </a:p>
          <a:p>
            <a:pPr>
              <a:lnSpc>
                <a:spcPct val="100000"/>
              </a:lnSpc>
            </a:pPr>
            <a:endParaRPr lang="it-IT" sz="2000" b="1" dirty="0">
              <a:latin typeface="Aptos Display"/>
            </a:endParaRPr>
          </a:p>
          <a:p>
            <a:pPr>
              <a:lnSpc>
                <a:spcPct val="100000"/>
              </a:lnSpc>
            </a:pPr>
            <a:r>
              <a:rPr lang="it-IT" sz="1800" dirty="0">
                <a:latin typeface="Aptos Display"/>
              </a:rPr>
              <a:t>Il Lift cresce notevolmente quando a questi si combinano i brand dell'ecosistema streetwear (Vans, Converse, Puma).</a:t>
            </a:r>
          </a:p>
        </p:txBody>
      </p:sp>
      <p:pic>
        <p:nvPicPr>
          <p:cNvPr id="10" name="Image10"/>
          <p:cNvPicPr>
            <a:picLocks noChangeAspect="1"/>
          </p:cNvPicPr>
          <p:nvPr/>
        </p:nvPicPr>
        <p:blipFill>
          <a:blip r:embed="rId2"/>
          <a:stretch>
            <a:fillRect/>
          </a:stretch>
        </p:blipFill>
        <p:spPr>
          <a:xfrm>
            <a:off x="292000" y="1808000"/>
            <a:ext cx="6000000" cy="5050000"/>
          </a:xfrm>
          <a:prstGeom prst="rect">
            <a:avLst/>
          </a:prstGeom>
        </p:spPr>
      </p:pic>
      <p:pic>
        <p:nvPicPr>
          <p:cNvPr id="6" name="Logo"/>
          <p:cNvPicPr>
            <a:picLocks noChangeAspect="1"/>
          </p:cNvPicPr>
          <p:nvPr/>
        </p:nvPicPr>
        <p:blipFill>
          <a:blip r:embed="rId3"/>
          <a:stretch>
            <a:fillRect/>
          </a:stretch>
        </p:blipFill>
        <p:spPr>
          <a:xfrm>
            <a:off x="9116786" y="207851"/>
            <a:ext cx="2656114" cy="1193176"/>
          </a:xfrm>
          <a:prstGeom prst="rect">
            <a:avLst/>
          </a:prstGeom>
        </p:spPr>
      </p:pic>
      <p:sp>
        <p:nvSpPr>
          <p:cNvPr id="999" name="PageNum41"/>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251550" y="207851"/>
            <a:ext cx="8100000" cy="1325563"/>
          </a:xfrm>
        </p:spPr>
        <p:txBody>
          <a:bodyPr>
            <a:normAutofit/>
          </a:bodyPr>
          <a:lstStyle/>
          <a:p>
            <a:r>
              <a:rPr lang="it-IT" sz="4000" dirty="0">
                <a:solidFill>
                  <a:schemeClr val="bg1"/>
                </a:solidFill>
                <a:latin typeface="Aptos Display"/>
              </a:rPr>
              <a:t>MBA: Visualizzazione delle 66 Regole</a:t>
            </a:r>
          </a:p>
        </p:txBody>
      </p:sp>
      <p:pic>
        <p:nvPicPr>
          <p:cNvPr id="10" name="Image10"/>
          <p:cNvPicPr>
            <a:picLocks noChangeAspect="1"/>
          </p:cNvPicPr>
          <p:nvPr/>
        </p:nvPicPr>
        <p:blipFill>
          <a:blip r:embed="rId2"/>
          <a:stretch>
            <a:fillRect/>
          </a:stretch>
        </p:blipFill>
        <p:spPr>
          <a:xfrm>
            <a:off x="700000" y="1750000"/>
            <a:ext cx="5500000" cy="4800000"/>
          </a:xfrm>
          <a:prstGeom prst="rect">
            <a:avLst/>
          </a:prstGeom>
        </p:spPr>
      </p:pic>
      <p:pic>
        <p:nvPicPr>
          <p:cNvPr id="11" name="Image11"/>
          <p:cNvPicPr>
            <a:picLocks noChangeAspect="1"/>
          </p:cNvPicPr>
          <p:nvPr/>
        </p:nvPicPr>
        <p:blipFill>
          <a:blip r:embed="rId3"/>
          <a:stretch>
            <a:fillRect/>
          </a:stretch>
        </p:blipFill>
        <p:spPr>
          <a:xfrm>
            <a:off x="6400000" y="1750000"/>
            <a:ext cx="5500000" cy="4800000"/>
          </a:xfrm>
          <a:prstGeom prst="rect">
            <a:avLst/>
          </a:prstGeom>
        </p:spPr>
      </p:pic>
      <p:pic>
        <p:nvPicPr>
          <p:cNvPr id="6" name="Logo"/>
          <p:cNvPicPr>
            <a:picLocks noChangeAspect="1"/>
          </p:cNvPicPr>
          <p:nvPr/>
        </p:nvPicPr>
        <p:blipFill>
          <a:blip r:embed="rId4"/>
          <a:stretch>
            <a:fillRect/>
          </a:stretch>
        </p:blipFill>
        <p:spPr>
          <a:xfrm>
            <a:off x="9116786" y="207851"/>
            <a:ext cx="2656114" cy="1193176"/>
          </a:xfrm>
          <a:prstGeom prst="rect">
            <a:avLst/>
          </a:prstGeom>
        </p:spPr>
      </p:pic>
      <p:sp>
        <p:nvSpPr>
          <p:cNvPr id="999" name="PageNum42"/>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10"/>
          <p:cNvPicPr>
            <a:picLocks noChangeAspect="1"/>
          </p:cNvPicPr>
          <p:nvPr/>
        </p:nvPicPr>
        <p:blipFill>
          <a:blip r:embed="rId2"/>
          <a:stretch>
            <a:fillRect/>
          </a:stretch>
        </p:blipFill>
        <p:spPr>
          <a:xfrm>
            <a:off x="536713" y="1619370"/>
            <a:ext cx="6163287" cy="4930630"/>
          </a:xfrm>
          <a:prstGeom prst="rect">
            <a:avLst/>
          </a:prstGeom>
        </p:spPr>
      </p:pic>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419100" y="-77424"/>
            <a:ext cx="8100000" cy="1325563"/>
          </a:xfrm>
        </p:spPr>
        <p:txBody>
          <a:bodyPr>
            <a:normAutofit/>
          </a:bodyPr>
          <a:lstStyle/>
          <a:p>
            <a:endParaRPr lang="it-IT" dirty="0">
              <a:solidFill>
                <a:schemeClr val="bg1"/>
              </a:solidFill>
            </a:endParaRPr>
          </a:p>
          <a:p>
            <a:r>
              <a:rPr lang="it-IT" sz="4000" dirty="0">
                <a:solidFill>
                  <a:schemeClr val="bg1"/>
                </a:solidFill>
                <a:latin typeface="Aptos Display"/>
              </a:rPr>
              <a:t>MBA: Grafo delle Regole</a:t>
            </a:r>
          </a:p>
        </p:txBody>
      </p:sp>
      <p:sp>
        <p:nvSpPr>
          <p:cNvPr id="3" name="Content"/>
          <p:cNvSpPr>
            <a:spLocks noGrp="1"/>
          </p:cNvSpPr>
          <p:nvPr>
            <p:ph idx="1"/>
          </p:nvPr>
        </p:nvSpPr>
        <p:spPr>
          <a:xfrm>
            <a:off x="6900000" y="1750000"/>
            <a:ext cx="5000000" cy="4800000"/>
          </a:xfrm>
        </p:spPr>
        <p:txBody>
          <a:bodyPr anchor="t">
            <a:normAutofit/>
          </a:bodyPr>
          <a:lstStyle/>
          <a:p>
            <a:pPr marL="0" indent="0">
              <a:lnSpc>
                <a:spcPct val="100000"/>
              </a:lnSpc>
              <a:buNone/>
            </a:pPr>
            <a:endParaRPr lang="it-IT" sz="2000" b="1" dirty="0">
              <a:latin typeface="Aptos Display"/>
            </a:endParaRPr>
          </a:p>
          <a:p>
            <a:pPr marL="0" indent="0">
              <a:lnSpc>
                <a:spcPct val="100000"/>
              </a:lnSpc>
              <a:buNone/>
            </a:pPr>
            <a:r>
              <a:rPr lang="it-IT" sz="2000" b="1" dirty="0">
                <a:latin typeface="Aptos Display"/>
              </a:rPr>
              <a:t>Insight principali:</a:t>
            </a:r>
          </a:p>
          <a:p>
            <a:pPr>
              <a:lnSpc>
                <a:spcPct val="100000"/>
              </a:lnSpc>
            </a:pPr>
            <a:endParaRPr lang="it-IT" sz="2000" b="1" dirty="0">
              <a:latin typeface="Aptos Display"/>
            </a:endParaRPr>
          </a:p>
          <a:p>
            <a:pPr marL="457200" indent="-457200">
              <a:lnSpc>
                <a:spcPct val="100000"/>
              </a:lnSpc>
              <a:buChar char="•"/>
            </a:pPr>
            <a:r>
              <a:rPr lang="it-IT" sz="2000" b="1" dirty="0">
                <a:latin typeface="Aptos Display"/>
              </a:rPr>
              <a:t>Nodi Hub:  </a:t>
            </a:r>
            <a:r>
              <a:rPr lang="it-IT" sz="2000" dirty="0">
                <a:latin typeface="Aptos Display"/>
              </a:rPr>
              <a:t>Nike e Adidas dominano il centro assorbendo le connessioni.</a:t>
            </a:r>
          </a:p>
          <a:p>
            <a:pPr marL="457200" indent="-457200">
              <a:lnSpc>
                <a:spcPct val="100000"/>
              </a:lnSpc>
              <a:buChar char="•"/>
            </a:pPr>
            <a:r>
              <a:rPr lang="it-IT" sz="2000" b="1" dirty="0">
                <a:latin typeface="Aptos Display"/>
              </a:rPr>
              <a:t>L'ecosistema streetwear </a:t>
            </a:r>
            <a:r>
              <a:rPr lang="it-IT" sz="2000" dirty="0">
                <a:latin typeface="Aptos Display"/>
              </a:rPr>
              <a:t>(Vans, Converse, Jordan, Puma) si lega a Nike e Adidas formando un </a:t>
            </a:r>
            <a:r>
              <a:rPr lang="it-IT" sz="2000" b="1" dirty="0">
                <a:latin typeface="Aptos Display"/>
              </a:rPr>
              <a:t>cluster denso </a:t>
            </a:r>
            <a:r>
              <a:rPr lang="it-IT" sz="2000" dirty="0">
                <a:latin typeface="Aptos Display"/>
              </a:rPr>
              <a:t>con Lift fino a 5.</a:t>
            </a:r>
          </a:p>
          <a:p>
            <a:pPr marL="457200" indent="-457200">
              <a:lnSpc>
                <a:spcPct val="100000"/>
              </a:lnSpc>
              <a:buChar char="•"/>
            </a:pPr>
            <a:r>
              <a:rPr lang="it-IT" sz="2000" b="1" dirty="0">
                <a:latin typeface="Aptos Display"/>
              </a:rPr>
              <a:t>Nodi periferici:</a:t>
            </a:r>
            <a:r>
              <a:rPr lang="it-IT" sz="2000" dirty="0">
                <a:latin typeface="Aptos Display"/>
              </a:rPr>
              <a:t> Brand di lusso e fast-fashion hanno basso supporto ma alta confidenza nelle rispettive nicchie.</a:t>
            </a:r>
          </a:p>
          <a:p>
            <a:pPr>
              <a:lnSpc>
                <a:spcPct val="100000"/>
              </a:lnSpc>
            </a:pPr>
            <a:endParaRPr lang="it-IT" sz="1700" dirty="0">
              <a:latin typeface="Aptos Display"/>
            </a:endParaRPr>
          </a:p>
        </p:txBody>
      </p:sp>
      <p:pic>
        <p:nvPicPr>
          <p:cNvPr id="6" name="Logo"/>
          <p:cNvPicPr>
            <a:picLocks noChangeAspect="1"/>
          </p:cNvPicPr>
          <p:nvPr/>
        </p:nvPicPr>
        <p:blipFill>
          <a:blip r:embed="rId3"/>
          <a:stretch>
            <a:fillRect/>
          </a:stretch>
        </p:blipFill>
        <p:spPr>
          <a:xfrm>
            <a:off x="9116786" y="207851"/>
            <a:ext cx="2656114" cy="1193176"/>
          </a:xfrm>
          <a:prstGeom prst="rect">
            <a:avLst/>
          </a:prstGeom>
        </p:spPr>
      </p:pic>
      <p:sp>
        <p:nvSpPr>
          <p:cNvPr id="999" name="PageNum43"/>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42</a:t>
            </a:r>
          </a:p>
        </p:txBody>
      </p:sp>
      <p:sp>
        <p:nvSpPr>
          <p:cNvPr id="7" name="CasellaDiTesto 6">
            <a:extLst>
              <a:ext uri="{FF2B5EF4-FFF2-40B4-BE49-F238E27FC236}">
                <a16:creationId xmlns:a16="http://schemas.microsoft.com/office/drawing/2014/main" id="{9A9A2222-84D4-D080-6D65-38E432614B6B}"/>
              </a:ext>
            </a:extLst>
          </p:cNvPr>
          <p:cNvSpPr txBox="1"/>
          <p:nvPr/>
        </p:nvSpPr>
        <p:spPr>
          <a:xfrm>
            <a:off x="536713" y="2123626"/>
            <a:ext cx="2251374" cy="646331"/>
          </a:xfrm>
          <a:prstGeom prst="rect">
            <a:avLst/>
          </a:prstGeom>
          <a:noFill/>
        </p:spPr>
        <p:txBody>
          <a:bodyPr wrap="square">
            <a:spAutoFit/>
          </a:bodyPr>
          <a:lstStyle/>
          <a:p>
            <a:pPr>
              <a:lnSpc>
                <a:spcPct val="100000"/>
              </a:lnSpc>
            </a:pPr>
            <a:r>
              <a:rPr lang="it-IT" sz="1800" dirty="0">
                <a:latin typeface="Aptos Display"/>
              </a:rPr>
              <a:t>Archi = implicazioni   Nodi = brand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0" y="141658"/>
            <a:ext cx="8938200" cy="1325563"/>
          </a:xfrm>
        </p:spPr>
        <p:txBody>
          <a:bodyPr>
            <a:normAutofit/>
          </a:bodyPr>
          <a:lstStyle/>
          <a:p>
            <a:r>
              <a:rPr lang="it-IT" sz="4000" dirty="0">
                <a:solidFill>
                  <a:schemeClr val="bg1"/>
                </a:solidFill>
                <a:latin typeface="Aptos Display"/>
              </a:rPr>
              <a:t>Analisi di Rete: Costruzione e Statistiche</a:t>
            </a:r>
          </a:p>
        </p:txBody>
      </p:sp>
      <p:sp>
        <p:nvSpPr>
          <p:cNvPr id="3" name="Content"/>
          <p:cNvSpPr>
            <a:spLocks noGrp="1"/>
          </p:cNvSpPr>
          <p:nvPr>
            <p:ph idx="1"/>
          </p:nvPr>
        </p:nvSpPr>
        <p:spPr>
          <a:xfrm>
            <a:off x="700000" y="1749999"/>
            <a:ext cx="5300000" cy="4966343"/>
          </a:xfrm>
        </p:spPr>
        <p:txBody>
          <a:bodyPr anchor="t">
            <a:normAutofit/>
          </a:bodyPr>
          <a:lstStyle/>
          <a:p>
            <a:pPr marL="0" indent="0">
              <a:lnSpc>
                <a:spcPct val="100000"/>
              </a:lnSpc>
              <a:buNone/>
            </a:pPr>
            <a:r>
              <a:rPr lang="en-US" sz="2000" b="1" dirty="0" err="1">
                <a:solidFill>
                  <a:srgbClr val="CC0000"/>
                </a:solidFill>
              </a:rPr>
              <a:t>Preparazione</a:t>
            </a:r>
            <a:r>
              <a:rPr lang="en-US" sz="2000" b="1" dirty="0">
                <a:solidFill>
                  <a:srgbClr val="CC0000"/>
                </a:solidFill>
              </a:rPr>
              <a:t> </a:t>
            </a:r>
            <a:r>
              <a:rPr lang="en-US" sz="2000" b="1" dirty="0" err="1">
                <a:solidFill>
                  <a:srgbClr val="CC0000"/>
                </a:solidFill>
              </a:rPr>
              <a:t>dei</a:t>
            </a:r>
            <a:r>
              <a:rPr lang="en-US" sz="2000" b="1" dirty="0">
                <a:solidFill>
                  <a:srgbClr val="CC0000"/>
                </a:solidFill>
              </a:rPr>
              <a:t> Dati - rete Brand × Brand:</a:t>
            </a:r>
            <a:endParaRPr lang="it-IT" sz="2000" b="1" dirty="0">
              <a:latin typeface="Aptos Display"/>
            </a:endParaRPr>
          </a:p>
          <a:p>
            <a:pPr marL="0" indent="0">
              <a:lnSpc>
                <a:spcPct val="100000"/>
              </a:lnSpc>
              <a:buNone/>
            </a:pPr>
            <a:r>
              <a:rPr lang="it-IT" sz="2000" b="1" dirty="0">
                <a:latin typeface="Aptos Display"/>
              </a:rPr>
              <a:t>1. Creazione Rete</a:t>
            </a:r>
          </a:p>
          <a:p>
            <a:pPr>
              <a:lnSpc>
                <a:spcPct val="100000"/>
              </a:lnSpc>
            </a:pPr>
            <a:r>
              <a:rPr lang="it-IT" sz="1700" dirty="0">
                <a:latin typeface="Aptos Display"/>
              </a:rPr>
              <a:t>Matrice di adiacenza Brand × Brand (simmetrica). Cella = 1 se la coppia è in almeno un armadio.</a:t>
            </a:r>
          </a:p>
          <a:p>
            <a:pPr>
              <a:lnSpc>
                <a:spcPct val="100000"/>
              </a:lnSpc>
            </a:pPr>
            <a:endParaRPr lang="it-IT" sz="1700" dirty="0">
              <a:latin typeface="Aptos Display"/>
            </a:endParaRPr>
          </a:p>
          <a:p>
            <a:pPr marL="0" indent="0">
              <a:lnSpc>
                <a:spcPct val="100000"/>
              </a:lnSpc>
              <a:buNone/>
            </a:pPr>
            <a:r>
              <a:rPr lang="it-IT" sz="2000" b="1" dirty="0">
                <a:latin typeface="Aptos Display"/>
              </a:rPr>
              <a:t>2. Statistiche descrittive</a:t>
            </a:r>
          </a:p>
          <a:p>
            <a:pPr>
              <a:lnSpc>
                <a:spcPct val="100000"/>
              </a:lnSpc>
            </a:pPr>
            <a:r>
              <a:rPr lang="it-IT" sz="1700" dirty="0">
                <a:latin typeface="Aptos Display"/>
              </a:rPr>
              <a:t>Nodi: 236 brand  |  Archi: 3354  |  Densità: 12.1%  |  Diametro: 4 gradi di separazione.</a:t>
            </a:r>
          </a:p>
          <a:p>
            <a:pPr>
              <a:lnSpc>
                <a:spcPct val="100000"/>
              </a:lnSpc>
            </a:pPr>
            <a:endParaRPr lang="it-IT" sz="1700" dirty="0">
              <a:latin typeface="Aptos Display"/>
            </a:endParaRPr>
          </a:p>
          <a:p>
            <a:pPr marL="0" indent="0">
              <a:lnSpc>
                <a:spcPct val="100000"/>
              </a:lnSpc>
              <a:buNone/>
            </a:pPr>
            <a:r>
              <a:rPr lang="it-IT" sz="2000" b="1" dirty="0">
                <a:latin typeface="Aptos Display"/>
              </a:rPr>
              <a:t>3. Centralità</a:t>
            </a:r>
          </a:p>
          <a:p>
            <a:pPr>
              <a:lnSpc>
                <a:spcPct val="100000"/>
              </a:lnSpc>
            </a:pPr>
            <a:r>
              <a:rPr lang="it-IT" sz="1700" b="1" dirty="0">
                <a:latin typeface="Aptos Display"/>
              </a:rPr>
              <a:t>Degree</a:t>
            </a:r>
            <a:r>
              <a:rPr lang="it-IT" sz="1700" dirty="0">
                <a:latin typeface="Aptos Display"/>
              </a:rPr>
              <a:t> (top 5): Nike, Adidas, Zara, Puma, H&amp;M.</a:t>
            </a:r>
          </a:p>
          <a:p>
            <a:pPr>
              <a:lnSpc>
                <a:spcPct val="100000"/>
              </a:lnSpc>
            </a:pPr>
            <a:r>
              <a:rPr lang="it-IT" sz="1700" b="1" dirty="0">
                <a:latin typeface="Aptos Display"/>
              </a:rPr>
              <a:t>Betweenness</a:t>
            </a:r>
            <a:r>
              <a:rPr lang="it-IT" sz="1700" dirty="0">
                <a:latin typeface="Aptos Display"/>
              </a:rPr>
              <a:t>: quasi tutti = 0, pochi brand fungono da ponte tra stili.</a:t>
            </a:r>
          </a:p>
        </p:txBody>
      </p:sp>
      <p:pic>
        <p:nvPicPr>
          <p:cNvPr id="10" name="Image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00000" y="1750000"/>
            <a:ext cx="5700000" cy="4800000"/>
          </a:xfrm>
          <a:prstGeom prst="rect">
            <a:avLst/>
          </a:prstGeom>
        </p:spPr>
      </p:pic>
      <p:pic>
        <p:nvPicPr>
          <p:cNvPr id="6" name="Logo"/>
          <p:cNvPicPr>
            <a:picLocks noChangeAspect="1"/>
          </p:cNvPicPr>
          <p:nvPr/>
        </p:nvPicPr>
        <p:blipFill>
          <a:blip r:embed="rId3"/>
          <a:stretch>
            <a:fillRect/>
          </a:stretch>
        </p:blipFill>
        <p:spPr>
          <a:xfrm>
            <a:off x="9116786" y="207851"/>
            <a:ext cx="2656114" cy="1193176"/>
          </a:xfrm>
          <a:prstGeom prst="rect">
            <a:avLst/>
          </a:prstGeom>
        </p:spPr>
      </p:pic>
      <p:sp>
        <p:nvSpPr>
          <p:cNvPr id="999" name="PageNum44"/>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26720" y="0"/>
            <a:ext cx="11338560" cy="914400"/>
          </a:xfrm>
          <a:prstGeom prst="rect">
            <a:avLst/>
          </a:prstGeom>
          <a:noFill/>
          <a:ln/>
        </p:spPr>
        <p:txBody>
          <a:bodyPr wrap="square" lIns="0" tIns="0" rIns="0" bIns="0" rtlCol="0" anchor="ctr"/>
          <a:lstStyle/>
          <a:p>
            <a:endParaRPr lang="en-US" sz="2933" dirty="0"/>
          </a:p>
        </p:txBody>
      </p:sp>
      <p:sp>
        <p:nvSpPr>
          <p:cNvPr id="6" name="Text 4"/>
          <p:cNvSpPr/>
          <p:nvPr/>
        </p:nvSpPr>
        <p:spPr>
          <a:xfrm>
            <a:off x="487680" y="1524000"/>
            <a:ext cx="10972800" cy="426720"/>
          </a:xfrm>
          <a:prstGeom prst="rect">
            <a:avLst/>
          </a:prstGeom>
          <a:noFill/>
          <a:ln/>
        </p:spPr>
        <p:txBody>
          <a:bodyPr wrap="square" rtlCol="0" anchor="ctr"/>
          <a:lstStyle/>
          <a:p>
            <a:r>
              <a:rPr lang="en-US" sz="2133" b="1" dirty="0">
                <a:solidFill>
                  <a:srgbClr val="333333"/>
                </a:solidFill>
              </a:rPr>
              <a:t>Dal modello base al modello </a:t>
            </a:r>
            <a:r>
              <a:rPr lang="en-US" sz="2133" b="1" dirty="0" err="1">
                <a:solidFill>
                  <a:srgbClr val="333333"/>
                </a:solidFill>
              </a:rPr>
              <a:t>definitivo</a:t>
            </a:r>
            <a:r>
              <a:rPr lang="en-US" sz="2133" b="1" dirty="0">
                <a:solidFill>
                  <a:srgbClr val="333333"/>
                </a:solidFill>
              </a:rPr>
              <a:t> (sui top-30 brand per frequenza)</a:t>
            </a:r>
            <a:endParaRPr lang="en-US" sz="2133" dirty="0"/>
          </a:p>
        </p:txBody>
      </p:sp>
      <p:sp>
        <p:nvSpPr>
          <p:cNvPr id="7" name="Shape 5"/>
          <p:cNvSpPr/>
          <p:nvPr/>
        </p:nvSpPr>
        <p:spPr>
          <a:xfrm>
            <a:off x="426720" y="2072640"/>
            <a:ext cx="11338560" cy="1036320"/>
          </a:xfrm>
          <a:prstGeom prst="rect">
            <a:avLst/>
          </a:prstGeom>
          <a:solidFill>
            <a:srgbClr val="F8F8F8"/>
          </a:solidFill>
          <a:ln w="12700">
            <a:solidFill>
              <a:srgbClr val="DDDDDD"/>
            </a:solidFill>
            <a:prstDash val="solid"/>
          </a:ln>
        </p:spPr>
        <p:txBody>
          <a:bodyPr/>
          <a:lstStyle/>
          <a:p>
            <a:endParaRPr lang="it-IT" sz="2400"/>
          </a:p>
        </p:txBody>
      </p:sp>
      <p:sp>
        <p:nvSpPr>
          <p:cNvPr id="8" name="Text 6"/>
          <p:cNvSpPr/>
          <p:nvPr/>
        </p:nvSpPr>
        <p:spPr>
          <a:xfrm>
            <a:off x="609600" y="2133600"/>
            <a:ext cx="4267200" cy="365760"/>
          </a:xfrm>
          <a:prstGeom prst="rect">
            <a:avLst/>
          </a:prstGeom>
          <a:noFill/>
          <a:ln/>
        </p:spPr>
        <p:txBody>
          <a:bodyPr wrap="square" rtlCol="0" anchor="ctr"/>
          <a:lstStyle/>
          <a:p>
            <a:r>
              <a:rPr lang="en-US" sz="1867" b="1" dirty="0">
                <a:solidFill>
                  <a:srgbClr val="333333"/>
                </a:solidFill>
              </a:rPr>
              <a:t>LM (Regressione Lineare)</a:t>
            </a:r>
            <a:endParaRPr lang="en-US" sz="1867" dirty="0"/>
          </a:p>
        </p:txBody>
      </p:sp>
      <p:sp>
        <p:nvSpPr>
          <p:cNvPr id="10" name="Text 8"/>
          <p:cNvSpPr/>
          <p:nvPr/>
        </p:nvSpPr>
        <p:spPr>
          <a:xfrm>
            <a:off x="609600" y="2651425"/>
            <a:ext cx="4267200" cy="243840"/>
          </a:xfrm>
          <a:prstGeom prst="rect">
            <a:avLst/>
          </a:prstGeom>
          <a:noFill/>
          <a:ln/>
        </p:spPr>
        <p:txBody>
          <a:bodyPr wrap="square" rtlCol="0" anchor="ctr"/>
          <a:lstStyle/>
          <a:p>
            <a:r>
              <a:rPr lang="en-US" sz="1600" dirty="0">
                <a:solidFill>
                  <a:srgbClr val="666666"/>
                </a:solidFill>
              </a:rPr>
              <a:t>Cov: Google Trends (media annuale)</a:t>
            </a:r>
            <a:endParaRPr lang="en-US" sz="1600" dirty="0"/>
          </a:p>
        </p:txBody>
      </p:sp>
      <p:sp>
        <p:nvSpPr>
          <p:cNvPr id="11" name="Shape 9"/>
          <p:cNvSpPr/>
          <p:nvPr/>
        </p:nvSpPr>
        <p:spPr>
          <a:xfrm>
            <a:off x="5200909" y="2194560"/>
            <a:ext cx="24384" cy="792480"/>
          </a:xfrm>
          <a:prstGeom prst="rect">
            <a:avLst/>
          </a:prstGeom>
          <a:solidFill>
            <a:srgbClr val="CCCCCC"/>
          </a:solidFill>
          <a:ln w="12700">
            <a:solidFill>
              <a:srgbClr val="CCCCCC"/>
            </a:solidFill>
            <a:prstDash val="solid"/>
          </a:ln>
        </p:spPr>
        <p:txBody>
          <a:bodyPr/>
          <a:lstStyle/>
          <a:p>
            <a:endParaRPr lang="it-IT" sz="2400"/>
          </a:p>
        </p:txBody>
      </p:sp>
      <p:sp>
        <p:nvSpPr>
          <p:cNvPr id="12" name="Text 10"/>
          <p:cNvSpPr/>
          <p:nvPr/>
        </p:nvSpPr>
        <p:spPr>
          <a:xfrm>
            <a:off x="5599176" y="2132661"/>
            <a:ext cx="6339840" cy="914400"/>
          </a:xfrm>
          <a:prstGeom prst="rect">
            <a:avLst/>
          </a:prstGeom>
          <a:noFill/>
          <a:ln/>
        </p:spPr>
        <p:txBody>
          <a:bodyPr wrap="square" rtlCol="0" anchor="ctr"/>
          <a:lstStyle/>
          <a:p>
            <a:pPr>
              <a:lnSpc>
                <a:spcPct val="125000"/>
              </a:lnSpc>
            </a:pPr>
            <a:r>
              <a:rPr lang="en-US" sz="1600" dirty="0">
                <a:solidFill>
                  <a:srgbClr val="333333"/>
                </a:solidFill>
              </a:rPr>
              <a:t>Covariata NON significativa. </a:t>
            </a:r>
            <a:endParaRPr lang="en-US" sz="1600" dirty="0"/>
          </a:p>
        </p:txBody>
      </p:sp>
      <p:sp>
        <p:nvSpPr>
          <p:cNvPr id="13" name="Shape 11"/>
          <p:cNvSpPr/>
          <p:nvPr/>
        </p:nvSpPr>
        <p:spPr>
          <a:xfrm>
            <a:off x="426720" y="3206496"/>
            <a:ext cx="11338560" cy="1036320"/>
          </a:xfrm>
          <a:prstGeom prst="rect">
            <a:avLst/>
          </a:prstGeom>
          <a:solidFill>
            <a:srgbClr val="F8F8F8"/>
          </a:solidFill>
          <a:ln w="12700">
            <a:solidFill>
              <a:srgbClr val="DDDDDD"/>
            </a:solidFill>
            <a:prstDash val="solid"/>
          </a:ln>
        </p:spPr>
        <p:txBody>
          <a:bodyPr/>
          <a:lstStyle/>
          <a:p>
            <a:endParaRPr lang="it-IT" sz="2400"/>
          </a:p>
        </p:txBody>
      </p:sp>
      <p:sp>
        <p:nvSpPr>
          <p:cNvPr id="14" name="Text 12"/>
          <p:cNvSpPr/>
          <p:nvPr/>
        </p:nvSpPr>
        <p:spPr>
          <a:xfrm>
            <a:off x="609600" y="3267456"/>
            <a:ext cx="4267200" cy="365760"/>
          </a:xfrm>
          <a:prstGeom prst="rect">
            <a:avLst/>
          </a:prstGeom>
          <a:noFill/>
          <a:ln/>
        </p:spPr>
        <p:txBody>
          <a:bodyPr wrap="square" rtlCol="0" anchor="ctr"/>
          <a:lstStyle/>
          <a:p>
            <a:r>
              <a:rPr lang="en-US" sz="1867" b="1" dirty="0">
                <a:solidFill>
                  <a:srgbClr val="333333"/>
                </a:solidFill>
              </a:rPr>
              <a:t>SRM (Social Relations Model)</a:t>
            </a:r>
            <a:endParaRPr lang="en-US" sz="1867" dirty="0"/>
          </a:p>
        </p:txBody>
      </p:sp>
      <p:sp>
        <p:nvSpPr>
          <p:cNvPr id="16" name="Text 14"/>
          <p:cNvSpPr/>
          <p:nvPr/>
        </p:nvSpPr>
        <p:spPr>
          <a:xfrm>
            <a:off x="579120" y="3816096"/>
            <a:ext cx="4267200" cy="243840"/>
          </a:xfrm>
          <a:prstGeom prst="rect">
            <a:avLst/>
          </a:prstGeom>
          <a:noFill/>
          <a:ln/>
        </p:spPr>
        <p:txBody>
          <a:bodyPr wrap="square" rtlCol="0" anchor="ctr"/>
          <a:lstStyle/>
          <a:p>
            <a:r>
              <a:rPr lang="en-US" sz="1600" dirty="0">
                <a:solidFill>
                  <a:srgbClr val="666666"/>
                </a:solidFill>
              </a:rPr>
              <a:t>Cov: </a:t>
            </a:r>
            <a:r>
              <a:rPr lang="en-US" sz="1600" dirty="0" err="1">
                <a:solidFill>
                  <a:srgbClr val="666666"/>
                </a:solidFill>
              </a:rPr>
              <a:t>Nessuna</a:t>
            </a:r>
            <a:r>
              <a:rPr lang="en-US" sz="1600" dirty="0">
                <a:solidFill>
                  <a:srgbClr val="666666"/>
                </a:solidFill>
              </a:rPr>
              <a:t> </a:t>
            </a:r>
            <a:r>
              <a:rPr lang="en-US" sz="1600" dirty="0" err="1">
                <a:solidFill>
                  <a:srgbClr val="666666"/>
                </a:solidFill>
              </a:rPr>
              <a:t>covariata</a:t>
            </a:r>
            <a:r>
              <a:rPr lang="en-US" sz="1600" dirty="0">
                <a:solidFill>
                  <a:srgbClr val="666666"/>
                </a:solidFill>
              </a:rPr>
              <a:t> (</a:t>
            </a:r>
            <a:r>
              <a:rPr lang="en-US" sz="1600" dirty="0" err="1">
                <a:solidFill>
                  <a:srgbClr val="666666"/>
                </a:solidFill>
              </a:rPr>
              <a:t>modello</a:t>
            </a:r>
            <a:r>
              <a:rPr lang="en-US" sz="1600" dirty="0">
                <a:solidFill>
                  <a:srgbClr val="666666"/>
                </a:solidFill>
              </a:rPr>
              <a:t> base)</a:t>
            </a:r>
            <a:endParaRPr lang="en-US" sz="1600" dirty="0"/>
          </a:p>
        </p:txBody>
      </p:sp>
      <p:sp>
        <p:nvSpPr>
          <p:cNvPr id="17" name="Shape 15"/>
          <p:cNvSpPr/>
          <p:nvPr/>
        </p:nvSpPr>
        <p:spPr>
          <a:xfrm>
            <a:off x="5200909" y="3328416"/>
            <a:ext cx="24384" cy="792480"/>
          </a:xfrm>
          <a:prstGeom prst="rect">
            <a:avLst/>
          </a:prstGeom>
          <a:solidFill>
            <a:srgbClr val="CCCCCC"/>
          </a:solidFill>
          <a:ln w="12700">
            <a:solidFill>
              <a:srgbClr val="CCCCCC"/>
            </a:solidFill>
            <a:prstDash val="solid"/>
          </a:ln>
        </p:spPr>
        <p:txBody>
          <a:bodyPr/>
          <a:lstStyle/>
          <a:p>
            <a:endParaRPr lang="it-IT" sz="2400"/>
          </a:p>
        </p:txBody>
      </p:sp>
      <p:sp>
        <p:nvSpPr>
          <p:cNvPr id="18" name="Text 16"/>
          <p:cNvSpPr/>
          <p:nvPr/>
        </p:nvSpPr>
        <p:spPr>
          <a:xfrm>
            <a:off x="5580888" y="3424176"/>
            <a:ext cx="6339840" cy="560832"/>
          </a:xfrm>
          <a:prstGeom prst="rect">
            <a:avLst/>
          </a:prstGeom>
          <a:noFill/>
          <a:ln/>
        </p:spPr>
        <p:txBody>
          <a:bodyPr wrap="square" rtlCol="0" anchor="ctr"/>
          <a:lstStyle/>
          <a:p>
            <a:pPr>
              <a:lnSpc>
                <a:spcPct val="125000"/>
              </a:lnSpc>
            </a:pPr>
            <a:r>
              <a:rPr lang="en-US" sz="1600" dirty="0">
                <a:solidFill>
                  <a:srgbClr val="333333"/>
                </a:solidFill>
              </a:rPr>
              <a:t>Modello di baseline puro. Cattura </a:t>
            </a:r>
            <a:r>
              <a:rPr lang="en-US" sz="1600" dirty="0" err="1">
                <a:solidFill>
                  <a:srgbClr val="333333"/>
                </a:solidFill>
              </a:rPr>
              <a:t>varianza</a:t>
            </a:r>
            <a:r>
              <a:rPr lang="en-US" sz="1600" dirty="0">
                <a:solidFill>
                  <a:srgbClr val="333333"/>
                </a:solidFill>
              </a:rPr>
              <a:t> </a:t>
            </a:r>
            <a:r>
              <a:rPr lang="en-US" sz="1600" dirty="0" err="1">
                <a:solidFill>
                  <a:srgbClr val="333333"/>
                </a:solidFill>
              </a:rPr>
              <a:t>diadica</a:t>
            </a:r>
            <a:r>
              <a:rPr lang="en-US" sz="1600" dirty="0">
                <a:solidFill>
                  <a:srgbClr val="333333"/>
                </a:solidFill>
              </a:rPr>
              <a:t>, </a:t>
            </a:r>
            <a:br>
              <a:rPr lang="en-US" sz="1600" dirty="0">
                <a:solidFill>
                  <a:srgbClr val="333333"/>
                </a:solidFill>
              </a:rPr>
            </a:br>
            <a:r>
              <a:rPr lang="en-US" sz="1600" dirty="0">
                <a:solidFill>
                  <a:srgbClr val="333333"/>
                </a:solidFill>
              </a:rPr>
              <a:t>ma non spiega i driver della co-occorrenza.</a:t>
            </a:r>
            <a:endParaRPr lang="en-US" sz="1600" dirty="0"/>
          </a:p>
        </p:txBody>
      </p:sp>
      <p:sp>
        <p:nvSpPr>
          <p:cNvPr id="19" name="Shape 17"/>
          <p:cNvSpPr/>
          <p:nvPr/>
        </p:nvSpPr>
        <p:spPr>
          <a:xfrm>
            <a:off x="426720" y="4340352"/>
            <a:ext cx="11338560" cy="1036320"/>
          </a:xfrm>
          <a:prstGeom prst="rect">
            <a:avLst/>
          </a:prstGeom>
          <a:solidFill>
            <a:srgbClr val="F8F8F8"/>
          </a:solidFill>
          <a:ln w="12700">
            <a:solidFill>
              <a:srgbClr val="DDDDDD"/>
            </a:solidFill>
            <a:prstDash val="solid"/>
          </a:ln>
        </p:spPr>
        <p:txBody>
          <a:bodyPr/>
          <a:lstStyle/>
          <a:p>
            <a:endParaRPr lang="it-IT" sz="2400"/>
          </a:p>
        </p:txBody>
      </p:sp>
      <p:sp>
        <p:nvSpPr>
          <p:cNvPr id="20" name="Text 18"/>
          <p:cNvSpPr/>
          <p:nvPr/>
        </p:nvSpPr>
        <p:spPr>
          <a:xfrm>
            <a:off x="609600" y="4401312"/>
            <a:ext cx="4450080" cy="365760"/>
          </a:xfrm>
          <a:prstGeom prst="rect">
            <a:avLst/>
          </a:prstGeom>
          <a:noFill/>
          <a:ln/>
        </p:spPr>
        <p:txBody>
          <a:bodyPr wrap="square" rtlCol="0" anchor="ctr"/>
          <a:lstStyle/>
          <a:p>
            <a:r>
              <a:rPr lang="en-US" sz="1867" b="1" dirty="0">
                <a:solidFill>
                  <a:srgbClr val="333333"/>
                </a:solidFill>
              </a:rPr>
              <a:t>SRRM (Social Relations Regression Model)</a:t>
            </a:r>
            <a:endParaRPr lang="en-US" sz="1867" dirty="0"/>
          </a:p>
        </p:txBody>
      </p:sp>
      <p:sp>
        <p:nvSpPr>
          <p:cNvPr id="22" name="Text 20"/>
          <p:cNvSpPr/>
          <p:nvPr/>
        </p:nvSpPr>
        <p:spPr>
          <a:xfrm>
            <a:off x="609600" y="4949952"/>
            <a:ext cx="4267200" cy="243840"/>
          </a:xfrm>
          <a:prstGeom prst="rect">
            <a:avLst/>
          </a:prstGeom>
          <a:noFill/>
          <a:ln/>
        </p:spPr>
        <p:txBody>
          <a:bodyPr wrap="square" rtlCol="0" anchor="ctr"/>
          <a:lstStyle/>
          <a:p>
            <a:r>
              <a:rPr lang="en-US" sz="1600" dirty="0">
                <a:solidFill>
                  <a:srgbClr val="666666"/>
                </a:solidFill>
              </a:rPr>
              <a:t>Cov: Google Trends (</a:t>
            </a:r>
            <a:r>
              <a:rPr lang="en-US" sz="1600" dirty="0" err="1">
                <a:solidFill>
                  <a:srgbClr val="666666"/>
                </a:solidFill>
              </a:rPr>
              <a:t>effetti</a:t>
            </a:r>
            <a:r>
              <a:rPr lang="en-US" sz="1600" dirty="0">
                <a:solidFill>
                  <a:srgbClr val="666666"/>
                </a:solidFill>
              </a:rPr>
              <a:t> </a:t>
            </a:r>
            <a:r>
              <a:rPr lang="en-US" sz="1600" dirty="0" err="1">
                <a:solidFill>
                  <a:srgbClr val="666666"/>
                </a:solidFill>
              </a:rPr>
              <a:t>dei</a:t>
            </a:r>
            <a:r>
              <a:rPr lang="en-US" sz="1600" dirty="0">
                <a:solidFill>
                  <a:srgbClr val="666666"/>
                </a:solidFill>
              </a:rPr>
              <a:t> </a:t>
            </a:r>
            <a:r>
              <a:rPr lang="en-US" sz="1600" dirty="0" err="1">
                <a:solidFill>
                  <a:srgbClr val="666666"/>
                </a:solidFill>
              </a:rPr>
              <a:t>singoli</a:t>
            </a:r>
            <a:r>
              <a:rPr lang="en-US" sz="1600" dirty="0">
                <a:solidFill>
                  <a:srgbClr val="666666"/>
                </a:solidFill>
              </a:rPr>
              <a:t> nodi)</a:t>
            </a:r>
            <a:endParaRPr lang="en-US" sz="1600" dirty="0"/>
          </a:p>
        </p:txBody>
      </p:sp>
      <p:sp>
        <p:nvSpPr>
          <p:cNvPr id="23" name="Shape 21"/>
          <p:cNvSpPr/>
          <p:nvPr/>
        </p:nvSpPr>
        <p:spPr>
          <a:xfrm>
            <a:off x="5200909" y="4462272"/>
            <a:ext cx="24384" cy="792480"/>
          </a:xfrm>
          <a:prstGeom prst="rect">
            <a:avLst/>
          </a:prstGeom>
          <a:solidFill>
            <a:srgbClr val="CCCCCC"/>
          </a:solidFill>
          <a:ln w="12700">
            <a:solidFill>
              <a:srgbClr val="CCCCCC"/>
            </a:solidFill>
            <a:prstDash val="solid"/>
          </a:ln>
        </p:spPr>
        <p:txBody>
          <a:bodyPr/>
          <a:lstStyle/>
          <a:p>
            <a:endParaRPr lang="it-IT" sz="2400"/>
          </a:p>
        </p:txBody>
      </p:sp>
      <p:sp>
        <p:nvSpPr>
          <p:cNvPr id="24" name="Text 22"/>
          <p:cNvSpPr/>
          <p:nvPr/>
        </p:nvSpPr>
        <p:spPr>
          <a:xfrm>
            <a:off x="5599176" y="4400373"/>
            <a:ext cx="6339840" cy="914400"/>
          </a:xfrm>
          <a:prstGeom prst="rect">
            <a:avLst/>
          </a:prstGeom>
          <a:noFill/>
          <a:ln/>
        </p:spPr>
        <p:txBody>
          <a:bodyPr wrap="square" rtlCol="0" anchor="ctr"/>
          <a:lstStyle/>
          <a:p>
            <a:pPr>
              <a:lnSpc>
                <a:spcPct val="125000"/>
              </a:lnSpc>
            </a:pPr>
            <a:r>
              <a:rPr lang="en-US" sz="1600" dirty="0">
                <a:solidFill>
                  <a:srgbClr val="333333"/>
                </a:solidFill>
              </a:rPr>
              <a:t>Covariata ancora non significativa.</a:t>
            </a:r>
            <a:endParaRPr lang="en-US" sz="1600" dirty="0"/>
          </a:p>
        </p:txBody>
      </p:sp>
      <p:sp>
        <p:nvSpPr>
          <p:cNvPr id="25" name="Shape 23"/>
          <p:cNvSpPr/>
          <p:nvPr/>
        </p:nvSpPr>
        <p:spPr>
          <a:xfrm>
            <a:off x="426720" y="5474208"/>
            <a:ext cx="11338560" cy="1036320"/>
          </a:xfrm>
          <a:prstGeom prst="rect">
            <a:avLst/>
          </a:prstGeom>
          <a:solidFill>
            <a:srgbClr val="FFF0F0"/>
          </a:solidFill>
          <a:ln w="25400">
            <a:solidFill>
              <a:srgbClr val="CC0000"/>
            </a:solidFill>
            <a:prstDash val="solid"/>
          </a:ln>
        </p:spPr>
        <p:txBody>
          <a:bodyPr/>
          <a:lstStyle/>
          <a:p>
            <a:endParaRPr lang="it-IT" sz="2400"/>
          </a:p>
        </p:txBody>
      </p:sp>
      <p:sp>
        <p:nvSpPr>
          <p:cNvPr id="26" name="Text 24"/>
          <p:cNvSpPr/>
          <p:nvPr/>
        </p:nvSpPr>
        <p:spPr>
          <a:xfrm>
            <a:off x="609600" y="5535168"/>
            <a:ext cx="4267200" cy="365760"/>
          </a:xfrm>
          <a:prstGeom prst="rect">
            <a:avLst/>
          </a:prstGeom>
          <a:noFill/>
          <a:ln/>
        </p:spPr>
        <p:txBody>
          <a:bodyPr wrap="square" rtlCol="0" anchor="ctr"/>
          <a:lstStyle/>
          <a:p>
            <a:r>
              <a:rPr lang="en-US" sz="1867" b="1" dirty="0">
                <a:solidFill>
                  <a:srgbClr val="CC0000"/>
                </a:solidFill>
              </a:rPr>
              <a:t>AME - R=2 ✓ MODELLO FINALE</a:t>
            </a:r>
            <a:endParaRPr lang="en-US" sz="1867" dirty="0"/>
          </a:p>
        </p:txBody>
      </p:sp>
      <p:sp>
        <p:nvSpPr>
          <p:cNvPr id="28" name="Text 26"/>
          <p:cNvSpPr/>
          <p:nvPr/>
        </p:nvSpPr>
        <p:spPr>
          <a:xfrm>
            <a:off x="621792" y="6004560"/>
            <a:ext cx="4267200" cy="243840"/>
          </a:xfrm>
          <a:prstGeom prst="rect">
            <a:avLst/>
          </a:prstGeom>
          <a:noFill/>
          <a:ln/>
        </p:spPr>
        <p:txBody>
          <a:bodyPr wrap="square" rtlCol="0" anchor="ctr"/>
          <a:lstStyle/>
          <a:p>
            <a:r>
              <a:rPr lang="en-US" sz="1600" dirty="0">
                <a:solidFill>
                  <a:srgbClr val="666666"/>
                </a:solidFill>
              </a:rPr>
              <a:t>Cov: Google Trends + 2 fattori latenti</a:t>
            </a:r>
            <a:endParaRPr lang="en-US" sz="1600" dirty="0"/>
          </a:p>
        </p:txBody>
      </p:sp>
      <p:sp>
        <p:nvSpPr>
          <p:cNvPr id="29" name="Shape 27"/>
          <p:cNvSpPr/>
          <p:nvPr/>
        </p:nvSpPr>
        <p:spPr>
          <a:xfrm>
            <a:off x="5200909" y="5596128"/>
            <a:ext cx="24384" cy="792480"/>
          </a:xfrm>
          <a:prstGeom prst="rect">
            <a:avLst/>
          </a:prstGeom>
          <a:solidFill>
            <a:srgbClr val="CCCCCC"/>
          </a:solidFill>
          <a:ln w="12700">
            <a:solidFill>
              <a:srgbClr val="CCCCCC"/>
            </a:solidFill>
            <a:prstDash val="solid"/>
          </a:ln>
        </p:spPr>
        <p:txBody>
          <a:bodyPr/>
          <a:lstStyle/>
          <a:p>
            <a:endParaRPr lang="it-IT" sz="2400"/>
          </a:p>
        </p:txBody>
      </p:sp>
      <p:sp>
        <p:nvSpPr>
          <p:cNvPr id="30" name="Text 28"/>
          <p:cNvSpPr/>
          <p:nvPr/>
        </p:nvSpPr>
        <p:spPr>
          <a:xfrm>
            <a:off x="5599176" y="5493099"/>
            <a:ext cx="6339840" cy="914400"/>
          </a:xfrm>
          <a:prstGeom prst="rect">
            <a:avLst/>
          </a:prstGeom>
          <a:noFill/>
          <a:ln/>
        </p:spPr>
        <p:txBody>
          <a:bodyPr wrap="square" rtlCol="0" anchor="ctr"/>
          <a:lstStyle/>
          <a:p>
            <a:pPr>
              <a:lnSpc>
                <a:spcPct val="125000"/>
              </a:lnSpc>
            </a:pPr>
            <a:r>
              <a:rPr lang="en-US" sz="1600" dirty="0">
                <a:solidFill>
                  <a:srgbClr val="333333"/>
                </a:solidFill>
              </a:rPr>
              <a:t>I fattori latenti catturano la </a:t>
            </a:r>
            <a:r>
              <a:rPr lang="en-US" sz="1600" dirty="0" err="1">
                <a:solidFill>
                  <a:srgbClr val="333333"/>
                </a:solidFill>
              </a:rPr>
              <a:t>struttura</a:t>
            </a:r>
            <a:r>
              <a:rPr lang="en-US" sz="1600" dirty="0">
                <a:solidFill>
                  <a:srgbClr val="333333"/>
                </a:solidFill>
              </a:rPr>
              <a:t> </a:t>
            </a:r>
            <a:r>
              <a:rPr lang="en-US" sz="1600" dirty="0" err="1">
                <a:solidFill>
                  <a:srgbClr val="333333"/>
                </a:solidFill>
              </a:rPr>
              <a:t>latente</a:t>
            </a:r>
            <a:r>
              <a:rPr lang="en-US" sz="1600" dirty="0">
                <a:solidFill>
                  <a:srgbClr val="333333"/>
                </a:solidFill>
              </a:rPr>
              <a:t> del </a:t>
            </a:r>
            <a:r>
              <a:rPr lang="en-US" sz="1600" dirty="0" err="1">
                <a:solidFill>
                  <a:srgbClr val="333333"/>
                </a:solidFill>
              </a:rPr>
              <a:t>mercato</a:t>
            </a:r>
            <a:r>
              <a:rPr lang="en-US" sz="1600" dirty="0">
                <a:solidFill>
                  <a:srgbClr val="333333"/>
                </a:solidFill>
              </a:rPr>
              <a:t> </a:t>
            </a:r>
            <a:br>
              <a:rPr lang="en-US" sz="1600" dirty="0">
                <a:solidFill>
                  <a:srgbClr val="333333"/>
                </a:solidFill>
              </a:rPr>
            </a:br>
            <a:r>
              <a:rPr lang="en-US" sz="1600" dirty="0">
                <a:solidFill>
                  <a:srgbClr val="333333"/>
                </a:solidFill>
              </a:rPr>
              <a:t>(e </a:t>
            </a:r>
            <a:r>
              <a:rPr lang="en-US" sz="1600" dirty="0" err="1">
                <a:solidFill>
                  <a:srgbClr val="333333"/>
                </a:solidFill>
              </a:rPr>
              <a:t>quindi</a:t>
            </a:r>
            <a:r>
              <a:rPr lang="en-US" sz="1600" dirty="0">
                <a:solidFill>
                  <a:srgbClr val="333333"/>
                </a:solidFill>
              </a:rPr>
              <a:t> </a:t>
            </a:r>
            <a:r>
              <a:rPr lang="en-US" sz="1600" dirty="0" err="1">
                <a:solidFill>
                  <a:srgbClr val="333333"/>
                </a:solidFill>
              </a:rPr>
              <a:t>anche</a:t>
            </a:r>
            <a:r>
              <a:rPr lang="en-US" sz="1600" dirty="0">
                <a:solidFill>
                  <a:srgbClr val="333333"/>
                </a:solidFill>
              </a:rPr>
              <a:t> la </a:t>
            </a:r>
            <a:r>
              <a:rPr lang="en-US" sz="1600" dirty="0" err="1">
                <a:solidFill>
                  <a:srgbClr val="333333"/>
                </a:solidFill>
              </a:rPr>
              <a:t>dipendenza</a:t>
            </a:r>
            <a:r>
              <a:rPr lang="en-US" sz="1600" dirty="0">
                <a:solidFill>
                  <a:srgbClr val="333333"/>
                </a:solidFill>
              </a:rPr>
              <a:t> </a:t>
            </a:r>
            <a:r>
              <a:rPr lang="en-US" sz="1600" dirty="0" err="1">
                <a:solidFill>
                  <a:srgbClr val="333333"/>
                </a:solidFill>
              </a:rPr>
              <a:t>triadica</a:t>
            </a:r>
            <a:r>
              <a:rPr lang="en-US" sz="1600" dirty="0">
                <a:solidFill>
                  <a:srgbClr val="333333"/>
                </a:solidFill>
              </a:rPr>
              <a:t>). </a:t>
            </a:r>
            <a:br>
              <a:rPr lang="en-US" sz="1600" dirty="0">
                <a:solidFill>
                  <a:srgbClr val="333333"/>
                </a:solidFill>
              </a:rPr>
            </a:br>
            <a:r>
              <a:rPr lang="en-US" sz="1600" dirty="0" err="1">
                <a:solidFill>
                  <a:srgbClr val="333333"/>
                </a:solidFill>
              </a:rPr>
              <a:t>Mappa</a:t>
            </a:r>
            <a:r>
              <a:rPr lang="en-US" sz="1600" dirty="0">
                <a:solidFill>
                  <a:srgbClr val="333333"/>
                </a:solidFill>
              </a:rPr>
              <a:t> 2D interpretabile. Modello scelto per GoF e leggibilità.</a:t>
            </a:r>
            <a:endParaRPr lang="en-US" sz="1600" dirty="0"/>
          </a:p>
        </p:txBody>
      </p:sp>
      <p:sp>
        <p:nvSpPr>
          <p:cNvPr id="4" name="Rettangolo 3">
            <a:extLst>
              <a:ext uri="{FF2B5EF4-FFF2-40B4-BE49-F238E27FC236}">
                <a16:creationId xmlns:a16="http://schemas.microsoft.com/office/drawing/2014/main" id="{4E9D989D-FB61-46FD-925C-5000D3B9C1F9}"/>
              </a:ext>
            </a:extLst>
          </p:cNvPr>
          <p:cNvSpPr/>
          <p:nvPr/>
        </p:nvSpPr>
        <p:spPr>
          <a:xfrm>
            <a:off x="0" y="-25091"/>
            <a:ext cx="12192000" cy="1506420"/>
          </a:xfrm>
          <a:prstGeom prst="rect">
            <a:avLst/>
          </a:prstGeom>
          <a:solidFill>
            <a:srgbClr val="B20E10"/>
          </a:solidFill>
          <a:ln>
            <a:solidFill>
              <a:srgbClr val="B20E10"/>
            </a:solidFill>
          </a:ln>
        </p:spPr>
        <p:txBody>
          <a:bodyPr rtlCol="0" anchor="ctr"/>
          <a:lstStyle/>
          <a:p>
            <a:r>
              <a:rPr lang="en-US" sz="3600" b="1" dirty="0" err="1">
                <a:solidFill>
                  <a:srgbClr val="FFFFFF"/>
                </a:solidFill>
              </a:rPr>
              <a:t>Analisi</a:t>
            </a:r>
            <a:r>
              <a:rPr lang="en-US" sz="3600" b="1" dirty="0">
                <a:solidFill>
                  <a:srgbClr val="FFFFFF"/>
                </a:solidFill>
              </a:rPr>
              <a:t> di Rete: </a:t>
            </a:r>
            <a:r>
              <a:rPr lang="en-US" sz="3600" b="1" dirty="0" err="1">
                <a:solidFill>
                  <a:srgbClr val="FFFFFF"/>
                </a:solidFill>
              </a:rPr>
              <a:t>Percorso</a:t>
            </a:r>
            <a:r>
              <a:rPr lang="en-US" sz="3600" b="1" dirty="0">
                <a:solidFill>
                  <a:srgbClr val="FFFFFF"/>
                </a:solidFill>
              </a:rPr>
              <a:t> di </a:t>
            </a:r>
            <a:r>
              <a:rPr lang="en-US" sz="3600" b="1" dirty="0" err="1">
                <a:solidFill>
                  <a:srgbClr val="FFFFFF"/>
                </a:solidFill>
              </a:rPr>
              <a:t>Modellazione</a:t>
            </a:r>
            <a:endParaRPr lang="en-US" sz="3600" dirty="0"/>
          </a:p>
        </p:txBody>
      </p:sp>
      <p:pic>
        <p:nvPicPr>
          <p:cNvPr id="5" name="Logo">
            <a:extLst>
              <a:ext uri="{FF2B5EF4-FFF2-40B4-BE49-F238E27FC236}">
                <a16:creationId xmlns:a16="http://schemas.microsoft.com/office/drawing/2014/main" id="{0DBF9116-7FF8-F567-38CD-C50FFF854E5B}"/>
              </a:ext>
            </a:extLst>
          </p:cNvPr>
          <p:cNvPicPr>
            <a:picLocks noChangeAspect="1"/>
          </p:cNvPicPr>
          <p:nvPr/>
        </p:nvPicPr>
        <p:blipFill>
          <a:blip r:embed="rId3"/>
          <a:stretch>
            <a:fillRect/>
          </a:stretch>
        </p:blipFill>
        <p:spPr>
          <a:xfrm>
            <a:off x="9322526" y="170688"/>
            <a:ext cx="2656114" cy="119317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401027"/>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0" y="141658"/>
            <a:ext cx="9322904" cy="1259369"/>
          </a:xfrm>
        </p:spPr>
        <p:txBody>
          <a:bodyPr>
            <a:normAutofit/>
          </a:bodyPr>
          <a:lstStyle/>
          <a:p>
            <a:r>
              <a:rPr lang="it-IT" sz="4000" dirty="0">
                <a:solidFill>
                  <a:schemeClr val="bg1"/>
                </a:solidFill>
                <a:latin typeface="Aptos Display"/>
              </a:rPr>
              <a:t>Analisi di Rete: La Mappa Latente dei Brand</a:t>
            </a:r>
          </a:p>
        </p:txBody>
      </p:sp>
      <p:sp>
        <p:nvSpPr>
          <p:cNvPr id="3" name="Content"/>
          <p:cNvSpPr>
            <a:spLocks noGrp="1"/>
          </p:cNvSpPr>
          <p:nvPr>
            <p:ph idx="1"/>
          </p:nvPr>
        </p:nvSpPr>
        <p:spPr>
          <a:xfrm>
            <a:off x="6700000" y="1650001"/>
            <a:ext cx="5200000" cy="5107999"/>
          </a:xfrm>
        </p:spPr>
        <p:txBody>
          <a:bodyPr anchor="t">
            <a:normAutofit/>
          </a:bodyPr>
          <a:lstStyle/>
          <a:p>
            <a:pPr marL="0" indent="0">
              <a:lnSpc>
                <a:spcPct val="100000"/>
              </a:lnSpc>
              <a:buNone/>
            </a:pPr>
            <a:r>
              <a:rPr lang="it-IT" sz="1600" b="1" dirty="0">
                <a:latin typeface="Aptos Display"/>
              </a:rPr>
              <a:t>Lettura della Mappa:</a:t>
            </a:r>
          </a:p>
          <a:p>
            <a:pPr marL="0" indent="0">
              <a:lnSpc>
                <a:spcPct val="100000"/>
              </a:lnSpc>
              <a:buNone/>
            </a:pPr>
            <a:r>
              <a:rPr lang="it-IT" sz="1600" b="1" dirty="0">
                <a:latin typeface="Aptos Display"/>
              </a:rPr>
              <a:t>Cluster Sportswear (centro)</a:t>
            </a:r>
          </a:p>
          <a:p>
            <a:pPr>
              <a:lnSpc>
                <a:spcPct val="100000"/>
              </a:lnSpc>
            </a:pPr>
            <a:r>
              <a:rPr lang="it-IT" sz="1600" dirty="0">
                <a:latin typeface="Aptos Display"/>
              </a:rPr>
              <a:t>Nike, Adidas, Levi's, Guess </a:t>
            </a:r>
          </a:p>
          <a:p>
            <a:r>
              <a:rPr lang="it-IT" sz="1600" dirty="0">
                <a:latin typeface="Aptos Display"/>
              </a:rPr>
              <a:t> </a:t>
            </a:r>
            <a:r>
              <a:rPr lang="it-IT" sz="1600" dirty="0">
                <a:solidFill>
                  <a:srgbClr val="333333"/>
                </a:solidFill>
              </a:rPr>
              <a:t>Baricentro della rete. Brand "Jolly": si abbinano a qualsiasi stile e tengono unita l'intera piattaforma </a:t>
            </a:r>
            <a:r>
              <a:rPr lang="it-IT" sz="1600" dirty="0" err="1">
                <a:solidFill>
                  <a:srgbClr val="333333"/>
                </a:solidFill>
              </a:rPr>
              <a:t>Vinted</a:t>
            </a:r>
            <a:r>
              <a:rPr lang="it-IT" sz="1600" dirty="0">
                <a:solidFill>
                  <a:srgbClr val="333333"/>
                </a:solidFill>
              </a:rPr>
              <a:t>, fungendo da "ponti" gravitazionali. </a:t>
            </a:r>
            <a:endParaRPr lang="en-US" sz="1600" dirty="0"/>
          </a:p>
          <a:p>
            <a:pPr marL="0" indent="0">
              <a:lnSpc>
                <a:spcPct val="100000"/>
              </a:lnSpc>
              <a:buNone/>
            </a:pPr>
            <a:r>
              <a:rPr lang="it-IT" sz="1600" b="1" dirty="0">
                <a:latin typeface="Aptos Display"/>
              </a:rPr>
              <a:t>Fast Fashion (a destra)</a:t>
            </a:r>
          </a:p>
          <a:p>
            <a:pPr>
              <a:lnSpc>
                <a:spcPct val="100000"/>
              </a:lnSpc>
            </a:pPr>
            <a:r>
              <a:rPr lang="it-IT" sz="1600" dirty="0">
                <a:latin typeface="Aptos Display"/>
              </a:rPr>
              <a:t>Zara, Shein, H&amp;M, </a:t>
            </a:r>
            <a:r>
              <a:rPr lang="it-IT" sz="1600" dirty="0" err="1">
                <a:latin typeface="Aptos Display"/>
              </a:rPr>
              <a:t>Bershka</a:t>
            </a:r>
            <a:r>
              <a:rPr lang="it-IT" sz="1600" dirty="0">
                <a:latin typeface="Aptos Display"/>
              </a:rPr>
              <a:t>, Stradivarius </a:t>
            </a:r>
          </a:p>
          <a:p>
            <a:pPr>
              <a:lnSpc>
                <a:spcPct val="100000"/>
              </a:lnSpc>
            </a:pPr>
            <a:r>
              <a:rPr lang="it-IT" sz="1600" dirty="0">
                <a:solidFill>
                  <a:srgbClr val="333333"/>
                </a:solidFill>
              </a:rPr>
              <a:t>Trend rapidi e accessibilità economica. </a:t>
            </a:r>
            <a:br>
              <a:rPr lang="it-IT" sz="1600" dirty="0">
                <a:solidFill>
                  <a:srgbClr val="333333"/>
                </a:solidFill>
              </a:rPr>
            </a:br>
            <a:r>
              <a:rPr lang="it-IT" sz="1600" dirty="0">
                <a:solidFill>
                  <a:srgbClr val="333333"/>
                </a:solidFill>
              </a:rPr>
              <a:t>Armadio di chi cambia spesso outfit, con zero incroci verso il mondo premium sportivo.</a:t>
            </a:r>
            <a:endParaRPr lang="en-US" sz="1600" dirty="0"/>
          </a:p>
          <a:p>
            <a:pPr>
              <a:lnSpc>
                <a:spcPct val="100000"/>
              </a:lnSpc>
            </a:pPr>
            <a:r>
              <a:rPr lang="it-IT" sz="1600" b="1" dirty="0">
                <a:latin typeface="Aptos Display"/>
              </a:rPr>
              <a:t>Hype / Streetwear (a sinistra)</a:t>
            </a:r>
          </a:p>
          <a:p>
            <a:pPr>
              <a:lnSpc>
                <a:spcPct val="100000"/>
              </a:lnSpc>
            </a:pPr>
            <a:r>
              <a:rPr lang="it-IT" sz="1600" dirty="0">
                <a:latin typeface="Aptos Display"/>
              </a:rPr>
              <a:t>Autry, Asics, Saucony, Jordan</a:t>
            </a:r>
          </a:p>
          <a:p>
            <a:pPr>
              <a:lnSpc>
                <a:spcPct val="100000"/>
              </a:lnSpc>
            </a:pPr>
            <a:r>
              <a:rPr lang="en-US" sz="1600" dirty="0">
                <a:solidFill>
                  <a:srgbClr val="333333"/>
                </a:solidFill>
              </a:rPr>
              <a:t>N</a:t>
            </a:r>
            <a:r>
              <a:rPr lang="it-IT" sz="1600" dirty="0" err="1"/>
              <a:t>icchie</a:t>
            </a:r>
            <a:r>
              <a:rPr lang="it-IT" sz="1600" dirty="0"/>
              <a:t> </a:t>
            </a:r>
            <a:r>
              <a:rPr lang="it-IT" sz="1600" dirty="0" err="1"/>
              <a:t>sneakerhead</a:t>
            </a:r>
            <a:r>
              <a:rPr lang="it-IT" sz="1600" dirty="0"/>
              <a:t> fidelizzate e ad alto budget. Posizionate agli antipodi esatti del fast-fashion, dimostrando un'incompatibilità stilistica netta.</a:t>
            </a:r>
            <a:endParaRPr lang="en-US" sz="1600" dirty="0"/>
          </a:p>
          <a:p>
            <a:pPr>
              <a:lnSpc>
                <a:spcPct val="100000"/>
              </a:lnSpc>
            </a:pPr>
            <a:endParaRPr lang="it-IT" sz="1600" dirty="0">
              <a:latin typeface="Aptos Display"/>
            </a:endParaRPr>
          </a:p>
        </p:txBody>
      </p:sp>
      <p:pic>
        <p:nvPicPr>
          <p:cNvPr id="6" name="Logo"/>
          <p:cNvPicPr>
            <a:picLocks noChangeAspect="1"/>
          </p:cNvPicPr>
          <p:nvPr/>
        </p:nvPicPr>
        <p:blipFill>
          <a:blip r:embed="rId2"/>
          <a:stretch>
            <a:fillRect/>
          </a:stretch>
        </p:blipFill>
        <p:spPr>
          <a:xfrm>
            <a:off x="9116786" y="207851"/>
            <a:ext cx="2656114" cy="1193176"/>
          </a:xfrm>
          <a:prstGeom prst="rect">
            <a:avLst/>
          </a:prstGeom>
        </p:spPr>
      </p:pic>
      <p:sp>
        <p:nvSpPr>
          <p:cNvPr id="999" name="PageNum46"/>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45</a:t>
            </a:r>
          </a:p>
        </p:txBody>
      </p:sp>
      <p:pic>
        <p:nvPicPr>
          <p:cNvPr id="5" name="Image 0">
            <a:extLst>
              <a:ext uri="{FF2B5EF4-FFF2-40B4-BE49-F238E27FC236}">
                <a16:creationId xmlns:a16="http://schemas.microsoft.com/office/drawing/2014/main" id="{522ED585-B249-FFC2-B559-81893C240719}"/>
              </a:ext>
            </a:extLst>
          </p:cNvPr>
          <p:cNvPicPr>
            <a:picLocks noChangeAspect="1"/>
          </p:cNvPicPr>
          <p:nvPr/>
        </p:nvPicPr>
        <p:blipFill>
          <a:blip r:embed="rId3"/>
          <a:srcRect t="7988" b="3411"/>
          <a:stretch>
            <a:fillRect/>
          </a:stretch>
        </p:blipFill>
        <p:spPr>
          <a:xfrm>
            <a:off x="0" y="1542685"/>
            <a:ext cx="6700000" cy="531531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FC07-9D65-A574-E1F7-29775229161A}"/>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11E8AC2B-6EDB-8056-13E3-A95A3304CA35}"/>
              </a:ext>
            </a:extLst>
          </p:cNvPr>
          <p:cNvSpPr>
            <a:spLocks noGrp="1"/>
          </p:cNvSpPr>
          <p:nvPr>
            <p:ph type="subTitle" idx="1"/>
          </p:nvPr>
        </p:nvSpPr>
        <p:spPr/>
        <p:txBody>
          <a:bodyPr/>
          <a:lstStyle/>
          <a:p>
            <a:endParaRPr lang="it-IT"/>
          </a:p>
        </p:txBody>
      </p:sp>
      <p:sp>
        <p:nvSpPr>
          <p:cNvPr id="8" name="Rettangolo 7">
            <a:extLst>
              <a:ext uri="{FF2B5EF4-FFF2-40B4-BE49-F238E27FC236}">
                <a16:creationId xmlns:a16="http://schemas.microsoft.com/office/drawing/2014/main" id="{80B0ADF1-7540-D354-DFF1-A26E3C9BDCD2}"/>
              </a:ext>
            </a:extLst>
          </p:cNvPr>
          <p:cNvSpPr/>
          <p:nvPr/>
        </p:nvSpPr>
        <p:spPr>
          <a:xfrm>
            <a:off x="0" y="-34390"/>
            <a:ext cx="12192000" cy="6892390"/>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9" name="CasellaDiTesto 48">
            <a:extLst>
              <a:ext uri="{FF2B5EF4-FFF2-40B4-BE49-F238E27FC236}">
                <a16:creationId xmlns:a16="http://schemas.microsoft.com/office/drawing/2014/main" id="{90138A64-B4E5-78CF-975C-2DDED6988154}"/>
              </a:ext>
            </a:extLst>
          </p:cNvPr>
          <p:cNvSpPr txBox="1"/>
          <p:nvPr/>
        </p:nvSpPr>
        <p:spPr>
          <a:xfrm>
            <a:off x="1075261" y="2442309"/>
            <a:ext cx="10041477" cy="1015663"/>
          </a:xfrm>
          <a:prstGeom prst="rect">
            <a:avLst/>
          </a:prstGeom>
          <a:noFill/>
        </p:spPr>
        <p:txBody>
          <a:bodyPr wrap="square" rtlCol="0">
            <a:spAutoFit/>
          </a:bodyPr>
          <a:lstStyle/>
          <a:p>
            <a:pPr algn="ctr"/>
            <a:r>
              <a:rPr lang="it-IT" sz="6000" dirty="0">
                <a:solidFill>
                  <a:schemeClr val="bg1"/>
                </a:solidFill>
              </a:rPr>
              <a:t>Segmentazione dei prodotti</a:t>
            </a:r>
          </a:p>
        </p:txBody>
      </p:sp>
      <p:sp>
        <p:nvSpPr>
          <p:cNvPr id="999" name="PageNum37"/>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46</a:t>
            </a:r>
          </a:p>
        </p:txBody>
      </p:sp>
    </p:spTree>
    <p:extLst>
      <p:ext uri="{BB962C8B-B14F-4D97-AF65-F5344CB8AC3E}">
        <p14:creationId xmlns:p14="http://schemas.microsoft.com/office/powerpoint/2010/main" val="3719885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D47F1-508B-E46F-E4DD-E22309825969}"/>
            </a:ext>
          </a:extLst>
        </p:cNvPr>
        <p:cNvGrpSpPr/>
        <p:nvPr/>
      </p:nvGrpSpPr>
      <p:grpSpPr>
        <a:xfrm>
          <a:off x="0" y="0"/>
          <a:ext cx="0" cy="0"/>
          <a:chOff x="0" y="0"/>
          <a:chExt cx="0" cy="0"/>
        </a:xfrm>
      </p:grpSpPr>
      <p:sp>
        <p:nvSpPr>
          <p:cNvPr id="4" name="Rettangolo 3"/>
          <p:cNvSpPr/>
          <p:nvPr/>
        </p:nvSpPr>
        <p:spPr>
          <a:xfrm>
            <a:off x="0" y="-10328"/>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00" name="TitoloP1"/>
          <p:cNvSpPr>
            <a:spLocks noGrp="1"/>
          </p:cNvSpPr>
          <p:nvPr>
            <p:ph type="title"/>
          </p:nvPr>
        </p:nvSpPr>
        <p:spPr>
          <a:xfrm>
            <a:off x="838200" y="141658"/>
            <a:ext cx="8100000" cy="1325563"/>
          </a:xfrm>
        </p:spPr>
        <p:txBody>
          <a:bodyPr>
            <a:normAutofit/>
          </a:bodyPr>
          <a:lstStyle/>
          <a:p>
            <a:r>
              <a:rPr lang="it-IT" dirty="0">
                <a:solidFill>
                  <a:schemeClr val="bg1"/>
                </a:solidFill>
              </a:rPr>
              <a:t>Segmentazione dei prodotti</a:t>
            </a:r>
          </a:p>
        </p:txBody>
      </p:sp>
      <p:pic>
        <p:nvPicPr>
          <p:cNvPr id="201" name="Logo"/>
          <p:cNvPicPr>
            <a:picLocks noChangeAspect="1"/>
          </p:cNvPicPr>
          <p:nvPr/>
        </p:nvPicPr>
        <p:blipFill>
          <a:blip r:embed="rId2"/>
          <a:stretch>
            <a:fillRect/>
          </a:stretch>
        </p:blipFill>
        <p:spPr>
          <a:xfrm>
            <a:off x="9116786" y="207851"/>
            <a:ext cx="2656114" cy="1193176"/>
          </a:xfrm>
          <a:prstGeom prst="rect">
            <a:avLst/>
          </a:prstGeom>
        </p:spPr>
      </p:pic>
      <p:sp>
        <p:nvSpPr>
          <p:cNvPr id="999" name="PageNum48"/>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48</a:t>
            </a:r>
          </a:p>
        </p:txBody>
      </p:sp>
      <p:sp>
        <p:nvSpPr>
          <p:cNvPr id="2" name="Text 2">
            <a:extLst>
              <a:ext uri="{FF2B5EF4-FFF2-40B4-BE49-F238E27FC236}">
                <a16:creationId xmlns:a16="http://schemas.microsoft.com/office/drawing/2014/main" id="{C7F4C627-AEEE-B500-A32E-E3E087763C6D}"/>
              </a:ext>
            </a:extLst>
          </p:cNvPr>
          <p:cNvSpPr/>
          <p:nvPr/>
        </p:nvSpPr>
        <p:spPr>
          <a:xfrm>
            <a:off x="658245" y="1695020"/>
            <a:ext cx="10972800" cy="430696"/>
          </a:xfrm>
          <a:prstGeom prst="rect">
            <a:avLst/>
          </a:prstGeom>
          <a:noFill/>
          <a:ln/>
        </p:spPr>
        <p:txBody>
          <a:bodyPr wrap="square" rtlCol="0" anchor="ctr"/>
          <a:lstStyle/>
          <a:p>
            <a:pPr marL="0" indent="0">
              <a:buNone/>
            </a:pPr>
            <a:r>
              <a:rPr lang="en-US" sz="1550" b="1" dirty="0" err="1">
                <a:solidFill>
                  <a:srgbClr val="B20E10"/>
                </a:solidFill>
              </a:rPr>
              <a:t>Struttura</a:t>
            </a:r>
            <a:r>
              <a:rPr lang="en-US" sz="1550" b="1" dirty="0">
                <a:solidFill>
                  <a:srgbClr val="B20E10"/>
                </a:solidFill>
              </a:rPr>
              <a:t> </a:t>
            </a:r>
            <a:r>
              <a:rPr lang="en-US" sz="1550" b="1" dirty="0" err="1">
                <a:solidFill>
                  <a:srgbClr val="B20E10"/>
                </a:solidFill>
              </a:rPr>
              <a:t>dei</a:t>
            </a:r>
            <a:r>
              <a:rPr lang="en-US" sz="1550" b="1" dirty="0">
                <a:solidFill>
                  <a:srgbClr val="B20E10"/>
                </a:solidFill>
              </a:rPr>
              <a:t> Dati</a:t>
            </a:r>
            <a:endParaRPr lang="en-US" sz="1550" dirty="0"/>
          </a:p>
        </p:txBody>
      </p:sp>
      <p:sp>
        <p:nvSpPr>
          <p:cNvPr id="20" name="Shape 18">
            <a:extLst>
              <a:ext uri="{FF2B5EF4-FFF2-40B4-BE49-F238E27FC236}">
                <a16:creationId xmlns:a16="http://schemas.microsoft.com/office/drawing/2014/main" id="{5E816604-7593-3A7A-66A2-3A77150FC1B0}"/>
              </a:ext>
            </a:extLst>
          </p:cNvPr>
          <p:cNvSpPr/>
          <p:nvPr/>
        </p:nvSpPr>
        <p:spPr>
          <a:xfrm>
            <a:off x="7686446" y="1957889"/>
            <a:ext cx="2438400" cy="915231"/>
          </a:xfrm>
          <a:prstGeom prst="rect">
            <a:avLst/>
          </a:prstGeom>
          <a:solidFill>
            <a:srgbClr val="F8F8F8"/>
          </a:solidFill>
          <a:ln w="12700">
            <a:solidFill>
              <a:srgbClr val="DDDDDD"/>
            </a:solidFill>
            <a:prstDash val="solid"/>
          </a:ln>
        </p:spPr>
        <p:txBody>
          <a:bodyPr/>
          <a:lstStyle/>
          <a:p>
            <a:endParaRPr lang="it-IT"/>
          </a:p>
        </p:txBody>
      </p:sp>
      <p:sp>
        <p:nvSpPr>
          <p:cNvPr id="21" name="Text 19">
            <a:extLst>
              <a:ext uri="{FF2B5EF4-FFF2-40B4-BE49-F238E27FC236}">
                <a16:creationId xmlns:a16="http://schemas.microsoft.com/office/drawing/2014/main" id="{79D19B86-8281-AA6F-8468-6770E1BE6863}"/>
              </a:ext>
            </a:extLst>
          </p:cNvPr>
          <p:cNvSpPr/>
          <p:nvPr/>
        </p:nvSpPr>
        <p:spPr>
          <a:xfrm>
            <a:off x="7686446" y="1877133"/>
            <a:ext cx="2438400" cy="538371"/>
          </a:xfrm>
          <a:prstGeom prst="rect">
            <a:avLst/>
          </a:prstGeom>
          <a:noFill/>
          <a:ln/>
        </p:spPr>
        <p:txBody>
          <a:bodyPr wrap="square" lIns="0" tIns="0" rIns="0" bIns="0" rtlCol="0" anchor="b"/>
          <a:lstStyle/>
          <a:p>
            <a:pPr marL="0" indent="0" algn="ctr">
              <a:buNone/>
            </a:pPr>
            <a:r>
              <a:rPr lang="en-US" sz="2510" b="1" dirty="0">
                <a:solidFill>
                  <a:srgbClr val="B20E10"/>
                </a:solidFill>
              </a:rPr>
              <a:t>1912</a:t>
            </a:r>
            <a:endParaRPr lang="en-US" sz="2510" dirty="0"/>
          </a:p>
        </p:txBody>
      </p:sp>
      <p:sp>
        <p:nvSpPr>
          <p:cNvPr id="22" name="Text 20">
            <a:extLst>
              <a:ext uri="{FF2B5EF4-FFF2-40B4-BE49-F238E27FC236}">
                <a16:creationId xmlns:a16="http://schemas.microsoft.com/office/drawing/2014/main" id="{F787908B-C05F-08F5-FE6A-EF3ED83C77CB}"/>
              </a:ext>
            </a:extLst>
          </p:cNvPr>
          <p:cNvSpPr/>
          <p:nvPr/>
        </p:nvSpPr>
        <p:spPr>
          <a:xfrm>
            <a:off x="7686446" y="2496260"/>
            <a:ext cx="2438400" cy="376859"/>
          </a:xfrm>
          <a:prstGeom prst="rect">
            <a:avLst/>
          </a:prstGeom>
          <a:noFill/>
          <a:ln/>
        </p:spPr>
        <p:txBody>
          <a:bodyPr wrap="square" lIns="0" tIns="0" rIns="0" bIns="0" rtlCol="0" anchor="t"/>
          <a:lstStyle/>
          <a:p>
            <a:pPr marL="0" indent="0" algn="ctr">
              <a:buNone/>
            </a:pPr>
            <a:r>
              <a:rPr lang="en-US" sz="1400" dirty="0">
                <a:solidFill>
                  <a:srgbClr val="666666"/>
                </a:solidFill>
              </a:rPr>
              <a:t>Prodotti</a:t>
            </a:r>
            <a:endParaRPr lang="en-US" sz="1400" dirty="0"/>
          </a:p>
        </p:txBody>
      </p:sp>
      <p:sp>
        <p:nvSpPr>
          <p:cNvPr id="29" name="Shape 27">
            <a:extLst>
              <a:ext uri="{FF2B5EF4-FFF2-40B4-BE49-F238E27FC236}">
                <a16:creationId xmlns:a16="http://schemas.microsoft.com/office/drawing/2014/main" id="{A5A941DC-72FC-65DB-0558-55D8502D3B4E}"/>
              </a:ext>
            </a:extLst>
          </p:cNvPr>
          <p:cNvSpPr/>
          <p:nvPr/>
        </p:nvSpPr>
        <p:spPr>
          <a:xfrm>
            <a:off x="7686446" y="5708310"/>
            <a:ext cx="2438400" cy="915231"/>
          </a:xfrm>
          <a:prstGeom prst="rect">
            <a:avLst/>
          </a:prstGeom>
          <a:solidFill>
            <a:srgbClr val="F8F8F8"/>
          </a:solidFill>
          <a:ln w="12700">
            <a:solidFill>
              <a:srgbClr val="DDDDDD"/>
            </a:solidFill>
            <a:prstDash val="solid"/>
          </a:ln>
        </p:spPr>
        <p:txBody>
          <a:bodyPr/>
          <a:lstStyle/>
          <a:p>
            <a:endParaRPr lang="it-IT"/>
          </a:p>
        </p:txBody>
      </p:sp>
      <p:sp>
        <p:nvSpPr>
          <p:cNvPr id="30" name="Text 28">
            <a:extLst>
              <a:ext uri="{FF2B5EF4-FFF2-40B4-BE49-F238E27FC236}">
                <a16:creationId xmlns:a16="http://schemas.microsoft.com/office/drawing/2014/main" id="{F7C8B47F-7BB9-9FB2-7004-483B0EF9E1B6}"/>
              </a:ext>
            </a:extLst>
          </p:cNvPr>
          <p:cNvSpPr/>
          <p:nvPr/>
        </p:nvSpPr>
        <p:spPr>
          <a:xfrm>
            <a:off x="7686446" y="5641013"/>
            <a:ext cx="2438400" cy="538371"/>
          </a:xfrm>
          <a:prstGeom prst="rect">
            <a:avLst/>
          </a:prstGeom>
          <a:noFill/>
          <a:ln/>
        </p:spPr>
        <p:txBody>
          <a:bodyPr wrap="square" lIns="0" tIns="0" rIns="0" bIns="0" rtlCol="0" anchor="b"/>
          <a:lstStyle/>
          <a:p>
            <a:pPr marL="0" indent="0" algn="ctr">
              <a:buNone/>
            </a:pPr>
            <a:r>
              <a:rPr lang="en-US" sz="2510" b="1" dirty="0">
                <a:solidFill>
                  <a:srgbClr val="B20E10"/>
                </a:solidFill>
              </a:rPr>
              <a:t>4</a:t>
            </a:r>
            <a:endParaRPr lang="en-US" sz="2510" dirty="0"/>
          </a:p>
        </p:txBody>
      </p:sp>
      <p:sp>
        <p:nvSpPr>
          <p:cNvPr id="31" name="Text 29">
            <a:extLst>
              <a:ext uri="{FF2B5EF4-FFF2-40B4-BE49-F238E27FC236}">
                <a16:creationId xmlns:a16="http://schemas.microsoft.com/office/drawing/2014/main" id="{161BB904-DA08-CC4E-D948-0A432DD3849B}"/>
              </a:ext>
            </a:extLst>
          </p:cNvPr>
          <p:cNvSpPr/>
          <p:nvPr/>
        </p:nvSpPr>
        <p:spPr>
          <a:xfrm>
            <a:off x="7686446" y="6246681"/>
            <a:ext cx="2438400" cy="376859"/>
          </a:xfrm>
          <a:prstGeom prst="rect">
            <a:avLst/>
          </a:prstGeom>
          <a:noFill/>
          <a:ln/>
        </p:spPr>
        <p:txBody>
          <a:bodyPr wrap="square" lIns="0" tIns="0" rIns="0" bIns="0" rtlCol="0" anchor="t"/>
          <a:lstStyle/>
          <a:p>
            <a:pPr marL="0" indent="0" algn="ctr">
              <a:buNone/>
            </a:pPr>
            <a:r>
              <a:rPr lang="en-US" sz="1400" dirty="0" err="1">
                <a:solidFill>
                  <a:srgbClr val="666666"/>
                </a:solidFill>
              </a:rPr>
              <a:t>Segmenti</a:t>
            </a:r>
            <a:endParaRPr lang="en-US" sz="1400" dirty="0"/>
          </a:p>
        </p:txBody>
      </p:sp>
      <p:graphicFrame>
        <p:nvGraphicFramePr>
          <p:cNvPr id="34" name="Table 33">
            <a:extLst>
              <a:ext uri="{FF2B5EF4-FFF2-40B4-BE49-F238E27FC236}">
                <a16:creationId xmlns:a16="http://schemas.microsoft.com/office/drawing/2014/main" id="{1085CD5A-644A-4EB5-D135-B68C919872DD}"/>
              </a:ext>
            </a:extLst>
          </p:cNvPr>
          <p:cNvGraphicFramePr>
            <a:graphicFrameLocks noGrp="1"/>
          </p:cNvGraphicFramePr>
          <p:nvPr/>
        </p:nvGraphicFramePr>
        <p:xfrm>
          <a:off x="658245" y="2254926"/>
          <a:ext cx="5025671" cy="4198760"/>
        </p:xfrm>
        <a:graphic>
          <a:graphicData uri="http://schemas.openxmlformats.org/drawingml/2006/table">
            <a:tbl>
              <a:tblPr/>
              <a:tblGrid>
                <a:gridCol w="1989393">
                  <a:extLst>
                    <a:ext uri="{9D8B030D-6E8A-4147-A177-3AD203B41FA5}">
                      <a16:colId xmlns:a16="http://schemas.microsoft.com/office/drawing/2014/main" val="3036034735"/>
                    </a:ext>
                  </a:extLst>
                </a:gridCol>
                <a:gridCol w="3036278">
                  <a:extLst>
                    <a:ext uri="{9D8B030D-6E8A-4147-A177-3AD203B41FA5}">
                      <a16:colId xmlns:a16="http://schemas.microsoft.com/office/drawing/2014/main" val="569660822"/>
                    </a:ext>
                  </a:extLst>
                </a:gridCol>
              </a:tblGrid>
              <a:tr h="334496">
                <a:tc>
                  <a:txBody>
                    <a:bodyPr/>
                    <a:lstStyle/>
                    <a:p>
                      <a:pPr rtl="0">
                        <a:buNone/>
                      </a:pPr>
                      <a:r>
                        <a:rPr lang="it-IT" sz="1400" b="1" dirty="0">
                          <a:solidFill>
                            <a:srgbClr val="1F1F1F"/>
                          </a:solidFill>
                          <a:effectLst/>
                          <a:latin typeface="Google Sans Text"/>
                        </a:rPr>
                        <a:t>Variabile</a:t>
                      </a:r>
                      <a:endParaRPr lang="it-IT" sz="1400" dirty="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b="1" dirty="0">
                          <a:solidFill>
                            <a:srgbClr val="1F1F1F"/>
                          </a:solidFill>
                          <a:effectLst/>
                          <a:latin typeface="Google Sans Text"/>
                        </a:rPr>
                        <a:t>Tipologia</a:t>
                      </a:r>
                      <a:endParaRPr lang="it-IT" sz="1400" dirty="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3723388003"/>
                  </a:ext>
                </a:extLst>
              </a:tr>
              <a:tr h="776048">
                <a:tc>
                  <a:txBody>
                    <a:bodyPr/>
                    <a:lstStyle/>
                    <a:p>
                      <a:pPr rtl="0">
                        <a:buNone/>
                      </a:pPr>
                      <a:r>
                        <a:rPr lang="it-IT" sz="1400" b="1" dirty="0">
                          <a:solidFill>
                            <a:srgbClr val="1F1F1F"/>
                          </a:solidFill>
                          <a:effectLst/>
                          <a:latin typeface="Google Sans Text"/>
                        </a:rPr>
                        <a:t>LogPrice</a:t>
                      </a:r>
                      <a:endParaRPr lang="it-IT" sz="1400" dirty="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dirty="0">
                          <a:solidFill>
                            <a:srgbClr val="1F1F1F"/>
                          </a:solidFill>
                          <a:effectLst/>
                          <a:latin typeface="Google Sans Text"/>
                        </a:rPr>
                        <a:t>Quantitativa</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1040323571"/>
                  </a:ext>
                </a:extLst>
              </a:tr>
              <a:tr h="550744">
                <a:tc>
                  <a:txBody>
                    <a:bodyPr/>
                    <a:lstStyle/>
                    <a:p>
                      <a:pPr rtl="0">
                        <a:buNone/>
                      </a:pPr>
                      <a:r>
                        <a:rPr lang="it-IT" sz="1400" b="1">
                          <a:solidFill>
                            <a:srgbClr val="1F1F1F"/>
                          </a:solidFill>
                          <a:effectLst/>
                          <a:latin typeface="Google Sans Text"/>
                        </a:rPr>
                        <a:t>Favorites_Count</a:t>
                      </a:r>
                      <a:endParaRPr lang="it-IT" sz="140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a:solidFill>
                            <a:srgbClr val="1F1F1F"/>
                          </a:solidFill>
                          <a:effectLst/>
                          <a:latin typeface="Google Sans Text"/>
                        </a:rPr>
                        <a:t>Quantitativa</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362385460"/>
                  </a:ext>
                </a:extLst>
              </a:tr>
              <a:tr h="550744">
                <a:tc>
                  <a:txBody>
                    <a:bodyPr/>
                    <a:lstStyle/>
                    <a:p>
                      <a:pPr rtl="0">
                        <a:buNone/>
                      </a:pPr>
                      <a:r>
                        <a:rPr lang="it-IT" sz="1400" b="1" dirty="0">
                          <a:solidFill>
                            <a:srgbClr val="1F1F1F"/>
                          </a:solidFill>
                          <a:effectLst/>
                          <a:latin typeface="Google Sans Text"/>
                        </a:rPr>
                        <a:t>Size</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dirty="0">
                          <a:solidFill>
                            <a:srgbClr val="1F1F1F"/>
                          </a:solidFill>
                          <a:effectLst/>
                          <a:latin typeface="Google Sans Text"/>
                        </a:rPr>
                        <a:t>Quantitativa</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905654245"/>
                  </a:ext>
                </a:extLst>
              </a:tr>
              <a:tr h="550744">
                <a:tc>
                  <a:txBody>
                    <a:bodyPr/>
                    <a:lstStyle/>
                    <a:p>
                      <a:pPr rtl="0">
                        <a:buNone/>
                      </a:pPr>
                      <a:r>
                        <a:rPr lang="it-IT" sz="1400" b="1" dirty="0">
                          <a:solidFill>
                            <a:srgbClr val="1F1F1F"/>
                          </a:solidFill>
                          <a:effectLst/>
                          <a:latin typeface="Google Sans Text"/>
                        </a:rPr>
                        <a:t>Condition</a:t>
                      </a:r>
                      <a:endParaRPr lang="it-IT" sz="1400" dirty="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dirty="0">
                          <a:solidFill>
                            <a:srgbClr val="1F1F1F"/>
                          </a:solidFill>
                          <a:effectLst/>
                          <a:latin typeface="Google Sans Text"/>
                        </a:rPr>
                        <a:t>Qualitativa (Ordinale)</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4081389646"/>
                  </a:ext>
                </a:extLst>
              </a:tr>
              <a:tr h="334496">
                <a:tc>
                  <a:txBody>
                    <a:bodyPr/>
                    <a:lstStyle/>
                    <a:p>
                      <a:pPr rtl="0">
                        <a:buNone/>
                      </a:pPr>
                      <a:r>
                        <a:rPr lang="it-IT" sz="1400" b="1">
                          <a:solidFill>
                            <a:srgbClr val="1F1F1F"/>
                          </a:solidFill>
                          <a:effectLst/>
                          <a:latin typeface="Google Sans Text"/>
                        </a:rPr>
                        <a:t>Brand</a:t>
                      </a:r>
                      <a:endParaRPr lang="it-IT" sz="140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dirty="0">
                          <a:solidFill>
                            <a:srgbClr val="1F1F1F"/>
                          </a:solidFill>
                          <a:effectLst/>
                          <a:latin typeface="Google Sans Text"/>
                        </a:rPr>
                        <a:t>Qualitativa (Nominale)</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195858306"/>
                  </a:ext>
                </a:extLst>
              </a:tr>
              <a:tr h="550744">
                <a:tc>
                  <a:txBody>
                    <a:bodyPr/>
                    <a:lstStyle/>
                    <a:p>
                      <a:pPr rtl="0">
                        <a:buNone/>
                      </a:pPr>
                      <a:r>
                        <a:rPr lang="it-IT" sz="1400" b="1">
                          <a:solidFill>
                            <a:srgbClr val="1F1F1F"/>
                          </a:solidFill>
                          <a:effectLst/>
                          <a:latin typeface="Google Sans Text"/>
                        </a:rPr>
                        <a:t>Color_new</a:t>
                      </a:r>
                      <a:endParaRPr lang="it-IT" sz="140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a:solidFill>
                            <a:srgbClr val="1F1F1F"/>
                          </a:solidFill>
                          <a:effectLst/>
                          <a:latin typeface="Google Sans Text"/>
                        </a:rPr>
                        <a:t>Qualitativa (Nominale)</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2546232332"/>
                  </a:ext>
                </a:extLst>
              </a:tr>
              <a:tr h="550744">
                <a:tc>
                  <a:txBody>
                    <a:bodyPr/>
                    <a:lstStyle/>
                    <a:p>
                      <a:pPr rtl="0">
                        <a:buNone/>
                      </a:pPr>
                      <a:r>
                        <a:rPr lang="it-IT" sz="1400" b="1" dirty="0">
                          <a:solidFill>
                            <a:srgbClr val="1F1F1F"/>
                          </a:solidFill>
                          <a:effectLst/>
                          <a:latin typeface="Google Sans Text"/>
                        </a:rPr>
                        <a:t>Is_Boosted</a:t>
                      </a:r>
                      <a:endParaRPr lang="it-IT" sz="1400" dirty="0">
                        <a:solidFill>
                          <a:srgbClr val="1F1F1F"/>
                        </a:solidFill>
                        <a:effectLst/>
                        <a:latin typeface="Google Sans Text"/>
                      </a:endParaRP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tc>
                  <a:txBody>
                    <a:bodyPr/>
                    <a:lstStyle/>
                    <a:p>
                      <a:pPr rtl="0">
                        <a:buNone/>
                      </a:pPr>
                      <a:r>
                        <a:rPr lang="it-IT" sz="1400" dirty="0">
                          <a:solidFill>
                            <a:srgbClr val="1F1F1F"/>
                          </a:solidFill>
                          <a:effectLst/>
                          <a:latin typeface="Google Sans Text"/>
                        </a:rPr>
                        <a:t>Qualitativa (Dicotomica)</a:t>
                      </a:r>
                    </a:p>
                  </a:txBody>
                  <a:tcPr marL="58604" marR="58604" marT="39070" marB="3907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rgbClr val="F8F8F8"/>
                    </a:solidFill>
                  </a:tcPr>
                </a:tc>
                <a:extLst>
                  <a:ext uri="{0D108BD9-81ED-4DB2-BD59-A6C34878D82A}">
                    <a16:rowId xmlns:a16="http://schemas.microsoft.com/office/drawing/2014/main" val="3280340536"/>
                  </a:ext>
                </a:extLst>
              </a:tr>
            </a:tbl>
          </a:graphicData>
        </a:graphic>
      </p:graphicFrame>
      <p:sp>
        <p:nvSpPr>
          <p:cNvPr id="35" name="Arrow: Down 34">
            <a:extLst>
              <a:ext uri="{FF2B5EF4-FFF2-40B4-BE49-F238E27FC236}">
                <a16:creationId xmlns:a16="http://schemas.microsoft.com/office/drawing/2014/main" id="{7E568046-E3DE-D3BE-57E1-BCBD9945A83B}"/>
              </a:ext>
            </a:extLst>
          </p:cNvPr>
          <p:cNvSpPr/>
          <p:nvPr/>
        </p:nvSpPr>
        <p:spPr>
          <a:xfrm rot="19161146">
            <a:off x="7932593" y="4999865"/>
            <a:ext cx="255064" cy="655451"/>
          </a:xfrm>
          <a:prstGeom prst="downArrow">
            <a:avLst/>
          </a:prstGeom>
          <a:solidFill>
            <a:schemeClr val="accent2">
              <a:lumMod val="40000"/>
              <a:lumOff val="60000"/>
            </a:schemeClr>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Shape 5">
            <a:extLst>
              <a:ext uri="{FF2B5EF4-FFF2-40B4-BE49-F238E27FC236}">
                <a16:creationId xmlns:a16="http://schemas.microsoft.com/office/drawing/2014/main" id="{B375804D-EC0D-0205-4200-3F2A39ACEB31}"/>
              </a:ext>
            </a:extLst>
          </p:cNvPr>
          <p:cNvSpPr/>
          <p:nvPr/>
        </p:nvSpPr>
        <p:spPr>
          <a:xfrm>
            <a:off x="6115388" y="3788637"/>
            <a:ext cx="2630166" cy="1090941"/>
          </a:xfrm>
          <a:prstGeom prst="rect">
            <a:avLst/>
          </a:prstGeom>
          <a:solidFill>
            <a:srgbClr val="F8F8F8"/>
          </a:solidFill>
          <a:ln w="12700">
            <a:solidFill>
              <a:srgbClr val="DDDDDD"/>
            </a:solidFill>
            <a:prstDash val="solid"/>
          </a:ln>
        </p:spPr>
        <p:txBody>
          <a:bodyPr/>
          <a:lstStyle/>
          <a:p>
            <a:endParaRPr lang="it-IT" sz="3515"/>
          </a:p>
        </p:txBody>
      </p:sp>
      <p:sp>
        <p:nvSpPr>
          <p:cNvPr id="37" name="Shape 6">
            <a:extLst>
              <a:ext uri="{FF2B5EF4-FFF2-40B4-BE49-F238E27FC236}">
                <a16:creationId xmlns:a16="http://schemas.microsoft.com/office/drawing/2014/main" id="{863A908F-4400-D14E-C6D4-E28E9A85C842}"/>
              </a:ext>
            </a:extLst>
          </p:cNvPr>
          <p:cNvSpPr/>
          <p:nvPr/>
        </p:nvSpPr>
        <p:spPr>
          <a:xfrm>
            <a:off x="6115388" y="3788635"/>
            <a:ext cx="2630166" cy="670713"/>
          </a:xfrm>
          <a:prstGeom prst="rect">
            <a:avLst/>
          </a:prstGeom>
          <a:solidFill>
            <a:srgbClr val="B20E10"/>
          </a:solidFill>
          <a:ln w="12700">
            <a:solidFill>
              <a:srgbClr val="B20E10"/>
            </a:solidFill>
            <a:prstDash val="solid"/>
          </a:ln>
        </p:spPr>
        <p:txBody>
          <a:bodyPr/>
          <a:lstStyle/>
          <a:p>
            <a:endParaRPr lang="it-IT" sz="3515"/>
          </a:p>
        </p:txBody>
      </p:sp>
      <p:sp>
        <p:nvSpPr>
          <p:cNvPr id="38" name="Text 7">
            <a:extLst>
              <a:ext uri="{FF2B5EF4-FFF2-40B4-BE49-F238E27FC236}">
                <a16:creationId xmlns:a16="http://schemas.microsoft.com/office/drawing/2014/main" id="{29A6A05F-26EC-4FA1-0600-C212E5A6CEEE}"/>
              </a:ext>
            </a:extLst>
          </p:cNvPr>
          <p:cNvSpPr/>
          <p:nvPr/>
        </p:nvSpPr>
        <p:spPr>
          <a:xfrm>
            <a:off x="6296153" y="3857044"/>
            <a:ext cx="2800000" cy="538371"/>
          </a:xfrm>
          <a:prstGeom prst="rect">
            <a:avLst/>
          </a:prstGeom>
          <a:noFill/>
          <a:ln/>
        </p:spPr>
        <p:txBody>
          <a:bodyPr wrap="square" lIns="0" tIns="0" rIns="0" bIns="0" rtlCol="0" anchor="ctr"/>
          <a:lstStyle/>
          <a:p>
            <a:pPr marL="0" indent="0">
              <a:buNone/>
            </a:pPr>
            <a:r>
              <a:rPr lang="en-US" sz="1550" b="1" dirty="0">
                <a:solidFill>
                  <a:srgbClr val="FFFFFF"/>
                </a:solidFill>
              </a:rPr>
              <a:t>Distanza </a:t>
            </a:r>
            <a:r>
              <a:rPr lang="en-US" sz="1550" b="1" dirty="0" err="1">
                <a:solidFill>
                  <a:srgbClr val="FFFFFF"/>
                </a:solidFill>
              </a:rPr>
              <a:t>Euclidea</a:t>
            </a:r>
            <a:r>
              <a:rPr lang="en-US" sz="1550" b="1" dirty="0">
                <a:solidFill>
                  <a:srgbClr val="FFFFFF"/>
                </a:solidFill>
              </a:rPr>
              <a:t> </a:t>
            </a:r>
          </a:p>
          <a:p>
            <a:pPr marL="0" indent="0">
              <a:buNone/>
            </a:pPr>
            <a:r>
              <a:rPr lang="en-US" sz="1550" b="1" dirty="0">
                <a:solidFill>
                  <a:srgbClr val="FFFFFF"/>
                </a:solidFill>
              </a:rPr>
              <a:t>→ K-Means</a:t>
            </a:r>
            <a:endParaRPr lang="en-US" sz="1550" dirty="0"/>
          </a:p>
        </p:txBody>
      </p:sp>
      <p:sp>
        <p:nvSpPr>
          <p:cNvPr id="42" name="Shape 5">
            <a:extLst>
              <a:ext uri="{FF2B5EF4-FFF2-40B4-BE49-F238E27FC236}">
                <a16:creationId xmlns:a16="http://schemas.microsoft.com/office/drawing/2014/main" id="{EE463C6C-741F-05DD-7268-51FEFB313759}"/>
              </a:ext>
            </a:extLst>
          </p:cNvPr>
          <p:cNvSpPr/>
          <p:nvPr/>
        </p:nvSpPr>
        <p:spPr>
          <a:xfrm>
            <a:off x="8943137" y="3788637"/>
            <a:ext cx="2900000" cy="1090941"/>
          </a:xfrm>
          <a:prstGeom prst="rect">
            <a:avLst/>
          </a:prstGeom>
          <a:solidFill>
            <a:srgbClr val="F8F8F8"/>
          </a:solidFill>
          <a:ln w="12700">
            <a:solidFill>
              <a:srgbClr val="DDDDDD"/>
            </a:solidFill>
            <a:prstDash val="solid"/>
          </a:ln>
        </p:spPr>
        <p:txBody>
          <a:bodyPr/>
          <a:lstStyle/>
          <a:p>
            <a:endParaRPr lang="it-IT" sz="3515"/>
          </a:p>
        </p:txBody>
      </p:sp>
      <p:sp>
        <p:nvSpPr>
          <p:cNvPr id="43" name="Shape 6">
            <a:extLst>
              <a:ext uri="{FF2B5EF4-FFF2-40B4-BE49-F238E27FC236}">
                <a16:creationId xmlns:a16="http://schemas.microsoft.com/office/drawing/2014/main" id="{8B6AD7B2-A1CA-C6E0-3696-B9FD807FFBD3}"/>
              </a:ext>
            </a:extLst>
          </p:cNvPr>
          <p:cNvSpPr/>
          <p:nvPr/>
        </p:nvSpPr>
        <p:spPr>
          <a:xfrm>
            <a:off x="8943137" y="3788635"/>
            <a:ext cx="2900000" cy="670713"/>
          </a:xfrm>
          <a:prstGeom prst="rect">
            <a:avLst/>
          </a:prstGeom>
          <a:solidFill>
            <a:srgbClr val="B20E10"/>
          </a:solidFill>
          <a:ln w="12700">
            <a:solidFill>
              <a:srgbClr val="B20E10"/>
            </a:solidFill>
            <a:prstDash val="solid"/>
          </a:ln>
        </p:spPr>
        <p:txBody>
          <a:bodyPr/>
          <a:lstStyle/>
          <a:p>
            <a:endParaRPr lang="it-IT" sz="3515"/>
          </a:p>
        </p:txBody>
      </p:sp>
      <p:sp>
        <p:nvSpPr>
          <p:cNvPr id="44" name="Text 7">
            <a:extLst>
              <a:ext uri="{FF2B5EF4-FFF2-40B4-BE49-F238E27FC236}">
                <a16:creationId xmlns:a16="http://schemas.microsoft.com/office/drawing/2014/main" id="{7DA3C8DD-2C54-1683-B23A-9CB8A74673DD}"/>
              </a:ext>
            </a:extLst>
          </p:cNvPr>
          <p:cNvSpPr/>
          <p:nvPr/>
        </p:nvSpPr>
        <p:spPr>
          <a:xfrm>
            <a:off x="9034368" y="3975171"/>
            <a:ext cx="2800000" cy="538371"/>
          </a:xfrm>
          <a:prstGeom prst="rect">
            <a:avLst/>
          </a:prstGeom>
          <a:noFill/>
          <a:ln/>
        </p:spPr>
        <p:txBody>
          <a:bodyPr wrap="square" lIns="0" tIns="0" rIns="0" bIns="0" rtlCol="0" anchor="ctr"/>
          <a:lstStyle/>
          <a:p>
            <a:pPr marL="0" indent="0">
              <a:buNone/>
            </a:pPr>
            <a:r>
              <a:rPr lang="en-US" sz="1550" b="1" dirty="0" err="1">
                <a:solidFill>
                  <a:srgbClr val="FFFFFF"/>
                </a:solidFill>
              </a:rPr>
              <a:t>Dissimilarità</a:t>
            </a:r>
            <a:r>
              <a:rPr lang="en-US" sz="1550" b="1" dirty="0">
                <a:solidFill>
                  <a:srgbClr val="FFFFFF"/>
                </a:solidFill>
              </a:rPr>
              <a:t> di Gower → </a:t>
            </a:r>
            <a:r>
              <a:rPr lang="en-US" sz="1550" b="1" dirty="0" err="1">
                <a:solidFill>
                  <a:srgbClr val="FFFFFF"/>
                </a:solidFill>
              </a:rPr>
              <a:t>Gerarchico</a:t>
            </a:r>
            <a:endParaRPr lang="en-US" sz="1550" dirty="0"/>
          </a:p>
          <a:p>
            <a:pPr marL="0" indent="0">
              <a:buNone/>
            </a:pPr>
            <a:endParaRPr lang="en-US" sz="1550" dirty="0"/>
          </a:p>
        </p:txBody>
      </p:sp>
      <p:sp>
        <p:nvSpPr>
          <p:cNvPr id="48" name="TextBox 47">
            <a:extLst>
              <a:ext uri="{FF2B5EF4-FFF2-40B4-BE49-F238E27FC236}">
                <a16:creationId xmlns:a16="http://schemas.microsoft.com/office/drawing/2014/main" id="{6C0B8117-41D5-E147-7921-C7A92FA87B1A}"/>
              </a:ext>
            </a:extLst>
          </p:cNvPr>
          <p:cNvSpPr txBox="1"/>
          <p:nvPr/>
        </p:nvSpPr>
        <p:spPr>
          <a:xfrm>
            <a:off x="6096000" y="4427932"/>
            <a:ext cx="3192026" cy="430901"/>
          </a:xfrm>
          <a:prstGeom prst="rect">
            <a:avLst/>
          </a:prstGeom>
          <a:noFill/>
        </p:spPr>
        <p:txBody>
          <a:bodyPr wrap="square">
            <a:spAutoFit/>
          </a:bodyPr>
          <a:lstStyle/>
          <a:p>
            <a:pPr marR="0" lvl="0" algn="l" defTabSz="914400" rtl="0" eaLnBrk="1" fontAlgn="auto" latinLnBrk="0" hangingPunct="1">
              <a:lnSpc>
                <a:spcPct val="140000"/>
              </a:lnSpc>
              <a:spcBef>
                <a:spcPts val="0"/>
              </a:spcBef>
              <a:spcAft>
                <a:spcPts val="0"/>
              </a:spcAft>
              <a:buClrTx/>
              <a:buSzPct val="100000"/>
              <a:tabLst/>
              <a:defRPr/>
            </a:pPr>
            <a:r>
              <a:rPr kumimoji="0" lang="en-US" sz="1400" b="0" i="0" u="none" strike="noStrike" kern="1200" cap="none" spc="0" normalizeH="0" baseline="0" noProof="0" dirty="0">
                <a:ln>
                  <a:noFill/>
                </a:ln>
                <a:solidFill>
                  <a:srgbClr val="333333"/>
                </a:solidFill>
                <a:effectLst/>
                <a:uLnTx/>
                <a:uFillTx/>
                <a:latin typeface="Calibri" panose="020F0502020204030204"/>
                <a:ea typeface="+mn-ea"/>
                <a:cs typeface="+mn-cs"/>
              </a:rPr>
              <a:t>Solo </a:t>
            </a:r>
            <a:r>
              <a:rPr kumimoji="0" lang="en-US" sz="1400" b="0" i="0" u="none" strike="noStrike" kern="1200" cap="none" spc="0" normalizeH="0" baseline="0" noProof="0" dirty="0" err="1">
                <a:ln>
                  <a:noFill/>
                </a:ln>
                <a:solidFill>
                  <a:srgbClr val="333333"/>
                </a:solidFill>
                <a:effectLst/>
                <a:uLnTx/>
                <a:uFillTx/>
                <a:latin typeface="Calibri" panose="020F0502020204030204"/>
                <a:ea typeface="+mn-ea"/>
                <a:cs typeface="+mn-cs"/>
              </a:rPr>
              <a:t>variabili</a:t>
            </a:r>
            <a:r>
              <a:rPr kumimoji="0" lang="en-US" sz="1400" b="0" i="0" u="none" strike="noStrike" kern="1200" cap="none" spc="0" normalizeH="0" baseline="0" noProof="0" dirty="0">
                <a:ln>
                  <a:noFill/>
                </a:ln>
                <a:solidFill>
                  <a:srgbClr val="333333"/>
                </a:solidFill>
                <a:effectLst/>
                <a:uLnTx/>
                <a:uFillTx/>
                <a:latin typeface="Calibri" panose="020F0502020204030204"/>
                <a:ea typeface="+mn-ea"/>
                <a:cs typeface="+mn-cs"/>
              </a:rPr>
              <a:t> quantitative</a:t>
            </a:r>
          </a:p>
        </p:txBody>
      </p:sp>
      <p:sp>
        <p:nvSpPr>
          <p:cNvPr id="49" name="TextBox 48">
            <a:extLst>
              <a:ext uri="{FF2B5EF4-FFF2-40B4-BE49-F238E27FC236}">
                <a16:creationId xmlns:a16="http://schemas.microsoft.com/office/drawing/2014/main" id="{8255C9F5-3BA6-5196-981D-266DDECDE861}"/>
              </a:ext>
            </a:extLst>
          </p:cNvPr>
          <p:cNvSpPr txBox="1"/>
          <p:nvPr/>
        </p:nvSpPr>
        <p:spPr>
          <a:xfrm>
            <a:off x="8943137" y="4431046"/>
            <a:ext cx="3192026" cy="430901"/>
          </a:xfrm>
          <a:prstGeom prst="rect">
            <a:avLst/>
          </a:prstGeom>
          <a:noFill/>
        </p:spPr>
        <p:txBody>
          <a:bodyPr wrap="square">
            <a:spAutoFit/>
          </a:bodyPr>
          <a:lstStyle/>
          <a:p>
            <a:pPr marR="0" lvl="0" algn="l" defTabSz="914400" rtl="0" eaLnBrk="1" fontAlgn="auto" latinLnBrk="0" hangingPunct="1">
              <a:lnSpc>
                <a:spcPct val="140000"/>
              </a:lnSpc>
              <a:spcBef>
                <a:spcPts val="0"/>
              </a:spcBef>
              <a:spcAft>
                <a:spcPts val="0"/>
              </a:spcAft>
              <a:buClrTx/>
              <a:buSzPct val="100000"/>
              <a:tabLst/>
              <a:defRPr/>
            </a:pPr>
            <a:r>
              <a:rPr kumimoji="0" lang="en-US" sz="1400" b="0" i="0" u="none" strike="noStrike" kern="1200" cap="none" spc="0" normalizeH="0" baseline="0" noProof="0" dirty="0" err="1">
                <a:ln>
                  <a:noFill/>
                </a:ln>
                <a:solidFill>
                  <a:srgbClr val="333333"/>
                </a:solidFill>
                <a:effectLst/>
                <a:uLnTx/>
                <a:uFillTx/>
                <a:latin typeface="Calibri" panose="020F0502020204030204"/>
                <a:ea typeface="+mn-ea"/>
                <a:cs typeface="+mn-cs"/>
              </a:rPr>
              <a:t>Variabili</a:t>
            </a:r>
            <a:r>
              <a:rPr kumimoji="0" lang="en-US" sz="1400" b="0" i="0" u="none" strike="noStrike" kern="1200" cap="none" spc="0" normalizeH="0" baseline="0" noProof="0" dirty="0">
                <a:ln>
                  <a:noFill/>
                </a:ln>
                <a:solidFill>
                  <a:srgbClr val="333333"/>
                </a:solidFill>
                <a:effectLst/>
                <a:uLnTx/>
                <a:uFillTx/>
                <a:latin typeface="Calibri" panose="020F0502020204030204"/>
                <a:ea typeface="+mn-ea"/>
                <a:cs typeface="+mn-cs"/>
              </a:rPr>
              <a:t> </a:t>
            </a:r>
            <a:r>
              <a:rPr kumimoji="0" lang="en-US" sz="1400" b="0" i="0" u="none" strike="noStrike" kern="1200" cap="none" spc="0" normalizeH="0" baseline="0" noProof="0" dirty="0" err="1">
                <a:ln>
                  <a:noFill/>
                </a:ln>
                <a:solidFill>
                  <a:srgbClr val="333333"/>
                </a:solidFill>
                <a:effectLst/>
                <a:uLnTx/>
                <a:uFillTx/>
                <a:latin typeface="Calibri" panose="020F0502020204030204"/>
                <a:ea typeface="+mn-ea"/>
                <a:cs typeface="+mn-cs"/>
              </a:rPr>
              <a:t>miste</a:t>
            </a:r>
            <a:endParaRPr kumimoji="0" lang="en-US" sz="1400" b="0" i="0" u="none" strike="noStrike" kern="1200" cap="none" spc="0" normalizeH="0" baseline="0" noProof="0" dirty="0">
              <a:ln>
                <a:noFill/>
              </a:ln>
              <a:solidFill>
                <a:srgbClr val="333333"/>
              </a:solidFill>
              <a:effectLst/>
              <a:uLnTx/>
              <a:uFillTx/>
              <a:latin typeface="Calibri" panose="020F0502020204030204"/>
              <a:ea typeface="+mn-ea"/>
              <a:cs typeface="+mn-cs"/>
            </a:endParaRPr>
          </a:p>
        </p:txBody>
      </p:sp>
      <p:sp>
        <p:nvSpPr>
          <p:cNvPr id="50" name="Arrow: Down 49">
            <a:extLst>
              <a:ext uri="{FF2B5EF4-FFF2-40B4-BE49-F238E27FC236}">
                <a16:creationId xmlns:a16="http://schemas.microsoft.com/office/drawing/2014/main" id="{5AB200E0-D17A-AE5F-E8B1-E64F0C14A6B9}"/>
              </a:ext>
            </a:extLst>
          </p:cNvPr>
          <p:cNvSpPr/>
          <p:nvPr/>
        </p:nvSpPr>
        <p:spPr>
          <a:xfrm rot="2373872">
            <a:off x="9644562" y="4935081"/>
            <a:ext cx="255064" cy="655451"/>
          </a:xfrm>
          <a:prstGeom prst="downArrow">
            <a:avLst/>
          </a:prstGeom>
          <a:solidFill>
            <a:schemeClr val="accent2">
              <a:lumMod val="40000"/>
              <a:lumOff val="60000"/>
            </a:schemeClr>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1" name="Arrow: Down 50">
            <a:extLst>
              <a:ext uri="{FF2B5EF4-FFF2-40B4-BE49-F238E27FC236}">
                <a16:creationId xmlns:a16="http://schemas.microsoft.com/office/drawing/2014/main" id="{4A647C78-70E7-C4E0-521C-B5C194DFF855}"/>
              </a:ext>
            </a:extLst>
          </p:cNvPr>
          <p:cNvSpPr/>
          <p:nvPr/>
        </p:nvSpPr>
        <p:spPr>
          <a:xfrm>
            <a:off x="8745554" y="3030588"/>
            <a:ext cx="255064" cy="538371"/>
          </a:xfrm>
          <a:prstGeom prst="downArrow">
            <a:avLst/>
          </a:prstGeom>
          <a:solidFill>
            <a:schemeClr val="accent2">
              <a:lumMod val="40000"/>
              <a:lumOff val="60000"/>
            </a:schemeClr>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89992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 name="Titolo 1"/>
          <p:cNvSpPr>
            <a:spLocks noGrp="1"/>
          </p:cNvSpPr>
          <p:nvPr>
            <p:ph type="title"/>
          </p:nvPr>
        </p:nvSpPr>
        <p:spPr>
          <a:xfrm>
            <a:off x="0" y="141658"/>
            <a:ext cx="8938200" cy="1325563"/>
          </a:xfrm>
        </p:spPr>
        <p:txBody>
          <a:bodyPr>
            <a:normAutofit/>
          </a:bodyPr>
          <a:lstStyle/>
          <a:p>
            <a:r>
              <a:rPr lang="it-IT" sz="4000" dirty="0">
                <a:solidFill>
                  <a:schemeClr val="bg1"/>
                </a:solidFill>
                <a:latin typeface="Aptos Display"/>
              </a:rPr>
              <a:t>Clustering K-Means Euclidea </a:t>
            </a:r>
            <a:br>
              <a:rPr lang="it-IT" sz="4000" dirty="0">
                <a:solidFill>
                  <a:schemeClr val="bg1"/>
                </a:solidFill>
                <a:latin typeface="Aptos Display"/>
              </a:rPr>
            </a:br>
            <a:r>
              <a:rPr lang="it-IT" sz="4000" dirty="0">
                <a:solidFill>
                  <a:schemeClr val="bg1"/>
                </a:solidFill>
                <a:latin typeface="Aptos Display"/>
              </a:rPr>
              <a:t>Profili dei 4 Segmenti</a:t>
            </a:r>
          </a:p>
        </p:txBody>
      </p:sp>
      <p:sp>
        <p:nvSpPr>
          <p:cNvPr id="20" name="Box20"/>
          <p:cNvSpPr/>
          <p:nvPr/>
        </p:nvSpPr>
        <p:spPr>
          <a:xfrm>
            <a:off x="700000" y="1900000"/>
            <a:ext cx="500000" cy="1000000"/>
          </a:xfrm>
          <a:prstGeom prst="rect">
            <a:avLst/>
          </a:prstGeom>
          <a:solidFill>
            <a:srgbClr val="B20E10"/>
          </a:solidFill>
          <a:ln w="0">
            <a:noFill/>
          </a:ln>
        </p:spPr>
        <p:txBody>
          <a:bodyPr anchor="ctr">
            <a:normAutofit/>
          </a:bodyPr>
          <a:lstStyle/>
          <a:p>
            <a:pPr algn="ctr">
              <a:lnSpc>
                <a:spcPct val="100000"/>
              </a:lnSpc>
            </a:pPr>
            <a:r>
              <a:rPr lang="it-IT" sz="2400" b="1" dirty="0">
                <a:solidFill>
                  <a:srgbClr val="FFFFFF"/>
                </a:solidFill>
                <a:latin typeface="Aptos Display"/>
              </a:rPr>
              <a:t>1</a:t>
            </a:r>
          </a:p>
        </p:txBody>
      </p:sp>
      <p:sp>
        <p:nvSpPr>
          <p:cNvPr id="120" name="TBox120"/>
          <p:cNvSpPr txBox="1"/>
          <p:nvPr/>
        </p:nvSpPr>
        <p:spPr>
          <a:xfrm>
            <a:off x="1300000" y="1900000"/>
            <a:ext cx="4700000" cy="1000000"/>
          </a:xfrm>
          <a:prstGeom prst="rect">
            <a:avLst/>
          </a:prstGeom>
          <a:noFill/>
        </p:spPr>
        <p:txBody>
          <a:bodyPr anchor="t">
            <a:normAutofit/>
          </a:bodyPr>
          <a:lstStyle/>
          <a:p>
            <a:pPr>
              <a:lnSpc>
                <a:spcPct val="100000"/>
              </a:lnSpc>
            </a:pPr>
            <a:r>
              <a:rPr lang="it-IT" sz="1700" b="1" dirty="0">
                <a:latin typeface="Aptos Display"/>
              </a:rPr>
              <a:t>Hype / Virale  ·  25%</a:t>
            </a:r>
          </a:p>
          <a:p>
            <a:pPr>
              <a:lnSpc>
                <a:spcPct val="100000"/>
              </a:lnSpc>
            </a:pPr>
            <a:r>
              <a:rPr lang="it-IT" sz="1600" dirty="0">
                <a:latin typeface="Aptos Display"/>
              </a:rPr>
              <a:t>Alto prezzo, molti preferiti. Prodotti molto costosi ma molto ambiti.</a:t>
            </a:r>
          </a:p>
        </p:txBody>
      </p:sp>
      <p:sp>
        <p:nvSpPr>
          <p:cNvPr id="22" name="Box22"/>
          <p:cNvSpPr/>
          <p:nvPr/>
        </p:nvSpPr>
        <p:spPr>
          <a:xfrm>
            <a:off x="700000" y="3050000"/>
            <a:ext cx="500000" cy="1000000"/>
          </a:xfrm>
          <a:prstGeom prst="rect">
            <a:avLst/>
          </a:prstGeom>
          <a:solidFill>
            <a:srgbClr val="B20E10"/>
          </a:solidFill>
          <a:ln w="0">
            <a:noFill/>
          </a:ln>
        </p:spPr>
        <p:txBody>
          <a:bodyPr anchor="ctr">
            <a:normAutofit/>
          </a:bodyPr>
          <a:lstStyle/>
          <a:p>
            <a:pPr algn="ctr">
              <a:lnSpc>
                <a:spcPct val="100000"/>
              </a:lnSpc>
            </a:pPr>
            <a:r>
              <a:rPr lang="it-IT" sz="2400" b="1" dirty="0">
                <a:solidFill>
                  <a:schemeClr val="bg1"/>
                </a:solidFill>
                <a:latin typeface="Aptos Display"/>
              </a:rPr>
              <a:t>2</a:t>
            </a:r>
          </a:p>
        </p:txBody>
      </p:sp>
      <p:sp>
        <p:nvSpPr>
          <p:cNvPr id="122" name="TBox122"/>
          <p:cNvSpPr txBox="1"/>
          <p:nvPr/>
        </p:nvSpPr>
        <p:spPr>
          <a:xfrm>
            <a:off x="1300000" y="3050000"/>
            <a:ext cx="4700000" cy="1000000"/>
          </a:xfrm>
          <a:prstGeom prst="rect">
            <a:avLst/>
          </a:prstGeom>
          <a:noFill/>
        </p:spPr>
        <p:txBody>
          <a:bodyPr anchor="t">
            <a:normAutofit/>
          </a:bodyPr>
          <a:lstStyle/>
          <a:p>
            <a:pPr>
              <a:lnSpc>
                <a:spcPct val="100000"/>
              </a:lnSpc>
            </a:pPr>
            <a:r>
              <a:rPr lang="it-IT" sz="1700" b="1" dirty="0">
                <a:latin typeface="Aptos Display"/>
              </a:rPr>
              <a:t>Premium Silenzioso  ·  26%</a:t>
            </a:r>
          </a:p>
          <a:p>
            <a:pPr>
              <a:lnSpc>
                <a:spcPct val="100000"/>
              </a:lnSpc>
            </a:pPr>
            <a:r>
              <a:rPr lang="it-IT" sz="1600" dirty="0">
                <a:latin typeface="Aptos Display"/>
              </a:rPr>
              <a:t>Alto prezzo, condizioni ottime, ma interazioni sotto la media.</a:t>
            </a:r>
          </a:p>
        </p:txBody>
      </p:sp>
      <p:sp>
        <p:nvSpPr>
          <p:cNvPr id="24" name="Box24"/>
          <p:cNvSpPr/>
          <p:nvPr/>
        </p:nvSpPr>
        <p:spPr>
          <a:xfrm>
            <a:off x="700000" y="4200000"/>
            <a:ext cx="500000" cy="1000000"/>
          </a:xfrm>
          <a:prstGeom prst="rect">
            <a:avLst/>
          </a:prstGeom>
          <a:solidFill>
            <a:srgbClr val="B20E10"/>
          </a:solidFill>
          <a:ln w="0">
            <a:noFill/>
          </a:ln>
        </p:spPr>
        <p:txBody>
          <a:bodyPr anchor="ctr">
            <a:normAutofit/>
          </a:bodyPr>
          <a:lstStyle/>
          <a:p>
            <a:pPr algn="ctr">
              <a:lnSpc>
                <a:spcPct val="100000"/>
              </a:lnSpc>
            </a:pPr>
            <a:r>
              <a:rPr lang="it-IT" sz="2400" b="1" dirty="0">
                <a:solidFill>
                  <a:srgbClr val="FFFFFF"/>
                </a:solidFill>
                <a:latin typeface="Aptos Display"/>
              </a:rPr>
              <a:t>3</a:t>
            </a:r>
          </a:p>
        </p:txBody>
      </p:sp>
      <p:sp>
        <p:nvSpPr>
          <p:cNvPr id="124" name="TBox124"/>
          <p:cNvSpPr txBox="1"/>
          <p:nvPr/>
        </p:nvSpPr>
        <p:spPr>
          <a:xfrm>
            <a:off x="1300000" y="4200000"/>
            <a:ext cx="4700000" cy="1000000"/>
          </a:xfrm>
          <a:prstGeom prst="rect">
            <a:avLst/>
          </a:prstGeom>
          <a:noFill/>
        </p:spPr>
        <p:txBody>
          <a:bodyPr anchor="t">
            <a:normAutofit/>
          </a:bodyPr>
          <a:lstStyle/>
          <a:p>
            <a:pPr>
              <a:lnSpc>
                <a:spcPct val="100000"/>
              </a:lnSpc>
            </a:pPr>
            <a:r>
              <a:rPr lang="it-IT" sz="1700" b="1" dirty="0">
                <a:latin typeface="Aptos Display"/>
              </a:rPr>
              <a:t>Fast-Fashion / Svuota-Armadio  ·  40%</a:t>
            </a:r>
          </a:p>
          <a:p>
            <a:pPr>
              <a:lnSpc>
                <a:spcPct val="100000"/>
              </a:lnSpc>
            </a:pPr>
            <a:r>
              <a:rPr lang="it-IT" sz="1600" dirty="0">
                <a:latin typeface="Aptos Display"/>
              </a:rPr>
              <a:t>Basso prezzo, interazioni sotto la media. Macro-mercato di massa.</a:t>
            </a:r>
          </a:p>
        </p:txBody>
      </p:sp>
      <p:sp>
        <p:nvSpPr>
          <p:cNvPr id="26" name="Box26"/>
          <p:cNvSpPr/>
          <p:nvPr/>
        </p:nvSpPr>
        <p:spPr>
          <a:xfrm>
            <a:off x="700000" y="5350000"/>
            <a:ext cx="500000" cy="1000000"/>
          </a:xfrm>
          <a:prstGeom prst="rect">
            <a:avLst/>
          </a:prstGeom>
          <a:solidFill>
            <a:srgbClr val="B20E10"/>
          </a:solidFill>
          <a:ln w="0">
            <a:noFill/>
          </a:ln>
        </p:spPr>
        <p:txBody>
          <a:bodyPr anchor="ctr">
            <a:normAutofit/>
          </a:bodyPr>
          <a:lstStyle/>
          <a:p>
            <a:pPr algn="ctr">
              <a:lnSpc>
                <a:spcPct val="100000"/>
              </a:lnSpc>
            </a:pPr>
            <a:r>
              <a:rPr lang="it-IT" sz="2400" b="1" dirty="0">
                <a:solidFill>
                  <a:srgbClr val="FFFFFF"/>
                </a:solidFill>
                <a:latin typeface="Aptos Display"/>
              </a:rPr>
              <a:t>4</a:t>
            </a:r>
          </a:p>
        </p:txBody>
      </p:sp>
      <p:sp>
        <p:nvSpPr>
          <p:cNvPr id="126" name="TBox126"/>
          <p:cNvSpPr txBox="1"/>
          <p:nvPr/>
        </p:nvSpPr>
        <p:spPr>
          <a:xfrm>
            <a:off x="1300000" y="5350000"/>
            <a:ext cx="4700000" cy="1000000"/>
          </a:xfrm>
          <a:prstGeom prst="rect">
            <a:avLst/>
          </a:prstGeom>
          <a:noFill/>
        </p:spPr>
        <p:txBody>
          <a:bodyPr anchor="t">
            <a:normAutofit/>
          </a:bodyPr>
          <a:lstStyle/>
          <a:p>
            <a:pPr>
              <a:lnSpc>
                <a:spcPct val="100000"/>
              </a:lnSpc>
            </a:pPr>
            <a:r>
              <a:rPr lang="it-IT" sz="1700" b="1" dirty="0">
                <a:latin typeface="Aptos Display"/>
              </a:rPr>
              <a:t>Kids  ·  10%</a:t>
            </a:r>
          </a:p>
          <a:p>
            <a:pPr>
              <a:lnSpc>
                <a:spcPct val="100000"/>
              </a:lnSpc>
            </a:pPr>
            <a:r>
              <a:rPr lang="it-IT" sz="1600" dirty="0">
                <a:latin typeface="Aptos Display"/>
              </a:rPr>
              <a:t>Taglia media 26, prezzi minimi.</a:t>
            </a:r>
          </a:p>
        </p:txBody>
      </p:sp>
      <p:pic>
        <p:nvPicPr>
          <p:cNvPr id="10" name="Image10"/>
          <p:cNvPicPr>
            <a:picLocks noChangeAspect="1"/>
          </p:cNvPicPr>
          <p:nvPr/>
        </p:nvPicPr>
        <p:blipFill>
          <a:blip r:embed="rId2"/>
          <a:stretch>
            <a:fillRect/>
          </a:stretch>
        </p:blipFill>
        <p:spPr>
          <a:xfrm>
            <a:off x="5953000" y="1750000"/>
            <a:ext cx="5947000" cy="5008000"/>
          </a:xfrm>
          <a:prstGeom prst="rect">
            <a:avLst/>
          </a:prstGeom>
        </p:spPr>
      </p:pic>
      <p:pic>
        <p:nvPicPr>
          <p:cNvPr id="6" name="Logo"/>
          <p:cNvPicPr>
            <a:picLocks noChangeAspect="1"/>
          </p:cNvPicPr>
          <p:nvPr/>
        </p:nvPicPr>
        <p:blipFill>
          <a:blip r:embed="rId3"/>
          <a:stretch>
            <a:fillRect/>
          </a:stretch>
        </p:blipFill>
        <p:spPr>
          <a:xfrm>
            <a:off x="9116786" y="207851"/>
            <a:ext cx="2656114" cy="1193176"/>
          </a:xfrm>
          <a:prstGeom prst="rect">
            <a:avLst/>
          </a:prstGeom>
        </p:spPr>
      </p:pic>
      <p:sp>
        <p:nvSpPr>
          <p:cNvPr id="999" name="PageNum49"/>
          <p:cNvSpPr txBox="1"/>
          <p:nvPr/>
        </p:nvSpPr>
        <p:spPr>
          <a:xfrm>
            <a:off x="11642000" y="6458000"/>
            <a:ext cx="400000" cy="300000"/>
          </a:xfrm>
          <a:prstGeom prst="rect">
            <a:avLst/>
          </a:prstGeom>
          <a:noFill/>
        </p:spPr>
        <p:txBody>
          <a:bodyPr wrap="none" rtlCol="0"/>
          <a:lstStyle/>
          <a:p>
            <a:pPr algn="r"/>
            <a:r>
              <a:rPr lang="it-IT" sz="1400" b="0" dirty="0">
                <a:solidFill>
                  <a:srgbClr val="000000"/>
                </a:solidFill>
                <a:latin typeface="Aptos Display"/>
              </a:rPr>
              <a:t>48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CC0000"/>
          </a:solidFill>
          <a:ln w="12700">
            <a:solidFill>
              <a:srgbClr val="CC0000"/>
            </a:solidFill>
            <a:prstDash val="solid"/>
          </a:ln>
        </p:spPr>
        <p:txBody>
          <a:bodyPr/>
          <a:lstStyle/>
          <a:p>
            <a:endParaRPr lang="it-IT" sz="2400"/>
          </a:p>
        </p:txBody>
      </p:sp>
      <p:sp>
        <p:nvSpPr>
          <p:cNvPr id="3" name="Text 1"/>
          <p:cNvSpPr/>
          <p:nvPr/>
        </p:nvSpPr>
        <p:spPr>
          <a:xfrm>
            <a:off x="426720" y="0"/>
            <a:ext cx="11338560" cy="914400"/>
          </a:xfrm>
          <a:prstGeom prst="rect">
            <a:avLst/>
          </a:prstGeom>
          <a:noFill/>
          <a:ln/>
        </p:spPr>
        <p:txBody>
          <a:bodyPr wrap="square" lIns="0" tIns="0" rIns="0" bIns="0" rtlCol="0" anchor="ctr"/>
          <a:lstStyle/>
          <a:p>
            <a:r>
              <a:rPr lang="en-US" sz="2933" b="1" dirty="0">
                <a:solidFill>
                  <a:srgbClr val="FFFFFF"/>
                </a:solidFill>
              </a:rPr>
              <a:t>K-Means — </a:t>
            </a:r>
            <a:r>
              <a:rPr lang="en-US" sz="2933" b="1" dirty="0" err="1">
                <a:solidFill>
                  <a:srgbClr val="FFFFFF"/>
                </a:solidFill>
              </a:rPr>
              <a:t>Profilazione</a:t>
            </a:r>
            <a:r>
              <a:rPr lang="en-US" sz="2933" b="1" dirty="0">
                <a:solidFill>
                  <a:srgbClr val="FFFFFF"/>
                </a:solidFill>
              </a:rPr>
              <a:t> Commerciale (</a:t>
            </a:r>
            <a:r>
              <a:rPr lang="en-US" sz="2933" b="1" dirty="0" err="1">
                <a:solidFill>
                  <a:srgbClr val="FFFFFF"/>
                </a:solidFill>
              </a:rPr>
              <a:t>Modello</a:t>
            </a:r>
            <a:r>
              <a:rPr lang="en-US" sz="2933" b="1" dirty="0">
                <a:solidFill>
                  <a:srgbClr val="FFFFFF"/>
                </a:solidFill>
              </a:rPr>
              <a:t> </a:t>
            </a:r>
            <a:r>
              <a:rPr lang="en-US" sz="2933" b="1" dirty="0" err="1">
                <a:solidFill>
                  <a:srgbClr val="FFFFFF"/>
                </a:solidFill>
              </a:rPr>
              <a:t>Multinomiale</a:t>
            </a:r>
            <a:r>
              <a:rPr lang="en-US" sz="2933" b="1" dirty="0">
                <a:solidFill>
                  <a:srgbClr val="FFFFFF"/>
                </a:solidFill>
              </a:rPr>
              <a:t>)</a:t>
            </a:r>
            <a:endParaRPr lang="en-US" sz="2933" dirty="0"/>
          </a:p>
        </p:txBody>
      </p:sp>
      <p:sp>
        <p:nvSpPr>
          <p:cNvPr id="14" name="Shape 11"/>
          <p:cNvSpPr/>
          <p:nvPr/>
        </p:nvSpPr>
        <p:spPr>
          <a:xfrm>
            <a:off x="6621191" y="1688123"/>
            <a:ext cx="4438696" cy="4962025"/>
          </a:xfrm>
          <a:prstGeom prst="rect">
            <a:avLst/>
          </a:prstGeom>
          <a:solidFill>
            <a:schemeClr val="accent2">
              <a:lumMod val="20000"/>
              <a:lumOff val="80000"/>
            </a:schemeClr>
          </a:solidFill>
          <a:ln w="12700">
            <a:solidFill>
              <a:srgbClr val="C00000"/>
            </a:solidFill>
            <a:prstDash val="solid"/>
          </a:ln>
        </p:spPr>
        <p:txBody>
          <a:bodyPr/>
          <a:lstStyle/>
          <a:p>
            <a:endParaRPr lang="it-IT" sz="4267"/>
          </a:p>
        </p:txBody>
      </p:sp>
      <p:sp>
        <p:nvSpPr>
          <p:cNvPr id="15" name="Text 12"/>
          <p:cNvSpPr/>
          <p:nvPr/>
        </p:nvSpPr>
        <p:spPr>
          <a:xfrm>
            <a:off x="6767900" y="1761965"/>
            <a:ext cx="4145277" cy="691020"/>
          </a:xfrm>
          <a:prstGeom prst="rect">
            <a:avLst/>
          </a:prstGeom>
          <a:noFill/>
          <a:ln/>
        </p:spPr>
        <p:txBody>
          <a:bodyPr wrap="square" rtlCol="0" anchor="ctr"/>
          <a:lstStyle/>
          <a:p>
            <a:r>
              <a:rPr lang="en-US" sz="2133" b="1" dirty="0" err="1">
                <a:solidFill>
                  <a:srgbClr val="CC0000"/>
                </a:solidFill>
              </a:rPr>
              <a:t>Risultati</a:t>
            </a:r>
            <a:r>
              <a:rPr lang="en-US" sz="2133" b="1" dirty="0">
                <a:solidFill>
                  <a:srgbClr val="CC0000"/>
                </a:solidFill>
              </a:rPr>
              <a:t> del </a:t>
            </a:r>
            <a:r>
              <a:rPr lang="en-US" sz="2133" b="1" dirty="0" err="1">
                <a:solidFill>
                  <a:srgbClr val="CC0000"/>
                </a:solidFill>
              </a:rPr>
              <a:t>Modello</a:t>
            </a:r>
            <a:r>
              <a:rPr lang="en-US" sz="2133" b="1" dirty="0">
                <a:solidFill>
                  <a:srgbClr val="CC0000"/>
                </a:solidFill>
              </a:rPr>
              <a:t> (Test ANOVA)</a:t>
            </a:r>
          </a:p>
        </p:txBody>
      </p:sp>
      <p:sp>
        <p:nvSpPr>
          <p:cNvPr id="16" name="Text 13"/>
          <p:cNvSpPr/>
          <p:nvPr/>
        </p:nvSpPr>
        <p:spPr>
          <a:xfrm>
            <a:off x="6776941" y="2543234"/>
            <a:ext cx="4127193" cy="3648919"/>
          </a:xfrm>
          <a:prstGeom prst="rect">
            <a:avLst/>
          </a:prstGeom>
          <a:noFill/>
          <a:ln/>
        </p:spPr>
        <p:txBody>
          <a:bodyPr wrap="square" rtlCol="0" anchor="ctr"/>
          <a:lstStyle/>
          <a:p>
            <a:pPr marL="380990" indent="-380990">
              <a:lnSpc>
                <a:spcPct val="150000"/>
              </a:lnSpc>
              <a:spcBef>
                <a:spcPts val="1067"/>
              </a:spcBef>
              <a:buFont typeface="Arial" panose="020B0604020202020204" pitchFamily="34" charset="0"/>
              <a:buChar char="•"/>
            </a:pPr>
            <a:r>
              <a:rPr lang="it-IT" sz="1867" b="1" dirty="0">
                <a:solidFill>
                  <a:srgbClr val="333333"/>
                </a:solidFill>
              </a:rPr>
              <a:t>Predittori Primari</a:t>
            </a:r>
            <a:r>
              <a:rPr lang="it-IT" sz="1867" dirty="0">
                <a:solidFill>
                  <a:srgbClr val="333333"/>
                </a:solidFill>
              </a:rPr>
              <a:t>: Brand e Sponsorizzazione (Boost).</a:t>
            </a:r>
            <a:br>
              <a:rPr lang="it-IT" sz="1867" dirty="0">
                <a:solidFill>
                  <a:srgbClr val="333333"/>
                </a:solidFill>
              </a:rPr>
            </a:br>
            <a:r>
              <a:rPr lang="it-IT" sz="1867" dirty="0">
                <a:solidFill>
                  <a:srgbClr val="333333"/>
                </a:solidFill>
              </a:rPr>
              <a:t>Guidano fortemente la segmentazione commerciale.</a:t>
            </a:r>
          </a:p>
          <a:p>
            <a:pPr marL="380990" indent="-380990">
              <a:lnSpc>
                <a:spcPct val="150000"/>
              </a:lnSpc>
              <a:spcBef>
                <a:spcPts val="1067"/>
              </a:spcBef>
              <a:buFont typeface="Arial" panose="020B0604020202020204" pitchFamily="34" charset="0"/>
              <a:buChar char="•"/>
            </a:pPr>
            <a:r>
              <a:rPr lang="it-IT" sz="1867" b="1" dirty="0">
                <a:solidFill>
                  <a:srgbClr val="333333"/>
                </a:solidFill>
              </a:rPr>
              <a:t>Predittore Secondario</a:t>
            </a:r>
            <a:r>
              <a:rPr lang="it-IT" sz="1867" dirty="0">
                <a:solidFill>
                  <a:srgbClr val="333333"/>
                </a:solidFill>
              </a:rPr>
              <a:t>: </a:t>
            </a:r>
            <a:r>
              <a:rPr lang="en-US" sz="1867" dirty="0" err="1">
                <a:solidFill>
                  <a:srgbClr val="333333"/>
                </a:solidFill>
              </a:rPr>
              <a:t>Colore</a:t>
            </a:r>
            <a:r>
              <a:rPr lang="en-US" sz="1867" dirty="0">
                <a:solidFill>
                  <a:srgbClr val="333333"/>
                </a:solidFill>
              </a:rPr>
              <a:t>. </a:t>
            </a:r>
            <a:br>
              <a:rPr lang="en-US" sz="1867" dirty="0">
                <a:solidFill>
                  <a:srgbClr val="333333"/>
                </a:solidFill>
              </a:rPr>
            </a:br>
            <a:r>
              <a:rPr lang="it-IT" sz="1867" dirty="0">
                <a:solidFill>
                  <a:srgbClr val="333333"/>
                </a:solidFill>
              </a:rPr>
              <a:t>Risulta statisticamente significativo, ma con un effetto limitato rispetto alle logiche di marca e di marketing.</a:t>
            </a:r>
            <a:endParaRPr lang="en-US" sz="1867" dirty="0"/>
          </a:p>
        </p:txBody>
      </p:sp>
      <p:sp>
        <p:nvSpPr>
          <p:cNvPr id="17" name="Shape 9">
            <a:extLst>
              <a:ext uri="{FF2B5EF4-FFF2-40B4-BE49-F238E27FC236}">
                <a16:creationId xmlns:a16="http://schemas.microsoft.com/office/drawing/2014/main" id="{090824F6-9C01-F6BD-E6CA-B7FE7B49E8C3}"/>
              </a:ext>
            </a:extLst>
          </p:cNvPr>
          <p:cNvSpPr/>
          <p:nvPr/>
        </p:nvSpPr>
        <p:spPr>
          <a:xfrm>
            <a:off x="1132113" y="1688124"/>
            <a:ext cx="4438696" cy="4962024"/>
          </a:xfrm>
          <a:prstGeom prst="rect">
            <a:avLst/>
          </a:prstGeom>
          <a:solidFill>
            <a:schemeClr val="bg1">
              <a:lumMod val="95000"/>
            </a:schemeClr>
          </a:solidFill>
          <a:ln w="12700">
            <a:solidFill>
              <a:srgbClr val="C00000"/>
            </a:solidFill>
            <a:prstDash val="solid"/>
          </a:ln>
        </p:spPr>
        <p:txBody>
          <a:bodyPr/>
          <a:lstStyle/>
          <a:p>
            <a:endParaRPr lang="it-IT" sz="2400"/>
          </a:p>
        </p:txBody>
      </p:sp>
      <p:sp>
        <p:nvSpPr>
          <p:cNvPr id="18" name="Text 12">
            <a:extLst>
              <a:ext uri="{FF2B5EF4-FFF2-40B4-BE49-F238E27FC236}">
                <a16:creationId xmlns:a16="http://schemas.microsoft.com/office/drawing/2014/main" id="{E7E33AA0-B218-C60A-054C-3B183C6FDE87}"/>
              </a:ext>
            </a:extLst>
          </p:cNvPr>
          <p:cNvSpPr/>
          <p:nvPr/>
        </p:nvSpPr>
        <p:spPr>
          <a:xfrm>
            <a:off x="1296907" y="1715868"/>
            <a:ext cx="4109108" cy="783213"/>
          </a:xfrm>
          <a:prstGeom prst="rect">
            <a:avLst/>
          </a:prstGeom>
          <a:noFill/>
          <a:ln/>
        </p:spPr>
        <p:txBody>
          <a:bodyPr wrap="square" rtlCol="0" anchor="ctr"/>
          <a:lstStyle/>
          <a:p>
            <a:r>
              <a:rPr lang="en-US" sz="2133" b="1" dirty="0" err="1">
                <a:solidFill>
                  <a:srgbClr val="CC0000"/>
                </a:solidFill>
              </a:rPr>
              <a:t>Obiettivo</a:t>
            </a:r>
            <a:r>
              <a:rPr lang="en-US" sz="2133" b="1" dirty="0">
                <a:solidFill>
                  <a:srgbClr val="CC0000"/>
                </a:solidFill>
              </a:rPr>
              <a:t> della </a:t>
            </a:r>
            <a:r>
              <a:rPr lang="en-US" sz="2133" b="1" dirty="0" err="1">
                <a:solidFill>
                  <a:srgbClr val="CC0000"/>
                </a:solidFill>
              </a:rPr>
              <a:t>profilazione</a:t>
            </a:r>
            <a:r>
              <a:rPr lang="en-US" sz="2133" b="1" dirty="0">
                <a:solidFill>
                  <a:srgbClr val="CC0000"/>
                </a:solidFill>
              </a:rPr>
              <a:t>:</a:t>
            </a:r>
            <a:endParaRPr lang="en-US" sz="2133" dirty="0"/>
          </a:p>
        </p:txBody>
      </p:sp>
      <p:sp>
        <p:nvSpPr>
          <p:cNvPr id="20" name="TextBox 19">
            <a:extLst>
              <a:ext uri="{FF2B5EF4-FFF2-40B4-BE49-F238E27FC236}">
                <a16:creationId xmlns:a16="http://schemas.microsoft.com/office/drawing/2014/main" id="{69B6CE79-0837-E0FA-B585-2D49A08C596C}"/>
              </a:ext>
            </a:extLst>
          </p:cNvPr>
          <p:cNvSpPr txBox="1"/>
          <p:nvPr/>
        </p:nvSpPr>
        <p:spPr>
          <a:xfrm>
            <a:off x="1296907" y="2406889"/>
            <a:ext cx="4109108" cy="2637004"/>
          </a:xfrm>
          <a:prstGeom prst="rect">
            <a:avLst/>
          </a:prstGeom>
          <a:noFill/>
        </p:spPr>
        <p:txBody>
          <a:bodyPr wrap="square">
            <a:spAutoFit/>
          </a:bodyPr>
          <a:lstStyle/>
          <a:p>
            <a:pPr>
              <a:lnSpc>
                <a:spcPct val="150000"/>
              </a:lnSpc>
            </a:pPr>
            <a:r>
              <a:rPr lang="it-IT" sz="1867" dirty="0">
                <a:solidFill>
                  <a:srgbClr val="333333"/>
                </a:solidFill>
              </a:rPr>
              <a:t>Valutare l'impatto delle variabili qualitative (Brand, Colore, Sponsorizzazione) sull'appartenenza ai 4 segmenti precedentemente individuati, tramite un </a:t>
            </a:r>
            <a:r>
              <a:rPr lang="it-IT" sz="1867" b="1" dirty="0">
                <a:solidFill>
                  <a:srgbClr val="333333"/>
                </a:solidFill>
              </a:rPr>
              <a:t>modello di regressione multinomiale</a:t>
            </a:r>
            <a:r>
              <a:rPr lang="it-IT" sz="1867" dirty="0">
                <a:solidFill>
                  <a:srgbClr val="333333"/>
                </a:solidFill>
              </a:rPr>
              <a:t>.</a:t>
            </a:r>
          </a:p>
        </p:txBody>
      </p:sp>
      <p:sp>
        <p:nvSpPr>
          <p:cNvPr id="5" name="CasellaDiTesto 4">
            <a:extLst>
              <a:ext uri="{FF2B5EF4-FFF2-40B4-BE49-F238E27FC236}">
                <a16:creationId xmlns:a16="http://schemas.microsoft.com/office/drawing/2014/main" id="{B7610893-35C5-6517-86C0-CD21A24EE2F9}"/>
              </a:ext>
            </a:extLst>
          </p:cNvPr>
          <p:cNvSpPr txBox="1"/>
          <p:nvPr/>
        </p:nvSpPr>
        <p:spPr>
          <a:xfrm>
            <a:off x="5933660" y="6282402"/>
            <a:ext cx="6102626" cy="369332"/>
          </a:xfrm>
          <a:prstGeom prst="rect">
            <a:avLst/>
          </a:prstGeom>
          <a:noFill/>
        </p:spPr>
        <p:txBody>
          <a:bodyPr wrap="square">
            <a:spAutoFit/>
          </a:bodyPr>
          <a:lstStyle/>
          <a:p>
            <a:pPr algn="r"/>
            <a:r>
              <a:rPr lang="it-IT" b="0" dirty="0">
                <a:solidFill>
                  <a:srgbClr val="000000"/>
                </a:solidFill>
                <a:latin typeface="Aptos Display"/>
              </a:rPr>
              <a:t>50</a:t>
            </a:r>
            <a:endParaRPr lang="it-IT" sz="1800" b="0" dirty="0">
              <a:solidFill>
                <a:srgbClr val="000000"/>
              </a:solidFill>
              <a:latin typeface="Aptos Display"/>
            </a:endParaRPr>
          </a:p>
        </p:txBody>
      </p:sp>
      <p:sp>
        <p:nvSpPr>
          <p:cNvPr id="6" name="Rettangolo 5">
            <a:extLst>
              <a:ext uri="{FF2B5EF4-FFF2-40B4-BE49-F238E27FC236}">
                <a16:creationId xmlns:a16="http://schemas.microsoft.com/office/drawing/2014/main" id="{BF1F4861-8E5B-0FB8-0334-05B98BC38C48}"/>
              </a:ext>
            </a:extLst>
          </p:cNvPr>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pic>
        <p:nvPicPr>
          <p:cNvPr id="7" name="Logo">
            <a:extLst>
              <a:ext uri="{FF2B5EF4-FFF2-40B4-BE49-F238E27FC236}">
                <a16:creationId xmlns:a16="http://schemas.microsoft.com/office/drawing/2014/main" id="{A64A7C6C-25E4-843A-4C73-0B91EEFE7CDF}"/>
              </a:ext>
            </a:extLst>
          </p:cNvPr>
          <p:cNvPicPr>
            <a:picLocks noChangeAspect="1"/>
          </p:cNvPicPr>
          <p:nvPr/>
        </p:nvPicPr>
        <p:blipFill>
          <a:blip r:embed="rId3"/>
          <a:stretch>
            <a:fillRect/>
          </a:stretch>
        </p:blipFill>
        <p:spPr>
          <a:xfrm>
            <a:off x="9380172" y="207852"/>
            <a:ext cx="2656114" cy="1193176"/>
          </a:xfrm>
          <a:prstGeom prst="rect">
            <a:avLst/>
          </a:prstGeom>
        </p:spPr>
      </p:pic>
      <p:sp>
        <p:nvSpPr>
          <p:cNvPr id="9" name="CasellaDiTesto 8">
            <a:extLst>
              <a:ext uri="{FF2B5EF4-FFF2-40B4-BE49-F238E27FC236}">
                <a16:creationId xmlns:a16="http://schemas.microsoft.com/office/drawing/2014/main" id="{E1820EDD-C222-C27F-B0D8-DE46CE221CB8}"/>
              </a:ext>
            </a:extLst>
          </p:cNvPr>
          <p:cNvSpPr txBox="1"/>
          <p:nvPr/>
        </p:nvSpPr>
        <p:spPr>
          <a:xfrm>
            <a:off x="201677" y="0"/>
            <a:ext cx="8653304" cy="1323439"/>
          </a:xfrm>
          <a:prstGeom prst="rect">
            <a:avLst/>
          </a:prstGeom>
          <a:noFill/>
        </p:spPr>
        <p:txBody>
          <a:bodyPr wrap="square">
            <a:spAutoFit/>
          </a:bodyPr>
          <a:lstStyle/>
          <a:p>
            <a:pPr marL="0" indent="0">
              <a:buNone/>
            </a:pPr>
            <a:r>
              <a:rPr lang="en-US" sz="4000" b="1" dirty="0">
                <a:solidFill>
                  <a:srgbClr val="FFFFFF"/>
                </a:solidFill>
              </a:rPr>
              <a:t>K-Means: </a:t>
            </a:r>
            <a:r>
              <a:rPr lang="en-US" sz="4000" b="1" dirty="0" err="1">
                <a:solidFill>
                  <a:srgbClr val="FFFFFF"/>
                </a:solidFill>
              </a:rPr>
              <a:t>Profilazione</a:t>
            </a:r>
            <a:r>
              <a:rPr lang="en-US" sz="4000" b="1" dirty="0">
                <a:solidFill>
                  <a:srgbClr val="FFFFFF"/>
                </a:solidFill>
              </a:rPr>
              <a:t> Commerciale (</a:t>
            </a:r>
            <a:r>
              <a:rPr lang="en-US" sz="4000" b="1" dirty="0" err="1">
                <a:solidFill>
                  <a:srgbClr val="FFFFFF"/>
                </a:solidFill>
              </a:rPr>
              <a:t>Modello</a:t>
            </a:r>
            <a:r>
              <a:rPr lang="en-US" sz="4000" b="1" dirty="0">
                <a:solidFill>
                  <a:srgbClr val="FFFFFF"/>
                </a:solidFill>
              </a:rPr>
              <a:t> </a:t>
            </a:r>
            <a:r>
              <a:rPr lang="en-US" sz="4000" b="1" dirty="0" err="1">
                <a:solidFill>
                  <a:srgbClr val="FFFFFF"/>
                </a:solidFill>
              </a:rPr>
              <a:t>Multinomiale</a:t>
            </a:r>
            <a:r>
              <a:rPr lang="en-US" sz="4000" b="1" dirty="0">
                <a:solidFill>
                  <a:srgbClr val="FFFFFF"/>
                </a:solidFill>
              </a:rPr>
              <a:t>)</a:t>
            </a:r>
            <a:endParaRPr lang="en-US" sz="4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0B40-DF3E-7B3D-291B-CFB1C1B0464C}"/>
            </a:ext>
          </a:extLst>
        </p:cNvPr>
        <p:cNvGrpSpPr/>
        <p:nvPr/>
      </p:nvGrpSpPr>
      <p:grpSpPr>
        <a:xfrm>
          <a:off x="0" y="0"/>
          <a:ext cx="0" cy="0"/>
          <a:chOff x="0" y="0"/>
          <a:chExt cx="0" cy="0"/>
        </a:xfrm>
      </p:grpSpPr>
      <p:sp>
        <p:nvSpPr>
          <p:cNvPr id="4" name="Rettangolo 3"/>
          <p:cNvSpPr/>
          <p:nvPr/>
        </p:nvSpPr>
        <p:spPr>
          <a:xfrm>
            <a:off x="0" y="0"/>
            <a:ext cx="12192000" cy="1608881"/>
          </a:xfrm>
          <a:prstGeom prst="rect">
            <a:avLst/>
          </a:prstGeom>
          <a:solidFill>
            <a:srgbClr val="B20E10"/>
          </a:solidFill>
          <a:ln>
            <a:solidFill>
              <a:srgbClr val="B20E10"/>
            </a:solidFill>
          </a:ln>
        </p:spPr>
        <p:txBody>
          <a:bodyPr rtlCol="0" anchor="ctr"/>
          <a:lstStyle/>
          <a:p>
            <a:pPr algn="ctr"/>
            <a:endParaRPr lang="it-IT"/>
          </a:p>
        </p:txBody>
      </p:sp>
      <p:sp>
        <p:nvSpPr>
          <p:cNvPr id="200" name="TitoloP1"/>
          <p:cNvSpPr>
            <a:spLocks noGrp="1"/>
          </p:cNvSpPr>
          <p:nvPr>
            <p:ph type="title"/>
          </p:nvPr>
        </p:nvSpPr>
        <p:spPr>
          <a:xfrm>
            <a:off x="0" y="141658"/>
            <a:ext cx="8938200" cy="1325563"/>
          </a:xfrm>
        </p:spPr>
        <p:txBody>
          <a:bodyPr>
            <a:normAutofit/>
          </a:bodyPr>
          <a:lstStyle/>
          <a:p>
            <a:r>
              <a:rPr lang="it-IT" sz="4000" dirty="0">
                <a:solidFill>
                  <a:schemeClr val="bg1"/>
                </a:solidFill>
                <a:latin typeface="Aptos Display"/>
              </a:rPr>
              <a:t>Clustering Gower (Gerarchico)</a:t>
            </a:r>
            <a:br>
              <a:rPr lang="it-IT" sz="4000" dirty="0">
                <a:solidFill>
                  <a:schemeClr val="bg1"/>
                </a:solidFill>
                <a:latin typeface="Aptos Display"/>
              </a:rPr>
            </a:br>
            <a:r>
              <a:rPr lang="it-IT" sz="4000" dirty="0">
                <a:solidFill>
                  <a:schemeClr val="bg1"/>
                </a:solidFill>
                <a:latin typeface="Aptos Display"/>
              </a:rPr>
              <a:t>Profili dei 4 Segmenti</a:t>
            </a:r>
          </a:p>
        </p:txBody>
      </p:sp>
      <p:pic>
        <p:nvPicPr>
          <p:cNvPr id="201" name="Logo"/>
          <p:cNvPicPr>
            <a:picLocks noChangeAspect="1"/>
          </p:cNvPicPr>
          <p:nvPr/>
        </p:nvPicPr>
        <p:blipFill>
          <a:blip r:embed="rId2"/>
          <a:stretch>
            <a:fillRect/>
          </a:stretch>
        </p:blipFill>
        <p:spPr>
          <a:xfrm>
            <a:off x="9116786" y="207851"/>
            <a:ext cx="2656114" cy="1193176"/>
          </a:xfrm>
          <a:prstGeom prst="rect">
            <a:avLst/>
          </a:prstGeom>
        </p:spPr>
      </p:pic>
      <p:sp>
        <p:nvSpPr>
          <p:cNvPr id="999" name="PageNum51"/>
          <p:cNvSpPr txBox="1"/>
          <p:nvPr/>
        </p:nvSpPr>
        <p:spPr>
          <a:xfrm>
            <a:off x="11804417" y="6515650"/>
            <a:ext cx="400000" cy="300000"/>
          </a:xfrm>
          <a:prstGeom prst="rect">
            <a:avLst/>
          </a:prstGeom>
          <a:noFill/>
        </p:spPr>
        <p:txBody>
          <a:bodyPr wrap="none" rtlCol="0"/>
          <a:lstStyle/>
          <a:p>
            <a:pPr algn="r"/>
            <a:r>
              <a:rPr lang="it-IT" sz="1400" b="0" dirty="0">
                <a:solidFill>
                  <a:srgbClr val="000000"/>
                </a:solidFill>
                <a:latin typeface="Aptos Display"/>
              </a:rPr>
              <a:t>51</a:t>
            </a:r>
          </a:p>
        </p:txBody>
      </p:sp>
      <p:sp>
        <p:nvSpPr>
          <p:cNvPr id="2" name="Shape 4">
            <a:extLst>
              <a:ext uri="{FF2B5EF4-FFF2-40B4-BE49-F238E27FC236}">
                <a16:creationId xmlns:a16="http://schemas.microsoft.com/office/drawing/2014/main" id="{C92CAB53-44DC-8BD7-427D-6B6DC3C1E91D}"/>
              </a:ext>
            </a:extLst>
          </p:cNvPr>
          <p:cNvSpPr/>
          <p:nvPr/>
        </p:nvSpPr>
        <p:spPr>
          <a:xfrm>
            <a:off x="6250628" y="1847039"/>
            <a:ext cx="525500" cy="376859"/>
          </a:xfrm>
          <a:prstGeom prst="rect">
            <a:avLst/>
          </a:prstGeom>
          <a:solidFill>
            <a:srgbClr val="B20E10"/>
          </a:solidFill>
          <a:ln w="12700">
            <a:solidFill>
              <a:srgbClr val="B20E10"/>
            </a:solidFill>
            <a:prstDash val="solid"/>
          </a:ln>
        </p:spPr>
        <p:txBody>
          <a:bodyPr/>
          <a:lstStyle/>
          <a:p>
            <a:endParaRPr lang="it-IT"/>
          </a:p>
        </p:txBody>
      </p:sp>
      <p:sp>
        <p:nvSpPr>
          <p:cNvPr id="5" name="Text 5">
            <a:extLst>
              <a:ext uri="{FF2B5EF4-FFF2-40B4-BE49-F238E27FC236}">
                <a16:creationId xmlns:a16="http://schemas.microsoft.com/office/drawing/2014/main" id="{FA1698EF-797A-ED1C-111A-54AA775517AC}"/>
              </a:ext>
            </a:extLst>
          </p:cNvPr>
          <p:cNvSpPr/>
          <p:nvPr/>
        </p:nvSpPr>
        <p:spPr>
          <a:xfrm>
            <a:off x="6250628" y="1847039"/>
            <a:ext cx="525500" cy="376859"/>
          </a:xfrm>
          <a:prstGeom prst="rect">
            <a:avLst/>
          </a:prstGeom>
          <a:noFill/>
          <a:ln/>
        </p:spPr>
        <p:txBody>
          <a:bodyPr wrap="square" lIns="0" tIns="0" rIns="0" bIns="0" rtlCol="0" anchor="ctr"/>
          <a:lstStyle/>
          <a:p>
            <a:pPr marL="0" indent="0" algn="ctr">
              <a:buNone/>
            </a:pPr>
            <a:r>
              <a:rPr lang="en-US" sz="1506" b="1" dirty="0">
                <a:solidFill>
                  <a:srgbClr val="FFFFFF"/>
                </a:solidFill>
              </a:rPr>
              <a:t>1</a:t>
            </a:r>
            <a:endParaRPr lang="en-US" sz="1506" dirty="0"/>
          </a:p>
        </p:txBody>
      </p:sp>
      <p:sp>
        <p:nvSpPr>
          <p:cNvPr id="9" name="Text 6">
            <a:extLst>
              <a:ext uri="{FF2B5EF4-FFF2-40B4-BE49-F238E27FC236}">
                <a16:creationId xmlns:a16="http://schemas.microsoft.com/office/drawing/2014/main" id="{D9133FFD-2436-F201-555D-514355D2B14E}"/>
              </a:ext>
            </a:extLst>
          </p:cNvPr>
          <p:cNvSpPr/>
          <p:nvPr/>
        </p:nvSpPr>
        <p:spPr>
          <a:xfrm>
            <a:off x="6799268" y="1763171"/>
            <a:ext cx="5405149" cy="376859"/>
          </a:xfrm>
          <a:prstGeom prst="rect">
            <a:avLst/>
          </a:prstGeom>
          <a:noFill/>
          <a:ln/>
        </p:spPr>
        <p:txBody>
          <a:bodyPr wrap="square" rtlCol="0" anchor="ctr"/>
          <a:lstStyle/>
          <a:p>
            <a:pPr marL="0" indent="0">
              <a:buNone/>
            </a:pPr>
            <a:r>
              <a:rPr lang="en-US" sz="1757" b="1" dirty="0">
                <a:solidFill>
                  <a:srgbClr val="333333"/>
                </a:solidFill>
              </a:rPr>
              <a:t>No Boost (Chiaro)  ·  25%</a:t>
            </a:r>
            <a:endParaRPr lang="en-US" sz="1757" dirty="0"/>
          </a:p>
        </p:txBody>
      </p:sp>
      <p:sp>
        <p:nvSpPr>
          <p:cNvPr id="23" name="Text 7">
            <a:extLst>
              <a:ext uri="{FF2B5EF4-FFF2-40B4-BE49-F238E27FC236}">
                <a16:creationId xmlns:a16="http://schemas.microsoft.com/office/drawing/2014/main" id="{0D955333-8D20-179E-CF8F-645297780DD3}"/>
              </a:ext>
            </a:extLst>
          </p:cNvPr>
          <p:cNvSpPr/>
          <p:nvPr/>
        </p:nvSpPr>
        <p:spPr>
          <a:xfrm>
            <a:off x="6799268" y="2027844"/>
            <a:ext cx="5350000" cy="962068"/>
          </a:xfrm>
          <a:prstGeom prst="rect">
            <a:avLst/>
          </a:prstGeom>
          <a:noFill/>
          <a:ln/>
        </p:spPr>
        <p:txBody>
          <a:bodyPr wrap="square" rtlCol="0" anchor="ctr"/>
          <a:lstStyle/>
          <a:p>
            <a:pPr marL="0" indent="0">
              <a:lnSpc>
                <a:spcPct val="125000"/>
              </a:lnSpc>
              <a:buNone/>
            </a:pPr>
            <a:r>
              <a:rPr lang="it-IT" sz="1757" dirty="0">
                <a:solidFill>
                  <a:srgbClr val="666666"/>
                </a:solidFill>
              </a:rPr>
              <a:t>100% non sponsorizzati, prezzi bassi. </a:t>
            </a:r>
            <a:br>
              <a:rPr lang="it-IT" sz="1757" dirty="0">
                <a:solidFill>
                  <a:srgbClr val="666666"/>
                </a:solidFill>
              </a:rPr>
            </a:br>
            <a:r>
              <a:rPr lang="it-IT" sz="1757" dirty="0">
                <a:solidFill>
                  <a:srgbClr val="666666"/>
                </a:solidFill>
              </a:rPr>
              <a:t>Colori chiari/multicolor. </a:t>
            </a:r>
            <a:br>
              <a:rPr lang="it-IT" sz="1757" dirty="0">
                <a:solidFill>
                  <a:srgbClr val="666666"/>
                </a:solidFill>
              </a:rPr>
            </a:br>
            <a:r>
              <a:rPr lang="it-IT" sz="1757" dirty="0">
                <a:solidFill>
                  <a:srgbClr val="666666"/>
                </a:solidFill>
              </a:rPr>
              <a:t>Rappresenta il fast-fashion da giorno</a:t>
            </a:r>
            <a:endParaRPr lang="en-US" sz="1757" dirty="0"/>
          </a:p>
        </p:txBody>
      </p:sp>
      <p:sp>
        <p:nvSpPr>
          <p:cNvPr id="24" name="Shape 8">
            <a:extLst>
              <a:ext uri="{FF2B5EF4-FFF2-40B4-BE49-F238E27FC236}">
                <a16:creationId xmlns:a16="http://schemas.microsoft.com/office/drawing/2014/main" id="{1E47D33E-83F8-ABB3-1B52-2EEB72086656}"/>
              </a:ext>
            </a:extLst>
          </p:cNvPr>
          <p:cNvSpPr/>
          <p:nvPr/>
        </p:nvSpPr>
        <p:spPr>
          <a:xfrm>
            <a:off x="6250628" y="3118450"/>
            <a:ext cx="525500" cy="376859"/>
          </a:xfrm>
          <a:prstGeom prst="rect">
            <a:avLst/>
          </a:prstGeom>
          <a:solidFill>
            <a:srgbClr val="B20E10"/>
          </a:solidFill>
          <a:ln w="12700">
            <a:solidFill>
              <a:srgbClr val="B20E10"/>
            </a:solidFill>
            <a:prstDash val="solid"/>
          </a:ln>
        </p:spPr>
        <p:txBody>
          <a:bodyPr/>
          <a:lstStyle/>
          <a:p>
            <a:endParaRPr lang="it-IT"/>
          </a:p>
        </p:txBody>
      </p:sp>
      <p:sp>
        <p:nvSpPr>
          <p:cNvPr id="25" name="Text 9">
            <a:extLst>
              <a:ext uri="{FF2B5EF4-FFF2-40B4-BE49-F238E27FC236}">
                <a16:creationId xmlns:a16="http://schemas.microsoft.com/office/drawing/2014/main" id="{63E1B86D-6099-6810-8A2D-E9A01F800665}"/>
              </a:ext>
            </a:extLst>
          </p:cNvPr>
          <p:cNvSpPr/>
          <p:nvPr/>
        </p:nvSpPr>
        <p:spPr>
          <a:xfrm>
            <a:off x="6250628" y="3118450"/>
            <a:ext cx="525500" cy="376859"/>
          </a:xfrm>
          <a:prstGeom prst="rect">
            <a:avLst/>
          </a:prstGeom>
          <a:noFill/>
          <a:ln/>
        </p:spPr>
        <p:txBody>
          <a:bodyPr wrap="square" lIns="0" tIns="0" rIns="0" bIns="0" rtlCol="0" anchor="ctr"/>
          <a:lstStyle/>
          <a:p>
            <a:pPr marL="0" indent="0" algn="ctr">
              <a:buNone/>
            </a:pPr>
            <a:r>
              <a:rPr lang="en-US" sz="1506" b="1" dirty="0">
                <a:solidFill>
                  <a:srgbClr val="FFFFFF"/>
                </a:solidFill>
              </a:rPr>
              <a:t>2</a:t>
            </a:r>
            <a:endParaRPr lang="en-US" sz="1506" dirty="0"/>
          </a:p>
        </p:txBody>
      </p:sp>
      <p:sp>
        <p:nvSpPr>
          <p:cNvPr id="26" name="Text 10">
            <a:extLst>
              <a:ext uri="{FF2B5EF4-FFF2-40B4-BE49-F238E27FC236}">
                <a16:creationId xmlns:a16="http://schemas.microsoft.com/office/drawing/2014/main" id="{D2C4F166-3F97-F6B5-1078-2FD7B321F017}"/>
              </a:ext>
            </a:extLst>
          </p:cNvPr>
          <p:cNvSpPr/>
          <p:nvPr/>
        </p:nvSpPr>
        <p:spPr>
          <a:xfrm>
            <a:off x="6799268" y="3038460"/>
            <a:ext cx="5405149" cy="376859"/>
          </a:xfrm>
          <a:prstGeom prst="rect">
            <a:avLst/>
          </a:prstGeom>
          <a:noFill/>
          <a:ln/>
        </p:spPr>
        <p:txBody>
          <a:bodyPr wrap="square" rtlCol="0" anchor="ctr"/>
          <a:lstStyle/>
          <a:p>
            <a:r>
              <a:rPr lang="en-US" sz="1757" b="1" dirty="0">
                <a:solidFill>
                  <a:srgbClr val="333333"/>
                </a:solidFill>
              </a:rPr>
              <a:t>No Boost (Scuro)  ·  26%</a:t>
            </a:r>
            <a:endParaRPr lang="en-US" sz="1757" dirty="0"/>
          </a:p>
        </p:txBody>
      </p:sp>
      <p:sp>
        <p:nvSpPr>
          <p:cNvPr id="27" name="Text 11">
            <a:extLst>
              <a:ext uri="{FF2B5EF4-FFF2-40B4-BE49-F238E27FC236}">
                <a16:creationId xmlns:a16="http://schemas.microsoft.com/office/drawing/2014/main" id="{F3759167-AC68-EE4E-3C8E-5C3F01EB9997}"/>
              </a:ext>
            </a:extLst>
          </p:cNvPr>
          <p:cNvSpPr/>
          <p:nvPr/>
        </p:nvSpPr>
        <p:spPr>
          <a:xfrm>
            <a:off x="6799268" y="3268219"/>
            <a:ext cx="5300000" cy="1092733"/>
          </a:xfrm>
          <a:prstGeom prst="rect">
            <a:avLst/>
          </a:prstGeom>
          <a:noFill/>
          <a:ln/>
        </p:spPr>
        <p:txBody>
          <a:bodyPr wrap="square" rtlCol="0" anchor="ctr"/>
          <a:lstStyle/>
          <a:p>
            <a:pPr>
              <a:lnSpc>
                <a:spcPct val="125000"/>
              </a:lnSpc>
            </a:pPr>
            <a:r>
              <a:rPr lang="it-IT" sz="1757" dirty="0">
                <a:solidFill>
                  <a:srgbClr val="666666"/>
                </a:solidFill>
              </a:rPr>
              <a:t>100% non sponsorizzati, prezzi bassi. </a:t>
            </a:r>
            <a:br>
              <a:rPr lang="it-IT" sz="1757" dirty="0">
                <a:solidFill>
                  <a:srgbClr val="666666"/>
                </a:solidFill>
              </a:rPr>
            </a:br>
            <a:r>
              <a:rPr lang="it-IT" sz="1757" dirty="0">
                <a:solidFill>
                  <a:srgbClr val="666666"/>
                </a:solidFill>
              </a:rPr>
              <a:t>Monopolio dei capi scuri. </a:t>
            </a:r>
            <a:br>
              <a:rPr lang="it-IT" sz="1757" dirty="0">
                <a:solidFill>
                  <a:srgbClr val="666666"/>
                </a:solidFill>
              </a:rPr>
            </a:br>
            <a:r>
              <a:rPr lang="it-IT" sz="1757" dirty="0">
                <a:solidFill>
                  <a:srgbClr val="666666"/>
                </a:solidFill>
              </a:rPr>
              <a:t>Abbigliamento basic.</a:t>
            </a:r>
            <a:endParaRPr lang="en-US" sz="1757" dirty="0"/>
          </a:p>
        </p:txBody>
      </p:sp>
      <p:sp>
        <p:nvSpPr>
          <p:cNvPr id="28" name="Shape 12">
            <a:extLst>
              <a:ext uri="{FF2B5EF4-FFF2-40B4-BE49-F238E27FC236}">
                <a16:creationId xmlns:a16="http://schemas.microsoft.com/office/drawing/2014/main" id="{D8032464-6D3B-7330-E959-5DD202A481C8}"/>
              </a:ext>
            </a:extLst>
          </p:cNvPr>
          <p:cNvSpPr/>
          <p:nvPr/>
        </p:nvSpPr>
        <p:spPr>
          <a:xfrm>
            <a:off x="6250628" y="4501124"/>
            <a:ext cx="525500" cy="376859"/>
          </a:xfrm>
          <a:prstGeom prst="rect">
            <a:avLst/>
          </a:prstGeom>
          <a:solidFill>
            <a:srgbClr val="B20E10"/>
          </a:solidFill>
          <a:ln w="12700">
            <a:solidFill>
              <a:srgbClr val="B20E10"/>
            </a:solidFill>
            <a:prstDash val="solid"/>
          </a:ln>
        </p:spPr>
        <p:txBody>
          <a:bodyPr/>
          <a:lstStyle/>
          <a:p>
            <a:endParaRPr lang="it-IT"/>
          </a:p>
        </p:txBody>
      </p:sp>
      <p:sp>
        <p:nvSpPr>
          <p:cNvPr id="29" name="Text 13">
            <a:extLst>
              <a:ext uri="{FF2B5EF4-FFF2-40B4-BE49-F238E27FC236}">
                <a16:creationId xmlns:a16="http://schemas.microsoft.com/office/drawing/2014/main" id="{C0945652-3052-4393-AC2D-2C28E269A9FD}"/>
              </a:ext>
            </a:extLst>
          </p:cNvPr>
          <p:cNvSpPr/>
          <p:nvPr/>
        </p:nvSpPr>
        <p:spPr>
          <a:xfrm>
            <a:off x="6250628" y="4501124"/>
            <a:ext cx="525500" cy="376859"/>
          </a:xfrm>
          <a:prstGeom prst="rect">
            <a:avLst/>
          </a:prstGeom>
          <a:noFill/>
          <a:ln/>
        </p:spPr>
        <p:txBody>
          <a:bodyPr wrap="square" lIns="0" tIns="0" rIns="0" bIns="0" rtlCol="0" anchor="ctr"/>
          <a:lstStyle/>
          <a:p>
            <a:pPr marL="0" indent="0" algn="ctr">
              <a:buNone/>
            </a:pPr>
            <a:r>
              <a:rPr lang="en-US" sz="1506" b="1" dirty="0">
                <a:solidFill>
                  <a:srgbClr val="FFFFFF"/>
                </a:solidFill>
              </a:rPr>
              <a:t>3</a:t>
            </a:r>
            <a:endParaRPr lang="en-US" sz="1506" dirty="0"/>
          </a:p>
        </p:txBody>
      </p:sp>
      <p:sp>
        <p:nvSpPr>
          <p:cNvPr id="30" name="Text 14">
            <a:extLst>
              <a:ext uri="{FF2B5EF4-FFF2-40B4-BE49-F238E27FC236}">
                <a16:creationId xmlns:a16="http://schemas.microsoft.com/office/drawing/2014/main" id="{54EF632F-F46B-CE04-97BA-3D7AE73295A5}"/>
              </a:ext>
            </a:extLst>
          </p:cNvPr>
          <p:cNvSpPr/>
          <p:nvPr/>
        </p:nvSpPr>
        <p:spPr>
          <a:xfrm>
            <a:off x="6799268" y="4421134"/>
            <a:ext cx="5405149" cy="376859"/>
          </a:xfrm>
          <a:prstGeom prst="rect">
            <a:avLst/>
          </a:prstGeom>
          <a:noFill/>
          <a:ln/>
        </p:spPr>
        <p:txBody>
          <a:bodyPr wrap="square" rtlCol="0" anchor="ctr"/>
          <a:lstStyle/>
          <a:p>
            <a:pPr marL="0" indent="0">
              <a:buNone/>
            </a:pPr>
            <a:r>
              <a:rPr lang="en-US" sz="1757" b="1" dirty="0">
                <a:solidFill>
                  <a:srgbClr val="333333"/>
                </a:solidFill>
              </a:rPr>
              <a:t>Boosted - Premium (Tinta </a:t>
            </a:r>
            <a:r>
              <a:rPr lang="en-US" sz="1757" b="1" dirty="0" err="1">
                <a:solidFill>
                  <a:srgbClr val="333333"/>
                </a:solidFill>
              </a:rPr>
              <a:t>unita</a:t>
            </a:r>
            <a:r>
              <a:rPr lang="en-US" sz="1757" b="1" dirty="0">
                <a:solidFill>
                  <a:srgbClr val="333333"/>
                </a:solidFill>
              </a:rPr>
              <a:t>)  ·  40%</a:t>
            </a:r>
            <a:endParaRPr lang="en-US" sz="1757" dirty="0"/>
          </a:p>
        </p:txBody>
      </p:sp>
      <p:sp>
        <p:nvSpPr>
          <p:cNvPr id="31" name="Text 15">
            <a:extLst>
              <a:ext uri="{FF2B5EF4-FFF2-40B4-BE49-F238E27FC236}">
                <a16:creationId xmlns:a16="http://schemas.microsoft.com/office/drawing/2014/main" id="{B17CCF58-5901-629F-F2F6-DB5F279EB072}"/>
              </a:ext>
            </a:extLst>
          </p:cNvPr>
          <p:cNvSpPr/>
          <p:nvPr/>
        </p:nvSpPr>
        <p:spPr>
          <a:xfrm>
            <a:off x="6799268" y="4666935"/>
            <a:ext cx="5405149" cy="1025575"/>
          </a:xfrm>
          <a:prstGeom prst="rect">
            <a:avLst/>
          </a:prstGeom>
          <a:noFill/>
          <a:ln/>
        </p:spPr>
        <p:txBody>
          <a:bodyPr wrap="square" rtlCol="0" anchor="ctr"/>
          <a:lstStyle/>
          <a:p>
            <a:pPr marL="0" indent="0">
              <a:lnSpc>
                <a:spcPct val="125000"/>
              </a:lnSpc>
              <a:buNone/>
            </a:pPr>
            <a:r>
              <a:rPr lang="it-IT" sz="1757" dirty="0">
                <a:solidFill>
                  <a:srgbClr val="666666"/>
                </a:solidFill>
              </a:rPr>
              <a:t>100% Sponsorizzato, salto netto di prezzo. Tinta unita. </a:t>
            </a:r>
            <a:br>
              <a:rPr lang="it-IT" sz="1757" dirty="0">
                <a:solidFill>
                  <a:srgbClr val="666666"/>
                </a:solidFill>
              </a:rPr>
            </a:br>
            <a:r>
              <a:rPr lang="it-IT" sz="1757" dirty="0">
                <a:solidFill>
                  <a:srgbClr val="666666"/>
                </a:solidFill>
              </a:rPr>
              <a:t>Marche di lusso e segmento premium.</a:t>
            </a:r>
            <a:endParaRPr lang="en-US" sz="1757" dirty="0"/>
          </a:p>
        </p:txBody>
      </p:sp>
      <p:sp>
        <p:nvSpPr>
          <p:cNvPr id="32" name="Shape 16">
            <a:extLst>
              <a:ext uri="{FF2B5EF4-FFF2-40B4-BE49-F238E27FC236}">
                <a16:creationId xmlns:a16="http://schemas.microsoft.com/office/drawing/2014/main" id="{AF8BD9D5-6F18-3C63-2E55-B5854ECC519E}"/>
              </a:ext>
            </a:extLst>
          </p:cNvPr>
          <p:cNvSpPr/>
          <p:nvPr/>
        </p:nvSpPr>
        <p:spPr>
          <a:xfrm>
            <a:off x="6250628" y="5701124"/>
            <a:ext cx="525500" cy="376859"/>
          </a:xfrm>
          <a:prstGeom prst="rect">
            <a:avLst/>
          </a:prstGeom>
          <a:solidFill>
            <a:srgbClr val="B20E10"/>
          </a:solidFill>
          <a:ln w="12700">
            <a:solidFill>
              <a:srgbClr val="B20E10"/>
            </a:solidFill>
            <a:prstDash val="solid"/>
          </a:ln>
        </p:spPr>
        <p:txBody>
          <a:bodyPr/>
          <a:lstStyle/>
          <a:p>
            <a:endParaRPr lang="it-IT"/>
          </a:p>
        </p:txBody>
      </p:sp>
      <p:sp>
        <p:nvSpPr>
          <p:cNvPr id="33" name="Text 17">
            <a:extLst>
              <a:ext uri="{FF2B5EF4-FFF2-40B4-BE49-F238E27FC236}">
                <a16:creationId xmlns:a16="http://schemas.microsoft.com/office/drawing/2014/main" id="{022C8EFF-0558-91D6-27B8-1947F30E7C2D}"/>
              </a:ext>
            </a:extLst>
          </p:cNvPr>
          <p:cNvSpPr/>
          <p:nvPr/>
        </p:nvSpPr>
        <p:spPr>
          <a:xfrm>
            <a:off x="6250628" y="5701124"/>
            <a:ext cx="525500" cy="376859"/>
          </a:xfrm>
          <a:prstGeom prst="rect">
            <a:avLst/>
          </a:prstGeom>
          <a:noFill/>
          <a:ln/>
        </p:spPr>
        <p:txBody>
          <a:bodyPr wrap="square" lIns="0" tIns="0" rIns="0" bIns="0" rtlCol="0" anchor="ctr"/>
          <a:lstStyle/>
          <a:p>
            <a:pPr marL="0" indent="0" algn="ctr">
              <a:buNone/>
            </a:pPr>
            <a:r>
              <a:rPr lang="en-US" sz="1506" b="1" dirty="0">
                <a:solidFill>
                  <a:srgbClr val="FFFFFF"/>
                </a:solidFill>
              </a:rPr>
              <a:t>4</a:t>
            </a:r>
            <a:endParaRPr lang="en-US" sz="1506" dirty="0"/>
          </a:p>
        </p:txBody>
      </p:sp>
      <p:sp>
        <p:nvSpPr>
          <p:cNvPr id="34" name="Text 18">
            <a:extLst>
              <a:ext uri="{FF2B5EF4-FFF2-40B4-BE49-F238E27FC236}">
                <a16:creationId xmlns:a16="http://schemas.microsoft.com/office/drawing/2014/main" id="{9991F4F6-7666-9728-7686-2A57AEAAE5B3}"/>
              </a:ext>
            </a:extLst>
          </p:cNvPr>
          <p:cNvSpPr/>
          <p:nvPr/>
        </p:nvSpPr>
        <p:spPr>
          <a:xfrm>
            <a:off x="6799268" y="5621133"/>
            <a:ext cx="5405149" cy="376859"/>
          </a:xfrm>
          <a:prstGeom prst="rect">
            <a:avLst/>
          </a:prstGeom>
          <a:noFill/>
          <a:ln/>
        </p:spPr>
        <p:txBody>
          <a:bodyPr wrap="square" rtlCol="0" anchor="ctr"/>
          <a:lstStyle/>
          <a:p>
            <a:pPr marL="0" indent="0">
              <a:buNone/>
            </a:pPr>
            <a:r>
              <a:rPr lang="en-US" sz="1757" b="1" dirty="0">
                <a:solidFill>
                  <a:srgbClr val="333333"/>
                </a:solidFill>
              </a:rPr>
              <a:t>Boosted - Hype (Multicolor)  ·  10%</a:t>
            </a:r>
            <a:endParaRPr lang="en-US" sz="1757" dirty="0"/>
          </a:p>
        </p:txBody>
      </p:sp>
      <p:sp>
        <p:nvSpPr>
          <p:cNvPr id="35" name="Text 19">
            <a:extLst>
              <a:ext uri="{FF2B5EF4-FFF2-40B4-BE49-F238E27FC236}">
                <a16:creationId xmlns:a16="http://schemas.microsoft.com/office/drawing/2014/main" id="{65F2C248-F15B-B32D-FE23-2DF9429EE0EE}"/>
              </a:ext>
            </a:extLst>
          </p:cNvPr>
          <p:cNvSpPr/>
          <p:nvPr/>
        </p:nvSpPr>
        <p:spPr>
          <a:xfrm>
            <a:off x="6799268" y="5917392"/>
            <a:ext cx="5405149" cy="900000"/>
          </a:xfrm>
          <a:prstGeom prst="rect">
            <a:avLst/>
          </a:prstGeom>
          <a:noFill/>
          <a:ln/>
        </p:spPr>
        <p:txBody>
          <a:bodyPr wrap="square" rtlCol="0" anchor="ctr"/>
          <a:lstStyle/>
          <a:p>
            <a:pPr marL="0" indent="0">
              <a:lnSpc>
                <a:spcPct val="125000"/>
              </a:lnSpc>
              <a:buNone/>
            </a:pPr>
            <a:r>
              <a:rPr lang="it-IT" sz="1757" dirty="0">
                <a:solidFill>
                  <a:srgbClr val="666666"/>
                </a:solidFill>
              </a:rPr>
              <a:t>100% Sponsorizzato, prezzi alti. </a:t>
            </a:r>
            <a:br>
              <a:rPr lang="it-IT" sz="1757" dirty="0">
                <a:solidFill>
                  <a:srgbClr val="666666"/>
                </a:solidFill>
              </a:rPr>
            </a:br>
            <a:r>
              <a:rPr lang="it-IT" sz="1757" dirty="0">
                <a:solidFill>
                  <a:srgbClr val="666666"/>
                </a:solidFill>
              </a:rPr>
              <a:t>Multicolor e brand sportivi (picchi di Nike, Converse).</a:t>
            </a:r>
            <a:endParaRPr lang="en-US" sz="1757" dirty="0"/>
          </a:p>
        </p:txBody>
      </p:sp>
      <p:pic>
        <p:nvPicPr>
          <p:cNvPr id="39" name="Image 0" descr="preencoded.png">
            <a:extLst>
              <a:ext uri="{FF2B5EF4-FFF2-40B4-BE49-F238E27FC236}">
                <a16:creationId xmlns:a16="http://schemas.microsoft.com/office/drawing/2014/main" id="{BE1F6EE1-2522-5BA1-6E9E-1FF5CFABA0AD}"/>
              </a:ext>
            </a:extLst>
          </p:cNvPr>
          <p:cNvPicPr>
            <a:picLocks noChangeAspect="1"/>
          </p:cNvPicPr>
          <p:nvPr/>
        </p:nvPicPr>
        <p:blipFill>
          <a:blip r:embed="rId3"/>
          <a:stretch>
            <a:fillRect/>
          </a:stretch>
        </p:blipFill>
        <p:spPr>
          <a:xfrm>
            <a:off x="460588" y="1713805"/>
            <a:ext cx="5296746" cy="2587744"/>
          </a:xfrm>
          <a:prstGeom prst="rect">
            <a:avLst/>
          </a:prstGeom>
        </p:spPr>
      </p:pic>
      <p:pic>
        <p:nvPicPr>
          <p:cNvPr id="6" name="Immagine 5">
            <a:extLst>
              <a:ext uri="{FF2B5EF4-FFF2-40B4-BE49-F238E27FC236}">
                <a16:creationId xmlns:a16="http://schemas.microsoft.com/office/drawing/2014/main" id="{5B181EA6-8482-76B8-BD65-B52A2C5583A6}"/>
              </a:ext>
            </a:extLst>
          </p:cNvPr>
          <p:cNvPicPr>
            <a:picLocks noChangeAspect="1"/>
          </p:cNvPicPr>
          <p:nvPr/>
        </p:nvPicPr>
        <p:blipFill>
          <a:blip r:embed="rId4"/>
          <a:stretch>
            <a:fillRect/>
          </a:stretch>
        </p:blipFill>
        <p:spPr>
          <a:xfrm>
            <a:off x="865294" y="4360952"/>
            <a:ext cx="4892040" cy="2497048"/>
          </a:xfrm>
          <a:prstGeom prst="rect">
            <a:avLst/>
          </a:prstGeom>
        </p:spPr>
      </p:pic>
    </p:spTree>
    <p:extLst>
      <p:ext uri="{BB962C8B-B14F-4D97-AF65-F5344CB8AC3E}">
        <p14:creationId xmlns:p14="http://schemas.microsoft.com/office/powerpoint/2010/main" val="12648029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7402"/>
            <a:ext cx="12192000" cy="1193175"/>
          </a:xfrm>
          <a:prstGeom prst="rect">
            <a:avLst/>
          </a:prstGeom>
          <a:solidFill>
            <a:srgbClr val="B20E10"/>
          </a:solidFill>
          <a:ln w="12700">
            <a:solidFill>
              <a:srgbClr val="CC0000"/>
            </a:solidFill>
            <a:prstDash val="solid"/>
          </a:ln>
        </p:spPr>
        <p:txBody>
          <a:bodyPr/>
          <a:lstStyle/>
          <a:p>
            <a:endParaRPr lang="it-IT" sz="2400" dirty="0"/>
          </a:p>
        </p:txBody>
      </p:sp>
      <p:sp>
        <p:nvSpPr>
          <p:cNvPr id="3" name="Text 1"/>
          <p:cNvSpPr/>
          <p:nvPr/>
        </p:nvSpPr>
        <p:spPr>
          <a:xfrm>
            <a:off x="426720" y="0"/>
            <a:ext cx="11338560" cy="914400"/>
          </a:xfrm>
          <a:prstGeom prst="rect">
            <a:avLst/>
          </a:prstGeom>
          <a:noFill/>
          <a:ln/>
        </p:spPr>
        <p:txBody>
          <a:bodyPr wrap="square" lIns="0" tIns="0" rIns="0" bIns="0" rtlCol="0" anchor="ctr"/>
          <a:lstStyle/>
          <a:p>
            <a:r>
              <a:rPr lang="en-US" sz="2933" b="1" dirty="0">
                <a:solidFill>
                  <a:srgbClr val="FFFFFF"/>
                </a:solidFill>
              </a:rPr>
              <a:t>Sintesi e Conclusioni</a:t>
            </a:r>
            <a:endParaRPr lang="en-US" sz="2933" dirty="0"/>
          </a:p>
        </p:txBody>
      </p:sp>
      <p:sp>
        <p:nvSpPr>
          <p:cNvPr id="4" name="Text 2"/>
          <p:cNvSpPr/>
          <p:nvPr/>
        </p:nvSpPr>
        <p:spPr>
          <a:xfrm>
            <a:off x="426720" y="1127760"/>
            <a:ext cx="10972800" cy="426720"/>
          </a:xfrm>
          <a:prstGeom prst="rect">
            <a:avLst/>
          </a:prstGeom>
          <a:noFill/>
          <a:ln/>
        </p:spPr>
        <p:txBody>
          <a:bodyPr wrap="square" rtlCol="0" anchor="ctr"/>
          <a:lstStyle/>
          <a:p>
            <a:r>
              <a:rPr lang="en-US" sz="2133" b="1" dirty="0">
                <a:solidFill>
                  <a:srgbClr val="333333"/>
                </a:solidFill>
              </a:rPr>
              <a:t>Tre analisi complementari sul mercato Vinted</a:t>
            </a:r>
            <a:endParaRPr lang="en-US" sz="2133" dirty="0"/>
          </a:p>
        </p:txBody>
      </p:sp>
      <p:sp>
        <p:nvSpPr>
          <p:cNvPr id="5" name="Shape 3"/>
          <p:cNvSpPr/>
          <p:nvPr/>
        </p:nvSpPr>
        <p:spPr>
          <a:xfrm>
            <a:off x="426720" y="1584960"/>
            <a:ext cx="3657600" cy="4754880"/>
          </a:xfrm>
          <a:prstGeom prst="rect">
            <a:avLst/>
          </a:prstGeom>
          <a:solidFill>
            <a:srgbClr val="F8F8F8"/>
          </a:solidFill>
          <a:ln w="12700">
            <a:solidFill>
              <a:srgbClr val="DDDDDD"/>
            </a:solidFill>
            <a:prstDash val="solid"/>
          </a:ln>
        </p:spPr>
        <p:txBody>
          <a:bodyPr/>
          <a:lstStyle/>
          <a:p>
            <a:endParaRPr lang="it-IT" sz="2400"/>
          </a:p>
        </p:txBody>
      </p:sp>
      <p:sp>
        <p:nvSpPr>
          <p:cNvPr id="6" name="Shape 4"/>
          <p:cNvSpPr/>
          <p:nvPr/>
        </p:nvSpPr>
        <p:spPr>
          <a:xfrm>
            <a:off x="426720" y="1584960"/>
            <a:ext cx="3657600" cy="548640"/>
          </a:xfrm>
          <a:prstGeom prst="rect">
            <a:avLst/>
          </a:prstGeom>
          <a:solidFill>
            <a:srgbClr val="CC0000"/>
          </a:solidFill>
          <a:ln w="12700">
            <a:solidFill>
              <a:srgbClr val="CC0000"/>
            </a:solidFill>
            <a:prstDash val="solid"/>
          </a:ln>
        </p:spPr>
        <p:txBody>
          <a:bodyPr/>
          <a:lstStyle/>
          <a:p>
            <a:endParaRPr lang="it-IT" sz="2400"/>
          </a:p>
        </p:txBody>
      </p:sp>
      <p:sp>
        <p:nvSpPr>
          <p:cNvPr id="7" name="Shape 5"/>
          <p:cNvSpPr/>
          <p:nvPr/>
        </p:nvSpPr>
        <p:spPr>
          <a:xfrm>
            <a:off x="524256" y="1645920"/>
            <a:ext cx="365760" cy="365760"/>
          </a:xfrm>
          <a:prstGeom prst="ellipse">
            <a:avLst/>
          </a:prstGeom>
          <a:solidFill>
            <a:srgbClr val="FFFFFF"/>
          </a:solidFill>
          <a:ln w="12700">
            <a:solidFill>
              <a:srgbClr val="FFFFFF"/>
            </a:solidFill>
            <a:prstDash val="solid"/>
          </a:ln>
        </p:spPr>
        <p:txBody>
          <a:bodyPr/>
          <a:lstStyle/>
          <a:p>
            <a:endParaRPr lang="it-IT" sz="2400"/>
          </a:p>
        </p:txBody>
      </p:sp>
      <p:sp>
        <p:nvSpPr>
          <p:cNvPr id="8" name="Text 6"/>
          <p:cNvSpPr/>
          <p:nvPr/>
        </p:nvSpPr>
        <p:spPr>
          <a:xfrm>
            <a:off x="524256" y="1645920"/>
            <a:ext cx="365760" cy="365760"/>
          </a:xfrm>
          <a:prstGeom prst="rect">
            <a:avLst/>
          </a:prstGeom>
          <a:noFill/>
          <a:ln/>
        </p:spPr>
        <p:txBody>
          <a:bodyPr wrap="square" lIns="0" tIns="0" rIns="0" bIns="0" rtlCol="0" anchor="ctr"/>
          <a:lstStyle/>
          <a:p>
            <a:pPr algn="ctr"/>
            <a:r>
              <a:rPr lang="en-US" sz="1467" b="1" dirty="0">
                <a:solidFill>
                  <a:srgbClr val="CC0000"/>
                </a:solidFill>
              </a:rPr>
              <a:t>1</a:t>
            </a:r>
            <a:endParaRPr lang="en-US" sz="1467" dirty="0"/>
          </a:p>
        </p:txBody>
      </p:sp>
      <p:sp>
        <p:nvSpPr>
          <p:cNvPr id="9" name="Text 7"/>
          <p:cNvSpPr/>
          <p:nvPr/>
        </p:nvSpPr>
        <p:spPr>
          <a:xfrm>
            <a:off x="975360" y="1621536"/>
            <a:ext cx="3048000" cy="487680"/>
          </a:xfrm>
          <a:prstGeom prst="rect">
            <a:avLst/>
          </a:prstGeom>
          <a:noFill/>
          <a:ln/>
        </p:spPr>
        <p:txBody>
          <a:bodyPr wrap="square" rtlCol="0" anchor="ctr"/>
          <a:lstStyle/>
          <a:p>
            <a:r>
              <a:rPr lang="en-US" sz="1867" b="1" dirty="0">
                <a:solidFill>
                  <a:srgbClr val="FFFFFF"/>
                </a:solidFill>
              </a:rPr>
              <a:t>MBA: </a:t>
            </a:r>
            <a:r>
              <a:rPr lang="en-US" sz="1867" b="1" dirty="0" err="1">
                <a:solidFill>
                  <a:srgbClr val="FFFFFF"/>
                </a:solidFill>
              </a:rPr>
              <a:t>L'Ecosistema</a:t>
            </a:r>
            <a:r>
              <a:rPr lang="en-US" sz="1867" b="1" dirty="0">
                <a:solidFill>
                  <a:srgbClr val="FFFFFF"/>
                </a:solidFill>
              </a:rPr>
              <a:t> del Mercato </a:t>
            </a:r>
            <a:endParaRPr lang="en-US" sz="1867" dirty="0"/>
          </a:p>
        </p:txBody>
      </p:sp>
      <p:sp>
        <p:nvSpPr>
          <p:cNvPr id="10" name="Text 8"/>
          <p:cNvSpPr/>
          <p:nvPr/>
        </p:nvSpPr>
        <p:spPr>
          <a:xfrm>
            <a:off x="579120" y="2292096"/>
            <a:ext cx="3352800" cy="3340608"/>
          </a:xfrm>
          <a:prstGeom prst="rect">
            <a:avLst/>
          </a:prstGeom>
          <a:noFill/>
          <a:ln/>
        </p:spPr>
        <p:txBody>
          <a:bodyPr wrap="square" rtlCol="0" anchor="ctr"/>
          <a:lstStyle/>
          <a:p>
            <a:pPr marL="457189" indent="-457189">
              <a:lnSpc>
                <a:spcPct val="145000"/>
              </a:lnSpc>
              <a:buSzPct val="100000"/>
              <a:buChar char="•"/>
            </a:pPr>
            <a:r>
              <a:rPr lang="it-IT" sz="1600" dirty="0">
                <a:solidFill>
                  <a:srgbClr val="333333"/>
                </a:solidFill>
              </a:rPr>
              <a:t>Le sneakers (Nike, Adidas, Converse) non sono solo scarpe, ma la vera "valuta di scambio" che traina l'intero ecosistema Vinted.</a:t>
            </a:r>
          </a:p>
          <a:p>
            <a:pPr marL="457189" indent="-457189">
              <a:lnSpc>
                <a:spcPct val="145000"/>
              </a:lnSpc>
              <a:buSzPct val="100000"/>
              <a:buChar char="•"/>
            </a:pPr>
            <a:r>
              <a:rPr lang="it-IT" sz="1600" dirty="0">
                <a:solidFill>
                  <a:srgbClr val="333333"/>
                </a:solidFill>
              </a:rPr>
              <a:t>Gli utenti non comprano a caso, ma costruiscono guardaroba complessi guidati da fortissime fedeltà multi-brand.</a:t>
            </a:r>
            <a:endParaRPr lang="en-US" sz="1600" dirty="0"/>
          </a:p>
        </p:txBody>
      </p:sp>
      <p:sp>
        <p:nvSpPr>
          <p:cNvPr id="11" name="Shape 9"/>
          <p:cNvSpPr/>
          <p:nvPr/>
        </p:nvSpPr>
        <p:spPr>
          <a:xfrm>
            <a:off x="4328160" y="1584960"/>
            <a:ext cx="3657600" cy="4754880"/>
          </a:xfrm>
          <a:prstGeom prst="rect">
            <a:avLst/>
          </a:prstGeom>
          <a:solidFill>
            <a:srgbClr val="F8F8F8"/>
          </a:solidFill>
          <a:ln w="12700">
            <a:solidFill>
              <a:srgbClr val="DDDDDD"/>
            </a:solidFill>
            <a:prstDash val="solid"/>
          </a:ln>
        </p:spPr>
        <p:txBody>
          <a:bodyPr/>
          <a:lstStyle/>
          <a:p>
            <a:endParaRPr lang="it-IT" sz="2400"/>
          </a:p>
        </p:txBody>
      </p:sp>
      <p:sp>
        <p:nvSpPr>
          <p:cNvPr id="12" name="Shape 10"/>
          <p:cNvSpPr/>
          <p:nvPr/>
        </p:nvSpPr>
        <p:spPr>
          <a:xfrm>
            <a:off x="4328160" y="1584960"/>
            <a:ext cx="3657600" cy="548640"/>
          </a:xfrm>
          <a:prstGeom prst="rect">
            <a:avLst/>
          </a:prstGeom>
          <a:solidFill>
            <a:srgbClr val="CC0000"/>
          </a:solidFill>
          <a:ln w="12700">
            <a:solidFill>
              <a:srgbClr val="CC0000"/>
            </a:solidFill>
            <a:prstDash val="solid"/>
          </a:ln>
        </p:spPr>
        <p:txBody>
          <a:bodyPr/>
          <a:lstStyle/>
          <a:p>
            <a:endParaRPr lang="it-IT" sz="2400"/>
          </a:p>
        </p:txBody>
      </p:sp>
      <p:sp>
        <p:nvSpPr>
          <p:cNvPr id="13" name="Shape 11"/>
          <p:cNvSpPr/>
          <p:nvPr/>
        </p:nvSpPr>
        <p:spPr>
          <a:xfrm>
            <a:off x="4425696" y="1645920"/>
            <a:ext cx="365760" cy="365760"/>
          </a:xfrm>
          <a:prstGeom prst="ellipse">
            <a:avLst/>
          </a:prstGeom>
          <a:solidFill>
            <a:srgbClr val="FFFFFF"/>
          </a:solidFill>
          <a:ln w="12700">
            <a:solidFill>
              <a:srgbClr val="FFFFFF"/>
            </a:solidFill>
            <a:prstDash val="solid"/>
          </a:ln>
        </p:spPr>
        <p:txBody>
          <a:bodyPr/>
          <a:lstStyle/>
          <a:p>
            <a:endParaRPr lang="it-IT" sz="2400"/>
          </a:p>
        </p:txBody>
      </p:sp>
      <p:sp>
        <p:nvSpPr>
          <p:cNvPr id="14" name="Text 12"/>
          <p:cNvSpPr/>
          <p:nvPr/>
        </p:nvSpPr>
        <p:spPr>
          <a:xfrm>
            <a:off x="4425696" y="1645920"/>
            <a:ext cx="365760" cy="365760"/>
          </a:xfrm>
          <a:prstGeom prst="rect">
            <a:avLst/>
          </a:prstGeom>
          <a:noFill/>
          <a:ln/>
        </p:spPr>
        <p:txBody>
          <a:bodyPr wrap="square" lIns="0" tIns="0" rIns="0" bIns="0" rtlCol="0" anchor="ctr"/>
          <a:lstStyle/>
          <a:p>
            <a:pPr algn="ctr"/>
            <a:r>
              <a:rPr lang="en-US" sz="1467" b="1" dirty="0">
                <a:solidFill>
                  <a:srgbClr val="CC0000"/>
                </a:solidFill>
              </a:rPr>
              <a:t>2</a:t>
            </a:r>
            <a:endParaRPr lang="en-US" sz="1467" dirty="0"/>
          </a:p>
        </p:txBody>
      </p:sp>
      <p:sp>
        <p:nvSpPr>
          <p:cNvPr id="15" name="Text 13"/>
          <p:cNvSpPr/>
          <p:nvPr/>
        </p:nvSpPr>
        <p:spPr>
          <a:xfrm>
            <a:off x="4876800" y="1621536"/>
            <a:ext cx="3048000" cy="487680"/>
          </a:xfrm>
          <a:prstGeom prst="rect">
            <a:avLst/>
          </a:prstGeom>
          <a:noFill/>
          <a:ln/>
        </p:spPr>
        <p:txBody>
          <a:bodyPr wrap="square" rtlCol="0" anchor="ctr"/>
          <a:lstStyle/>
          <a:p>
            <a:r>
              <a:rPr lang="en-US" sz="1867" b="1" dirty="0" err="1">
                <a:solidFill>
                  <a:srgbClr val="FFFFFF"/>
                </a:solidFill>
              </a:rPr>
              <a:t>Analisi</a:t>
            </a:r>
            <a:r>
              <a:rPr lang="en-US" sz="1867" b="1" dirty="0">
                <a:solidFill>
                  <a:srgbClr val="FFFFFF"/>
                </a:solidFill>
              </a:rPr>
              <a:t> di Rete: </a:t>
            </a:r>
            <a:r>
              <a:rPr lang="it-IT" sz="1867" b="1" dirty="0">
                <a:solidFill>
                  <a:srgbClr val="FFFFFF"/>
                </a:solidFill>
              </a:rPr>
              <a:t>Le Regole Nascoste dello Stile</a:t>
            </a:r>
            <a:endParaRPr lang="en-US" sz="1867" dirty="0"/>
          </a:p>
        </p:txBody>
      </p:sp>
      <p:sp>
        <p:nvSpPr>
          <p:cNvPr id="16" name="Text 14"/>
          <p:cNvSpPr/>
          <p:nvPr/>
        </p:nvSpPr>
        <p:spPr>
          <a:xfrm>
            <a:off x="4480560" y="2422725"/>
            <a:ext cx="3352800" cy="3163087"/>
          </a:xfrm>
          <a:prstGeom prst="rect">
            <a:avLst/>
          </a:prstGeom>
          <a:noFill/>
          <a:ln/>
        </p:spPr>
        <p:txBody>
          <a:bodyPr wrap="square" rtlCol="0" anchor="ctr"/>
          <a:lstStyle/>
          <a:p>
            <a:pPr marL="457189" indent="-457189">
              <a:lnSpc>
                <a:spcPct val="145000"/>
              </a:lnSpc>
              <a:buSzPct val="100000"/>
              <a:buChar char="•"/>
            </a:pPr>
            <a:r>
              <a:rPr lang="it-IT" sz="1600" dirty="0">
                <a:solidFill>
                  <a:srgbClr val="333333"/>
                </a:solidFill>
              </a:rPr>
              <a:t>La pura popolarità mainstream non basta a spiegare le co-occorrenze tra i top brand.</a:t>
            </a:r>
          </a:p>
          <a:p>
            <a:pPr marL="457189" indent="-457189">
              <a:lnSpc>
                <a:spcPct val="145000"/>
              </a:lnSpc>
              <a:buSzPct val="100000"/>
              <a:buChar char="•"/>
            </a:pPr>
            <a:r>
              <a:rPr lang="it-IT" sz="1600" dirty="0">
                <a:solidFill>
                  <a:srgbClr val="333333"/>
                </a:solidFill>
              </a:rPr>
              <a:t>A guidare davvero la rete sono le affinità stilistiche e le scelte di nicchia, catturate dalla struttura latente del mercato.</a:t>
            </a:r>
            <a:endParaRPr lang="en-US" sz="1600" dirty="0"/>
          </a:p>
        </p:txBody>
      </p:sp>
      <p:sp>
        <p:nvSpPr>
          <p:cNvPr id="17" name="Shape 15"/>
          <p:cNvSpPr/>
          <p:nvPr/>
        </p:nvSpPr>
        <p:spPr>
          <a:xfrm>
            <a:off x="8229600" y="1584960"/>
            <a:ext cx="3657600" cy="4754880"/>
          </a:xfrm>
          <a:prstGeom prst="rect">
            <a:avLst/>
          </a:prstGeom>
          <a:solidFill>
            <a:srgbClr val="F8F8F8"/>
          </a:solidFill>
          <a:ln w="12700">
            <a:solidFill>
              <a:srgbClr val="DDDDDD"/>
            </a:solidFill>
            <a:prstDash val="solid"/>
          </a:ln>
        </p:spPr>
        <p:txBody>
          <a:bodyPr/>
          <a:lstStyle/>
          <a:p>
            <a:endParaRPr lang="it-IT" sz="2400"/>
          </a:p>
        </p:txBody>
      </p:sp>
      <p:sp>
        <p:nvSpPr>
          <p:cNvPr id="18" name="Shape 16"/>
          <p:cNvSpPr/>
          <p:nvPr/>
        </p:nvSpPr>
        <p:spPr>
          <a:xfrm>
            <a:off x="8229600" y="1584960"/>
            <a:ext cx="3657600" cy="548640"/>
          </a:xfrm>
          <a:prstGeom prst="rect">
            <a:avLst/>
          </a:prstGeom>
          <a:solidFill>
            <a:srgbClr val="CC0000"/>
          </a:solidFill>
          <a:ln w="12700">
            <a:solidFill>
              <a:srgbClr val="CC0000"/>
            </a:solidFill>
            <a:prstDash val="solid"/>
          </a:ln>
        </p:spPr>
        <p:txBody>
          <a:bodyPr/>
          <a:lstStyle/>
          <a:p>
            <a:endParaRPr lang="it-IT" sz="2400"/>
          </a:p>
        </p:txBody>
      </p:sp>
      <p:sp>
        <p:nvSpPr>
          <p:cNvPr id="19" name="Shape 17"/>
          <p:cNvSpPr/>
          <p:nvPr/>
        </p:nvSpPr>
        <p:spPr>
          <a:xfrm>
            <a:off x="8327136" y="1645920"/>
            <a:ext cx="365760" cy="365760"/>
          </a:xfrm>
          <a:prstGeom prst="ellipse">
            <a:avLst/>
          </a:prstGeom>
          <a:solidFill>
            <a:srgbClr val="FFFFFF"/>
          </a:solidFill>
          <a:ln w="12700">
            <a:solidFill>
              <a:srgbClr val="FFFFFF"/>
            </a:solidFill>
            <a:prstDash val="solid"/>
          </a:ln>
        </p:spPr>
        <p:txBody>
          <a:bodyPr/>
          <a:lstStyle/>
          <a:p>
            <a:endParaRPr lang="it-IT" sz="2400"/>
          </a:p>
        </p:txBody>
      </p:sp>
      <p:sp>
        <p:nvSpPr>
          <p:cNvPr id="20" name="Text 18"/>
          <p:cNvSpPr/>
          <p:nvPr/>
        </p:nvSpPr>
        <p:spPr>
          <a:xfrm>
            <a:off x="8327136" y="1645920"/>
            <a:ext cx="365760" cy="365760"/>
          </a:xfrm>
          <a:prstGeom prst="rect">
            <a:avLst/>
          </a:prstGeom>
          <a:noFill/>
          <a:ln/>
        </p:spPr>
        <p:txBody>
          <a:bodyPr wrap="square" lIns="0" tIns="0" rIns="0" bIns="0" rtlCol="0" anchor="ctr"/>
          <a:lstStyle/>
          <a:p>
            <a:pPr algn="ctr"/>
            <a:r>
              <a:rPr lang="en-US" sz="1467" b="1" dirty="0">
                <a:solidFill>
                  <a:srgbClr val="CC0000"/>
                </a:solidFill>
              </a:rPr>
              <a:t>3</a:t>
            </a:r>
            <a:endParaRPr lang="en-US" sz="1467" dirty="0"/>
          </a:p>
        </p:txBody>
      </p:sp>
      <p:sp>
        <p:nvSpPr>
          <p:cNvPr id="21" name="Text 19"/>
          <p:cNvSpPr/>
          <p:nvPr/>
        </p:nvSpPr>
        <p:spPr>
          <a:xfrm>
            <a:off x="8778240" y="1621536"/>
            <a:ext cx="3048000" cy="487680"/>
          </a:xfrm>
          <a:prstGeom prst="rect">
            <a:avLst/>
          </a:prstGeom>
          <a:noFill/>
          <a:ln/>
        </p:spPr>
        <p:txBody>
          <a:bodyPr wrap="square" rtlCol="0" anchor="ctr"/>
          <a:lstStyle/>
          <a:p>
            <a:r>
              <a:rPr lang="en-US" sz="1867" b="1" dirty="0">
                <a:solidFill>
                  <a:srgbClr val="FFFFFF"/>
                </a:solidFill>
              </a:rPr>
              <a:t>Clustering: Il </a:t>
            </a:r>
            <a:r>
              <a:rPr lang="en-US" sz="1867" b="1" dirty="0" err="1">
                <a:solidFill>
                  <a:srgbClr val="FFFFFF"/>
                </a:solidFill>
              </a:rPr>
              <a:t>potere</a:t>
            </a:r>
            <a:r>
              <a:rPr lang="en-US" sz="1867" b="1" dirty="0">
                <a:solidFill>
                  <a:srgbClr val="FFFFFF"/>
                </a:solidFill>
              </a:rPr>
              <a:t> del Marketing</a:t>
            </a:r>
            <a:endParaRPr lang="en-US" sz="1867" dirty="0"/>
          </a:p>
        </p:txBody>
      </p:sp>
      <p:sp>
        <p:nvSpPr>
          <p:cNvPr id="22" name="Text 20"/>
          <p:cNvSpPr/>
          <p:nvPr/>
        </p:nvSpPr>
        <p:spPr>
          <a:xfrm>
            <a:off x="8342812" y="2072640"/>
            <a:ext cx="3352800" cy="3901440"/>
          </a:xfrm>
          <a:prstGeom prst="rect">
            <a:avLst/>
          </a:prstGeom>
          <a:noFill/>
          <a:ln/>
        </p:spPr>
        <p:txBody>
          <a:bodyPr wrap="square" rtlCol="0" anchor="ctr"/>
          <a:lstStyle/>
          <a:p>
            <a:pPr marL="457189" indent="-457189">
              <a:lnSpc>
                <a:spcPct val="145000"/>
              </a:lnSpc>
              <a:buSzPct val="100000"/>
              <a:buChar char="•"/>
            </a:pPr>
            <a:r>
              <a:rPr lang="it-IT" sz="1600" dirty="0">
                <a:solidFill>
                  <a:srgbClr val="333333"/>
                </a:solidFill>
              </a:rPr>
              <a:t>Esistono due dimensioni ortogonali: la demografia (prezzo/taglia) e la strategia di vendita.</a:t>
            </a:r>
          </a:p>
          <a:p>
            <a:pPr marL="457189" indent="-457189">
              <a:lnSpc>
                <a:spcPct val="145000"/>
              </a:lnSpc>
              <a:buSzPct val="100000"/>
              <a:buChar char="•"/>
            </a:pPr>
            <a:r>
              <a:rPr lang="it-IT" sz="1600" dirty="0">
                <a:solidFill>
                  <a:srgbClr val="333333"/>
                </a:solidFill>
              </a:rPr>
              <a:t>L'investimento in Sponsorizzazione (Boost) stravolge la fisica del prodotto, annullando il peso della taglia e garantendo un posizionamento premium.</a:t>
            </a:r>
            <a:endParaRPr lang="en-US" sz="1600" dirty="0"/>
          </a:p>
        </p:txBody>
      </p:sp>
      <p:sp>
        <p:nvSpPr>
          <p:cNvPr id="23" name="Shape 21"/>
          <p:cNvSpPr/>
          <p:nvPr/>
        </p:nvSpPr>
        <p:spPr>
          <a:xfrm>
            <a:off x="426720" y="5921829"/>
            <a:ext cx="11460480" cy="783772"/>
          </a:xfrm>
          <a:prstGeom prst="rect">
            <a:avLst/>
          </a:prstGeom>
          <a:solidFill>
            <a:schemeClr val="accent2">
              <a:lumMod val="40000"/>
              <a:lumOff val="60000"/>
            </a:schemeClr>
          </a:solidFill>
          <a:ln w="12700">
            <a:solidFill>
              <a:srgbClr val="CC0000"/>
            </a:solidFill>
            <a:prstDash val="solid"/>
          </a:ln>
        </p:spPr>
        <p:txBody>
          <a:bodyPr/>
          <a:lstStyle/>
          <a:p>
            <a:endParaRPr lang="it-IT" sz="2400"/>
          </a:p>
        </p:txBody>
      </p:sp>
      <p:sp>
        <p:nvSpPr>
          <p:cNvPr id="24" name="Text 22"/>
          <p:cNvSpPr/>
          <p:nvPr/>
        </p:nvSpPr>
        <p:spPr>
          <a:xfrm>
            <a:off x="548640" y="6064515"/>
            <a:ext cx="11094720" cy="426720"/>
          </a:xfrm>
          <a:prstGeom prst="rect">
            <a:avLst/>
          </a:prstGeom>
          <a:noFill/>
          <a:ln/>
        </p:spPr>
        <p:txBody>
          <a:bodyPr wrap="square" rtlCol="0" anchor="ctr"/>
          <a:lstStyle/>
          <a:p>
            <a:r>
              <a:rPr lang="en-US" sz="1867" dirty="0"/>
              <a:t>L'analisi integrata di MBA, reti e clustering </a:t>
            </a:r>
            <a:r>
              <a:rPr lang="it-IT" sz="1867" dirty="0"/>
              <a:t>ha fornito una mappatura strategica chiara del fast-fashion second-hand, con implicazioni dirette per le logiche di pricing e segmentazione.</a:t>
            </a:r>
            <a:endParaRPr lang="en-US" sz="1867" dirty="0"/>
          </a:p>
        </p:txBody>
      </p:sp>
      <p:pic>
        <p:nvPicPr>
          <p:cNvPr id="25" name="Logo">
            <a:extLst>
              <a:ext uri="{FF2B5EF4-FFF2-40B4-BE49-F238E27FC236}">
                <a16:creationId xmlns:a16="http://schemas.microsoft.com/office/drawing/2014/main" id="{9E1FDBAA-2435-EEA9-C0E5-B5761E59A62B}"/>
              </a:ext>
            </a:extLst>
          </p:cNvPr>
          <p:cNvPicPr>
            <a:picLocks noChangeAspect="1"/>
          </p:cNvPicPr>
          <p:nvPr/>
        </p:nvPicPr>
        <p:blipFill>
          <a:blip r:embed="rId3"/>
          <a:stretch>
            <a:fillRect/>
          </a:stretch>
        </p:blipFill>
        <p:spPr>
          <a:xfrm>
            <a:off x="9322526" y="0"/>
            <a:ext cx="2656114" cy="119317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C6332EAE-76C9-01BF-D28A-E7C838184B5E}"/>
              </a:ext>
            </a:extLst>
          </p:cNvPr>
          <p:cNvSpPr>
            <a:spLocks noGrp="1"/>
          </p:cNvSpPr>
          <p:nvPr>
            <p:ph type="subTitle" idx="1"/>
          </p:nvPr>
        </p:nvSpPr>
        <p:spPr/>
        <p:txBody>
          <a:bodyPr/>
          <a:lstStyle/>
          <a:p>
            <a:endParaRPr lang="it-IT"/>
          </a:p>
        </p:txBody>
      </p:sp>
      <p:pic>
        <p:nvPicPr>
          <p:cNvPr id="3074" name="Picture 2" descr="University of Padua Logo (UNIPD) - PNG Logo Vector Brand Downloads (SVG,  EPS)">
            <a:extLst>
              <a:ext uri="{FF2B5EF4-FFF2-40B4-BE49-F238E27FC236}">
                <a16:creationId xmlns:a16="http://schemas.microsoft.com/office/drawing/2014/main" id="{64A275C1-F4A2-290F-F6A1-7648449F1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9207" y="152321"/>
            <a:ext cx="2933586" cy="1314766"/>
          </a:xfrm>
          <a:prstGeom prst="rect">
            <a:avLst/>
          </a:prstGeom>
          <a:noFill/>
          <a:extLst>
            <a:ext uri="{909E8E84-426E-40DD-AFC4-6F175D3DCCD1}">
              <a14:hiddenFill xmlns:a14="http://schemas.microsoft.com/office/drawing/2010/main">
                <a:solidFill>
                  <a:srgbClr val="FFFFFF"/>
                </a:solidFill>
              </a14:hiddenFill>
            </a:ext>
          </a:extLst>
        </p:spPr>
      </p:pic>
      <p:sp>
        <p:nvSpPr>
          <p:cNvPr id="8" name="Rettangolo 7">
            <a:extLst>
              <a:ext uri="{FF2B5EF4-FFF2-40B4-BE49-F238E27FC236}">
                <a16:creationId xmlns:a16="http://schemas.microsoft.com/office/drawing/2014/main" id="{FA98DAEA-AD18-49BF-7C7C-B9599DDEF7AB}"/>
              </a:ext>
            </a:extLst>
          </p:cNvPr>
          <p:cNvSpPr/>
          <p:nvPr/>
        </p:nvSpPr>
        <p:spPr>
          <a:xfrm>
            <a:off x="0" y="1600200"/>
            <a:ext cx="12192000" cy="5257800"/>
          </a:xfrm>
          <a:prstGeom prst="rect">
            <a:avLst/>
          </a:prstGeom>
          <a:solidFill>
            <a:srgbClr val="B20E10"/>
          </a:solidFill>
          <a:ln>
            <a:solidFill>
              <a:srgbClr val="B20E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 name="CasellaDiTesto 48">
            <a:extLst>
              <a:ext uri="{FF2B5EF4-FFF2-40B4-BE49-F238E27FC236}">
                <a16:creationId xmlns:a16="http://schemas.microsoft.com/office/drawing/2014/main" id="{73F1C0B9-C927-035A-1693-4A6D9CF84BF1}"/>
              </a:ext>
            </a:extLst>
          </p:cNvPr>
          <p:cNvSpPr txBox="1"/>
          <p:nvPr/>
        </p:nvSpPr>
        <p:spPr>
          <a:xfrm>
            <a:off x="756745" y="3721268"/>
            <a:ext cx="8863989" cy="1015663"/>
          </a:xfrm>
          <a:prstGeom prst="rect">
            <a:avLst/>
          </a:prstGeom>
          <a:noFill/>
        </p:spPr>
        <p:txBody>
          <a:bodyPr wrap="square" rtlCol="0">
            <a:spAutoFit/>
          </a:bodyPr>
          <a:lstStyle/>
          <a:p>
            <a:pPr algn="ctr"/>
            <a:r>
              <a:rPr lang="en-US" sz="6000" i="1" dirty="0">
                <a:solidFill>
                  <a:schemeClr val="bg1"/>
                </a:solidFill>
              </a:rPr>
              <a:t>Grazie per </a:t>
            </a:r>
            <a:r>
              <a:rPr lang="en-US" sz="6000" i="1" dirty="0" err="1">
                <a:solidFill>
                  <a:schemeClr val="bg1"/>
                </a:solidFill>
              </a:rPr>
              <a:t>l’attenzione</a:t>
            </a:r>
            <a:r>
              <a:rPr lang="en-US" sz="6000" i="1" dirty="0">
                <a:solidFill>
                  <a:schemeClr val="bg1"/>
                </a:solidFill>
              </a:rPr>
              <a:t>!</a:t>
            </a:r>
            <a:endParaRPr lang="it-IT" sz="6000" i="1" dirty="0">
              <a:solidFill>
                <a:schemeClr val="bg1"/>
              </a:solidFill>
            </a:endParaRPr>
          </a:p>
        </p:txBody>
      </p:sp>
    </p:spTree>
    <p:extLst>
      <p:ext uri="{BB962C8B-B14F-4D97-AF65-F5344CB8AC3E}">
        <p14:creationId xmlns:p14="http://schemas.microsoft.com/office/powerpoint/2010/main" val="379313170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11979</TotalTime>
  <Words>3967</Words>
  <Application>Microsoft Office PowerPoint</Application>
  <PresentationFormat>Widescreen</PresentationFormat>
  <Paragraphs>714</Paragraphs>
  <Slides>53</Slides>
  <Notes>9</Notes>
  <HiddenSlides>0</HiddenSlides>
  <MMClips>0</MMClips>
  <ScaleCrop>false</ScaleCrop>
  <HeadingPairs>
    <vt:vector size="8" baseType="variant">
      <vt:variant>
        <vt:lpstr>Caratteri utilizzati</vt:lpstr>
      </vt:variant>
      <vt:variant>
        <vt:i4>6</vt:i4>
      </vt:variant>
      <vt:variant>
        <vt:lpstr>Tema</vt:lpstr>
      </vt:variant>
      <vt:variant>
        <vt:i4>1</vt:i4>
      </vt:variant>
      <vt:variant>
        <vt:lpstr>Server OLE incorporati</vt:lpstr>
      </vt:variant>
      <vt:variant>
        <vt:i4>1</vt:i4>
      </vt:variant>
      <vt:variant>
        <vt:lpstr>Titoli diapositive</vt:lpstr>
      </vt:variant>
      <vt:variant>
        <vt:i4>53</vt:i4>
      </vt:variant>
    </vt:vector>
  </HeadingPairs>
  <TitlesOfParts>
    <vt:vector size="61" baseType="lpstr">
      <vt:lpstr>Aptos</vt:lpstr>
      <vt:lpstr>Aptos Display</vt:lpstr>
      <vt:lpstr>Arial</vt:lpstr>
      <vt:lpstr>Calibri</vt:lpstr>
      <vt:lpstr>Cambria Math</vt:lpstr>
      <vt:lpstr>Google Sans Text</vt:lpstr>
      <vt:lpstr>Tema di Office</vt:lpstr>
      <vt:lpstr>Acrobat Document</vt:lpstr>
      <vt:lpstr>Presentazione standard di PowerPoint</vt:lpstr>
      <vt:lpstr>I dati</vt:lpstr>
      <vt:lpstr>Il pre-processing: inizio</vt:lpstr>
      <vt:lpstr>Il pre-processing: variabile "brand"</vt:lpstr>
      <vt:lpstr>Il pre-processing: altre variabili </vt:lpstr>
      <vt:lpstr>Integrazione del dataset</vt:lpstr>
      <vt:lpstr>La scaletta della nostra consulenza</vt:lpstr>
      <vt:lpstr>Presentazione standard di PowerPoint</vt:lpstr>
      <vt:lpstr>Raccomandazione dei prezzi</vt:lpstr>
      <vt:lpstr>Regressione sul Prezzo Perché abbiamo trasformato il prezzo con il logaritmo</vt:lpstr>
      <vt:lpstr>Regressione sul Prezzo Percorso modellistico</vt:lpstr>
      <vt:lpstr>Regressione sul Prezzo Il problema delle variabili leakers</vt:lpstr>
      <vt:lpstr>Presentazione standard di PowerPoint</vt:lpstr>
      <vt:lpstr>Presentazione standard di PowerPoint</vt:lpstr>
      <vt:lpstr>Albero</vt:lpstr>
      <vt:lpstr>Random Forest</vt:lpstr>
      <vt:lpstr>Gradient Boosting 1/2</vt:lpstr>
      <vt:lpstr>Gradient Boosting 2/2</vt:lpstr>
      <vt:lpstr>Presentazione standard di PowerPoint</vt:lpstr>
      <vt:lpstr>Presentazione standard di PowerPoint</vt:lpstr>
      <vt:lpstr>Presentazione standard di PowerPoint</vt:lpstr>
      <vt:lpstr>Presentazione standard di PowerPoint</vt:lpstr>
      <vt:lpstr>Albero</vt:lpstr>
      <vt:lpstr>Random Forest</vt:lpstr>
      <vt:lpstr>Gradient Boosting (1)</vt:lpstr>
      <vt:lpstr>Gradient Boosting (2)</vt:lpstr>
      <vt:lpstr>Presentazione standard di PowerPoint</vt:lpstr>
      <vt:lpstr>Presentazione standard di PowerPoint</vt:lpstr>
      <vt:lpstr>Qualità del prodotto</vt:lpstr>
      <vt:lpstr>Presentazione standard di PowerPoint</vt:lpstr>
      <vt:lpstr>Presentazione standard di PowerPoint</vt:lpstr>
      <vt:lpstr>Presentazione standard di PowerPoint</vt:lpstr>
      <vt:lpstr>Classificazione sulla Qualità Permutation Feature Importance: Modello 3C + Pesi</vt:lpstr>
      <vt:lpstr>Presentazione standard di PowerPoint</vt:lpstr>
      <vt:lpstr>Presentazione standard di PowerPoint</vt:lpstr>
      <vt:lpstr>Presentazione standard di PowerPoint</vt:lpstr>
      <vt:lpstr>Presentazione standard di PowerPoint</vt:lpstr>
      <vt:lpstr>Brand intelligence</vt:lpstr>
      <vt:lpstr>  Market Basket Analysis sui Brand</vt:lpstr>
      <vt:lpstr>Presentazione standard di PowerPoint</vt:lpstr>
      <vt:lpstr>MBA: Regole di Associazione per i Brand</vt:lpstr>
      <vt:lpstr>MBA: Visualizzazione delle 66 Regole</vt:lpstr>
      <vt:lpstr> MBA: Grafo delle Regole</vt:lpstr>
      <vt:lpstr>Analisi di Rete: Costruzione e Statistiche</vt:lpstr>
      <vt:lpstr>Presentazione standard di PowerPoint</vt:lpstr>
      <vt:lpstr>Analisi di Rete: La Mappa Latente dei Brand</vt:lpstr>
      <vt:lpstr>Presentazione standard di PowerPoint</vt:lpstr>
      <vt:lpstr>Segmentazione dei prodotti</vt:lpstr>
      <vt:lpstr>Clustering K-Means Euclidea  Profili dei 4 Segmenti</vt:lpstr>
      <vt:lpstr>Presentazione standard di PowerPoint</vt:lpstr>
      <vt:lpstr>Clustering Gower (Gerarchico) Profili dei 4 Segmenti</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Martini</dc:creator>
  <cp:lastModifiedBy>Gian Marco Tomietto</cp:lastModifiedBy>
  <cp:revision>23</cp:revision>
  <dcterms:created xsi:type="dcterms:W3CDTF">2024-03-24T09:51:20Z</dcterms:created>
  <dcterms:modified xsi:type="dcterms:W3CDTF">2026-06-07T17:17:58Z</dcterms:modified>
</cp:coreProperties>
</file>