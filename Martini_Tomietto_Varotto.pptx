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324" r:id="rId2"/>
    <p:sldId id="325" r:id="rId3"/>
    <p:sldId id="326" r:id="rId4"/>
    <p:sldId id="327" r:id="rId5"/>
    <p:sldId id="328" r:id="rId6"/>
    <p:sldId id="329" r:id="rId7"/>
    <p:sldId id="330" r:id="rId8"/>
    <p:sldId id="331" r:id="rId9"/>
    <p:sldId id="332" r:id="rId10"/>
    <p:sldId id="372" r:id="rId11"/>
    <p:sldId id="375" r:id="rId12"/>
    <p:sldId id="376" r:id="rId13"/>
    <p:sldId id="339" r:id="rId14"/>
    <p:sldId id="340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3" r:id="rId24"/>
    <p:sldId id="354" r:id="rId25"/>
    <p:sldId id="355" r:id="rId26"/>
    <p:sldId id="356" r:id="rId27"/>
    <p:sldId id="350" r:id="rId28"/>
    <p:sldId id="359" r:id="rId29"/>
    <p:sldId id="358" r:id="rId30"/>
    <p:sldId id="360" r:id="rId31"/>
    <p:sldId id="361" r:id="rId32"/>
    <p:sldId id="362" r:id="rId33"/>
    <p:sldId id="371" r:id="rId34"/>
    <p:sldId id="363" r:id="rId35"/>
    <p:sldId id="364" r:id="rId36"/>
    <p:sldId id="365" r:id="rId37"/>
    <p:sldId id="366" r:id="rId38"/>
    <p:sldId id="367" r:id="rId39"/>
    <p:sldId id="400" r:id="rId40"/>
    <p:sldId id="259" r:id="rId41"/>
    <p:sldId id="402" r:id="rId42"/>
    <p:sldId id="403" r:id="rId43"/>
    <p:sldId id="404" r:id="rId44"/>
    <p:sldId id="405" r:id="rId45"/>
    <p:sldId id="263" r:id="rId46"/>
    <p:sldId id="407" r:id="rId47"/>
    <p:sldId id="369" r:id="rId48"/>
    <p:sldId id="415" r:id="rId49"/>
    <p:sldId id="411" r:id="rId50"/>
    <p:sldId id="267" r:id="rId51"/>
    <p:sldId id="416" r:id="rId52"/>
    <p:sldId id="368" r:id="rId5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0E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60" autoAdjust="0"/>
    <p:restoredTop sz="93969" autoAdjust="0"/>
  </p:normalViewPr>
  <p:slideViewPr>
    <p:cSldViewPr snapToGrid="0">
      <p:cViewPr varScale="1">
        <p:scale>
          <a:sx n="69" d="100"/>
          <a:sy n="69" d="100"/>
        </p:scale>
        <p:origin x="9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6E671-1856-4E29-8192-1E2376D760E3}" type="datetimeFigureOut">
              <a:rPr lang="it-IT" smtClean="0"/>
              <a:t>08/06/2026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8A488-D8CA-44F4-8465-74E883B39C0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1130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6BA69-A2D0-408D-9CED-F4FA8BB06912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0388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8A488-D8CA-44F4-8465-74E883B39C04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0360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6BA69-A2D0-408D-9CED-F4FA8BB06912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0049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6BA69-A2D0-408D-9CED-F4FA8BB06912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1600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8A488-D8CA-44F4-8465-74E883B39C04}" type="slidenum">
              <a:rPr lang="it-IT" smtClean="0"/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9612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714C89-CE30-6886-3183-24BE22AAF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1B28D07-28F9-08C3-8123-7B620F39A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E735DD-477C-0EC2-F8B4-2EEFB581D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08/06/2026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E1134A0-8081-213B-EF3E-DE378CAC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3461F13-68D6-A39C-BF6D-C84222FC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5117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9C8A8D-4AE2-998C-C4D5-A750C8EF7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CC1A763-29B2-289F-C9C5-FA339B398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75A251E-D52F-653A-ACAE-5CCE2A359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08/06/2026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92C7CE-3614-95FC-3470-C7549FC5C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8F3A68E-1A4B-CBFB-1E9B-9BB234117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3890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F4613F-682A-E57E-11E2-766D8A5F8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2B0139C-8C3F-5CF4-413F-AB3D34919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37265E7-A0B0-59CD-5EAE-A66636841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08/06/2026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9B0C2FB-DA1F-BB90-6A14-ED3D1A71A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AE58AE-DD65-28F7-1225-10AC40A03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8386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FB4B48-73CF-D9E6-5710-397861022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A277B0-8167-E7BF-C4BF-56821CA5D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1331CE1-21D6-C773-9EBA-944E9E48B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19A87A1-30AC-17A1-DDAB-4364E8946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08/06/2026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66F6DE-272A-DE6D-0A48-1FF58B085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71C7A8-577B-076F-F6D5-DDBA681F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6865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94713C-5EB0-F89C-3B9B-321F3AD6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3132C54-404E-BFB3-B51A-BF88A418B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DC91491-7870-83DB-BAE4-506449985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561E8E0-ACA0-FC5A-0C28-ED26291F5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40B1F6B-3D47-6CC4-472A-AE94461688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BAD08B4-F81B-1A45-8CAF-FD4A2E130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08/06/2026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819FD47-B6F2-CD89-5695-CEF063B50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E540A31-B3D3-782D-C305-33778D3F2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280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85D408-E57A-4123-4671-27C9F96D7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9C53C91-5961-C847-8597-BF1EB77E9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08/06/2026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068331C-F674-961C-EA8E-7FF034E37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D4A4437-2047-88E0-4F80-35882677A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612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0C49BE1-E252-820D-19BF-F1F241E54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08/06/2026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C7E70B1-FC88-4015-2147-34CB2931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CF18611-5E04-919A-7B26-A969267F1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472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D52A1D-9699-C50B-E435-368C890F3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B033487-AC32-DC61-F5B0-A73A5DCC8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5C539FA-E7D7-2760-C9E1-99BD9496A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23B9F5D-D384-DC34-8B7E-B6B6DDD02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08/06/2026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157E4CC-56F9-8D9A-8DF5-7195E3287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FD4A493-FD21-DB6D-C718-8F847EE31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1627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F3C08A-4C3C-60A9-54D6-8E95ED5C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F99D12D-C97C-B554-A58C-2D1B74578D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5A56A22-0BDA-0116-5DFA-18A54EEB1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184CFE3-A177-F05C-D7E2-B17B6EBF3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08/06/2026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3D1FEEA-C036-0552-E551-49AFBB96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9211C3B-CAFD-2720-B6E1-B16E24A74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9684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22975E-E247-2B16-7744-975B8B096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FE2EF9E-053D-F915-81A1-A13823D2F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934AF8-F680-2744-131D-90E1A3C31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08/06/2026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B89CC2D-481A-6980-8003-45837150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F7F5DA-5183-F108-7C19-21B749DC7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1838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286EBF0-2A0C-F3EA-9A56-745256622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C4694A5-B1A2-A3F1-1318-2FB111AB4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A634B6A-ADC4-F43E-3D92-3BECE1406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AA61-DEA4-43E8-97BC-71371D31AB97}" type="datetimeFigureOut">
              <a:rPr lang="it-IT" smtClean="0"/>
              <a:t>08/06/2026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90DC47E-15DF-5DD2-58C2-528644583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D2EB3F8-47BB-33AA-5D0E-2FA562573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B8DD3-FC02-4367-9757-14EB324B9B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6005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632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18ADBB7-9FE2-1272-F000-94113929A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965471F-190B-6836-099A-DCA643A01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BA70068-F206-0A5A-8C3C-926604661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DAA61-DEA4-43E8-97BC-71371D31AB97}" type="datetimeFigureOut">
              <a:rPr lang="it-IT" smtClean="0"/>
              <a:t>08/06/2026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5691B0A-E348-F555-AC57-2E5EE3BE6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43D389-FB84-BD1C-19EC-AFABC811E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B8DD3-FC02-4367-9757-14EB324B9BE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729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C6332EAE-76C9-01BF-D28A-E7C838184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3074" name="Picture 2" descr="University of Padua Logo (UNIPD) - PNG Logo Vector Brand Downloads (SVG,  EPS)">
            <a:extLst>
              <a:ext uri="{FF2B5EF4-FFF2-40B4-BE49-F238E27FC236}">
                <a16:creationId xmlns:a16="http://schemas.microsoft.com/office/drawing/2014/main" id="{64A275C1-F4A2-290F-F6A1-7648449F1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207" y="152321"/>
            <a:ext cx="2933586" cy="1314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FA98DAEA-AD18-49BF-7C7C-B9599DDEF7AB}"/>
              </a:ext>
            </a:extLst>
          </p:cNvPr>
          <p:cNvSpPr/>
          <p:nvPr/>
        </p:nvSpPr>
        <p:spPr>
          <a:xfrm>
            <a:off x="0" y="1600200"/>
            <a:ext cx="12208042" cy="5257800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73F1C0B9-C927-035A-1693-4A6D9CF84BF1}"/>
              </a:ext>
            </a:extLst>
          </p:cNvPr>
          <p:cNvSpPr txBox="1"/>
          <p:nvPr/>
        </p:nvSpPr>
        <p:spPr>
          <a:xfrm>
            <a:off x="72341" y="2812207"/>
            <a:ext cx="120473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solidFill>
                  <a:schemeClr val="bg1"/>
                </a:solidFill>
              </a:rPr>
              <a:t>Progetto di gruppo</a:t>
            </a:r>
            <a:br>
              <a:rPr lang="it-IT" sz="2400" dirty="0">
                <a:solidFill>
                  <a:schemeClr val="bg1"/>
                </a:solidFill>
              </a:rPr>
            </a:br>
            <a:endParaRPr lang="it-IT" sz="2400" dirty="0">
              <a:solidFill>
                <a:schemeClr val="bg1"/>
              </a:solidFill>
            </a:endParaRPr>
          </a:p>
          <a:p>
            <a:pPr algn="ctr"/>
            <a:r>
              <a:rPr lang="it-IT" sz="3600" dirty="0">
                <a:solidFill>
                  <a:schemeClr val="bg1"/>
                </a:solidFill>
              </a:rPr>
              <a:t>Strumenti Statistici per l’Analisi di Dati Aziendali</a:t>
            </a:r>
            <a:endParaRPr lang="it-IT" sz="3600" i="1" dirty="0">
              <a:solidFill>
                <a:schemeClr val="bg1"/>
              </a:solidFill>
            </a:endParaRP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9F8EAAE9-C733-C888-332E-0422D73FCF5F}"/>
              </a:ext>
            </a:extLst>
          </p:cNvPr>
          <p:cNvSpPr txBox="1"/>
          <p:nvPr/>
        </p:nvSpPr>
        <p:spPr>
          <a:xfrm>
            <a:off x="9767456" y="5743018"/>
            <a:ext cx="23522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solidFill>
                  <a:schemeClr val="bg1"/>
                </a:solidFill>
              </a:rPr>
              <a:t>Laura Martini</a:t>
            </a:r>
          </a:p>
          <a:p>
            <a:r>
              <a:rPr lang="it-IT" i="1" dirty="0">
                <a:solidFill>
                  <a:schemeClr val="bg1"/>
                </a:solidFill>
              </a:rPr>
              <a:t>Gian Marco Tomietto</a:t>
            </a:r>
          </a:p>
          <a:p>
            <a:r>
              <a:rPr lang="it-IT" i="1" dirty="0">
                <a:solidFill>
                  <a:schemeClr val="bg1"/>
                </a:solidFill>
              </a:rPr>
              <a:t>Luca Varotto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E2B5CECF-A5B6-BECB-53B1-D4EFF1259DFD}"/>
              </a:ext>
            </a:extLst>
          </p:cNvPr>
          <p:cNvSpPr txBox="1"/>
          <p:nvPr/>
        </p:nvSpPr>
        <p:spPr>
          <a:xfrm>
            <a:off x="4409231" y="6297016"/>
            <a:ext cx="3389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Anno Accademico 2025/2026</a:t>
            </a:r>
          </a:p>
        </p:txBody>
      </p:sp>
    </p:spTree>
    <p:extLst>
      <p:ext uri="{BB962C8B-B14F-4D97-AF65-F5344CB8AC3E}">
        <p14:creationId xmlns:p14="http://schemas.microsoft.com/office/powerpoint/2010/main" val="358429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36761-C4ED-071D-FBD4-867BA9E3D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1D94944A-04D4-068F-2C65-C117B4703D30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FA94EFB-6082-72EC-7DFF-C82D097FE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I dati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A267D8-E727-81EF-9030-DDA8D00F6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096" y="2035257"/>
            <a:ext cx="7334249" cy="4448670"/>
          </a:xfrm>
        </p:spPr>
        <p:txBody>
          <a:bodyPr anchor="ctr">
            <a:normAutofit/>
          </a:bodyPr>
          <a:lstStyle/>
          <a:p>
            <a:r>
              <a:rPr lang="it-IT" sz="2400" dirty="0" err="1">
                <a:latin typeface="Aptos Display"/>
              </a:rPr>
              <a:t>Vinted</a:t>
            </a:r>
            <a:r>
              <a:rPr lang="it-IT" sz="2400" dirty="0">
                <a:latin typeface="Aptos Display"/>
              </a:rPr>
              <a:t> ci ha commissionato un'analisi approfondita su un dataset di oltre </a:t>
            </a:r>
            <a:r>
              <a:rPr lang="it-IT" sz="2400" b="1" dirty="0">
                <a:latin typeface="Aptos Display"/>
              </a:rPr>
              <a:t>2000 osservazioni</a:t>
            </a:r>
            <a:r>
              <a:rPr lang="it-IT" sz="2400" dirty="0">
                <a:latin typeface="Aptos Display"/>
              </a:rPr>
              <a:t>.</a:t>
            </a:r>
          </a:p>
          <a:p>
            <a:r>
              <a:rPr lang="it-IT" sz="2400" dirty="0">
                <a:latin typeface="Aptos Display"/>
              </a:rPr>
              <a:t>I dati, estratti tramite Web </a:t>
            </a:r>
            <a:r>
              <a:rPr lang="it-IT" sz="2400" dirty="0" err="1">
                <a:latin typeface="Aptos Display"/>
              </a:rPr>
              <a:t>Scraping</a:t>
            </a:r>
            <a:r>
              <a:rPr lang="it-IT" sz="2400" dirty="0">
                <a:latin typeface="Aptos Display"/>
              </a:rPr>
              <a:t>, offrono una vista globale del mercato C2C. L'obiettivo della consulenza è strutturare </a:t>
            </a:r>
            <a:r>
              <a:rPr lang="it-IT" sz="2400" b="1" dirty="0">
                <a:latin typeface="Aptos Display"/>
              </a:rPr>
              <a:t>raccomandazioni</a:t>
            </a:r>
            <a:r>
              <a:rPr lang="it-IT" sz="2400" dirty="0">
                <a:latin typeface="Aptos Display"/>
              </a:rPr>
              <a:t> per </a:t>
            </a:r>
            <a:r>
              <a:rPr lang="it-IT" sz="2400" b="1" dirty="0">
                <a:latin typeface="Aptos Display"/>
              </a:rPr>
              <a:t>massimizzare la fidelizzazione e la conversione d'acquisto</a:t>
            </a:r>
            <a:r>
              <a:rPr lang="it-IT" sz="2400" dirty="0">
                <a:latin typeface="Aptos Display"/>
              </a:rPr>
              <a:t> sulla piattaforma.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B52FB6-9A5C-E2CB-36F3-8C3C8FE3E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8" name="AutoShape 8" descr="Vinted Italia - App desktop per Mac, Windows (PC) - WebCatalog">
            <a:extLst>
              <a:ext uri="{FF2B5EF4-FFF2-40B4-BE49-F238E27FC236}">
                <a16:creationId xmlns:a16="http://schemas.microsoft.com/office/drawing/2014/main" id="{61B27EBC-3E37-EE11-BFB8-F6B6C263AF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1034" name="Picture 10" descr="Vinted logo Icone, loghi, simboli – Download gratuito PNG, SVG">
            <a:extLst>
              <a:ext uri="{FF2B5EF4-FFF2-40B4-BE49-F238E27FC236}">
                <a16:creationId xmlns:a16="http://schemas.microsoft.com/office/drawing/2014/main" id="{1A1921E1-8509-2DA8-7724-4198FE919E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1" t="11186" r="10880" b="11116"/>
          <a:stretch>
            <a:fillRect/>
          </a:stretch>
        </p:blipFill>
        <p:spPr bwMode="auto">
          <a:xfrm>
            <a:off x="8368145" y="2493818"/>
            <a:ext cx="2985656" cy="2992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64FDFFF0-8F95-3881-CEC9-081B58040338}"/>
              </a:ext>
            </a:extLst>
          </p:cNvPr>
          <p:cNvSpPr txBox="1"/>
          <p:nvPr/>
        </p:nvSpPr>
        <p:spPr>
          <a:xfrm>
            <a:off x="7698938" y="5543444"/>
            <a:ext cx="432406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>
                <a:latin typeface="Aptos Display"/>
              </a:rPr>
              <a:t>"</a:t>
            </a:r>
            <a:r>
              <a:rPr lang="it-IT" sz="2400" i="1" dirty="0">
                <a:latin typeface="Aptos Display"/>
              </a:rPr>
              <a:t>Non lo metti? Mettilo in vendita</a:t>
            </a:r>
            <a:r>
              <a:rPr lang="it-IT" sz="2400" dirty="0">
                <a:latin typeface="Aptos Display"/>
              </a:rPr>
              <a:t>!"</a:t>
            </a:r>
          </a:p>
          <a:p>
            <a:endParaRPr lang="it-IT" dirty="0"/>
          </a:p>
        </p:txBody>
      </p:sp>
      <p:sp>
        <p:nvSpPr>
          <p:cNvPr id="999" name="PageNum1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87879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A2D67-C148-0E39-A426-4C52B6FDD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B39753F3-D1B5-4CEC-1C2E-D96A6212DAED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3BC2739-0409-ED16-0263-D0143B22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Il </a:t>
            </a:r>
            <a:r>
              <a:rPr lang="it-IT" dirty="0" err="1">
                <a:solidFill>
                  <a:schemeClr val="bg1"/>
                </a:solidFill>
              </a:rPr>
              <a:t>pre</a:t>
            </a:r>
            <a:r>
              <a:rPr lang="it-IT" dirty="0">
                <a:solidFill>
                  <a:schemeClr val="bg1"/>
                </a:solidFill>
              </a:rPr>
              <a:t>-processing: inizio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4EA60F-3B02-4E22-2775-5D02915BF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8" name="AutoShape 8" descr="Vinted Italia - App desktop per Mac, Windows (PC) - WebCatalog">
            <a:extLst>
              <a:ext uri="{FF2B5EF4-FFF2-40B4-BE49-F238E27FC236}">
                <a16:creationId xmlns:a16="http://schemas.microsoft.com/office/drawing/2014/main" id="{1CEFF22C-B84F-0939-7458-905542B8EE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7FDAD74-2028-87D0-5C3D-99EEB5C374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857729"/>
            <a:ext cx="109347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Filtro categoriale: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 Rimozione delle </a:t>
            </a:r>
            <a:r>
              <a:rPr lang="it-IT" altLang="it-IT" sz="2400" dirty="0">
                <a:latin typeface="Aptos Display"/>
              </a:rPr>
              <a:t>osservazioni 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con categoria dell'oggetto mancante. Target focalizzato esclusivamente sulle</a:t>
            </a: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 categorie di scarpe sportive/sneakers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Rimozione duplicati: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 Eliminazione delle osservazioni duplicate basata sull’URL.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Filtraggio delle colonne: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 </a:t>
            </a:r>
            <a:r>
              <a:rPr lang="it-IT" sz="2400" dirty="0">
                <a:latin typeface="Aptos Display"/>
              </a:rPr>
              <a:t>Eliminazione dei dati di tracciamento dello </a:t>
            </a:r>
            <a:r>
              <a:rPr lang="it-IT" sz="2400" dirty="0" err="1">
                <a:latin typeface="Aptos Display"/>
              </a:rPr>
              <a:t>scraping</a:t>
            </a:r>
            <a:r>
              <a:rPr lang="it-IT" sz="2400" dirty="0">
                <a:latin typeface="Aptos Display"/>
              </a:rPr>
              <a:t> e le stringhe di testo libero, mantenendo solo le feature strutturate per i modelli predittivi.</a:t>
            </a:r>
            <a:endParaRPr kumimoji="0" lang="it-IT" alt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/>
            </a:endParaRPr>
          </a:p>
        </p:txBody>
      </p:sp>
      <p:sp>
        <p:nvSpPr>
          <p:cNvPr id="999" name="PageNum2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24724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9EEDA-90CE-6DF1-5345-C81CC0A4D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82B97CEF-C4D5-6B87-C3A9-60E85853B7C4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9347407-2E39-7753-4C97-A0EB590CB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Il </a:t>
            </a:r>
            <a:r>
              <a:rPr lang="it-IT" dirty="0" err="1">
                <a:solidFill>
                  <a:schemeClr val="bg1"/>
                </a:solidFill>
              </a:rPr>
              <a:t>pre</a:t>
            </a:r>
            <a:r>
              <a:rPr lang="it-IT" dirty="0">
                <a:solidFill>
                  <a:schemeClr val="bg1"/>
                </a:solidFill>
              </a:rPr>
              <a:t>-processing: variabile </a:t>
            </a:r>
            <a:r>
              <a:rPr lang="it-IT" altLang="it-IT" dirty="0">
                <a:solidFill>
                  <a:schemeClr val="bg1"/>
                </a:solidFill>
                <a:latin typeface="Aptos Display"/>
              </a:rPr>
              <a:t>"</a:t>
            </a:r>
            <a:r>
              <a:rPr lang="it-IT" dirty="0">
                <a:solidFill>
                  <a:schemeClr val="bg1"/>
                </a:solidFill>
              </a:rPr>
              <a:t>brand</a:t>
            </a:r>
            <a:r>
              <a:rPr lang="it-IT" altLang="it-IT" dirty="0">
                <a:solidFill>
                  <a:schemeClr val="bg1"/>
                </a:solidFill>
                <a:latin typeface="Aptos Display"/>
              </a:rPr>
              <a:t>"</a:t>
            </a:r>
            <a:endParaRPr lang="it-IT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5D63A2-A83F-BE53-FBD0-397F014DC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8" name="AutoShape 8" descr="Vinted Italia - App desktop per Mac, Windows (PC) - WebCatalog">
            <a:extLst>
              <a:ext uri="{FF2B5EF4-FFF2-40B4-BE49-F238E27FC236}">
                <a16:creationId xmlns:a16="http://schemas.microsoft.com/office/drawing/2014/main" id="{C1D76BCE-FEA6-0090-5685-B8F8F21FA5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4971E04-A172-749C-E3A4-D938767A31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934400"/>
            <a:ext cx="109347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Pulizia tramite </a:t>
            </a:r>
            <a:r>
              <a:rPr kumimoji="0" lang="it-IT" altLang="it-IT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Regex</a:t>
            </a: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:</a:t>
            </a:r>
            <a:r>
              <a:rPr kumimoji="0" lang="it-IT" altLang="it-IT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 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Conversione in minuscolo e intercettazione di refusi, stringhe in lingua straniera o diciture generiche (es. "no name", "vintage", "vera pelle") ricondotte alla categoria "ignoto".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Risoluzione sinonimi:</a:t>
            </a:r>
            <a:r>
              <a:rPr kumimoji="0" lang="it-IT" altLang="it-IT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 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Accorpamento delle varianti di testo sotto la stessa entità di brand (quechua / </a:t>
            </a:r>
            <a:r>
              <a:rPr kumimoji="0" lang="it-IT" altLang="it-I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kalenji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 → decathlon).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Aggregazione commerciale:</a:t>
            </a:r>
            <a:r>
              <a:rPr kumimoji="0" lang="it-IT" altLang="it-IT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 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Creazione delle macro-categorie "Marche Bambini" e "Marche di Lusso</a:t>
            </a:r>
            <a:r>
              <a:rPr lang="it-IT" altLang="it-IT" sz="2400" dirty="0">
                <a:latin typeface="Aptos Display"/>
              </a:rPr>
              <a:t> "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it-IT" alt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Trattamento delle frequenze: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 I brand con meno di 30 osservazioni totali vengono accorpati </a:t>
            </a:r>
            <a:r>
              <a:rPr lang="it-IT" altLang="it-IT" sz="2400" dirty="0">
                <a:latin typeface="Aptos Display"/>
              </a:rPr>
              <a:t>automaticamente 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nella categoria "Altro".</a:t>
            </a:r>
          </a:p>
        </p:txBody>
      </p:sp>
      <p:sp>
        <p:nvSpPr>
          <p:cNvPr id="999" name="PageNum3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76214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52DF2-E7E5-FF4C-A2A2-C319BCAE0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A3E178E7-A950-7B59-8AB7-86BD7865CE62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5F8FE7E-FEF9-29EF-12D8-A22A0AAE8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Il </a:t>
            </a:r>
            <a:r>
              <a:rPr lang="it-IT" dirty="0" err="1">
                <a:solidFill>
                  <a:schemeClr val="bg1"/>
                </a:solidFill>
              </a:rPr>
              <a:t>pre</a:t>
            </a:r>
            <a:r>
              <a:rPr lang="it-IT" dirty="0">
                <a:solidFill>
                  <a:schemeClr val="bg1"/>
                </a:solidFill>
              </a:rPr>
              <a:t>-processing: altre variabili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6CFD00-7AE7-91E7-58B8-F62C4C55D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8" name="AutoShape 8" descr="Vinted Italia - App desktop per Mac, Windows (PC) - WebCatalog">
            <a:extLst>
              <a:ext uri="{FF2B5EF4-FFF2-40B4-BE49-F238E27FC236}">
                <a16:creationId xmlns:a16="http://schemas.microsoft.com/office/drawing/2014/main" id="{2FA06008-3724-DC87-F93D-015AD5D80B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7A05F51-434A-AC4D-B85B-44932B6834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488397"/>
            <a:ext cx="109347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Creazione categorie variabile colore:</a:t>
            </a:r>
            <a:r>
              <a:rPr kumimoji="0" lang="it-IT" altLang="it-IT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 Mappatura </a:t>
            </a:r>
            <a:r>
              <a:rPr lang="it-IT" altLang="it-IT" sz="2400" dirty="0">
                <a:latin typeface="Aptos Display"/>
              </a:rPr>
              <a:t>dei 282 livelli della </a:t>
            </a:r>
            <a:r>
              <a:rPr kumimoji="0" lang="it-IT" altLang="it-IT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variabile in 4 macro-classi finali: Chiaro, Scuro, Colorato, </a:t>
            </a:r>
            <a:r>
              <a:rPr kumimoji="0" lang="it-IT" altLang="it-IT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Multicolor</a:t>
            </a:r>
            <a:r>
              <a:rPr kumimoji="0" lang="it-IT" altLang="it-IT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it-IT" altLang="it-IT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Fattorizzazione ordinale:</a:t>
            </a:r>
            <a:r>
              <a:rPr kumimoji="0" lang="it-IT" altLang="it-IT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 Trasformazione delle variabili qualitative, ad esempio qualità dell’articolo e il rating del venditore, in fattori</a:t>
            </a:r>
            <a:r>
              <a:rPr lang="it-IT" altLang="it-IT" sz="2400" dirty="0">
                <a:latin typeface="Aptos Display"/>
              </a:rPr>
              <a:t> ordinali</a:t>
            </a:r>
            <a:r>
              <a:rPr kumimoji="0" lang="it-IT" altLang="it-IT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it-IT" altLang="it-IT" sz="2400" b="1" dirty="0">
                <a:latin typeface="Aptos Display"/>
              </a:rPr>
              <a:t>Problema di asimmetria</a:t>
            </a: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:</a:t>
            </a:r>
            <a:r>
              <a:rPr kumimoji="0" lang="it-IT" altLang="it-IT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 Applicazione della trasformazione logaritmica sul Prezzo e sul conteggio delle recensioni del venditore per correggere la forte asimmetria positiva.</a:t>
            </a:r>
          </a:p>
        </p:txBody>
      </p:sp>
      <p:sp>
        <p:nvSpPr>
          <p:cNvPr id="999" name="PageNum4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33095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2D697-1DE1-8483-8442-2F061750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5EF33BBE-2943-1C08-6266-73ABA6A6AF87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D4AA667-EEEE-2DE4-7605-E8CEA4EA3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Integrazione del 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10A3CA-1EB7-FF51-33C6-DF9CD39C8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8" name="AutoShape 8" descr="Vinted Italia - App desktop per Mac, Windows (PC) - WebCatalog">
            <a:extLst>
              <a:ext uri="{FF2B5EF4-FFF2-40B4-BE49-F238E27FC236}">
                <a16:creationId xmlns:a16="http://schemas.microsoft.com/office/drawing/2014/main" id="{F410F75F-98BF-E983-B99C-DDAF2923AB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246CCC-992A-6B49-B639-DE8DBBC6B0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7531" y="3596392"/>
            <a:ext cx="10515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Inserimento di una nuova metrica:</a:t>
            </a:r>
            <a:r>
              <a:rPr kumimoji="0" lang="it-IT" alt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Display"/>
              </a:rPr>
              <a:t> </a:t>
            </a:r>
            <a:r>
              <a:rPr lang="it-IT" sz="2400" i="1" dirty="0">
                <a:latin typeface="Aptos Display"/>
              </a:rPr>
              <a:t>Left join</a:t>
            </a:r>
            <a:r>
              <a:rPr lang="it-IT" sz="2400" dirty="0">
                <a:latin typeface="Aptos Display"/>
              </a:rPr>
              <a:t> con il dataset di </a:t>
            </a:r>
            <a:r>
              <a:rPr lang="it-IT" sz="2400" b="1" dirty="0">
                <a:latin typeface="Aptos Display"/>
              </a:rPr>
              <a:t>Google Trends </a:t>
            </a:r>
            <a:r>
              <a:rPr lang="it-IT" sz="2400" dirty="0">
                <a:latin typeface="Aptos Display"/>
              </a:rPr>
              <a:t>basato sul brand originale del prodotto per considerare l'interesse medio annuo come </a:t>
            </a:r>
            <a:r>
              <a:rPr lang="it-IT" sz="2400" i="1" dirty="0">
                <a:latin typeface="Aptos Display"/>
              </a:rPr>
              <a:t>proxy</a:t>
            </a:r>
            <a:r>
              <a:rPr lang="it-IT" sz="2400" dirty="0">
                <a:latin typeface="Aptos Display"/>
              </a:rPr>
              <a:t> della popolarità e della forza del marchio sul mercato.</a:t>
            </a:r>
          </a:p>
        </p:txBody>
      </p:sp>
      <p:sp>
        <p:nvSpPr>
          <p:cNvPr id="999" name="PageNum5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09692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1F469-73A0-A3C2-9F94-FE141E6AA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B6C59DA5-C39D-1EB1-19A4-B050F99EF60C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6C697A0-F772-78C4-7F1D-2C7D5DEC9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La scaletta della nostra consulenza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185512E-782A-5269-D57B-C97D02F08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6984" y="2279730"/>
            <a:ext cx="7083136" cy="633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>
                <a:latin typeface="Aptos Display"/>
              </a:rPr>
              <a:t>Raccomandazione dei prezzi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B72FFF-35D9-5DA0-7753-00B7ABE67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99" name="PageNum6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1A5922-8797-E485-872D-7970BCC29392}"/>
              </a:ext>
            </a:extLst>
          </p:cNvPr>
          <p:cNvSpPr/>
          <p:nvPr/>
        </p:nvSpPr>
        <p:spPr>
          <a:xfrm>
            <a:off x="1039368" y="2279730"/>
            <a:ext cx="502920" cy="502920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2354B4-B7D0-3BC5-BA23-D07F24FCBD8C}"/>
              </a:ext>
            </a:extLst>
          </p:cNvPr>
          <p:cNvSpPr txBox="1"/>
          <p:nvPr/>
        </p:nvSpPr>
        <p:spPr>
          <a:xfrm>
            <a:off x="1039368" y="227973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632DE9-4C3E-0060-2A86-F4A620BD16C5}"/>
              </a:ext>
            </a:extLst>
          </p:cNvPr>
          <p:cNvSpPr/>
          <p:nvPr/>
        </p:nvSpPr>
        <p:spPr>
          <a:xfrm>
            <a:off x="1039368" y="3281230"/>
            <a:ext cx="502920" cy="50292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E5C25C-E537-2F76-4BB3-43BBE5452765}"/>
              </a:ext>
            </a:extLst>
          </p:cNvPr>
          <p:cNvSpPr txBox="1"/>
          <p:nvPr/>
        </p:nvSpPr>
        <p:spPr>
          <a:xfrm>
            <a:off x="1039368" y="328123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D3880C-AB7D-4E7F-FA3C-21B486C2A0F5}"/>
              </a:ext>
            </a:extLst>
          </p:cNvPr>
          <p:cNvSpPr/>
          <p:nvPr/>
        </p:nvSpPr>
        <p:spPr>
          <a:xfrm>
            <a:off x="1039368" y="4282730"/>
            <a:ext cx="502920" cy="50292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F7E7E0-5EEC-6135-EDC6-75221A07F162}"/>
              </a:ext>
            </a:extLst>
          </p:cNvPr>
          <p:cNvSpPr txBox="1"/>
          <p:nvPr/>
        </p:nvSpPr>
        <p:spPr>
          <a:xfrm>
            <a:off x="1039368" y="428273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500A9F-BC62-A654-E1B4-50B53AD865AA}"/>
              </a:ext>
            </a:extLst>
          </p:cNvPr>
          <p:cNvSpPr/>
          <p:nvPr/>
        </p:nvSpPr>
        <p:spPr>
          <a:xfrm>
            <a:off x="1039368" y="5284230"/>
            <a:ext cx="502920" cy="5029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88BDFD-EAB8-F9C0-6EE2-AD468D12FF33}"/>
              </a:ext>
            </a:extLst>
          </p:cNvPr>
          <p:cNvSpPr txBox="1"/>
          <p:nvPr/>
        </p:nvSpPr>
        <p:spPr>
          <a:xfrm>
            <a:off x="1039368" y="528423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36D569-D314-EB89-B747-8853C634912C}"/>
              </a:ext>
            </a:extLst>
          </p:cNvPr>
          <p:cNvSpPr txBox="1"/>
          <p:nvPr/>
        </p:nvSpPr>
        <p:spPr>
          <a:xfrm>
            <a:off x="1776984" y="3292625"/>
            <a:ext cx="610819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Qualità del prodotto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C734E0-B8A1-C4D0-DDDF-3ED0C721FBCC}"/>
              </a:ext>
            </a:extLst>
          </p:cNvPr>
          <p:cNvSpPr txBox="1"/>
          <p:nvPr/>
        </p:nvSpPr>
        <p:spPr>
          <a:xfrm>
            <a:off x="1776984" y="4282730"/>
            <a:ext cx="610819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Brand intelligence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057DF8-E4F7-C41D-3E58-31B2537CFD77}"/>
              </a:ext>
            </a:extLst>
          </p:cNvPr>
          <p:cNvSpPr txBox="1"/>
          <p:nvPr/>
        </p:nvSpPr>
        <p:spPr>
          <a:xfrm>
            <a:off x="1776984" y="5295624"/>
            <a:ext cx="610819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Segmentazione dei prodotti</a:t>
            </a:r>
          </a:p>
        </p:txBody>
      </p:sp>
    </p:spTree>
    <p:extLst>
      <p:ext uri="{BB962C8B-B14F-4D97-AF65-F5344CB8AC3E}">
        <p14:creationId xmlns:p14="http://schemas.microsoft.com/office/powerpoint/2010/main" val="1581587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16306-E2CF-C95E-7873-50611E615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B623F5E0-8B9C-6670-2B9A-2ADA97D532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A3AB547-D657-ABE9-42B0-DC1DC25C4536}"/>
              </a:ext>
            </a:extLst>
          </p:cNvPr>
          <p:cNvSpPr/>
          <p:nvPr/>
        </p:nvSpPr>
        <p:spPr>
          <a:xfrm>
            <a:off x="0" y="-34390"/>
            <a:ext cx="12192000" cy="6892390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3A74C2C8-3F62-DE27-4087-2F0E050B43E1}"/>
              </a:ext>
            </a:extLst>
          </p:cNvPr>
          <p:cNvSpPr txBox="1"/>
          <p:nvPr/>
        </p:nvSpPr>
        <p:spPr>
          <a:xfrm>
            <a:off x="1075261" y="3255962"/>
            <a:ext cx="10041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000" i="1" dirty="0">
                <a:solidFill>
                  <a:schemeClr val="bg1"/>
                </a:solidFill>
              </a:rPr>
              <a:t>Raccomandazione dei prezzi</a:t>
            </a:r>
          </a:p>
        </p:txBody>
      </p:sp>
      <p:sp>
        <p:nvSpPr>
          <p:cNvPr id="999" name="PageNum7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chemeClr val="bg1"/>
                </a:solidFill>
                <a:latin typeface="Aptos Display"/>
              </a:rPr>
              <a:t>7</a:t>
            </a:r>
          </a:p>
        </p:txBody>
      </p:sp>
      <p:pic>
        <p:nvPicPr>
          <p:cNvPr id="2" name="Picture 1" descr="unipd_logo.png">
            <a:extLst>
              <a:ext uri="{FF2B5EF4-FFF2-40B4-BE49-F238E27FC236}">
                <a16:creationId xmlns:a16="http://schemas.microsoft.com/office/drawing/2014/main" id="{7607916C-59C4-6CCF-31C9-A3BA68E12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286000" cy="1005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5058D5-9979-4ED9-34EC-67CCBA17BC79}"/>
              </a:ext>
            </a:extLst>
          </p:cNvPr>
          <p:cNvSpPr txBox="1"/>
          <p:nvPr/>
        </p:nvSpPr>
        <p:spPr>
          <a:xfrm>
            <a:off x="4191197" y="2363669"/>
            <a:ext cx="350480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dirty="0">
                <a:solidFill>
                  <a:srgbClr val="FFCCCC"/>
                </a:solidFill>
                <a:latin typeface="Aptos Display"/>
              </a:rPr>
              <a:t>ANALISI DEI DATI AZIENDALI</a:t>
            </a:r>
            <a:r>
              <a:rPr lang="it-IT" sz="2000" dirty="0">
                <a:solidFill>
                  <a:srgbClr val="FFCCCC"/>
                </a:solidFill>
                <a:latin typeface="Aptos Display"/>
              </a:rPr>
              <a:t>:</a:t>
            </a:r>
            <a:r>
              <a:rPr sz="2000" dirty="0">
                <a:solidFill>
                  <a:srgbClr val="FFCCCC"/>
                </a:solidFill>
                <a:latin typeface="Aptos Display"/>
              </a:rPr>
              <a:t> VINTED.IT</a:t>
            </a:r>
          </a:p>
        </p:txBody>
      </p:sp>
    </p:spTree>
    <p:extLst>
      <p:ext uri="{BB962C8B-B14F-4D97-AF65-F5344CB8AC3E}">
        <p14:creationId xmlns:p14="http://schemas.microsoft.com/office/powerpoint/2010/main" val="273475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E5E5-FDD8-709C-608E-63EE8782A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0164129-1C48-FBC1-72C8-F04E7FB1E5E4}"/>
              </a:ext>
            </a:extLst>
          </p:cNvPr>
          <p:cNvSpPr/>
          <p:nvPr/>
        </p:nvSpPr>
        <p:spPr>
          <a:xfrm>
            <a:off x="11575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75B0E24-2347-3035-D553-B91813571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Raccomandazione dei prezzi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9CF6483-BEBF-D181-21E3-DA009669F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0302"/>
            <a:ext cx="10515600" cy="3984215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2400" b="1" dirty="0">
                <a:latin typeface="Aptos Display"/>
              </a:rPr>
              <a:t>Il problema aziendale: </a:t>
            </a:r>
            <a:r>
              <a:rPr lang="it-IT" sz="2400" dirty="0">
                <a:latin typeface="Aptos Display"/>
              </a:rPr>
              <a:t>Gli utenti C2C faticano a valutare oggettivamente i propri beni, portando a </a:t>
            </a:r>
            <a:r>
              <a:rPr lang="it-IT" sz="2400" dirty="0" err="1">
                <a:latin typeface="Aptos Display"/>
              </a:rPr>
              <a:t>sovraprezzamenti</a:t>
            </a:r>
            <a:r>
              <a:rPr lang="it-IT" sz="2400" dirty="0">
                <a:latin typeface="Aptos Display"/>
              </a:rPr>
              <a:t> che rallentano la vendita o </a:t>
            </a:r>
            <a:r>
              <a:rPr lang="it-IT" sz="2400" dirty="0" err="1">
                <a:latin typeface="Aptos Display"/>
              </a:rPr>
              <a:t>sottoprezzamenti</a:t>
            </a:r>
            <a:r>
              <a:rPr lang="it-IT" sz="2400" dirty="0">
                <a:latin typeface="Aptos Display"/>
              </a:rPr>
              <a:t> che riducono i margini.</a:t>
            </a:r>
          </a:p>
          <a:p>
            <a:pPr>
              <a:lnSpc>
                <a:spcPct val="100000"/>
              </a:lnSpc>
            </a:pPr>
            <a:r>
              <a:rPr lang="it-IT" sz="2400" b="1" dirty="0">
                <a:latin typeface="Aptos Display"/>
              </a:rPr>
              <a:t>L’obiettivo della consulenza: </a:t>
            </a:r>
            <a:r>
              <a:rPr lang="it-IT" sz="2400" dirty="0">
                <a:latin typeface="Aptos Display"/>
              </a:rPr>
              <a:t>Fornire un algoritmo automatico di raccomandazione prezzi basato sull'analisi storica di articoli simili presenti sul mercato.</a:t>
            </a:r>
          </a:p>
          <a:p>
            <a:pPr>
              <a:lnSpc>
                <a:spcPct val="100000"/>
              </a:lnSpc>
            </a:pPr>
            <a:r>
              <a:rPr lang="it-IT" sz="2400" b="1" dirty="0">
                <a:latin typeface="Aptos Display"/>
              </a:rPr>
              <a:t>L'approccio statistico: </a:t>
            </a:r>
            <a:r>
              <a:rPr lang="it-IT" sz="2400" dirty="0">
                <a:latin typeface="Aptos Display"/>
              </a:rPr>
              <a:t>Problema di regressione sul prezzo di vendita.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62F3D1-B05C-3E72-877B-203A29B60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99" name="PageNum8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65307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dr">
            <a:extLst>
              <a:ext uri="{FF2B5EF4-FFF2-40B4-BE49-F238E27FC236}">
                <a16:creationId xmlns:a16="http://schemas.microsoft.com/office/drawing/2014/main" id="{ACB0F4F8-00E2-EB5F-7AC6-34D4CB9A9164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txBody>
          <a:bodyPr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95EC019-74BE-1349-4091-E60C58DEC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31" y="203298"/>
            <a:ext cx="11114315" cy="1325563"/>
          </a:xfrm>
        </p:spPr>
        <p:txBody>
          <a:bodyPr>
            <a:normAutofit/>
          </a:bodyPr>
          <a:lstStyle/>
          <a:p>
            <a:r>
              <a:rPr lang="it-IT" sz="2400" b="1" dirty="0">
                <a:solidFill>
                  <a:schemeClr val="bg1"/>
                </a:solidFill>
              </a:rPr>
              <a:t>Regressione sul Prezzo</a:t>
            </a:r>
            <a:br>
              <a:rPr lang="it-IT" sz="2400" b="1" dirty="0">
                <a:solidFill>
                  <a:schemeClr val="bg1"/>
                </a:solidFill>
              </a:rPr>
            </a:br>
            <a:r>
              <a:rPr lang="it-IT" sz="2400" i="1" dirty="0">
                <a:solidFill>
                  <a:schemeClr val="bg1"/>
                </a:solidFill>
              </a:rPr>
              <a:t>Perché abbiamo trasformato il prezzo con il logaritmo</a:t>
            </a:r>
            <a:endParaRPr lang="it-IT" sz="2400" dirty="0">
              <a:solidFill>
                <a:schemeClr val="bg1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24F176-4D92-C15E-9BD1-F6C898F5D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47795"/>
          </a:xfrm>
        </p:spPr>
        <p:txBody>
          <a:bodyPr/>
          <a:lstStyle/>
          <a:p>
            <a:r>
              <a:rPr lang="it-IT" sz="3600" b="1" dirty="0">
                <a:solidFill>
                  <a:srgbClr val="FFFFFF"/>
                </a:solidFill>
                <a:latin typeface="Aptos Display"/>
              </a:rPr>
              <a:t>Regressione sul Prezzo</a:t>
            </a:r>
          </a:p>
          <a:p>
            <a:r>
              <a:rPr lang="it-IT" i="1" dirty="0">
                <a:solidFill>
                  <a:srgbClr val="FFFFFF"/>
                </a:solidFill>
                <a:latin typeface="Aptos Display"/>
              </a:rPr>
              <a:t>Perché abbiamo trasformato il prezzo con il logaritmo</a:t>
            </a:r>
            <a:endParaRPr lang="it-IT" dirty="0"/>
          </a:p>
        </p:txBody>
      </p:sp>
      <p:pic>
        <p:nvPicPr>
          <p:cNvPr id="5" name="Picture 3" descr="unipd_logo.png">
            <a:extLst>
              <a:ext uri="{FF2B5EF4-FFF2-40B4-BE49-F238E27FC236}">
                <a16:creationId xmlns:a16="http://schemas.microsoft.com/office/drawing/2014/main" id="{6F46ABA8-8B77-1870-DD90-16B164EBE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4439" y="210080"/>
            <a:ext cx="2651760" cy="1188720"/>
          </a:xfrm>
          <a:prstGeom prst="rect">
            <a:avLst/>
          </a:prstGeom>
        </p:spPr>
      </p:pic>
      <p:pic>
        <p:nvPicPr>
          <p:cNvPr id="6" name="RawResid">
            <a:extLst>
              <a:ext uri="{FF2B5EF4-FFF2-40B4-BE49-F238E27FC236}">
                <a16:creationId xmlns:a16="http://schemas.microsoft.com/office/drawing/2014/main" id="{E1BE8E77-C16D-E16D-9032-4C7EE1AE4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53" y="2135623"/>
            <a:ext cx="5317135" cy="4709082"/>
          </a:xfrm>
          <a:prstGeom prst="rect">
            <a:avLst/>
          </a:prstGeom>
        </p:spPr>
      </p:pic>
      <p:pic>
        <p:nvPicPr>
          <p:cNvPr id="7" name="LogResid">
            <a:extLst>
              <a:ext uri="{FF2B5EF4-FFF2-40B4-BE49-F238E27FC236}">
                <a16:creationId xmlns:a16="http://schemas.microsoft.com/office/drawing/2014/main" id="{327EC019-67D0-CBE0-3927-BDF310F3E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561" y="2286453"/>
            <a:ext cx="5706000" cy="4434011"/>
          </a:xfrm>
          <a:prstGeom prst="rect">
            <a:avLst/>
          </a:prstGeom>
        </p:spPr>
      </p:pic>
      <p:sp>
        <p:nvSpPr>
          <p:cNvPr id="8" name="LabelRight">
            <a:extLst>
              <a:ext uri="{FF2B5EF4-FFF2-40B4-BE49-F238E27FC236}">
                <a16:creationId xmlns:a16="http://schemas.microsoft.com/office/drawing/2014/main" id="{5C2C23EB-424D-D338-4248-8182AFB736B8}"/>
              </a:ext>
            </a:extLst>
          </p:cNvPr>
          <p:cNvSpPr txBox="1"/>
          <p:nvPr/>
        </p:nvSpPr>
        <p:spPr>
          <a:xfrm>
            <a:off x="6196441" y="1798880"/>
            <a:ext cx="5706000" cy="380000"/>
          </a:xfrm>
          <a:prstGeom prst="rect">
            <a:avLst/>
          </a:prstGeom>
          <a:solidFill>
            <a:srgbClr val="EBF5EB"/>
          </a:solidFill>
          <a:ln w="18000">
            <a:solidFill>
              <a:srgbClr val="2E7D32"/>
            </a:solidFill>
          </a:ln>
        </p:spPr>
        <p:txBody>
          <a:bodyPr wrap="square" lIns="120000" rIns="120000" anchor="ctr"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2000" b="1" dirty="0">
                <a:solidFill>
                  <a:srgbClr val="2E7D32"/>
                </a:solidFill>
                <a:latin typeface="Aptos Display"/>
              </a:rPr>
              <a:t> log(Price):  residui omoschedastici</a:t>
            </a:r>
          </a:p>
        </p:txBody>
      </p:sp>
      <p:sp>
        <p:nvSpPr>
          <p:cNvPr id="9" name="LabelLeft">
            <a:extLst>
              <a:ext uri="{FF2B5EF4-FFF2-40B4-BE49-F238E27FC236}">
                <a16:creationId xmlns:a16="http://schemas.microsoft.com/office/drawing/2014/main" id="{D83F2E9B-33F1-44CE-92BD-BA26536871E6}"/>
              </a:ext>
            </a:extLst>
          </p:cNvPr>
          <p:cNvSpPr txBox="1"/>
          <p:nvPr/>
        </p:nvSpPr>
        <p:spPr>
          <a:xfrm>
            <a:off x="289561" y="1798880"/>
            <a:ext cx="5706000" cy="380000"/>
          </a:xfrm>
          <a:prstGeom prst="rect">
            <a:avLst/>
          </a:prstGeom>
          <a:solidFill>
            <a:srgbClr val="FDECEA"/>
          </a:solidFill>
          <a:ln w="18000">
            <a:solidFill>
              <a:srgbClr val="B20E10"/>
            </a:solidFill>
          </a:ln>
        </p:spPr>
        <p:txBody>
          <a:bodyPr wrap="square" lIns="120000" rIns="120000" anchor="ctr"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2000" b="1" dirty="0">
                <a:solidFill>
                  <a:srgbClr val="B20E10"/>
                </a:solidFill>
                <a:latin typeface="Aptos Display"/>
              </a:rPr>
              <a:t>Price grezzo: eteroschedasticità</a:t>
            </a:r>
          </a:p>
        </p:txBody>
      </p:sp>
      <p:sp>
        <p:nvSpPr>
          <p:cNvPr id="10" name="PageNum8">
            <a:extLst>
              <a:ext uri="{FF2B5EF4-FFF2-40B4-BE49-F238E27FC236}">
                <a16:creationId xmlns:a16="http://schemas.microsoft.com/office/drawing/2014/main" id="{ABAF8F9A-C64E-5E74-31BA-4771B26C558D}"/>
              </a:ext>
            </a:extLst>
          </p:cNvPr>
          <p:cNvSpPr txBox="1"/>
          <p:nvPr/>
        </p:nvSpPr>
        <p:spPr>
          <a:xfrm>
            <a:off x="11638107" y="6539791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dirty="0">
                <a:solidFill>
                  <a:srgbClr val="000000"/>
                </a:solidFill>
                <a:latin typeface="Aptos Display"/>
              </a:rPr>
              <a:t>9</a:t>
            </a:r>
            <a:endParaRPr lang="it-IT" sz="1400" b="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861323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100000"/>
            <a:ext cx="8477600" cy="1528881"/>
          </a:xfrm>
        </p:spPr>
        <p:txBody>
          <a:bodyPr anchor="ctr"/>
          <a:lstStyle/>
          <a:p>
            <a:r>
              <a:rPr lang="it-IT" sz="2800" b="0" dirty="0">
                <a:solidFill>
                  <a:srgbClr val="FFFFFF"/>
                </a:solidFill>
                <a:latin typeface="Aptos Display"/>
              </a:rPr>
              <a:t>Regressione sul Prezzo</a:t>
            </a:r>
          </a:p>
          <a:p>
            <a:r>
              <a:rPr lang="it-IT" sz="2400" b="0" i="1" dirty="0">
                <a:solidFill>
                  <a:srgbClr val="FFFFFF"/>
                </a:solidFill>
                <a:latin typeface="Aptos Display"/>
              </a:rPr>
              <a:t>Percorso modellistico</a:t>
            </a:r>
          </a:p>
        </p:txBody>
      </p:sp>
      <p:sp>
        <p:nvSpPr>
          <p:cNvPr id="11" name="Card0"/>
          <p:cNvSpPr txBox="1"/>
          <p:nvPr/>
        </p:nvSpPr>
        <p:spPr>
          <a:xfrm>
            <a:off x="457200" y="2228881"/>
            <a:ext cx="3612533" cy="445911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120000" tIns="100000" rIns="120000" bIns="80000" rtlCol="0" anchor="t">
            <a:normAutofit/>
          </a:bodyPr>
          <a:lstStyle/>
          <a:p>
            <a:r>
              <a:rPr lang="it-IT" sz="2200" b="1" dirty="0">
                <a:solidFill>
                  <a:srgbClr val="000000"/>
                </a:solidFill>
                <a:latin typeface="Aptos Display"/>
              </a:rPr>
              <a:t>MLR su Price grezzo</a:t>
            </a:r>
          </a:p>
          <a:p>
            <a:endParaRPr lang="it-IT" sz="1200" dirty="0">
              <a:latin typeface="Aptos Display"/>
            </a:endParaRPr>
          </a:p>
          <a:p>
            <a:r>
              <a:rPr lang="it-IT" sz="2400" dirty="0">
                <a:latin typeface="Aptos Display"/>
              </a:rPr>
              <a:t>Problema:</a:t>
            </a:r>
          </a:p>
          <a:p>
            <a:r>
              <a:rPr lang="it-IT" sz="2400" dirty="0">
                <a:latin typeface="Aptos Display"/>
              </a:rPr>
              <a:t> -  Eteroschedasticità nei residui</a:t>
            </a:r>
          </a:p>
          <a:p>
            <a:r>
              <a:rPr lang="it-IT" sz="2400" dirty="0">
                <a:latin typeface="Aptos Display"/>
              </a:rPr>
              <a:t> -  Violazione assunzioni OLS</a:t>
            </a:r>
          </a:p>
        </p:txBody>
      </p:sp>
      <p:sp>
        <p:nvSpPr>
          <p:cNvPr id="21" name="Card1"/>
          <p:cNvSpPr txBox="1"/>
          <p:nvPr/>
        </p:nvSpPr>
        <p:spPr>
          <a:xfrm>
            <a:off x="4289733" y="2288881"/>
            <a:ext cx="3612533" cy="439911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120000" tIns="100000" rIns="120000" bIns="80000" rtlCol="0" anchor="t">
            <a:normAutofit/>
          </a:bodyPr>
          <a:lstStyle/>
          <a:p>
            <a:r>
              <a:rPr lang="it-IT" sz="2200" b="1" dirty="0">
                <a:solidFill>
                  <a:srgbClr val="000000"/>
                </a:solidFill>
                <a:latin typeface="Aptos Display"/>
              </a:rPr>
              <a:t>MLR su log(Price)</a:t>
            </a:r>
          </a:p>
          <a:p>
            <a:endParaRPr lang="it-IT" sz="1200" dirty="0">
              <a:latin typeface="Aptos Display"/>
            </a:endParaRPr>
          </a:p>
          <a:p>
            <a:r>
              <a:rPr lang="it-IT" sz="2400" dirty="0">
                <a:latin typeface="Aptos Display"/>
              </a:rPr>
              <a:t>-R² = 0.62</a:t>
            </a:r>
          </a:p>
          <a:p>
            <a:r>
              <a:rPr lang="it-IT" sz="2400" dirty="0">
                <a:latin typeface="Aptos Display"/>
              </a:rPr>
              <a:t>-Residui regolari</a:t>
            </a:r>
          </a:p>
          <a:p>
            <a:r>
              <a:rPr lang="it-IT" sz="2400" dirty="0">
                <a:latin typeface="Aptos Display"/>
              </a:rPr>
              <a:t>-</a:t>
            </a:r>
            <a:r>
              <a:rPr lang="it-IT" sz="2400" dirty="0" err="1">
                <a:latin typeface="Aptos Display"/>
              </a:rPr>
              <a:t>Stepwise</a:t>
            </a:r>
            <a:r>
              <a:rPr lang="it-IT" sz="2400" dirty="0">
                <a:latin typeface="Aptos Display"/>
              </a:rPr>
              <a:t> AIC:</a:t>
            </a:r>
          </a:p>
          <a:p>
            <a:r>
              <a:rPr lang="it-IT" sz="2400" dirty="0">
                <a:latin typeface="Aptos Display"/>
              </a:rPr>
              <a:t>      11 su 14 variabili selezionate</a:t>
            </a:r>
          </a:p>
          <a:p>
            <a:r>
              <a:rPr lang="it-IT" sz="2400" dirty="0">
                <a:latin typeface="Aptos Display"/>
              </a:rPr>
              <a:t>-No multicollinearità</a:t>
            </a:r>
          </a:p>
          <a:p>
            <a:r>
              <a:rPr lang="it-IT" sz="2400" dirty="0">
                <a:latin typeface="Aptos Display"/>
              </a:rPr>
              <a:t>-Confermati errori robusti (HC3)</a:t>
            </a:r>
          </a:p>
        </p:txBody>
      </p:sp>
      <p:sp>
        <p:nvSpPr>
          <p:cNvPr id="31" name="Card2"/>
          <p:cNvSpPr txBox="1"/>
          <p:nvPr/>
        </p:nvSpPr>
        <p:spPr>
          <a:xfrm>
            <a:off x="8122266" y="2288881"/>
            <a:ext cx="3612533" cy="439911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120000" tIns="100000" rIns="120000" bIns="80000" rtlCol="0" anchor="t">
            <a:normAutofit/>
          </a:bodyPr>
          <a:lstStyle/>
          <a:p>
            <a:r>
              <a:rPr lang="it-IT" sz="2200" b="1" dirty="0">
                <a:solidFill>
                  <a:srgbClr val="000000"/>
                </a:solidFill>
                <a:latin typeface="Aptos Display"/>
              </a:rPr>
              <a:t>Riconoscimento var leakers</a:t>
            </a:r>
          </a:p>
          <a:p>
            <a:endParaRPr lang="it-IT" sz="2400" dirty="0">
              <a:latin typeface="Aptos Display"/>
            </a:endParaRPr>
          </a:p>
          <a:p>
            <a:r>
              <a:rPr lang="it-IT" sz="2400" dirty="0">
                <a:latin typeface="Aptos Display"/>
              </a:rPr>
              <a:t>-Rimozione 2 variabili </a:t>
            </a:r>
            <a:r>
              <a:rPr lang="it-IT" sz="2400" dirty="0" err="1">
                <a:latin typeface="Aptos Display"/>
              </a:rPr>
              <a:t>leakers</a:t>
            </a:r>
            <a:endParaRPr lang="it-IT" sz="2400" dirty="0">
              <a:latin typeface="Aptos Display"/>
            </a:endParaRPr>
          </a:p>
          <a:p>
            <a:r>
              <a:rPr lang="it-IT" sz="2400" dirty="0">
                <a:latin typeface="Aptos Display"/>
              </a:rPr>
              <a:t>-R² = 0.47</a:t>
            </a:r>
          </a:p>
          <a:p>
            <a:r>
              <a:rPr lang="it-IT" sz="2400" dirty="0">
                <a:latin typeface="Aptos Display"/>
              </a:rPr>
              <a:t>-Coefficienti non distorti</a:t>
            </a:r>
          </a:p>
        </p:txBody>
      </p:sp>
      <p:sp>
        <p:nvSpPr>
          <p:cNvPr id="99" name="PgNum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dirty="0">
                <a:solidFill>
                  <a:srgbClr val="000000"/>
                </a:solidFill>
                <a:latin typeface="Aptos Display"/>
              </a:rPr>
              <a:t>10</a:t>
            </a:r>
          </a:p>
        </p:txBody>
      </p:sp>
      <p:pic>
        <p:nvPicPr>
          <p:cNvPr id="4" name="Picture 3" descr="unipd_logo.png">
            <a:extLst>
              <a:ext uri="{FF2B5EF4-FFF2-40B4-BE49-F238E27FC236}">
                <a16:creationId xmlns:a16="http://schemas.microsoft.com/office/drawing/2014/main" id="{18314363-45E3-5D22-54A4-C61A632C4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039" y="210080"/>
            <a:ext cx="265176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80000" y="100000"/>
            <a:ext cx="11432000" cy="1528881"/>
          </a:xfrm>
        </p:spPr>
        <p:txBody>
          <a:bodyPr anchor="ctr">
            <a:normAutofit/>
          </a:bodyPr>
          <a:lstStyle/>
          <a:p>
            <a:r>
              <a:rPr lang="it-IT" sz="2400" dirty="0">
                <a:solidFill>
                  <a:schemeClr val="bg1"/>
                </a:solidFill>
                <a:latin typeface="Aptos Display"/>
              </a:rPr>
              <a:t>Regressione sul Prezzo</a:t>
            </a:r>
          </a:p>
          <a:p>
            <a:r>
              <a:rPr lang="it-IT" sz="2400" i="1" dirty="0">
                <a:solidFill>
                  <a:schemeClr val="bg1"/>
                </a:solidFill>
                <a:latin typeface="Aptos Display"/>
              </a:rPr>
              <a:t>Il problema delle variabili leakers</a:t>
            </a:r>
          </a:p>
        </p:txBody>
      </p:sp>
      <p:sp>
        <p:nvSpPr>
          <p:cNvPr id="10" name="s10"/>
          <p:cNvSpPr txBox="1"/>
          <p:nvPr/>
        </p:nvSpPr>
        <p:spPr>
          <a:xfrm>
            <a:off x="380000" y="1828881"/>
            <a:ext cx="3677333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150000" tIns="80000" rIns="150000" bIns="80000" rtlCol="0" anchor="ctr">
            <a:normAutofit fontScale="85000" lnSpcReduction="20000"/>
          </a:bodyPr>
          <a:lstStyle/>
          <a:p>
            <a:r>
              <a:rPr lang="it-IT" sz="1700" b="1" dirty="0">
                <a:solidFill>
                  <a:srgbClr val="333333"/>
                </a:solidFill>
                <a:latin typeface="Aptos Display"/>
              </a:rPr>
              <a:t>1  Analisi</a:t>
            </a:r>
          </a:p>
        </p:txBody>
      </p:sp>
      <p:sp>
        <p:nvSpPr>
          <p:cNvPr id="20" name="s20"/>
          <p:cNvSpPr txBox="1"/>
          <p:nvPr/>
        </p:nvSpPr>
        <p:spPr>
          <a:xfrm>
            <a:off x="4257333" y="1828881"/>
            <a:ext cx="3677333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150000" tIns="80000" rIns="150000" bIns="80000" rtlCol="0" anchor="ctr">
            <a:normAutofit fontScale="85000" lnSpcReduction="20000"/>
          </a:bodyPr>
          <a:lstStyle/>
          <a:p>
            <a:r>
              <a:rPr lang="it-IT" sz="1700" b="1" dirty="0">
                <a:solidFill>
                  <a:srgbClr val="333333"/>
                </a:solidFill>
                <a:latin typeface="Aptos Display"/>
              </a:rPr>
              <a:t>2  Verifica online</a:t>
            </a:r>
          </a:p>
        </p:txBody>
      </p:sp>
      <p:sp>
        <p:nvSpPr>
          <p:cNvPr id="30" name="s30"/>
          <p:cNvSpPr txBox="1"/>
          <p:nvPr/>
        </p:nvSpPr>
        <p:spPr>
          <a:xfrm>
            <a:off x="8134666" y="1828881"/>
            <a:ext cx="3677333" cy="3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150000" tIns="80000" rIns="150000" bIns="80000" rtlCol="0" anchor="ctr">
            <a:normAutofit fontScale="85000" lnSpcReduction="20000"/>
          </a:bodyPr>
          <a:lstStyle/>
          <a:p>
            <a:r>
              <a:rPr lang="it-IT" sz="1700" b="1" dirty="0">
                <a:solidFill>
                  <a:srgbClr val="333333"/>
                </a:solidFill>
                <a:latin typeface="Aptos Display"/>
              </a:rPr>
              <a:t>3  Soluzione</a:t>
            </a:r>
          </a:p>
        </p:txBody>
      </p:sp>
      <p:sp>
        <p:nvSpPr>
          <p:cNvPr id="40" name="div40"/>
          <p:cNvSpPr/>
          <p:nvPr/>
        </p:nvSpPr>
        <p:spPr>
          <a:xfrm>
            <a:off x="4157333" y="1828881"/>
            <a:ext cx="0" cy="4809119"/>
          </a:xfrm>
          <a:prstGeom prst="line">
            <a:avLst/>
          </a:prstGeom>
          <a:noFill/>
          <a:ln w="12700">
            <a:solidFill>
              <a:srgbClr val="DDDD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div41"/>
          <p:cNvSpPr/>
          <p:nvPr/>
        </p:nvSpPr>
        <p:spPr>
          <a:xfrm>
            <a:off x="8034666" y="1828881"/>
            <a:ext cx="0" cy="4809119"/>
          </a:xfrm>
          <a:prstGeom prst="line">
            <a:avLst/>
          </a:prstGeom>
          <a:noFill/>
          <a:ln w="12700">
            <a:solidFill>
              <a:srgbClr val="DDDD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11"/>
          <p:cNvSpPr txBox="1"/>
          <p:nvPr/>
        </p:nvSpPr>
        <p:spPr>
          <a:xfrm>
            <a:off x="380000" y="2288881"/>
            <a:ext cx="3677333" cy="700000"/>
          </a:xfrm>
          <a:prstGeom prst="rect">
            <a:avLst/>
          </a:prstGeom>
          <a:solidFill>
            <a:srgbClr val="FEF2F2"/>
          </a:solidFill>
          <a:ln w="18000">
            <a:solidFill>
              <a:srgbClr val="E8B4B4"/>
            </a:solidFill>
          </a:ln>
        </p:spPr>
        <p:txBody>
          <a:bodyPr wrap="square" lIns="150000" tIns="120000" rIns="150000" bIns="120000" rtlCol="0" anchor="t">
            <a:normAutofit fontScale="92500" lnSpcReduction="10000"/>
          </a:bodyPr>
          <a:lstStyle/>
          <a:p>
            <a:r>
              <a:rPr lang="it-IT" sz="3600" b="1" dirty="0">
                <a:solidFill>
                  <a:srgbClr val="B20E10"/>
                </a:solidFill>
                <a:latin typeface="Aptos Display"/>
              </a:rPr>
              <a:t>+204% </a:t>
            </a:r>
            <a:r>
              <a:rPr lang="it-IT" sz="1700" b="1" dirty="0" err="1">
                <a:solidFill>
                  <a:srgbClr val="111111"/>
                </a:solidFill>
                <a:latin typeface="Aptos Display"/>
              </a:rPr>
              <a:t>Has_Item_Verification</a:t>
            </a:r>
            <a:endParaRPr lang="it-IT" sz="1700" b="1" dirty="0">
              <a:solidFill>
                <a:srgbClr val="111111"/>
              </a:solidFill>
              <a:latin typeface="Aptos Display"/>
            </a:endParaRPr>
          </a:p>
        </p:txBody>
      </p:sp>
      <p:sp>
        <p:nvSpPr>
          <p:cNvPr id="12" name="s12"/>
          <p:cNvSpPr txBox="1"/>
          <p:nvPr/>
        </p:nvSpPr>
        <p:spPr>
          <a:xfrm>
            <a:off x="380000" y="3118881"/>
            <a:ext cx="3677333" cy="700000"/>
          </a:xfrm>
          <a:prstGeom prst="rect">
            <a:avLst/>
          </a:prstGeom>
          <a:solidFill>
            <a:srgbClr val="FEF2F2"/>
          </a:solidFill>
          <a:ln w="18000">
            <a:solidFill>
              <a:srgbClr val="E8B4B4"/>
            </a:solidFill>
          </a:ln>
        </p:spPr>
        <p:txBody>
          <a:bodyPr wrap="square" lIns="150000" tIns="120000" rIns="150000" bIns="120000" rtlCol="0" anchor="t">
            <a:normAutofit fontScale="92500" lnSpcReduction="10000"/>
          </a:bodyPr>
          <a:lstStyle/>
          <a:p>
            <a:r>
              <a:rPr lang="it-IT" sz="3600" b="1" dirty="0">
                <a:solidFill>
                  <a:srgbClr val="B20E10"/>
                </a:solidFill>
                <a:latin typeface="Aptos Display"/>
              </a:rPr>
              <a:t>+139%  </a:t>
            </a:r>
            <a:r>
              <a:rPr lang="it-IT" sz="1700" b="1" dirty="0" err="1">
                <a:solidFill>
                  <a:srgbClr val="111111"/>
                </a:solidFill>
                <a:latin typeface="Aptos Display"/>
              </a:rPr>
              <a:t>Is_Boosted</a:t>
            </a:r>
            <a:endParaRPr lang="it-IT" sz="1700" b="1" dirty="0">
              <a:solidFill>
                <a:srgbClr val="111111"/>
              </a:solidFill>
              <a:latin typeface="Aptos Display"/>
            </a:endParaRPr>
          </a:p>
        </p:txBody>
      </p:sp>
      <p:sp>
        <p:nvSpPr>
          <p:cNvPr id="13" name="s13"/>
          <p:cNvSpPr txBox="1"/>
          <p:nvPr/>
        </p:nvSpPr>
        <p:spPr>
          <a:xfrm>
            <a:off x="380000" y="4028881"/>
            <a:ext cx="3677333" cy="2609119"/>
          </a:xfrm>
          <a:prstGeom prst="rect">
            <a:avLst/>
          </a:prstGeom>
          <a:noFill/>
          <a:ln>
            <a:noFill/>
          </a:ln>
        </p:spPr>
        <p:txBody>
          <a:bodyPr wrap="square" lIns="150000" tIns="120000" rIns="150000" bIns="120000" rtlCol="0" anchor="t">
            <a:normAutofit/>
          </a:bodyPr>
          <a:lstStyle/>
          <a:p>
            <a:r>
              <a:rPr lang="it-IT" sz="2000" b="1" dirty="0">
                <a:latin typeface="Aptos Display"/>
              </a:rPr>
              <a:t>Osservazione</a:t>
            </a:r>
          </a:p>
          <a:p>
            <a:endParaRPr lang="it-IT" sz="2000" dirty="0">
              <a:latin typeface="Aptos Display"/>
            </a:endParaRPr>
          </a:p>
          <a:p>
            <a:r>
              <a:rPr lang="it-IT" sz="2000" i="1" dirty="0">
                <a:latin typeface="Aptos Display"/>
              </a:rPr>
              <a:t>Valori così alti suggeriscono che queste variabili non spiegano il prezzo ma lo seguono.</a:t>
            </a:r>
          </a:p>
        </p:txBody>
      </p:sp>
      <p:sp>
        <p:nvSpPr>
          <p:cNvPr id="21" name="s21"/>
          <p:cNvSpPr txBox="1"/>
          <p:nvPr/>
        </p:nvSpPr>
        <p:spPr>
          <a:xfrm>
            <a:off x="4257334" y="2288880"/>
            <a:ext cx="3777330" cy="2400239"/>
          </a:xfrm>
          <a:prstGeom prst="rect">
            <a:avLst/>
          </a:prstGeom>
          <a:solidFill>
            <a:srgbClr val="F0F4FF"/>
          </a:solidFill>
          <a:ln w="18000">
            <a:solidFill>
              <a:srgbClr val="B5C8F4"/>
            </a:solidFill>
          </a:ln>
        </p:spPr>
        <p:txBody>
          <a:bodyPr wrap="square" lIns="150000" tIns="120000" rIns="150000" bIns="120000" rtlCol="0" anchor="t">
            <a:noAutofit/>
          </a:bodyPr>
          <a:lstStyle/>
          <a:p>
            <a:r>
              <a:rPr lang="it-IT" b="1" dirty="0">
                <a:solidFill>
                  <a:srgbClr val="185FA5"/>
                </a:solidFill>
                <a:latin typeface="Aptos Display"/>
              </a:rPr>
              <a:t>Criteri ufficiali Vinted</a:t>
            </a:r>
          </a:p>
          <a:p>
            <a:r>
              <a:rPr lang="it-IT" sz="1400" i="1" dirty="0">
                <a:solidFill>
                  <a:srgbClr val="888888"/>
                </a:solidFill>
                <a:latin typeface="Aptos Display"/>
              </a:rPr>
              <a:t>help.vinted.it</a:t>
            </a:r>
          </a:p>
          <a:p>
            <a:r>
              <a:rPr lang="it-IT" sz="900" dirty="0">
                <a:latin typeface="Aptos Display"/>
              </a:rPr>
              <a:t> </a:t>
            </a:r>
          </a:p>
          <a:p>
            <a:r>
              <a:rPr lang="it-IT" dirty="0">
                <a:solidFill>
                  <a:srgbClr val="333333"/>
                </a:solidFill>
                <a:latin typeface="Aptos Display"/>
              </a:rPr>
              <a:t>Un annuncio è idoneo alla verifica se:</a:t>
            </a:r>
          </a:p>
          <a:p>
            <a:endParaRPr lang="it-IT" dirty="0">
              <a:latin typeface="Aptos Display"/>
            </a:endParaRPr>
          </a:p>
          <a:p>
            <a:r>
              <a:rPr lang="it-IT" b="1" dirty="0">
                <a:solidFill>
                  <a:srgbClr val="B20E10"/>
                </a:solidFill>
                <a:latin typeface="Aptos Display"/>
              </a:rPr>
              <a:t>•  Prezzo: 100€ o più</a:t>
            </a:r>
          </a:p>
          <a:p>
            <a:r>
              <a:rPr lang="it-IT" dirty="0">
                <a:solidFill>
                  <a:srgbClr val="444444"/>
                </a:solidFill>
                <a:latin typeface="Aptos Display"/>
              </a:rPr>
              <a:t>•  Brand nell’elenco idonei</a:t>
            </a:r>
          </a:p>
          <a:p>
            <a:r>
              <a:rPr lang="it-IT" dirty="0">
                <a:solidFill>
                  <a:srgbClr val="444444"/>
                </a:solidFill>
                <a:latin typeface="Aptos Display"/>
              </a:rPr>
              <a:t>•  Categoria: scarpe, abbigliamento</a:t>
            </a:r>
          </a:p>
        </p:txBody>
      </p:sp>
      <p:sp>
        <p:nvSpPr>
          <p:cNvPr id="31" name="s31"/>
          <p:cNvSpPr txBox="1"/>
          <p:nvPr/>
        </p:nvSpPr>
        <p:spPr>
          <a:xfrm>
            <a:off x="8134667" y="2288881"/>
            <a:ext cx="3577332" cy="1350000"/>
          </a:xfrm>
          <a:prstGeom prst="rect">
            <a:avLst/>
          </a:prstGeom>
          <a:solidFill>
            <a:srgbClr val="F5F5F5"/>
          </a:solidFill>
          <a:ln w="18000">
            <a:solidFill>
              <a:srgbClr val="CCCCCC"/>
            </a:solidFill>
          </a:ln>
        </p:spPr>
        <p:txBody>
          <a:bodyPr wrap="square" lIns="150000" tIns="120000" rIns="150000" bIns="120000" rtlCol="0" anchor="t">
            <a:normAutofit fontScale="47500" lnSpcReduction="20000"/>
          </a:bodyPr>
          <a:lstStyle/>
          <a:p>
            <a:r>
              <a:rPr lang="it-IT" sz="4000" b="1" dirty="0">
                <a:latin typeface="Aptos Display"/>
              </a:rPr>
              <a:t>Rimosse entrambe le variabili</a:t>
            </a:r>
          </a:p>
          <a:p>
            <a:endParaRPr lang="it-IT" sz="4000" dirty="0">
              <a:latin typeface="Aptos Display"/>
            </a:endParaRPr>
          </a:p>
          <a:p>
            <a:r>
              <a:rPr lang="it-IT" sz="4000" dirty="0">
                <a:latin typeface="Aptos Display"/>
              </a:rPr>
              <a:t>R² scende da 0.62 → 0.47 ma i coefficienti tornano non distorti</a:t>
            </a:r>
            <a:r>
              <a:rPr lang="it-IT" sz="1600" dirty="0">
                <a:latin typeface="Aptos Display"/>
              </a:rPr>
              <a:t>.</a:t>
            </a:r>
          </a:p>
        </p:txBody>
      </p:sp>
      <p:sp>
        <p:nvSpPr>
          <p:cNvPr id="32" name="s32"/>
          <p:cNvSpPr txBox="1"/>
          <p:nvPr/>
        </p:nvSpPr>
        <p:spPr>
          <a:xfrm>
            <a:off x="8134666" y="3818881"/>
            <a:ext cx="3577332" cy="2939119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</a:ln>
        </p:spPr>
        <p:txBody>
          <a:bodyPr wrap="square" lIns="150000" tIns="120000" rIns="150000" bIns="120000" rtlCol="0" anchor="t">
            <a:normAutofit lnSpcReduction="10000"/>
          </a:bodyPr>
          <a:lstStyle/>
          <a:p>
            <a:r>
              <a:rPr lang="it-IT" b="1" dirty="0">
                <a:solidFill>
                  <a:srgbClr val="7C4A00"/>
                </a:solidFill>
                <a:latin typeface="Aptos Display"/>
              </a:rPr>
              <a:t>Prova empirica</a:t>
            </a:r>
          </a:p>
          <a:p>
            <a:endParaRPr lang="it-IT" dirty="0">
              <a:latin typeface="Aptos Display"/>
            </a:endParaRPr>
          </a:p>
          <a:p>
            <a:r>
              <a:rPr lang="it-IT" dirty="0" err="1">
                <a:solidFill>
                  <a:srgbClr val="444444"/>
                </a:solidFill>
                <a:latin typeface="Aptos Display"/>
              </a:rPr>
              <a:t>Coef</a:t>
            </a:r>
            <a:r>
              <a:rPr lang="it-IT" dirty="0">
                <a:solidFill>
                  <a:srgbClr val="444444"/>
                </a:solidFill>
                <a:latin typeface="Aptos Display"/>
              </a:rPr>
              <a:t> di Condizione fisica dopo rimozione:</a:t>
            </a:r>
          </a:p>
          <a:p>
            <a:endParaRPr lang="it-IT" dirty="0">
              <a:latin typeface="Aptos Display"/>
            </a:endParaRPr>
          </a:p>
          <a:p>
            <a:r>
              <a:rPr lang="it-IT" b="1" dirty="0">
                <a:solidFill>
                  <a:srgbClr val="B20E10"/>
                </a:solidFill>
                <a:latin typeface="Aptos Display"/>
              </a:rPr>
              <a:t>0.99  →  1.38</a:t>
            </a:r>
          </a:p>
          <a:p>
            <a:r>
              <a:rPr lang="it-IT" b="1" dirty="0">
                <a:solidFill>
                  <a:srgbClr val="B20E10"/>
                </a:solidFill>
                <a:latin typeface="Aptos Display"/>
              </a:rPr>
              <a:t>+40%</a:t>
            </a:r>
          </a:p>
          <a:p>
            <a:endParaRPr lang="it-IT" dirty="0">
              <a:latin typeface="Aptos Display"/>
            </a:endParaRPr>
          </a:p>
          <a:p>
            <a:r>
              <a:rPr lang="it-IT" i="1" dirty="0">
                <a:solidFill>
                  <a:srgbClr val="555555"/>
                </a:solidFill>
                <a:latin typeface="Aptos Display"/>
              </a:rPr>
              <a:t>La variabile assorbiva l’effetto della condizione fisica della scarpa.</a:t>
            </a:r>
          </a:p>
        </p:txBody>
      </p:sp>
      <p:sp>
        <p:nvSpPr>
          <p:cNvPr id="99" name="PgNum"/>
          <p:cNvSpPr txBox="1"/>
          <p:nvPr/>
        </p:nvSpPr>
        <p:spPr>
          <a:xfrm>
            <a:off x="11711998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dirty="0">
                <a:solidFill>
                  <a:srgbClr val="000000"/>
                </a:solidFill>
                <a:latin typeface="Aptos Display"/>
              </a:rPr>
              <a:t>11</a:t>
            </a:r>
          </a:p>
        </p:txBody>
      </p:sp>
      <p:pic>
        <p:nvPicPr>
          <p:cNvPr id="4" name="Picture 3" descr="unipd_logo.png">
            <a:extLst>
              <a:ext uri="{FF2B5EF4-FFF2-40B4-BE49-F238E27FC236}">
                <a16:creationId xmlns:a16="http://schemas.microsoft.com/office/drawing/2014/main" id="{5CB70115-A56B-FC95-660A-2D5FD66FF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0238" y="185801"/>
            <a:ext cx="265176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0467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 err="1">
                <a:solidFill>
                  <a:srgbClr val="FFFFFF"/>
                </a:solidFill>
                <a:latin typeface="Aptos Display"/>
              </a:rPr>
              <a:t>Regressione</a:t>
            </a:r>
            <a:r>
              <a:rPr sz="3200" b="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b="0" dirty="0" err="1">
                <a:solidFill>
                  <a:srgbClr val="FFFFFF"/>
                </a:solidFill>
                <a:latin typeface="Aptos Display"/>
              </a:rPr>
              <a:t>sul</a:t>
            </a:r>
            <a:r>
              <a:rPr sz="3200" b="0" dirty="0">
                <a:solidFill>
                  <a:srgbClr val="FFFFFF"/>
                </a:solidFill>
                <a:latin typeface="Aptos Display"/>
              </a:rPr>
              <a:t> Prezzo</a:t>
            </a:r>
          </a:p>
          <a:p>
            <a:pPr algn="l"/>
            <a:r>
              <a:rPr sz="3200" b="0" i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b="0" i="1" dirty="0" err="1">
                <a:solidFill>
                  <a:srgbClr val="FFFFFF"/>
                </a:solidFill>
                <a:latin typeface="Aptos Display"/>
              </a:rPr>
              <a:t>Modello</a:t>
            </a:r>
            <a:r>
              <a:rPr sz="3200" b="0" i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b="0" i="1" dirty="0" err="1">
                <a:solidFill>
                  <a:srgbClr val="FFFFFF"/>
                </a:solidFill>
                <a:latin typeface="Aptos Display"/>
              </a:rPr>
              <a:t>Completo</a:t>
            </a:r>
            <a:r>
              <a:rPr sz="3200" b="0" i="1" dirty="0">
                <a:solidFill>
                  <a:srgbClr val="FFFFFF"/>
                </a:solidFill>
                <a:latin typeface="Aptos Display"/>
              </a:rPr>
              <a:t> (log-</a:t>
            </a:r>
            <a:r>
              <a:rPr sz="3200" b="0" i="1" dirty="0" err="1">
                <a:solidFill>
                  <a:srgbClr val="FFFFFF"/>
                </a:solidFill>
                <a:latin typeface="Aptos Display"/>
              </a:rPr>
              <a:t>prezzo</a:t>
            </a:r>
            <a:r>
              <a:rPr sz="3200" b="0" i="1" dirty="0">
                <a:solidFill>
                  <a:srgbClr val="FFFFFF"/>
                </a:solidFill>
                <a:latin typeface="Aptos Display"/>
              </a:rPr>
              <a:t>)</a:t>
            </a:r>
          </a:p>
        </p:txBody>
      </p:sp>
      <p:pic>
        <p:nvPicPr>
          <p:cNvPr id="4" name="Picture 3" descr="unip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4520" y="235078"/>
            <a:ext cx="265176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874520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dirty="0">
                <a:solidFill>
                  <a:srgbClr val="B20E10"/>
                </a:solidFill>
                <a:latin typeface="Aptos Display"/>
              </a:rPr>
              <a:t>Errori Robusti</a:t>
            </a:r>
            <a:endParaRPr sz="2000" b="1" i="0" dirty="0">
              <a:solidFill>
                <a:srgbClr val="B20E10"/>
              </a:solidFill>
              <a:latin typeface="Aptos Display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445216"/>
              </p:ext>
            </p:extLst>
          </p:nvPr>
        </p:nvGraphicFramePr>
        <p:xfrm>
          <a:off x="378417" y="2405079"/>
          <a:ext cx="6350041" cy="4056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4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319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Variabile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Effetto %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Aptos Display"/>
                        </a:rPr>
                        <a:t>IC 95%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71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Condizione (lin.)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+170%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[+121%, +229%]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71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Has_Item_Verification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+198%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[+146%, +262%]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71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Is_Boosted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+138%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[+117%, +160%]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71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Brand: Lusso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+86%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[+37%, +153%]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71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Costo spedizione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+21%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[+14%, +28%]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71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Brand: Ignoto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−46%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[−55%, −36%]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71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Popolarità Trends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+0.5%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[+0.2%, +0.9%]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071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Rating: Ottimo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−22%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[−34%, −7%]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62800" y="20393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20E10"/>
                </a:solidFill>
                <a:latin typeface="Aptos Display"/>
              </a:rPr>
              <a:t>Metriche sul test 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7231378" y="2392887"/>
            <a:ext cx="484632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258795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555555"/>
                </a:solidFill>
                <a:latin typeface="Aptos Display"/>
              </a:rPr>
              <a:t>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522663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B20E10"/>
                </a:solidFill>
                <a:latin typeface="Aptos Display"/>
              </a:rPr>
              <a:t>0.625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95680" y="3095286"/>
            <a:ext cx="4846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328967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rgbClr val="555555"/>
                </a:solidFill>
                <a:latin typeface="Aptos Display"/>
              </a:rPr>
              <a:t>MAE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720" y="328764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 dirty="0">
                <a:solidFill>
                  <a:srgbClr val="B20E10"/>
                </a:solidFill>
                <a:latin typeface="Aptos Display"/>
              </a:rPr>
              <a:t>22.1 €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3936534"/>
            <a:ext cx="4846320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7452360" y="41182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rgbClr val="555555"/>
                </a:solidFill>
                <a:latin typeface="Aptos Display"/>
              </a:rPr>
              <a:t>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7440" y="4040525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 dirty="0">
                <a:solidFill>
                  <a:srgbClr val="B20E10"/>
                </a:solidFill>
                <a:latin typeface="Aptos Display"/>
              </a:rPr>
              <a:t>42.9 €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4535424"/>
            <a:ext cx="4846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7406640" y="4757106"/>
            <a:ext cx="2589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solidFill>
                  <a:srgbClr val="555555"/>
                </a:solidFill>
                <a:latin typeface="Aptos Display"/>
              </a:rPr>
              <a:t>R² medio CV</a:t>
            </a:r>
            <a:r>
              <a:rPr lang="it-IT" sz="2000" dirty="0">
                <a:solidFill>
                  <a:srgbClr val="555555"/>
                </a:solidFill>
                <a:latin typeface="Aptos Display"/>
              </a:rPr>
              <a:t> a 6 </a:t>
            </a:r>
            <a:r>
              <a:rPr lang="it-IT" sz="2000" dirty="0" err="1">
                <a:solidFill>
                  <a:srgbClr val="555555"/>
                </a:solidFill>
                <a:latin typeface="Aptos Display"/>
              </a:rPr>
              <a:t>fold</a:t>
            </a:r>
            <a:endParaRPr sz="1400" dirty="0">
              <a:solidFill>
                <a:srgbClr val="555555"/>
              </a:solidFill>
              <a:latin typeface="Aptos Display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401720" y="4790303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B20E10"/>
                </a:solidFill>
                <a:latin typeface="Aptos Display"/>
              </a:rPr>
              <a:t>0.661</a:t>
            </a:r>
          </a:p>
        </p:txBody>
      </p:sp>
      <p:sp>
        <p:nvSpPr>
          <p:cNvPr id="999" name="PageNum11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1609344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0467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 err="1">
                <a:solidFill>
                  <a:srgbClr val="FFFFFF"/>
                </a:solidFill>
                <a:latin typeface="Aptos Display"/>
              </a:rPr>
              <a:t>Regressione</a:t>
            </a:r>
            <a:r>
              <a:rPr sz="3200" b="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b="0" dirty="0" err="1">
                <a:solidFill>
                  <a:srgbClr val="FFFFFF"/>
                </a:solidFill>
                <a:latin typeface="Aptos Display"/>
              </a:rPr>
              <a:t>sul</a:t>
            </a:r>
            <a:r>
              <a:rPr sz="3200" b="0" dirty="0">
                <a:solidFill>
                  <a:srgbClr val="FFFFFF"/>
                </a:solidFill>
                <a:latin typeface="Aptos Display"/>
              </a:rPr>
              <a:t> Prezzo</a:t>
            </a:r>
          </a:p>
          <a:p>
            <a:pPr algn="l"/>
            <a:r>
              <a:rPr sz="3200" b="0" i="1" dirty="0" err="1">
                <a:solidFill>
                  <a:srgbClr val="FFFFFF"/>
                </a:solidFill>
                <a:latin typeface="Aptos Display"/>
              </a:rPr>
              <a:t>Confronto</a:t>
            </a:r>
            <a:r>
              <a:rPr sz="3200" b="0" i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b="0" i="1" dirty="0" err="1">
                <a:solidFill>
                  <a:srgbClr val="FFFFFF"/>
                </a:solidFill>
                <a:latin typeface="Aptos Display"/>
              </a:rPr>
              <a:t>modelli</a:t>
            </a:r>
            <a:r>
              <a:rPr sz="3200" b="0" i="1" dirty="0">
                <a:solidFill>
                  <a:srgbClr val="FFFFFF"/>
                </a:solidFill>
                <a:latin typeface="Aptos Display"/>
              </a:rPr>
              <a:t> e Cross-Validation</a:t>
            </a:r>
          </a:p>
        </p:txBody>
      </p:sp>
      <p:pic>
        <p:nvPicPr>
          <p:cNvPr id="4" name="Picture 3" descr="unip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255" y="182186"/>
            <a:ext cx="265176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874520"/>
            <a:ext cx="6400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B20E10"/>
                </a:solidFill>
                <a:latin typeface="Aptos Display"/>
              </a:rPr>
              <a:t>Metriche</a:t>
            </a:r>
            <a:r>
              <a:rPr sz="2000" b="1" i="0" dirty="0">
                <a:solidFill>
                  <a:srgbClr val="B20E10"/>
                </a:solidFill>
                <a:latin typeface="Aptos Display"/>
              </a:rPr>
              <a:t> </a:t>
            </a:r>
            <a:r>
              <a:rPr sz="2000" b="1" i="0" dirty="0" err="1">
                <a:solidFill>
                  <a:srgbClr val="B20E10"/>
                </a:solidFill>
                <a:latin typeface="Aptos Display"/>
              </a:rPr>
              <a:t>sul</a:t>
            </a:r>
            <a:r>
              <a:rPr sz="2000" b="1" i="0" dirty="0">
                <a:solidFill>
                  <a:srgbClr val="B20E10"/>
                </a:solidFill>
                <a:latin typeface="Aptos Display"/>
              </a:rPr>
              <a:t> test set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264027"/>
              </p:ext>
            </p:extLst>
          </p:nvPr>
        </p:nvGraphicFramePr>
        <p:xfrm>
          <a:off x="502920" y="2286000"/>
          <a:ext cx="10698480" cy="3825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9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3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2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26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2462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Modello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R²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MAE (€)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Aptos Display"/>
                        </a:rPr>
                        <a:t>RMSE (€)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462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MLR price </a:t>
                      </a:r>
                      <a:r>
                        <a:rPr sz="2000" dirty="0" err="1">
                          <a:solidFill>
                            <a:srgbClr val="000000"/>
                          </a:solidFill>
                          <a:latin typeface="Aptos Display"/>
                        </a:rPr>
                        <a:t>grezzo</a:t>
                      </a:r>
                      <a:r>
                        <a:rPr lang="it-IT"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 completo</a:t>
                      </a:r>
                      <a:endParaRPr sz="2000" dirty="0">
                        <a:solidFill>
                          <a:srgbClr val="000000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0.498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26.1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40.3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462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chemeClr val="tx1"/>
                          </a:solidFill>
                          <a:latin typeface="Aptos Display"/>
                        </a:rPr>
                        <a:t>MLR log(price)</a:t>
                      </a:r>
                      <a:r>
                        <a:rPr lang="it-IT" sz="2000" b="1" dirty="0">
                          <a:solidFill>
                            <a:schemeClr val="tx1"/>
                          </a:solidFill>
                          <a:latin typeface="Aptos Display"/>
                        </a:rPr>
                        <a:t> </a:t>
                      </a:r>
                      <a:r>
                        <a:rPr sz="2000" b="1" dirty="0">
                          <a:solidFill>
                            <a:schemeClr val="tx1"/>
                          </a:solidFill>
                          <a:latin typeface="Aptos Display"/>
                        </a:rPr>
                        <a:t> </a:t>
                      </a:r>
                      <a:r>
                        <a:rPr sz="2000" b="1" dirty="0" err="1">
                          <a:solidFill>
                            <a:schemeClr val="tx1"/>
                          </a:solidFill>
                          <a:latin typeface="Aptos Display"/>
                        </a:rPr>
                        <a:t>Completo</a:t>
                      </a:r>
                      <a:endParaRPr sz="1300" b="1" dirty="0">
                        <a:solidFill>
                          <a:schemeClr val="tx1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chemeClr val="tx1"/>
                          </a:solidFill>
                          <a:latin typeface="Aptos Display"/>
                        </a:rPr>
                        <a:t>0.625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chemeClr val="tx1"/>
                          </a:solidFill>
                          <a:latin typeface="Aptos Display"/>
                        </a:rPr>
                        <a:t>22.1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chemeClr val="tx1"/>
                          </a:solidFill>
                          <a:latin typeface="Aptos Display"/>
                        </a:rPr>
                        <a:t>42.9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462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MLR log(price)</a:t>
                      </a:r>
                      <a:r>
                        <a:rPr lang="it-IT"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 senza </a:t>
                      </a:r>
                      <a:r>
                        <a:rPr lang="it-IT" sz="2000" dirty="0" err="1">
                          <a:solidFill>
                            <a:srgbClr val="000000"/>
                          </a:solidFill>
                          <a:latin typeface="Aptos Display"/>
                        </a:rPr>
                        <a:t>leakers</a:t>
                      </a:r>
                      <a:endParaRPr sz="1300" dirty="0">
                        <a:solidFill>
                          <a:srgbClr val="000000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0.469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26.6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48.1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394">
                <a:tc>
                  <a:txBody>
                    <a:bodyPr/>
                    <a:lstStyle/>
                    <a:p>
                      <a:pPr algn="ctr"/>
                      <a:r>
                        <a:rPr sz="2000" dirty="0" err="1">
                          <a:solidFill>
                            <a:srgbClr val="000000"/>
                          </a:solidFill>
                          <a:latin typeface="Aptos Display"/>
                        </a:rPr>
                        <a:t>Modello</a:t>
                      </a:r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 Misto (REML)</a:t>
                      </a:r>
                      <a:r>
                        <a:rPr lang="it-IT"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 senza </a:t>
                      </a:r>
                      <a:r>
                        <a:rPr lang="it-IT" sz="2000" dirty="0" err="1">
                          <a:solidFill>
                            <a:srgbClr val="000000"/>
                          </a:solidFill>
                          <a:latin typeface="Aptos Display"/>
                        </a:rPr>
                        <a:t>leakers</a:t>
                      </a:r>
                      <a:r>
                        <a:rPr lang="it-IT"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 e con Intercetta Random per venditore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25.5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48.3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99" name="PageNum12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CCF6C-A3CC-E7EF-564C-4C6A511DA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B1A549C-ED00-5B4D-238F-142B1F22077F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0FC44BD-9DC8-24B4-0CF0-466EEAD69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Albero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70F360B-5C41-868A-8D75-8CDC96E502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46173"/>
                <a:ext cx="10515600" cy="470397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it-IT" sz="2400" dirty="0">
                    <a:latin typeface="Aptos Display"/>
                  </a:rPr>
                  <a:t>Albero classico:</a:t>
                </a:r>
                <a:endParaRPr lang="it-IT" sz="2400" i="1" dirty="0">
                  <a:latin typeface="Aptos Display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tuning in CI.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dirty="0">
                    <a:latin typeface="Aptos Display"/>
                  </a:rPr>
                  <a:t> = 0.08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RMSE = 51.77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MAE = 37.49</a:t>
                </a:r>
              </a:p>
              <a:p>
                <a:pPr>
                  <a:lnSpc>
                    <a:spcPct val="100000"/>
                  </a:lnSpc>
                </a:pPr>
                <a:r>
                  <a:rPr lang="it-IT" sz="2400" dirty="0">
                    <a:latin typeface="Aptos Display"/>
                  </a:rPr>
                  <a:t>MERT con l’effetto gerarchico su Brand e su </a:t>
                </a:r>
                <a:r>
                  <a:rPr lang="it-IT" sz="2400" dirty="0" err="1">
                    <a:latin typeface="Aptos Display"/>
                  </a:rPr>
                  <a:t>Condition</a:t>
                </a:r>
                <a:r>
                  <a:rPr lang="it-IT" sz="2400" dirty="0">
                    <a:latin typeface="Aptos Display"/>
                  </a:rPr>
                  <a:t>:</a:t>
                </a:r>
                <a:endParaRPr lang="it-IT" sz="2400" i="1" dirty="0">
                  <a:latin typeface="Aptos Display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tuning in CI.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dirty="0">
                    <a:latin typeface="Aptos Display"/>
                  </a:rPr>
                  <a:t> = 0.22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RMSE = 47.76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MAE = 33.25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70F360B-5C41-868A-8D75-8CDC96E502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46173"/>
                <a:ext cx="10515600" cy="4703976"/>
              </a:xfrm>
              <a:blipFill>
                <a:blip r:embed="rId2"/>
                <a:stretch>
                  <a:fillRect l="-812" t="-103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6E17B46-01B4-C7F4-56A8-1E5899D35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99" name="PageNum14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34272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5B47A-9D62-5D04-CD57-E2D41DDD6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921CEA-2EF8-748D-D2C8-0792DFE69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275" y="1816732"/>
            <a:ext cx="7755725" cy="4847328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304C86F6-6F4C-901E-A8F8-6F8B91BCC25C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6937B3A-F4BF-AB8C-B7B2-CA81C2C1B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Random Forest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94C499B-B73A-36EC-FB12-7BDC390878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87735"/>
                <a:ext cx="5257800" cy="4607029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it-IT" sz="2400" dirty="0">
                    <a:latin typeface="Aptos Display"/>
                  </a:rPr>
                  <a:t>Senza effetto casuale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tuning con l’errore OOB.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it-IT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dirty="0">
                    <a:latin typeface="Aptos Display"/>
                  </a:rPr>
                  <a:t> = 0.23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RMSE = 47.49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MAE = 29.18</a:t>
                </a:r>
              </a:p>
              <a:p>
                <a:pPr>
                  <a:lnSpc>
                    <a:spcPct val="100000"/>
                  </a:lnSpc>
                </a:pPr>
                <a:r>
                  <a:rPr lang="it-IT" sz="2400" dirty="0">
                    <a:latin typeface="Aptos Display"/>
                  </a:rPr>
                  <a:t>MERF (effetto gerarchico </a:t>
                </a:r>
                <a:br>
                  <a:rPr lang="it-IT" sz="2400" dirty="0">
                    <a:latin typeface="Aptos Display"/>
                  </a:rPr>
                </a:br>
                <a:r>
                  <a:rPr lang="it-IT" sz="2400" dirty="0">
                    <a:latin typeface="Aptos Display"/>
                  </a:rPr>
                  <a:t>sul Brand):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Tuning in CI.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it-IT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dirty="0">
                    <a:latin typeface="Aptos Display"/>
                  </a:rPr>
                  <a:t> = 0.29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RMSE = 45.45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MAE = 28.95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94C499B-B73A-36EC-FB12-7BDC390878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87735"/>
                <a:ext cx="5257800" cy="4607029"/>
              </a:xfrm>
              <a:blipFill>
                <a:blip r:embed="rId3"/>
                <a:stretch>
                  <a:fillRect l="-1624" t="-172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8DFA0B4-A314-21C1-2131-385E2C1DAA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99" name="PageNum15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46312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EB66F-5117-88FF-C4BD-60F8E8492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B156241B-0E70-CEE4-EB7D-B1240D592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1468" y="1750538"/>
            <a:ext cx="7178144" cy="4965803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9CABDBA3-0D69-BFC4-D765-33C5371EDC90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BA27967-28B7-4265-625B-86D7645F2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 err="1">
                <a:solidFill>
                  <a:schemeClr val="bg1"/>
                </a:solidFill>
              </a:rPr>
              <a:t>Gradient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Boosting</a:t>
            </a:r>
            <a:r>
              <a:rPr lang="it-IT" dirty="0">
                <a:solidFill>
                  <a:schemeClr val="bg1"/>
                </a:solidFill>
              </a:rPr>
              <a:t> 1/2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DBF15E4-0334-9714-BF80-8B8711C691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389517"/>
                <a:ext cx="9843655" cy="398421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it-IT" sz="2400" dirty="0">
                    <a:latin typeface="Aptos Display"/>
                  </a:rPr>
                  <a:t>Tuning con l’errore di CV: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Profondità = 31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 err="1">
                    <a:latin typeface="Aptos Display"/>
                  </a:rPr>
                  <a:t>Shrinkage</a:t>
                </a:r>
                <a:r>
                  <a:rPr lang="it-IT" dirty="0">
                    <a:latin typeface="Aptos Display"/>
                  </a:rPr>
                  <a:t> = 0.05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sz="24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it-IT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sz="2400" dirty="0">
                    <a:latin typeface="Aptos Display"/>
                  </a:rPr>
                  <a:t> = 0.20</a:t>
                </a:r>
              </a:p>
              <a:p>
                <a:pPr>
                  <a:lnSpc>
                    <a:spcPct val="100000"/>
                  </a:lnSpc>
                </a:pPr>
                <a:r>
                  <a:rPr lang="it-IT" sz="2400" dirty="0">
                    <a:latin typeface="Aptos Display"/>
                  </a:rPr>
                  <a:t>RMSE = 48.29</a:t>
                </a:r>
              </a:p>
              <a:p>
                <a:pPr>
                  <a:lnSpc>
                    <a:spcPct val="100000"/>
                  </a:lnSpc>
                </a:pPr>
                <a:r>
                  <a:rPr lang="it-IT" sz="2400" dirty="0">
                    <a:latin typeface="Aptos Display"/>
                  </a:rPr>
                  <a:t>MAE = 31.56</a:t>
                </a:r>
              </a:p>
              <a:p>
                <a:pPr>
                  <a:lnSpc>
                    <a:spcPct val="100000"/>
                  </a:lnSpc>
                </a:pPr>
                <a:endParaRPr lang="it-IT" sz="2400" dirty="0">
                  <a:latin typeface="Aptos Display"/>
                </a:endParaRP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DBF15E4-0334-9714-BF80-8B8711C691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389517"/>
                <a:ext cx="9843655" cy="3984215"/>
              </a:xfrm>
              <a:blipFill>
                <a:blip r:embed="rId3"/>
                <a:stretch>
                  <a:fillRect l="-805" t="-122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81D1D3B-89FD-210D-DFDA-A9772F393F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99" name="PageNum16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06858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D7BEC-989B-1034-4EB4-1D990770E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5C189E85-439A-44A6-5A50-73B2E5D69B39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8C2402E-0E97-981D-E679-2E3D2D2A7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 err="1">
                <a:solidFill>
                  <a:schemeClr val="bg1"/>
                </a:solidFill>
              </a:rPr>
              <a:t>Gradient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Boosting</a:t>
            </a:r>
            <a:r>
              <a:rPr lang="it-IT" dirty="0">
                <a:solidFill>
                  <a:schemeClr val="bg1"/>
                </a:solidFill>
              </a:rPr>
              <a:t> 2/2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0991E5-1163-8F8D-60A7-99ED0D741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5072"/>
            <a:ext cx="9843655" cy="398421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2400" dirty="0">
                <a:latin typeface="Aptos Display"/>
              </a:rPr>
              <a:t>Interpretazione con i partial dependence plots: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9E8EAE-261E-24DD-DE31-2F31FB87F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2F9C3EA-43C5-BA08-2792-36F2C8CC2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91"/>
            <a:ext cx="10972822" cy="4572009"/>
          </a:xfrm>
          <a:prstGeom prst="rect">
            <a:avLst/>
          </a:prstGeom>
        </p:spPr>
      </p:pic>
      <p:sp>
        <p:nvSpPr>
          <p:cNvPr id="999" name="PageNum17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055650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nip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28600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01029" y="2414803"/>
            <a:ext cx="350480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dirty="0">
                <a:solidFill>
                  <a:srgbClr val="FFCCCC"/>
                </a:solidFill>
                <a:latin typeface="Aptos Display"/>
              </a:rPr>
              <a:t>ANALISI DEI DATI AZIENDALI</a:t>
            </a:r>
            <a:r>
              <a:rPr lang="it-IT" sz="2000" dirty="0">
                <a:solidFill>
                  <a:srgbClr val="FFCCCC"/>
                </a:solidFill>
                <a:latin typeface="Aptos Display"/>
              </a:rPr>
              <a:t>:</a:t>
            </a:r>
            <a:r>
              <a:rPr sz="2000" dirty="0">
                <a:solidFill>
                  <a:srgbClr val="FFCCCC"/>
                </a:solidFill>
                <a:latin typeface="Aptos Display"/>
              </a:rPr>
              <a:t> VINTED.IT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232" y="3054883"/>
            <a:ext cx="10058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1" dirty="0" err="1">
                <a:solidFill>
                  <a:srgbClr val="FFFFFF"/>
                </a:solidFill>
                <a:latin typeface="Aptos Display"/>
              </a:rPr>
              <a:t>Regressione</a:t>
            </a:r>
            <a:r>
              <a:rPr sz="6000" b="0" i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6000" b="0" i="1" dirty="0" err="1">
                <a:solidFill>
                  <a:srgbClr val="FFFFFF"/>
                </a:solidFill>
                <a:latin typeface="Aptos Display"/>
              </a:rPr>
              <a:t>sul</a:t>
            </a:r>
            <a:r>
              <a:rPr sz="6000" b="0" i="1" dirty="0">
                <a:solidFill>
                  <a:srgbClr val="FFFFFF"/>
                </a:solidFill>
                <a:latin typeface="Aptos Display"/>
              </a:rPr>
              <a:t> N° di </a:t>
            </a:r>
            <a:r>
              <a:rPr lang="it-IT" sz="6000" b="0" i="1" dirty="0">
                <a:solidFill>
                  <a:srgbClr val="FFFFFF"/>
                </a:solidFill>
                <a:latin typeface="Aptos Display"/>
              </a:rPr>
              <a:t>Favoriti</a:t>
            </a:r>
            <a:endParaRPr sz="6000" b="0" i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999" name="PageNum18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chemeClr val="bg1"/>
                </a:solidFill>
                <a:latin typeface="Aptos Display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79C16-28BE-B1BB-B9AB-6AB1E143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1D5C93-3767-219F-D315-8B716971CB28}"/>
              </a:ext>
            </a:extLst>
          </p:cNvPr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C6800-2DE7-D964-8BEE-D77FCFC1B311}"/>
              </a:ext>
            </a:extLst>
          </p:cNvPr>
          <p:cNvSpPr txBox="1"/>
          <p:nvPr/>
        </p:nvSpPr>
        <p:spPr>
          <a:xfrm>
            <a:off x="251460" y="573839"/>
            <a:ext cx="8046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 err="1">
                <a:solidFill>
                  <a:srgbClr val="FFFFFF"/>
                </a:solidFill>
                <a:latin typeface="Aptos Display"/>
              </a:rPr>
              <a:t>Regressione</a:t>
            </a:r>
            <a:r>
              <a:rPr sz="3200" b="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b="0" dirty="0" err="1">
                <a:solidFill>
                  <a:srgbClr val="FFFFFF"/>
                </a:solidFill>
                <a:latin typeface="Aptos Display"/>
              </a:rPr>
              <a:t>sul</a:t>
            </a:r>
            <a:r>
              <a:rPr lang="it-IT" sz="3200" b="0" dirty="0">
                <a:solidFill>
                  <a:srgbClr val="FFFFFF"/>
                </a:solidFill>
                <a:latin typeface="Aptos Display"/>
              </a:rPr>
              <a:t> N° di Preferiti</a:t>
            </a:r>
            <a:endParaRPr sz="3200" b="0" dirty="0">
              <a:solidFill>
                <a:srgbClr val="FFFFFF"/>
              </a:solidFill>
              <a:latin typeface="Aptos Display"/>
            </a:endParaRPr>
          </a:p>
        </p:txBody>
      </p:sp>
      <p:pic>
        <p:nvPicPr>
          <p:cNvPr id="4" name="Picture 3" descr="unipd_logo.png">
            <a:extLst>
              <a:ext uri="{FF2B5EF4-FFF2-40B4-BE49-F238E27FC236}">
                <a16:creationId xmlns:a16="http://schemas.microsoft.com/office/drawing/2014/main" id="{A78DF4BD-8E5C-FF54-5190-A01D1B528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64592"/>
            <a:ext cx="2651760" cy="11887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2719562-8655-BB4F-17C6-9E27219E674D}"/>
              </a:ext>
            </a:extLst>
          </p:cNvPr>
          <p:cNvSpPr/>
          <p:nvPr/>
        </p:nvSpPr>
        <p:spPr>
          <a:xfrm>
            <a:off x="1434123" y="2976050"/>
            <a:ext cx="9323754" cy="23119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CA0975-8041-B3CC-420A-58DA0ACBCC3E}"/>
              </a:ext>
            </a:extLst>
          </p:cNvPr>
          <p:cNvSpPr txBox="1"/>
          <p:nvPr/>
        </p:nvSpPr>
        <p:spPr>
          <a:xfrm>
            <a:off x="1791932" y="3126440"/>
            <a:ext cx="5552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B20E10"/>
                </a:solidFill>
                <a:latin typeface="Aptos Display"/>
              </a:rPr>
              <a:t>D</a:t>
            </a:r>
            <a:r>
              <a:rPr lang="it-IT" sz="2000" b="1" dirty="0" err="1">
                <a:solidFill>
                  <a:srgbClr val="B20E10"/>
                </a:solidFill>
                <a:latin typeface="Aptos Display"/>
              </a:rPr>
              <a:t>omande</a:t>
            </a:r>
            <a:r>
              <a:rPr lang="it-IT" sz="2000" b="1" dirty="0">
                <a:solidFill>
                  <a:srgbClr val="B20E10"/>
                </a:solidFill>
                <a:latin typeface="Aptos Display"/>
              </a:rPr>
              <a:t> di ricerca</a:t>
            </a:r>
            <a:endParaRPr sz="2800" b="1" dirty="0">
              <a:solidFill>
                <a:srgbClr val="B20E10"/>
              </a:solidFill>
              <a:latin typeface="Aptos Display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6BEF2-5E4E-F7E4-2F7A-D05D2C526290}"/>
              </a:ext>
            </a:extLst>
          </p:cNvPr>
          <p:cNvSpPr txBox="1"/>
          <p:nvPr/>
        </p:nvSpPr>
        <p:spPr>
          <a:xfrm>
            <a:off x="1791932" y="3676940"/>
            <a:ext cx="88733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>
                <a:solidFill>
                  <a:srgbClr val="000000"/>
                </a:solidFill>
                <a:latin typeface="Aptos Display"/>
              </a:rPr>
              <a:t>Il numero di preferiti ricevuti da un annuncio su Vinted dipende dalle caratteristiche della scarpa? </a:t>
            </a:r>
          </a:p>
          <a:p>
            <a:endParaRPr lang="it-IT" sz="2000" b="1" dirty="0">
              <a:solidFill>
                <a:srgbClr val="000000"/>
              </a:solidFill>
              <a:latin typeface="Aptos Display"/>
            </a:endParaRPr>
          </a:p>
          <a:p>
            <a:r>
              <a:rPr lang="it-IT" sz="2000" b="1" dirty="0">
                <a:solidFill>
                  <a:srgbClr val="000000"/>
                </a:solidFill>
                <a:latin typeface="Aptos Display"/>
              </a:rPr>
              <a:t>Le stesse variabili spiegano anche quanto un annuncio viene messo nei preferiti? </a:t>
            </a:r>
          </a:p>
        </p:txBody>
      </p:sp>
      <p:sp>
        <p:nvSpPr>
          <p:cNvPr id="999" name="PageNum19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885533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3453"/>
            <a:ext cx="92354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 err="1">
                <a:solidFill>
                  <a:srgbClr val="FFFFFF"/>
                </a:solidFill>
                <a:latin typeface="Aptos Display"/>
              </a:rPr>
              <a:t>Regressione</a:t>
            </a:r>
            <a:r>
              <a:rPr sz="2800" b="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2800" b="0" dirty="0" err="1">
                <a:solidFill>
                  <a:srgbClr val="FFFFFF"/>
                </a:solidFill>
                <a:latin typeface="Aptos Display"/>
              </a:rPr>
              <a:t>sul</a:t>
            </a:r>
            <a:r>
              <a:rPr sz="2800" b="0" dirty="0">
                <a:solidFill>
                  <a:srgbClr val="FFFFFF"/>
                </a:solidFill>
                <a:latin typeface="Aptos Display"/>
              </a:rPr>
              <a:t> N° di </a:t>
            </a:r>
            <a:r>
              <a:rPr sz="2800" b="0" dirty="0" err="1">
                <a:solidFill>
                  <a:srgbClr val="FFFFFF"/>
                </a:solidFill>
                <a:latin typeface="Aptos Display"/>
              </a:rPr>
              <a:t>Preferiti</a:t>
            </a:r>
            <a:endParaRPr sz="2800" b="0" dirty="0">
              <a:solidFill>
                <a:srgbClr val="FFFFFF"/>
              </a:solidFill>
              <a:latin typeface="Aptos Display"/>
            </a:endParaRPr>
          </a:p>
          <a:p>
            <a:pPr algn="l"/>
            <a:r>
              <a:rPr sz="2800" b="0" i="1" dirty="0">
                <a:solidFill>
                  <a:srgbClr val="FFFFFF"/>
                </a:solidFill>
                <a:latin typeface="Aptos Display"/>
              </a:rPr>
              <a:t>Distribuzione della </a:t>
            </a:r>
            <a:r>
              <a:rPr sz="2800" b="0" i="1" dirty="0" err="1">
                <a:solidFill>
                  <a:srgbClr val="FFFFFF"/>
                </a:solidFill>
                <a:latin typeface="Aptos Display"/>
              </a:rPr>
              <a:t>variabile</a:t>
            </a:r>
            <a:r>
              <a:rPr sz="2800" b="0" i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2800" b="0" i="1" dirty="0" err="1">
                <a:solidFill>
                  <a:srgbClr val="FFFFFF"/>
                </a:solidFill>
                <a:latin typeface="Aptos Display"/>
              </a:rPr>
              <a:t>risposta</a:t>
            </a:r>
            <a:r>
              <a:rPr lang="it-IT" sz="2800" b="0" i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lang="it-IT" sz="2800" b="0" i="1" dirty="0" err="1">
                <a:solidFill>
                  <a:srgbClr val="FFFFFF"/>
                </a:solidFill>
                <a:latin typeface="Aptos Display"/>
              </a:rPr>
              <a:t>Favorites_count</a:t>
            </a:r>
            <a:endParaRPr sz="2800" b="0" i="1" dirty="0">
              <a:solidFill>
                <a:srgbClr val="FFFFFF"/>
              </a:solidFill>
              <a:latin typeface="Aptos Display"/>
            </a:endParaRPr>
          </a:p>
        </p:txBody>
      </p:sp>
      <p:pic>
        <p:nvPicPr>
          <p:cNvPr id="4" name="Picture 3" descr="unip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4472" y="164592"/>
            <a:ext cx="2651760" cy="1188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2423160"/>
            <a:ext cx="196596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6585" y="2514600"/>
            <a:ext cx="3786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B20E10"/>
                </a:solidFill>
                <a:latin typeface="Aptos Display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8733" y="3200400"/>
            <a:ext cx="107433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dirty="0">
                <a:latin typeface="Aptos Display"/>
              </a:rPr>
              <a:t>Mediana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39" y="2423160"/>
            <a:ext cx="196596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8452" y="2514600"/>
            <a:ext cx="86113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B20E10"/>
                </a:solidFill>
                <a:latin typeface="Aptos Display"/>
              </a:rPr>
              <a:t>16.0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9291" y="3200400"/>
            <a:ext cx="81945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dirty="0">
                <a:latin typeface="Aptos Display"/>
              </a:rPr>
              <a:t>Media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59" y="2423160"/>
            <a:ext cx="196596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8860" y="2514600"/>
            <a:ext cx="7665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B20E10"/>
                </a:solidFill>
                <a:latin typeface="Aptos Display"/>
              </a:rPr>
              <a:t>486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8980" y="3200400"/>
            <a:ext cx="10663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dirty="0" err="1">
                <a:latin typeface="Aptos Display"/>
              </a:rPr>
              <a:t>Varianza</a:t>
            </a:r>
            <a:endParaRPr sz="2000" dirty="0">
              <a:latin typeface="Aptos Display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12279" y="2423160"/>
            <a:ext cx="196596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14010" y="2514600"/>
            <a:ext cx="116249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B20E10"/>
                </a:solidFill>
                <a:latin typeface="Aptos Display"/>
              </a:rPr>
              <a:t>11.9%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9090" y="3200400"/>
            <a:ext cx="81233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dirty="0">
                <a:latin typeface="Aptos Display"/>
              </a:rPr>
              <a:t>% </a:t>
            </a:r>
            <a:r>
              <a:rPr sz="2000" dirty="0" err="1">
                <a:latin typeface="Aptos Display"/>
              </a:rPr>
              <a:t>zeri</a:t>
            </a:r>
            <a:endParaRPr sz="2000" dirty="0">
              <a:latin typeface="Aptos Display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915400" y="2423160"/>
            <a:ext cx="196596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9480637" y="2514600"/>
            <a:ext cx="8354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B20E10"/>
                </a:solidFill>
                <a:latin typeface="Aptos Display"/>
              </a:rPr>
              <a:t>≈ 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5613" y="3200400"/>
            <a:ext cx="124553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dirty="0">
                <a:latin typeface="Aptos Display"/>
              </a:rPr>
              <a:t>Var/Media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31920"/>
            <a:ext cx="3566160" cy="256032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20E10"/>
                </a:solidFill>
                <a:latin typeface="Aptos Display"/>
              </a:rPr>
              <a:t>Forte asimmetria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80560"/>
            <a:ext cx="32918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latin typeface="Aptos Display"/>
              </a:rPr>
              <a:t>Media &gt;&gt; </a:t>
            </a:r>
            <a:r>
              <a:rPr sz="2000" dirty="0" err="1">
                <a:latin typeface="Aptos Display"/>
              </a:rPr>
              <a:t>mediana</a:t>
            </a:r>
            <a:r>
              <a:rPr sz="2000" dirty="0">
                <a:latin typeface="Aptos Display"/>
              </a:rPr>
              <a:t>. La </a:t>
            </a:r>
            <a:r>
              <a:rPr sz="2000" dirty="0" err="1">
                <a:latin typeface="Aptos Display"/>
              </a:rPr>
              <a:t>maggior</a:t>
            </a:r>
            <a:r>
              <a:rPr sz="2000" dirty="0">
                <a:latin typeface="Aptos Display"/>
              </a:rPr>
              <a:t> </a:t>
            </a:r>
            <a:r>
              <a:rPr sz="2000" dirty="0" err="1">
                <a:latin typeface="Aptos Display"/>
              </a:rPr>
              <a:t>parte</a:t>
            </a:r>
            <a:r>
              <a:rPr sz="2000" dirty="0">
                <a:latin typeface="Aptos Display"/>
              </a:rPr>
              <a:t> delle </a:t>
            </a:r>
            <a:r>
              <a:rPr sz="2000" dirty="0" err="1">
                <a:latin typeface="Aptos Display"/>
              </a:rPr>
              <a:t>scarpe</a:t>
            </a:r>
            <a:r>
              <a:rPr sz="2000" dirty="0">
                <a:latin typeface="Aptos Display"/>
              </a:rPr>
              <a:t> ha </a:t>
            </a:r>
            <a:r>
              <a:rPr sz="2000" dirty="0" err="1">
                <a:latin typeface="Aptos Display"/>
              </a:rPr>
              <a:t>pochi</a:t>
            </a:r>
            <a:r>
              <a:rPr sz="2000" dirty="0">
                <a:latin typeface="Aptos Display"/>
              </a:rPr>
              <a:t> </a:t>
            </a:r>
            <a:r>
              <a:rPr sz="2000" dirty="0" err="1">
                <a:latin typeface="Aptos Display"/>
              </a:rPr>
              <a:t>preferiti</a:t>
            </a:r>
            <a:r>
              <a:rPr sz="2000" dirty="0">
                <a:latin typeface="Aptos Display"/>
              </a:rPr>
              <a:t>, </a:t>
            </a:r>
            <a:r>
              <a:rPr sz="2000" dirty="0" err="1">
                <a:latin typeface="Aptos Display"/>
              </a:rPr>
              <a:t>alcune</a:t>
            </a:r>
            <a:r>
              <a:rPr sz="2000" dirty="0">
                <a:latin typeface="Aptos Display"/>
              </a:rPr>
              <a:t> ne </a:t>
            </a:r>
            <a:r>
              <a:rPr sz="2000" dirty="0" err="1">
                <a:latin typeface="Aptos Display"/>
              </a:rPr>
              <a:t>hanno</a:t>
            </a:r>
            <a:r>
              <a:rPr sz="2000" dirty="0">
                <a:latin typeface="Aptos Display"/>
              </a:rPr>
              <a:t> </a:t>
            </a:r>
            <a:r>
              <a:rPr sz="2000" dirty="0" err="1">
                <a:latin typeface="Aptos Display"/>
              </a:rPr>
              <a:t>moltissimi</a:t>
            </a:r>
            <a:r>
              <a:rPr sz="2000" dirty="0">
                <a:latin typeface="Aptos Display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931920"/>
            <a:ext cx="3566160" cy="256032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40" y="4023360"/>
            <a:ext cx="181562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2000" b="1" dirty="0">
                <a:solidFill>
                  <a:srgbClr val="B20E10"/>
                </a:solidFill>
                <a:latin typeface="Aptos Display"/>
              </a:rPr>
              <a:t>Forte </a:t>
            </a:r>
            <a:r>
              <a:rPr sz="2000" b="1" dirty="0" err="1">
                <a:solidFill>
                  <a:srgbClr val="B20E10"/>
                </a:solidFill>
                <a:latin typeface="Aptos Display"/>
              </a:rPr>
              <a:t>Sovradispersione</a:t>
            </a:r>
            <a:endParaRPr sz="1300" b="1" dirty="0">
              <a:solidFill>
                <a:srgbClr val="B20E10"/>
              </a:solidFill>
              <a:latin typeface="Aptos Display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34840" y="4480560"/>
            <a:ext cx="329184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 err="1">
                <a:latin typeface="Aptos Display"/>
              </a:rPr>
              <a:t>Varianza</a:t>
            </a:r>
            <a:r>
              <a:rPr sz="2000" dirty="0">
                <a:latin typeface="Aptos Display"/>
              </a:rPr>
              <a:t>/Media ≈ 30. </a:t>
            </a:r>
            <a:r>
              <a:rPr lang="it-IT" sz="2000" dirty="0">
                <a:latin typeface="Aptos Display"/>
              </a:rPr>
              <a:t>Per questo la</a:t>
            </a:r>
            <a:r>
              <a:rPr sz="2000" dirty="0">
                <a:latin typeface="Aptos Display"/>
              </a:rPr>
              <a:t> </a:t>
            </a:r>
            <a:r>
              <a:rPr sz="2000" dirty="0" err="1">
                <a:latin typeface="Aptos Display"/>
              </a:rPr>
              <a:t>distribuzione</a:t>
            </a:r>
            <a:r>
              <a:rPr sz="2000" dirty="0">
                <a:latin typeface="Aptos Display"/>
              </a:rPr>
              <a:t> di Poisson è </a:t>
            </a:r>
            <a:r>
              <a:rPr sz="2000" dirty="0" err="1">
                <a:latin typeface="Aptos Display"/>
              </a:rPr>
              <a:t>esclusa</a:t>
            </a:r>
            <a:r>
              <a:rPr lang="it-IT" sz="2000" dirty="0">
                <a:latin typeface="Aptos Display"/>
              </a:rPr>
              <a:t> e abbiamo utilizzato </a:t>
            </a:r>
            <a:r>
              <a:rPr sz="2000" dirty="0">
                <a:latin typeface="Aptos Display"/>
              </a:rPr>
              <a:t>la Negative Binomial.</a:t>
            </a:r>
            <a:endParaRPr lang="it-IT" sz="1100" dirty="0">
              <a:latin typeface="Aptos Display"/>
            </a:endParaRPr>
          </a:p>
          <a:p>
            <a:endParaRPr lang="it-IT" sz="1100" dirty="0">
              <a:solidFill>
                <a:srgbClr val="555555"/>
              </a:solidFill>
              <a:latin typeface="Aptos Display"/>
            </a:endParaRPr>
          </a:p>
          <a:p>
            <a:endParaRPr lang="it-IT" sz="1100" dirty="0">
              <a:solidFill>
                <a:srgbClr val="555555"/>
              </a:solidFill>
              <a:latin typeface="Aptos Display"/>
            </a:endParaRPr>
          </a:p>
          <a:p>
            <a:endParaRPr sz="1100" dirty="0">
              <a:solidFill>
                <a:srgbClr val="555555"/>
              </a:solidFill>
              <a:latin typeface="Aptos Display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092440" y="3931920"/>
            <a:ext cx="3566160" cy="256032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4023360"/>
            <a:ext cx="188731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2000" b="1" dirty="0">
                <a:solidFill>
                  <a:srgbClr val="B20E10"/>
                </a:solidFill>
                <a:latin typeface="Aptos Display"/>
              </a:rPr>
              <a:t>Non c’è inflazione di zeri</a:t>
            </a:r>
            <a:endParaRPr sz="1300" b="1" dirty="0">
              <a:solidFill>
                <a:srgbClr val="B20E10"/>
              </a:solidFill>
              <a:latin typeface="Aptos Display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29600" y="4480560"/>
            <a:ext cx="32918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>
                <a:latin typeface="Aptos Display"/>
              </a:rPr>
              <a:t>Essendo solo il 12% degli annunci con 0 favoriti la forte </a:t>
            </a:r>
            <a:r>
              <a:rPr lang="it-IT" sz="2000" dirty="0" err="1">
                <a:latin typeface="Aptos Display"/>
              </a:rPr>
              <a:t>sovradispersione</a:t>
            </a:r>
            <a:r>
              <a:rPr lang="it-IT" sz="2000" dirty="0">
                <a:latin typeface="Aptos Display"/>
              </a:rPr>
              <a:t> dipende solo dalle scarpe con molti favoriti. </a:t>
            </a:r>
            <a:endParaRPr sz="1100" dirty="0">
              <a:latin typeface="Aptos Display"/>
            </a:endParaRPr>
          </a:p>
        </p:txBody>
      </p:sp>
      <p:sp>
        <p:nvSpPr>
          <p:cNvPr id="999" name="PageNum20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0467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 err="1">
                <a:solidFill>
                  <a:srgbClr val="FFFFFF"/>
                </a:solidFill>
                <a:latin typeface="Aptos Display"/>
              </a:rPr>
              <a:t>Regressione</a:t>
            </a:r>
            <a:r>
              <a:rPr sz="3200" b="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b="0" dirty="0" err="1">
                <a:solidFill>
                  <a:srgbClr val="FFFFFF"/>
                </a:solidFill>
                <a:latin typeface="Aptos Display"/>
              </a:rPr>
              <a:t>sul</a:t>
            </a:r>
            <a:r>
              <a:rPr sz="3200" b="0" dirty="0">
                <a:solidFill>
                  <a:srgbClr val="FFFFFF"/>
                </a:solidFill>
                <a:latin typeface="Aptos Display"/>
              </a:rPr>
              <a:t> N° di </a:t>
            </a:r>
            <a:r>
              <a:rPr sz="3200" b="0" dirty="0" err="1">
                <a:solidFill>
                  <a:srgbClr val="FFFFFF"/>
                </a:solidFill>
                <a:latin typeface="Aptos Display"/>
              </a:rPr>
              <a:t>Preferiti</a:t>
            </a:r>
            <a:endParaRPr sz="3200" b="0" dirty="0">
              <a:solidFill>
                <a:srgbClr val="FFFFFF"/>
              </a:solidFill>
              <a:latin typeface="Aptos Display"/>
            </a:endParaRPr>
          </a:p>
          <a:p>
            <a:pPr algn="l"/>
            <a:r>
              <a:rPr sz="3200" b="0" i="1" dirty="0" err="1">
                <a:solidFill>
                  <a:srgbClr val="FFFFFF"/>
                </a:solidFill>
                <a:latin typeface="Aptos Display"/>
              </a:rPr>
              <a:t>Confronto</a:t>
            </a:r>
            <a:r>
              <a:rPr sz="3200" b="0" i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b="0" i="1" dirty="0" err="1">
                <a:solidFill>
                  <a:srgbClr val="FFFFFF"/>
                </a:solidFill>
                <a:latin typeface="Aptos Display"/>
              </a:rPr>
              <a:t>modelli</a:t>
            </a:r>
            <a:endParaRPr sz="3200" b="0" i="1" dirty="0">
              <a:solidFill>
                <a:srgbClr val="FFFFFF"/>
              </a:solidFill>
              <a:latin typeface="Aptos Display"/>
            </a:endParaRPr>
          </a:p>
        </p:txBody>
      </p:sp>
      <p:pic>
        <p:nvPicPr>
          <p:cNvPr id="4" name="Picture 3" descr="unip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10312"/>
            <a:ext cx="265176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874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20E10"/>
                </a:solidFill>
                <a:latin typeface="Aptos Display"/>
              </a:rPr>
              <a:t>Metriche sul test set (n° preferiti)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541014"/>
              </p:ext>
            </p:extLst>
          </p:nvPr>
        </p:nvGraphicFramePr>
        <p:xfrm>
          <a:off x="213360" y="2286000"/>
          <a:ext cx="11828640" cy="3961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0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2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05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6515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Modello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Aptos Display"/>
                        </a:rPr>
                        <a:t>R²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MAE (pref.)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RMSE (pref.)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Aptos Display"/>
                        </a:rPr>
                        <a:t>Note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391">
                <a:tc>
                  <a:txBody>
                    <a:bodyPr/>
                    <a:lstStyle/>
                    <a:p>
                      <a:pPr algn="ctr"/>
                      <a:r>
                        <a:rPr lang="it-IT"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MLR </a:t>
                      </a:r>
                      <a:r>
                        <a:rPr sz="2000" dirty="0" err="1">
                          <a:solidFill>
                            <a:srgbClr val="000000"/>
                          </a:solidFill>
                          <a:latin typeface="Aptos Display"/>
                        </a:rPr>
                        <a:t>su</a:t>
                      </a:r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 log1p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000000"/>
                          </a:solidFill>
                          <a:latin typeface="Aptos Display"/>
                        </a:rPr>
                        <a:t>0.113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12.1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21.8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5 </a:t>
                      </a:r>
                      <a:r>
                        <a:rPr sz="2000" dirty="0" err="1">
                          <a:solidFill>
                            <a:srgbClr val="000000"/>
                          </a:solidFill>
                          <a:latin typeface="Aptos Display"/>
                        </a:rPr>
                        <a:t>variabili</a:t>
                      </a:r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 </a:t>
                      </a:r>
                      <a:r>
                        <a:rPr sz="2000" dirty="0" err="1">
                          <a:solidFill>
                            <a:srgbClr val="000000"/>
                          </a:solidFill>
                          <a:latin typeface="Aptos Display"/>
                        </a:rPr>
                        <a:t>selezionate</a:t>
                      </a:r>
                      <a:r>
                        <a:rPr lang="it-IT"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 tramite</a:t>
                      </a:r>
                    </a:p>
                    <a:p>
                      <a:pPr algn="ctr"/>
                      <a:r>
                        <a:rPr lang="it-IT" sz="2000" dirty="0" err="1">
                          <a:solidFill>
                            <a:srgbClr val="000000"/>
                          </a:solidFill>
                          <a:latin typeface="Aptos Display"/>
                        </a:rPr>
                        <a:t>Stepwise</a:t>
                      </a:r>
                      <a:r>
                        <a:rPr lang="it-IT"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 </a:t>
                      </a:r>
                      <a:endParaRPr sz="1300" dirty="0">
                        <a:solidFill>
                          <a:srgbClr val="000000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8391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Negative Binomial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0.070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13.6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20.8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6 variabili selezionate tramite </a:t>
                      </a:r>
                      <a:r>
                        <a:rPr lang="it-IT" sz="2000" dirty="0" err="1">
                          <a:solidFill>
                            <a:srgbClr val="000000"/>
                          </a:solidFill>
                          <a:latin typeface="Aptos Display"/>
                        </a:rPr>
                        <a:t>stepwise</a:t>
                      </a:r>
                      <a:endParaRPr sz="1300" dirty="0">
                        <a:solidFill>
                          <a:srgbClr val="000000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8391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Zero-Inflated NB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0.066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13.6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20.9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 </a:t>
                      </a:r>
                      <a:r>
                        <a:rPr sz="2000" dirty="0" err="1">
                          <a:solidFill>
                            <a:srgbClr val="000000"/>
                          </a:solidFill>
                          <a:latin typeface="Aptos Display"/>
                        </a:rPr>
                        <a:t>collassa</a:t>
                      </a:r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 </a:t>
                      </a:r>
                      <a:r>
                        <a:rPr sz="2000" dirty="0" err="1">
                          <a:solidFill>
                            <a:srgbClr val="000000"/>
                          </a:solidFill>
                          <a:latin typeface="Aptos Display"/>
                        </a:rPr>
                        <a:t>su</a:t>
                      </a:r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 NB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99" name="PageNum21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D955-23A1-DAD6-E746-FFB1373E1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44F77EA3-D287-7570-B661-CE13F76D25FF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41DB24-9784-E364-6992-BAD6E586A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Albero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CADC3C4-4D1D-2760-8465-F10084C34A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46173"/>
                <a:ext cx="10515600" cy="470397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it-IT" sz="2400" dirty="0">
                    <a:latin typeface="Aptos Display"/>
                  </a:rPr>
                  <a:t>Albero classico:</a:t>
                </a:r>
                <a:endParaRPr lang="it-IT" sz="2400" i="1" dirty="0">
                  <a:latin typeface="Aptos Display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tuning in CI.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dirty="0">
                    <a:latin typeface="Aptos Display"/>
                  </a:rPr>
                  <a:t> = 0.04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RMSE = 20.79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MAE = 14.01</a:t>
                </a:r>
              </a:p>
              <a:p>
                <a:pPr>
                  <a:lnSpc>
                    <a:spcPct val="100000"/>
                  </a:lnSpc>
                </a:pPr>
                <a:r>
                  <a:rPr lang="it-IT" sz="2400" dirty="0">
                    <a:latin typeface="Aptos Display"/>
                  </a:rPr>
                  <a:t>MERT con l’effetto gerarchico su Brand e su </a:t>
                </a:r>
                <a:r>
                  <a:rPr lang="it-IT" sz="2400" dirty="0" err="1">
                    <a:latin typeface="Aptos Display"/>
                  </a:rPr>
                  <a:t>Condition</a:t>
                </a:r>
                <a:r>
                  <a:rPr lang="it-IT" sz="2400" dirty="0">
                    <a:latin typeface="Aptos Display"/>
                  </a:rPr>
                  <a:t>:</a:t>
                </a:r>
                <a:endParaRPr lang="it-IT" sz="2400" i="1" dirty="0">
                  <a:latin typeface="Aptos Display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tuning in CI.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dirty="0">
                    <a:latin typeface="Aptos Display"/>
                  </a:rPr>
                  <a:t> = 0.02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RMSE = 20.99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MAE = 13.87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CADC3C4-4D1D-2760-8465-F10084C34A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46173"/>
                <a:ext cx="10515600" cy="4703976"/>
              </a:xfrm>
              <a:blipFill>
                <a:blip r:embed="rId2"/>
                <a:stretch>
                  <a:fillRect l="-812" t="-103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BAC473C-F3F6-A9BA-BE9D-26D4D88E15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99" name="PageNum22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116455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90030-5A7A-1A28-2C3F-6C7E91203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1F6F6C7-EE71-1000-37DC-5D296FA59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573" y="1846075"/>
            <a:ext cx="7792428" cy="4870267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5532A619-0A1C-1B2D-1E8B-893F1D7DF112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111BFCC-4352-4DC8-2FCC-5FD7D28A7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Random Forest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D907B8E-C88B-A023-B681-ED2BB42F86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87735"/>
                <a:ext cx="5257800" cy="4607029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it-IT" sz="2400" dirty="0">
                    <a:latin typeface="Aptos Display"/>
                  </a:rPr>
                  <a:t>Senza effetto casuale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tuning con l’errore OOB.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it-IT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dirty="0">
                    <a:latin typeface="Aptos Display"/>
                  </a:rPr>
                  <a:t> = 0.16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RMSE = 19.43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MAE = 13.13</a:t>
                </a:r>
              </a:p>
              <a:p>
                <a:pPr>
                  <a:lnSpc>
                    <a:spcPct val="100000"/>
                  </a:lnSpc>
                </a:pPr>
                <a:r>
                  <a:rPr lang="it-IT" sz="2400" dirty="0">
                    <a:latin typeface="Aptos Display"/>
                  </a:rPr>
                  <a:t>MERF (effetto gerarchico </a:t>
                </a:r>
                <a:br>
                  <a:rPr lang="it-IT" sz="2400" dirty="0">
                    <a:latin typeface="Aptos Display"/>
                  </a:rPr>
                </a:br>
                <a:r>
                  <a:rPr lang="it-IT" sz="2400" dirty="0">
                    <a:latin typeface="Aptos Display"/>
                  </a:rPr>
                  <a:t>sul Brand):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Tuning in CI.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it-IT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dirty="0">
                    <a:latin typeface="Aptos Display"/>
                  </a:rPr>
                  <a:t> = 0.17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RMSE = 19.29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MAE = 12.94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D907B8E-C88B-A023-B681-ED2BB42F86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87735"/>
                <a:ext cx="5257800" cy="4607029"/>
              </a:xfrm>
              <a:blipFill>
                <a:blip r:embed="rId3"/>
                <a:stretch>
                  <a:fillRect l="-1624" t="-172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CBAD36C-E099-5C8D-0871-06CBE2FE6B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99" name="PageNum23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dirty="0">
                <a:solidFill>
                  <a:srgbClr val="000000"/>
                </a:solidFill>
                <a:latin typeface="Aptos Display"/>
              </a:rPr>
              <a:t>23</a:t>
            </a:r>
            <a:endParaRPr lang="it-IT" sz="1400" b="0" dirty="0">
              <a:solidFill>
                <a:srgbClr val="000000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069193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C1D69-2C82-50DD-B537-C0DB5C5CE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FC88AB1B-E96B-5A75-A7F2-6AAA97B1B26B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BD60185-F41F-764A-989B-8AE1B3DB6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Gradient Boosting 1/2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8704080-3EDB-FF19-D558-AB797D114C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389517"/>
                <a:ext cx="9843655" cy="398421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it-IT" sz="2400" dirty="0">
                    <a:latin typeface="Aptos Display"/>
                  </a:rPr>
                  <a:t>Tuning con l’errore OOB: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>
                    <a:latin typeface="Aptos Display"/>
                  </a:rPr>
                  <a:t>Profondità = 14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it-IT" dirty="0" err="1">
                    <a:latin typeface="Aptos Display"/>
                  </a:rPr>
                  <a:t>Shrinkage</a:t>
                </a:r>
                <a:r>
                  <a:rPr lang="it-IT" dirty="0">
                    <a:latin typeface="Aptos Display"/>
                  </a:rPr>
                  <a:t> = 0.005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sz="24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it-IT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sz="2400" dirty="0">
                    <a:latin typeface="Aptos Display"/>
                  </a:rPr>
                  <a:t> = 0.18</a:t>
                </a:r>
              </a:p>
              <a:p>
                <a:pPr>
                  <a:lnSpc>
                    <a:spcPct val="100000"/>
                  </a:lnSpc>
                </a:pPr>
                <a:r>
                  <a:rPr lang="it-IT" sz="2400" dirty="0">
                    <a:latin typeface="Aptos Display"/>
                  </a:rPr>
                  <a:t>RMSE = 19.20</a:t>
                </a:r>
              </a:p>
              <a:p>
                <a:pPr>
                  <a:lnSpc>
                    <a:spcPct val="100000"/>
                  </a:lnSpc>
                </a:pPr>
                <a:r>
                  <a:rPr lang="it-IT" sz="2400" dirty="0">
                    <a:latin typeface="Aptos Display"/>
                  </a:rPr>
                  <a:t>MAE = 12.77</a:t>
                </a:r>
              </a:p>
              <a:p>
                <a:pPr>
                  <a:lnSpc>
                    <a:spcPct val="100000"/>
                  </a:lnSpc>
                </a:pPr>
                <a:endParaRPr lang="it-IT" sz="2400" dirty="0">
                  <a:latin typeface="Aptos Display"/>
                </a:endParaRP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8704080-3EDB-FF19-D558-AB797D114C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389517"/>
                <a:ext cx="9843655" cy="3984215"/>
              </a:xfrm>
              <a:blipFill>
                <a:blip r:embed="rId3"/>
                <a:stretch>
                  <a:fillRect l="-805" t="-122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BA70FDE-23F4-331C-09EA-3596B90741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1F1D40D1-FF20-FABA-3FB0-529324BEBE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254" y="1750539"/>
            <a:ext cx="5036127" cy="5036127"/>
          </a:xfrm>
          <a:prstGeom prst="rect">
            <a:avLst/>
          </a:prstGeom>
        </p:spPr>
      </p:pic>
      <p:sp>
        <p:nvSpPr>
          <p:cNvPr id="999" name="PageNum24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786527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510A4-B03D-F3B5-03F4-DB358B8A2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CDE48E94-65FB-5845-336B-705D8D7D68CB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3AD1CBC-AC9F-95A8-7A5A-95877ABB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Gradient Boosting 2/2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736F3A-A464-5387-AAB8-3B9ED2B26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5072"/>
            <a:ext cx="9843655" cy="398421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2400" dirty="0">
                <a:latin typeface="Aptos Display"/>
              </a:rPr>
              <a:t>Interpretazione con i </a:t>
            </a:r>
            <a:r>
              <a:rPr lang="it-IT" sz="2400" dirty="0" err="1">
                <a:latin typeface="Aptos Display"/>
              </a:rPr>
              <a:t>partial</a:t>
            </a:r>
            <a:r>
              <a:rPr lang="it-IT" sz="2400" dirty="0">
                <a:latin typeface="Aptos Display"/>
              </a:rPr>
              <a:t> </a:t>
            </a:r>
            <a:r>
              <a:rPr lang="it-IT" sz="2400" dirty="0" err="1">
                <a:latin typeface="Aptos Display"/>
              </a:rPr>
              <a:t>dependence</a:t>
            </a:r>
            <a:r>
              <a:rPr lang="it-IT" sz="2400" dirty="0">
                <a:latin typeface="Aptos Display"/>
              </a:rPr>
              <a:t> plot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22C7EE-03E7-2737-9766-D2A5B72C1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92AC8EE3-89BB-A814-2F20-8C8DAA401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285991"/>
            <a:ext cx="10972822" cy="4572009"/>
          </a:xfrm>
          <a:prstGeom prst="rect">
            <a:avLst/>
          </a:prstGeom>
        </p:spPr>
      </p:pic>
      <p:sp>
        <p:nvSpPr>
          <p:cNvPr id="999" name="PageNum25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01855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0467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 err="1">
                <a:solidFill>
                  <a:srgbClr val="FFFFFF"/>
                </a:solidFill>
                <a:latin typeface="Aptos Display"/>
              </a:rPr>
              <a:t>Regressione</a:t>
            </a:r>
            <a:r>
              <a:rPr sz="3200" b="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b="0" dirty="0" err="1">
                <a:solidFill>
                  <a:srgbClr val="FFFFFF"/>
                </a:solidFill>
                <a:latin typeface="Aptos Display"/>
              </a:rPr>
              <a:t>sul</a:t>
            </a:r>
            <a:r>
              <a:rPr sz="3200" b="0" dirty="0">
                <a:solidFill>
                  <a:srgbClr val="FFFFFF"/>
                </a:solidFill>
                <a:latin typeface="Aptos Display"/>
              </a:rPr>
              <a:t> N° di </a:t>
            </a:r>
            <a:r>
              <a:rPr sz="3200" b="0" dirty="0" err="1">
                <a:solidFill>
                  <a:srgbClr val="FFFFFF"/>
                </a:solidFill>
                <a:latin typeface="Aptos Display"/>
              </a:rPr>
              <a:t>Preferiti</a:t>
            </a:r>
            <a:endParaRPr sz="3200" b="0" dirty="0">
              <a:solidFill>
                <a:srgbClr val="FFFFFF"/>
              </a:solidFill>
              <a:latin typeface="Aptos Display"/>
            </a:endParaRPr>
          </a:p>
          <a:p>
            <a:pPr algn="l"/>
            <a:r>
              <a:rPr sz="3200" b="0" i="1" dirty="0" err="1">
                <a:solidFill>
                  <a:srgbClr val="FFFFFF"/>
                </a:solidFill>
                <a:latin typeface="Aptos Display"/>
              </a:rPr>
              <a:t>Conclusioni</a:t>
            </a:r>
            <a:endParaRPr sz="3200" b="0" i="1" dirty="0">
              <a:solidFill>
                <a:srgbClr val="FFFFFF"/>
              </a:solidFill>
              <a:latin typeface="Aptos Display"/>
            </a:endParaRPr>
          </a:p>
        </p:txBody>
      </p:sp>
      <p:pic>
        <p:nvPicPr>
          <p:cNvPr id="4" name="Picture 3" descr="unip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64592"/>
            <a:ext cx="2651760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2287" y="2163836"/>
            <a:ext cx="520950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B20E10"/>
                </a:solidFill>
                <a:latin typeface="Aptos Display"/>
              </a:rPr>
              <a:t>▸  </a:t>
            </a:r>
            <a:r>
              <a:rPr sz="2400" b="1" dirty="0" err="1">
                <a:solidFill>
                  <a:srgbClr val="B20E10"/>
                </a:solidFill>
                <a:latin typeface="Aptos Display"/>
              </a:rPr>
              <a:t>Stesse</a:t>
            </a:r>
            <a:r>
              <a:rPr sz="2400" b="1" dirty="0">
                <a:solidFill>
                  <a:srgbClr val="B20E10"/>
                </a:solidFill>
                <a:latin typeface="Aptos Display"/>
              </a:rPr>
              <a:t> </a:t>
            </a:r>
            <a:r>
              <a:rPr sz="2400" b="1" dirty="0" err="1">
                <a:solidFill>
                  <a:srgbClr val="B20E10"/>
                </a:solidFill>
                <a:latin typeface="Aptos Display"/>
              </a:rPr>
              <a:t>variabili</a:t>
            </a:r>
            <a:r>
              <a:rPr sz="2400" b="1" dirty="0">
                <a:solidFill>
                  <a:srgbClr val="B20E10"/>
                </a:solidFill>
                <a:latin typeface="Aptos Display"/>
              </a:rPr>
              <a:t>, </a:t>
            </a:r>
            <a:r>
              <a:rPr sz="2400" b="1" dirty="0" err="1">
                <a:solidFill>
                  <a:srgbClr val="B20E10"/>
                </a:solidFill>
                <a:latin typeface="Aptos Display"/>
              </a:rPr>
              <a:t>meccanismi</a:t>
            </a:r>
            <a:r>
              <a:rPr sz="2400" b="1" dirty="0">
                <a:solidFill>
                  <a:srgbClr val="B20E10"/>
                </a:solidFill>
                <a:latin typeface="Aptos Display"/>
              </a:rPr>
              <a:t> </a:t>
            </a:r>
            <a:r>
              <a:rPr sz="2400" b="1" dirty="0" err="1">
                <a:solidFill>
                  <a:srgbClr val="B20E10"/>
                </a:solidFill>
                <a:latin typeface="Aptos Display"/>
              </a:rPr>
              <a:t>diversi</a:t>
            </a:r>
            <a:endParaRPr sz="2400" b="1" dirty="0">
              <a:solidFill>
                <a:srgbClr val="B20E10"/>
              </a:solidFill>
              <a:latin typeface="Aptos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6280" y="2845684"/>
            <a:ext cx="1097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latin typeface="Aptos Display"/>
              </a:rPr>
              <a:t>Le </a:t>
            </a:r>
            <a:r>
              <a:rPr sz="2400" dirty="0" err="1">
                <a:latin typeface="Aptos Display"/>
              </a:rPr>
              <a:t>variabili</a:t>
            </a:r>
            <a:r>
              <a:rPr sz="2400" dirty="0">
                <a:latin typeface="Aptos Display"/>
              </a:rPr>
              <a:t> </a:t>
            </a:r>
            <a:r>
              <a:rPr sz="2400" dirty="0" err="1">
                <a:latin typeface="Aptos Display"/>
              </a:rPr>
              <a:t>strutturali</a:t>
            </a:r>
            <a:r>
              <a:rPr sz="2400" dirty="0">
                <a:latin typeface="Aptos Display"/>
              </a:rPr>
              <a:t> della scarpa</a:t>
            </a:r>
            <a:r>
              <a:rPr lang="it-IT" sz="2400" dirty="0">
                <a:latin typeface="Aptos Display"/>
              </a:rPr>
              <a:t> </a:t>
            </a:r>
            <a:r>
              <a:rPr sz="2400" dirty="0">
                <a:latin typeface="Aptos Display"/>
              </a:rPr>
              <a:t> </a:t>
            </a:r>
            <a:r>
              <a:rPr sz="2400" dirty="0" err="1">
                <a:latin typeface="Aptos Display"/>
              </a:rPr>
              <a:t>spiegano</a:t>
            </a:r>
            <a:r>
              <a:rPr sz="2400" dirty="0">
                <a:latin typeface="Aptos Display"/>
              </a:rPr>
              <a:t> bene il </a:t>
            </a:r>
            <a:r>
              <a:rPr sz="2400" dirty="0" err="1">
                <a:latin typeface="Aptos Display"/>
              </a:rPr>
              <a:t>prezzo</a:t>
            </a:r>
            <a:r>
              <a:rPr sz="2400" dirty="0">
                <a:latin typeface="Aptos Display"/>
              </a:rPr>
              <a:t> ma </a:t>
            </a:r>
            <a:r>
              <a:rPr lang="it-IT" sz="2400" dirty="0">
                <a:latin typeface="Aptos Display"/>
              </a:rPr>
              <a:t>non </a:t>
            </a:r>
            <a:r>
              <a:rPr sz="2400" dirty="0" err="1">
                <a:latin typeface="Aptos Display"/>
              </a:rPr>
              <a:t>i</a:t>
            </a:r>
            <a:r>
              <a:rPr sz="2400" dirty="0">
                <a:latin typeface="Aptos Display"/>
              </a:rPr>
              <a:t> </a:t>
            </a:r>
            <a:r>
              <a:rPr sz="2400" dirty="0" err="1">
                <a:latin typeface="Aptos Display"/>
              </a:rPr>
              <a:t>preferiti</a:t>
            </a:r>
            <a:r>
              <a:rPr lang="it-IT" sz="2400" dirty="0">
                <a:latin typeface="Aptos Display"/>
              </a:rPr>
              <a:t> </a:t>
            </a:r>
            <a:br>
              <a:rPr lang="it-IT" sz="2400" dirty="0">
                <a:latin typeface="Aptos Display"/>
              </a:rPr>
            </a:br>
            <a:r>
              <a:rPr lang="it-IT" sz="2400" dirty="0">
                <a:latin typeface="Aptos Display"/>
              </a:rPr>
              <a:t>e quindi sono fenomeni indipendenti</a:t>
            </a:r>
            <a:r>
              <a:rPr sz="2400" dirty="0">
                <a:latin typeface="Aptos Display"/>
              </a:rPr>
              <a:t>.</a:t>
            </a:r>
            <a:endParaRPr lang="it-IT" sz="2400" dirty="0">
              <a:latin typeface="Aptos Display"/>
            </a:endParaRPr>
          </a:p>
          <a:p>
            <a:endParaRPr sz="1200" dirty="0">
              <a:solidFill>
                <a:srgbClr val="555555"/>
              </a:solidFill>
              <a:latin typeface="Aptos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6280" y="3767586"/>
            <a:ext cx="1114044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latin typeface="Aptos Display"/>
              </a:rPr>
              <a:t>I </a:t>
            </a:r>
            <a:r>
              <a:rPr sz="2400" dirty="0" err="1">
                <a:latin typeface="Aptos Display"/>
              </a:rPr>
              <a:t>preferiti</a:t>
            </a:r>
            <a:r>
              <a:rPr sz="2400" dirty="0">
                <a:latin typeface="Aptos Display"/>
              </a:rPr>
              <a:t> </a:t>
            </a:r>
            <a:r>
              <a:rPr lang="it-IT" sz="2400" dirty="0">
                <a:latin typeface="Aptos Display"/>
              </a:rPr>
              <a:t>potrebbero essere spiegati meglio da variabili non presenti nel dataset, </a:t>
            </a:r>
            <a:br>
              <a:rPr lang="it-IT" sz="2400" dirty="0">
                <a:latin typeface="Aptos Display"/>
              </a:rPr>
            </a:br>
            <a:r>
              <a:rPr lang="it-IT" sz="2400" dirty="0">
                <a:latin typeface="Aptos Display"/>
              </a:rPr>
              <a:t>come ad esempio:</a:t>
            </a:r>
          </a:p>
          <a:p>
            <a:r>
              <a:rPr lang="it-IT" sz="2400" dirty="0">
                <a:latin typeface="Aptos Display"/>
              </a:rPr>
              <a:t>          - qualità della foto</a:t>
            </a:r>
          </a:p>
          <a:p>
            <a:r>
              <a:rPr lang="it-IT" sz="2400" dirty="0">
                <a:latin typeface="Aptos Display"/>
              </a:rPr>
              <a:t>          - descrizione </a:t>
            </a:r>
          </a:p>
          <a:p>
            <a:r>
              <a:rPr lang="it-IT" sz="2400" dirty="0">
                <a:latin typeface="Aptos Display"/>
              </a:rPr>
              <a:t>          - visibilità dell’algoritmo</a:t>
            </a:r>
          </a:p>
          <a:p>
            <a:r>
              <a:rPr lang="it-IT" sz="2400" dirty="0">
                <a:latin typeface="Aptos Display"/>
              </a:rPr>
              <a:t>          - momento di pubblicazione</a:t>
            </a:r>
          </a:p>
          <a:p>
            <a:endParaRPr lang="it-IT" sz="1200" dirty="0">
              <a:solidFill>
                <a:srgbClr val="555555"/>
              </a:solidFill>
              <a:latin typeface="Aptos Display"/>
            </a:endParaRPr>
          </a:p>
        </p:txBody>
      </p:sp>
      <p:sp>
        <p:nvSpPr>
          <p:cNvPr id="999" name="PageNum26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unip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28600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3729" y="2493461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FFCCCC"/>
                </a:solidFill>
                <a:latin typeface="Aptos Display"/>
              </a:rPr>
              <a:t>ANALISI DEI DATI AZIENDALI </a:t>
            </a:r>
            <a:r>
              <a:rPr lang="it-IT" sz="2000" dirty="0">
                <a:solidFill>
                  <a:srgbClr val="FFCCCC"/>
                </a:solidFill>
                <a:latin typeface="Aptos Display"/>
              </a:rPr>
              <a:t>: </a:t>
            </a:r>
            <a:r>
              <a:rPr sz="2000" b="0" i="0" dirty="0">
                <a:solidFill>
                  <a:srgbClr val="FFCCCC"/>
                </a:solidFill>
                <a:latin typeface="Aptos Display"/>
              </a:rPr>
              <a:t> VINTED.IT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3133541"/>
            <a:ext cx="10058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1" dirty="0" err="1">
                <a:solidFill>
                  <a:srgbClr val="FFFFFF"/>
                </a:solidFill>
                <a:latin typeface="Aptos Display"/>
              </a:rPr>
              <a:t>Classificazione</a:t>
            </a:r>
            <a:r>
              <a:rPr sz="6000" b="0" i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6000" b="0" i="1" dirty="0" err="1">
                <a:solidFill>
                  <a:srgbClr val="FFFFFF"/>
                </a:solidFill>
                <a:latin typeface="Aptos Display"/>
              </a:rPr>
              <a:t>sulla</a:t>
            </a:r>
            <a:r>
              <a:rPr sz="6000" b="0" i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6000" b="0" i="1" dirty="0" err="1">
                <a:solidFill>
                  <a:srgbClr val="FFFFFF"/>
                </a:solidFill>
                <a:latin typeface="Aptos Display"/>
              </a:rPr>
              <a:t>Qualità</a:t>
            </a:r>
            <a:endParaRPr sz="6000" b="0" i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999" name="PageNum27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chemeClr val="bg1"/>
                </a:solidFill>
                <a:latin typeface="Aptos Display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6ADB8-58BA-6EEA-CA9C-D27F55218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E9943E4E-EFD8-3453-7B7E-A80A4C7EBDAB}"/>
              </a:ext>
            </a:extLst>
          </p:cNvPr>
          <p:cNvSpPr/>
          <p:nvPr/>
        </p:nvSpPr>
        <p:spPr>
          <a:xfrm>
            <a:off x="-14288" y="-14288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9031575-F608-14C5-8C9E-795D2B722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912" y="141658"/>
            <a:ext cx="10515600" cy="1325563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Qualità del prodotto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338DCB-518E-C2EB-3472-6EB920EC2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9998"/>
            <a:ext cx="10803800" cy="43493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2400" b="1" dirty="0">
                <a:latin typeface="Aptos Display"/>
              </a:rPr>
              <a:t>Il problema aziendale:</a:t>
            </a:r>
            <a:r>
              <a:rPr lang="it-IT" sz="2400" dirty="0">
                <a:latin typeface="Aptos Display"/>
              </a:rPr>
              <a:t> Nel mercato C2C, l'incertezza sulla qualità percepita rappresenta la barriera principale alla conversione d'acquisto.</a:t>
            </a:r>
          </a:p>
          <a:p>
            <a:pPr marL="0" indent="0">
              <a:lnSpc>
                <a:spcPct val="100000"/>
              </a:lnSpc>
              <a:buNone/>
            </a:pPr>
            <a:endParaRPr lang="it-IT" sz="2400" dirty="0">
              <a:latin typeface="Aptos Display"/>
            </a:endParaRPr>
          </a:p>
          <a:p>
            <a:pPr>
              <a:lnSpc>
                <a:spcPct val="100000"/>
              </a:lnSpc>
            </a:pPr>
            <a:r>
              <a:rPr lang="it-IT" sz="2400" b="1" dirty="0">
                <a:latin typeface="Aptos Display"/>
              </a:rPr>
              <a:t>L'obiettivo della consulenza:</a:t>
            </a:r>
            <a:r>
              <a:rPr lang="it-IT" sz="2400" dirty="0">
                <a:latin typeface="Aptos Display"/>
              </a:rPr>
              <a:t> Identificare cosa rende un prodotto di qualità su </a:t>
            </a:r>
            <a:r>
              <a:rPr lang="it-IT" sz="2400" dirty="0" err="1">
                <a:latin typeface="Aptos Display"/>
              </a:rPr>
              <a:t>Vinted</a:t>
            </a:r>
            <a:r>
              <a:rPr lang="it-IT" sz="2400" dirty="0">
                <a:latin typeface="Aptos Display"/>
              </a:rPr>
              <a:t>.</a:t>
            </a:r>
          </a:p>
          <a:p>
            <a:pPr>
              <a:lnSpc>
                <a:spcPct val="100000"/>
              </a:lnSpc>
            </a:pPr>
            <a:endParaRPr lang="it-IT" sz="2400" dirty="0">
              <a:latin typeface="Aptos Display"/>
            </a:endParaRPr>
          </a:p>
          <a:p>
            <a:pPr>
              <a:lnSpc>
                <a:spcPct val="100000"/>
              </a:lnSpc>
            </a:pPr>
            <a:r>
              <a:rPr lang="it-IT" sz="2400" b="1" dirty="0">
                <a:latin typeface="Aptos Display"/>
              </a:rPr>
              <a:t>L'approccio statistico: </a:t>
            </a:r>
            <a:r>
              <a:rPr lang="it-IT" sz="2400" dirty="0">
                <a:latin typeface="Aptos Display"/>
              </a:rPr>
              <a:t>Modello di classificazione ordinata applicato alle categorie di stato del prodotto.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6FE20F-CD13-B9CB-8232-C9C733DBD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99" name="PageNum28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904137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14399"/>
            <a:ext cx="80467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dirty="0" err="1">
                <a:solidFill>
                  <a:srgbClr val="FFFFFF"/>
                </a:solidFill>
                <a:latin typeface="Aptos Display"/>
              </a:rPr>
              <a:t>Classificazione</a:t>
            </a:r>
            <a:r>
              <a:rPr sz="320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Aptos Display"/>
              </a:rPr>
              <a:t>sulla</a:t>
            </a:r>
            <a:r>
              <a:rPr sz="320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Aptos Display"/>
              </a:rPr>
              <a:t>Qualità</a:t>
            </a:r>
            <a:endParaRPr sz="3200" dirty="0">
              <a:solidFill>
                <a:srgbClr val="FFFFFF"/>
              </a:solidFill>
              <a:latin typeface="Aptos Display"/>
            </a:endParaRPr>
          </a:p>
          <a:p>
            <a:pPr algn="l"/>
            <a:r>
              <a:rPr lang="it-IT" sz="3200" i="1" dirty="0">
                <a:solidFill>
                  <a:srgbClr val="FFFFFF"/>
                </a:solidFill>
                <a:latin typeface="Aptos Display"/>
              </a:rPr>
              <a:t>V</a:t>
            </a:r>
            <a:r>
              <a:rPr sz="3200" i="1" dirty="0" err="1">
                <a:solidFill>
                  <a:srgbClr val="FFFFFF"/>
                </a:solidFill>
                <a:latin typeface="Aptos Display"/>
              </a:rPr>
              <a:t>ariabile</a:t>
            </a:r>
            <a:r>
              <a:rPr sz="3200" i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i="1" dirty="0" err="1">
                <a:solidFill>
                  <a:srgbClr val="FFFFFF"/>
                </a:solidFill>
                <a:latin typeface="Aptos Display"/>
              </a:rPr>
              <a:t>risposta</a:t>
            </a:r>
            <a:endParaRPr sz="3200" i="1" dirty="0">
              <a:solidFill>
                <a:srgbClr val="FFFFFF"/>
              </a:solidFill>
              <a:latin typeface="Aptos Display"/>
            </a:endParaRPr>
          </a:p>
        </p:txBody>
      </p:sp>
      <p:pic>
        <p:nvPicPr>
          <p:cNvPr id="4" name="Picture 3" descr="unip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0" y="260604"/>
            <a:ext cx="265176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7208" y="1888808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1" dirty="0">
                <a:latin typeface="Aptos Display"/>
              </a:rPr>
              <a:t>Distribuzione della variabile risposta</a:t>
            </a:r>
            <a:endParaRPr sz="2000" b="0" i="1" dirty="0">
              <a:latin typeface="Aptos Display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2331720"/>
            <a:ext cx="201168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2011680" cy="914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555855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CC3333"/>
                </a:solidFill>
                <a:latin typeface="Aptos Display"/>
              </a:rPr>
              <a:t>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992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Aptos Display"/>
              </a:rPr>
              <a:t>Discrete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2331720"/>
            <a:ext cx="201168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97480" y="2331720"/>
            <a:ext cx="2011680" cy="9144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27960" y="2550169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E97132"/>
                </a:solidFill>
                <a:latin typeface="Aptos Display"/>
              </a:rPr>
              <a:t>13%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9992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 err="1">
                <a:latin typeface="Aptos Display"/>
              </a:rPr>
              <a:t>Buone</a:t>
            </a:r>
            <a:endParaRPr sz="1300" b="0" i="0" dirty="0">
              <a:latin typeface="Aptos Display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892040" y="2331720"/>
            <a:ext cx="201168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92040" y="2331720"/>
            <a:ext cx="2011680" cy="91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92040" y="2545187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156082"/>
                </a:solidFill>
                <a:latin typeface="Aptos Display"/>
              </a:rPr>
              <a:t>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9992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 err="1">
                <a:latin typeface="Aptos Display"/>
              </a:rPr>
              <a:t>Ottime</a:t>
            </a:r>
            <a:endParaRPr sz="2000" b="0" i="0" dirty="0">
              <a:latin typeface="Aptos Display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086600" y="2331720"/>
            <a:ext cx="201168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86600" y="2331720"/>
            <a:ext cx="2011680" cy="9144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78040" y="2544370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196B24"/>
                </a:solidFill>
                <a:latin typeface="Aptos Display"/>
              </a:rPr>
              <a:t>16%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954732"/>
            <a:ext cx="2011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Aptos Display"/>
              </a:rPr>
              <a:t>Nuovo s</a:t>
            </a:r>
            <a:r>
              <a:rPr lang="it-IT" sz="2000" dirty="0" err="1">
                <a:latin typeface="Aptos Display"/>
              </a:rPr>
              <a:t>enza</a:t>
            </a:r>
            <a:r>
              <a:rPr lang="it-IT" sz="2000" dirty="0">
                <a:latin typeface="Aptos Display"/>
              </a:rPr>
              <a:t> </a:t>
            </a:r>
          </a:p>
          <a:p>
            <a:pPr algn="ctr"/>
            <a:r>
              <a:rPr lang="it-IT" sz="2000" b="0" i="0" dirty="0">
                <a:latin typeface="Aptos Display"/>
              </a:rPr>
              <a:t>cartellino</a:t>
            </a:r>
            <a:endParaRPr sz="1300" b="0" i="0" dirty="0">
              <a:latin typeface="Aptos Display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281160" y="2331720"/>
            <a:ext cx="201168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81160" y="2331720"/>
            <a:ext cx="2011680" cy="9144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60" y="2544370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196B24"/>
                </a:solidFill>
                <a:latin typeface="Aptos Display"/>
              </a:rPr>
              <a:t>19%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954732"/>
            <a:ext cx="2011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latin typeface="Aptos Display"/>
              </a:rPr>
              <a:t>Nuovo c</a:t>
            </a:r>
            <a:r>
              <a:rPr lang="it-IT" sz="2000" dirty="0">
                <a:latin typeface="Aptos Display"/>
              </a:rPr>
              <a:t>on cartellino</a:t>
            </a:r>
            <a:endParaRPr sz="1300" b="0" i="0" dirty="0">
              <a:latin typeface="Aptos Display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38862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20E10"/>
                </a:solidFill>
                <a:latin typeface="Aptos Display"/>
              </a:rPr>
              <a:t>Il problema: classi fortemente sbilanciate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297680"/>
            <a:ext cx="3611880" cy="233172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Rectangle 28"/>
          <p:cNvSpPr/>
          <p:nvPr/>
        </p:nvSpPr>
        <p:spPr>
          <a:xfrm>
            <a:off x="502920" y="4297680"/>
            <a:ext cx="3611880" cy="73152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40740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20E10"/>
                </a:solidFill>
                <a:latin typeface="Aptos Display"/>
              </a:rPr>
              <a:t>Discrete solo 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828032"/>
            <a:ext cx="33375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latin typeface="Aptos Display"/>
              </a:rPr>
              <a:t>Il </a:t>
            </a:r>
            <a:r>
              <a:rPr sz="2000" b="0" i="1" dirty="0" err="1">
                <a:latin typeface="Aptos Display"/>
              </a:rPr>
              <a:t>modello</a:t>
            </a:r>
            <a:r>
              <a:rPr sz="2000" b="0" i="1" dirty="0">
                <a:latin typeface="Aptos Display"/>
              </a:rPr>
              <a:t> </a:t>
            </a:r>
            <a:r>
              <a:rPr sz="2000" b="0" i="1" dirty="0" err="1">
                <a:latin typeface="Aptos Display"/>
              </a:rPr>
              <a:t>tende</a:t>
            </a:r>
            <a:r>
              <a:rPr sz="2000" b="0" i="1" dirty="0">
                <a:latin typeface="Aptos Display"/>
              </a:rPr>
              <a:t> a </a:t>
            </a:r>
            <a:r>
              <a:rPr sz="2000" b="0" i="1" dirty="0" err="1">
                <a:latin typeface="Aptos Display"/>
              </a:rPr>
              <a:t>ignorare</a:t>
            </a:r>
            <a:r>
              <a:rPr sz="2000" b="0" i="1" dirty="0">
                <a:latin typeface="Aptos Display"/>
              </a:rPr>
              <a:t> </a:t>
            </a:r>
            <a:r>
              <a:rPr sz="2000" b="0" i="1" dirty="0" err="1">
                <a:latin typeface="Aptos Display"/>
              </a:rPr>
              <a:t>completamente</a:t>
            </a:r>
            <a:r>
              <a:rPr sz="2000" b="0" i="1" dirty="0">
                <a:latin typeface="Aptos Display"/>
              </a:rPr>
              <a:t> la </a:t>
            </a:r>
            <a:r>
              <a:rPr sz="2000" b="0" i="1" dirty="0" err="1">
                <a:latin typeface="Aptos Display"/>
              </a:rPr>
              <a:t>classe</a:t>
            </a:r>
            <a:r>
              <a:rPr sz="2000" b="0" i="1" dirty="0">
                <a:latin typeface="Aptos Display"/>
              </a:rPr>
              <a:t> </a:t>
            </a:r>
            <a:r>
              <a:rPr sz="2000" b="0" i="1" dirty="0" err="1">
                <a:latin typeface="Aptos Display"/>
              </a:rPr>
              <a:t>più</a:t>
            </a:r>
            <a:r>
              <a:rPr sz="2000" b="0" i="1" dirty="0">
                <a:latin typeface="Aptos Display"/>
              </a:rPr>
              <a:t> rara</a:t>
            </a:r>
            <a:r>
              <a:rPr lang="it-IT" sz="2000" b="0" i="1" dirty="0">
                <a:latin typeface="Aptos Display"/>
              </a:rPr>
              <a:t>, </a:t>
            </a:r>
            <a:r>
              <a:rPr sz="2000" b="0" i="1" dirty="0">
                <a:latin typeface="Aptos Display"/>
              </a:rPr>
              <a:t> in </a:t>
            </a:r>
            <a:r>
              <a:rPr sz="2000" b="0" i="1" dirty="0" err="1">
                <a:latin typeface="Aptos Display"/>
              </a:rPr>
              <a:t>effetti</a:t>
            </a:r>
            <a:r>
              <a:rPr sz="2000" b="0" i="1" dirty="0">
                <a:latin typeface="Aptos Display"/>
              </a:rPr>
              <a:t> il </a:t>
            </a:r>
            <a:r>
              <a:rPr sz="2000" b="0" i="1" dirty="0" err="1">
                <a:latin typeface="Aptos Display"/>
              </a:rPr>
              <a:t>modello</a:t>
            </a:r>
            <a:r>
              <a:rPr sz="2000" b="0" i="1" dirty="0">
                <a:latin typeface="Aptos Display"/>
              </a:rPr>
              <a:t> step non </a:t>
            </a:r>
            <a:r>
              <a:rPr sz="2000" b="0" i="1" dirty="0" err="1">
                <a:latin typeface="Aptos Display"/>
              </a:rPr>
              <a:t>predice</a:t>
            </a:r>
            <a:r>
              <a:rPr sz="2000" b="0" i="1" dirty="0">
                <a:latin typeface="Aptos Display"/>
              </a:rPr>
              <a:t> </a:t>
            </a:r>
            <a:r>
              <a:rPr sz="2000" b="0" i="1" dirty="0" err="1">
                <a:latin typeface="Aptos Display"/>
              </a:rPr>
              <a:t>mai</a:t>
            </a:r>
            <a:r>
              <a:rPr sz="2000" b="0" i="1" dirty="0">
                <a:latin typeface="Aptos Display"/>
              </a:rPr>
              <a:t> 'Discrete'.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4297680"/>
            <a:ext cx="3611880" cy="233172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97680" y="4297680"/>
            <a:ext cx="3611880" cy="73152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34840" y="440740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20E10"/>
                </a:solidFill>
                <a:latin typeface="Aptos Display"/>
              </a:rPr>
              <a:t>Ottime = 50%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828032"/>
            <a:ext cx="34747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i="1" dirty="0">
                <a:latin typeface="Aptos Display"/>
              </a:rPr>
              <a:t>Un modello che non impara nulla ma che dice solo «Ottime» ha comunque un 50% di </a:t>
            </a:r>
            <a:r>
              <a:rPr lang="it-IT" sz="2000" i="1" dirty="0" err="1">
                <a:latin typeface="Aptos Display"/>
              </a:rPr>
              <a:t>accuracy</a:t>
            </a:r>
            <a:r>
              <a:rPr lang="it-IT" sz="2000" i="1" dirty="0">
                <a:latin typeface="Aptos Display"/>
              </a:rPr>
              <a:t> che non risulta essere una metrica </a:t>
            </a:r>
            <a:r>
              <a:rPr lang="it-IT" sz="2000" i="1" dirty="0" err="1">
                <a:latin typeface="Aptos Display"/>
              </a:rPr>
              <a:t>afffidabile</a:t>
            </a:r>
            <a:r>
              <a:rPr lang="it-IT" sz="2000" i="1" dirty="0">
                <a:solidFill>
                  <a:srgbClr val="555555"/>
                </a:solidFill>
                <a:latin typeface="Aptos Display"/>
              </a:rPr>
              <a:t>.</a:t>
            </a:r>
            <a:endParaRPr sz="1100" b="0" i="1" dirty="0">
              <a:solidFill>
                <a:srgbClr val="555555"/>
              </a:solidFill>
              <a:latin typeface="Aptos Display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092440" y="4297680"/>
            <a:ext cx="3611880" cy="233172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92440" y="4297680"/>
            <a:ext cx="3611880" cy="73152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0" y="440740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20E10"/>
                </a:solidFill>
                <a:latin typeface="Aptos Display"/>
              </a:rPr>
              <a:t>Stepwise elimina il profilo venditore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8440" y="4966084"/>
            <a:ext cx="33375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latin typeface="Aptos Display"/>
              </a:rPr>
              <a:t>Rating, </a:t>
            </a:r>
            <a:r>
              <a:rPr sz="2000" b="0" i="1" dirty="0" err="1">
                <a:latin typeface="Aptos Display"/>
              </a:rPr>
              <a:t>recensioni</a:t>
            </a:r>
            <a:r>
              <a:rPr sz="2000" b="0" i="1" dirty="0">
                <a:latin typeface="Aptos Display"/>
              </a:rPr>
              <a:t>, </a:t>
            </a:r>
            <a:r>
              <a:rPr sz="2000" b="0" i="1" dirty="0" err="1">
                <a:latin typeface="Aptos Display"/>
              </a:rPr>
              <a:t>distintivi</a:t>
            </a:r>
            <a:r>
              <a:rPr sz="2000" b="0" i="1" dirty="0">
                <a:latin typeface="Aptos Display"/>
              </a:rPr>
              <a:t> e N° </a:t>
            </a:r>
            <a:r>
              <a:rPr sz="2000" b="0" i="1" dirty="0" err="1">
                <a:latin typeface="Aptos Display"/>
              </a:rPr>
              <a:t>articoli</a:t>
            </a:r>
            <a:r>
              <a:rPr sz="2000" b="0" i="1" dirty="0">
                <a:latin typeface="Aptos Display"/>
              </a:rPr>
              <a:t> </a:t>
            </a:r>
            <a:r>
              <a:rPr sz="2000" b="0" i="1" dirty="0" err="1">
                <a:latin typeface="Aptos Display"/>
              </a:rPr>
              <a:t>vengono</a:t>
            </a:r>
            <a:r>
              <a:rPr sz="2000" b="0" i="1" dirty="0">
                <a:latin typeface="Aptos Display"/>
              </a:rPr>
              <a:t> tutti </a:t>
            </a:r>
            <a:r>
              <a:rPr sz="2000" b="0" i="1" dirty="0" err="1">
                <a:latin typeface="Aptos Display"/>
              </a:rPr>
              <a:t>eliminati</a:t>
            </a:r>
            <a:r>
              <a:rPr sz="2000" b="0" i="1" dirty="0">
                <a:latin typeface="Aptos Display"/>
              </a:rPr>
              <a:t>. La </a:t>
            </a:r>
            <a:r>
              <a:rPr sz="2000" b="0" i="1" dirty="0" err="1">
                <a:latin typeface="Aptos Display"/>
              </a:rPr>
              <a:t>qualità</a:t>
            </a:r>
            <a:r>
              <a:rPr sz="2000" b="0" i="1" dirty="0">
                <a:latin typeface="Aptos Display"/>
              </a:rPr>
              <a:t> </a:t>
            </a:r>
            <a:r>
              <a:rPr sz="2000" b="0" i="1" dirty="0" err="1">
                <a:latin typeface="Aptos Display"/>
              </a:rPr>
              <a:t>dipende</a:t>
            </a:r>
            <a:r>
              <a:rPr sz="2000" b="0" i="1" dirty="0">
                <a:latin typeface="Aptos Display"/>
              </a:rPr>
              <a:t> dal </a:t>
            </a:r>
            <a:r>
              <a:rPr sz="2000" b="0" i="1" dirty="0" err="1">
                <a:latin typeface="Aptos Display"/>
              </a:rPr>
              <a:t>prodotto</a:t>
            </a:r>
            <a:r>
              <a:rPr sz="2000" b="0" i="1" dirty="0">
                <a:latin typeface="Aptos Display"/>
              </a:rPr>
              <a:t>, non da chi </a:t>
            </a:r>
            <a:r>
              <a:rPr sz="2000" b="0" i="1" dirty="0" err="1">
                <a:latin typeface="Aptos Display"/>
              </a:rPr>
              <a:t>vende</a:t>
            </a:r>
            <a:r>
              <a:rPr sz="2000" b="0" i="1" dirty="0">
                <a:solidFill>
                  <a:srgbClr val="555555"/>
                </a:solidFill>
                <a:latin typeface="Aptos Display"/>
              </a:rPr>
              <a:t>.</a:t>
            </a:r>
          </a:p>
        </p:txBody>
      </p:sp>
      <p:sp>
        <p:nvSpPr>
          <p:cNvPr id="999" name="PageNum29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2064" y="474822"/>
            <a:ext cx="80467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dirty="0" err="1">
                <a:solidFill>
                  <a:srgbClr val="FFFFFF"/>
                </a:solidFill>
                <a:latin typeface="Aptos Display"/>
              </a:rPr>
              <a:t>Classificazione</a:t>
            </a:r>
            <a:r>
              <a:rPr sz="320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Aptos Display"/>
              </a:rPr>
              <a:t>sulla</a:t>
            </a:r>
            <a:r>
              <a:rPr sz="320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Aptos Display"/>
              </a:rPr>
              <a:t>Qualità</a:t>
            </a:r>
            <a:endParaRPr sz="3200" dirty="0">
              <a:solidFill>
                <a:srgbClr val="FFFFFF"/>
              </a:solidFill>
              <a:latin typeface="Aptos Display"/>
            </a:endParaRPr>
          </a:p>
          <a:p>
            <a:pPr algn="l"/>
            <a:r>
              <a:rPr sz="3200" i="1" dirty="0" err="1">
                <a:solidFill>
                  <a:srgbClr val="FFFFFF"/>
                </a:solidFill>
                <a:latin typeface="Aptos Display"/>
              </a:rPr>
              <a:t>Percorso</a:t>
            </a:r>
            <a:r>
              <a:rPr sz="3200" i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i="1" dirty="0" err="1">
                <a:solidFill>
                  <a:srgbClr val="FFFFFF"/>
                </a:solidFill>
                <a:latin typeface="Aptos Display"/>
              </a:rPr>
              <a:t>modellistico</a:t>
            </a:r>
            <a:endParaRPr sz="3200" i="1" dirty="0">
              <a:solidFill>
                <a:srgbClr val="FFFFFF"/>
              </a:solidFill>
              <a:latin typeface="Aptos Display"/>
            </a:endParaRPr>
          </a:p>
        </p:txBody>
      </p:sp>
      <p:pic>
        <p:nvPicPr>
          <p:cNvPr id="4" name="Picture 3" descr="unip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10312"/>
            <a:ext cx="265176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874520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latin typeface="Aptos Display"/>
              </a:rPr>
              <a:t>Quattro </a:t>
            </a:r>
            <a:r>
              <a:rPr sz="2000" b="0" i="1" dirty="0" err="1">
                <a:latin typeface="Aptos Display"/>
              </a:rPr>
              <a:t>strategie</a:t>
            </a:r>
            <a:r>
              <a:rPr sz="2000" b="0" i="1" dirty="0">
                <a:latin typeface="Aptos Display"/>
              </a:rPr>
              <a:t> per </a:t>
            </a:r>
            <a:r>
              <a:rPr sz="2000" b="0" i="1" dirty="0" err="1">
                <a:latin typeface="Aptos Display"/>
              </a:rPr>
              <a:t>gestire</a:t>
            </a:r>
            <a:r>
              <a:rPr sz="2000" b="0" i="1" dirty="0">
                <a:latin typeface="Aptos Display"/>
              </a:rPr>
              <a:t> lo </a:t>
            </a:r>
            <a:r>
              <a:rPr sz="2000" b="0" i="1" dirty="0" err="1">
                <a:latin typeface="Aptos Display"/>
              </a:rPr>
              <a:t>sbilanciamento</a:t>
            </a:r>
            <a:r>
              <a:rPr sz="2000" b="0" i="1" dirty="0">
                <a:latin typeface="Aptos Display"/>
              </a:rPr>
              <a:t> delle </a:t>
            </a:r>
            <a:r>
              <a:rPr sz="2000" b="0" i="1" dirty="0" err="1">
                <a:latin typeface="Aptos Display"/>
              </a:rPr>
              <a:t>classi</a:t>
            </a:r>
            <a:endParaRPr sz="2000" b="0" i="1" dirty="0">
              <a:latin typeface="Aptos Display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2286000"/>
            <a:ext cx="2514600" cy="425196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2514600" cy="91440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20E10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55738"/>
            <a:ext cx="23208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0000"/>
                </a:solidFill>
                <a:latin typeface="Aptos Display"/>
              </a:rPr>
              <a:t>Probit </a:t>
            </a:r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Ordinale</a:t>
            </a:r>
            <a:r>
              <a:rPr sz="2000" b="1" i="0" dirty="0">
                <a:solidFill>
                  <a:srgbClr val="000000"/>
                </a:solidFill>
                <a:latin typeface="Aptos Display"/>
              </a:rPr>
              <a:t>
Stepwise (5 </a:t>
            </a:r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classi</a:t>
            </a:r>
            <a:r>
              <a:rPr sz="2000" b="1" i="0" dirty="0">
                <a:solidFill>
                  <a:srgbClr val="000000"/>
                </a:solidFill>
                <a:latin typeface="Aptos Display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22402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latin typeface="Aptos Display"/>
              </a:rPr>
              <a:t>Accuracy: 46%</a:t>
            </a:r>
          </a:p>
          <a:p>
            <a:r>
              <a:rPr sz="2000" dirty="0">
                <a:latin typeface="Aptos Display"/>
              </a:rPr>
              <a:t>Kappa: 0.017</a:t>
            </a:r>
          </a:p>
          <a:p>
            <a:r>
              <a:rPr sz="2000" dirty="0">
                <a:latin typeface="Aptos Display"/>
              </a:rPr>
              <a:t>MAE: 0.78</a:t>
            </a:r>
            <a:endParaRPr lang="it-IT" sz="2000" dirty="0">
              <a:latin typeface="Aptos Display"/>
            </a:endParaRPr>
          </a:p>
          <a:p>
            <a:r>
              <a:rPr lang="it-IT" sz="2000" dirty="0">
                <a:latin typeface="Aptos Display"/>
              </a:rPr>
              <a:t>Collassa tutto su Ottime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3552" y="2286000"/>
            <a:ext cx="2514600" cy="425196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73552" y="2286000"/>
            <a:ext cx="2514600" cy="9144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0712" y="239572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97132"/>
                </a:solidFill>
                <a:latin typeface="Aptos Displa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2955738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Modello</a:t>
            </a:r>
            <a:r>
              <a:rPr sz="2000" b="1" i="0" dirty="0">
                <a:solidFill>
                  <a:srgbClr val="000000"/>
                </a:solidFill>
                <a:latin typeface="Aptos Display"/>
              </a:rPr>
              <a:t> </a:t>
            </a:r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Pesato</a:t>
            </a:r>
            <a:r>
              <a:rPr sz="2000" b="1" i="0" dirty="0">
                <a:solidFill>
                  <a:srgbClr val="000000"/>
                </a:solidFill>
                <a:latin typeface="Aptos Display"/>
              </a:rPr>
              <a:t>
(5 </a:t>
            </a:r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classi</a:t>
            </a:r>
            <a:r>
              <a:rPr sz="2000" b="1" i="0" dirty="0">
                <a:solidFill>
                  <a:srgbClr val="000000"/>
                </a:solidFill>
                <a:latin typeface="Aptos Display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3749039"/>
            <a:ext cx="22402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latin typeface="Aptos Display"/>
              </a:rPr>
              <a:t>Accuracy: 32%</a:t>
            </a:r>
          </a:p>
          <a:p>
            <a:r>
              <a:rPr sz="2000" dirty="0">
                <a:latin typeface="Aptos Display"/>
              </a:rPr>
              <a:t>Kappa: 0.134 </a:t>
            </a:r>
          </a:p>
          <a:p>
            <a:r>
              <a:rPr sz="2000" dirty="0">
                <a:latin typeface="Aptos Display"/>
              </a:rPr>
              <a:t>MAE: 1.04 </a:t>
            </a:r>
          </a:p>
          <a:p>
            <a:r>
              <a:rPr sz="2000" dirty="0">
                <a:latin typeface="Aptos Display"/>
              </a:rPr>
              <a:t>Non </a:t>
            </a:r>
            <a:r>
              <a:rPr sz="2000" dirty="0" err="1">
                <a:latin typeface="Aptos Display"/>
              </a:rPr>
              <a:t>risolve</a:t>
            </a:r>
            <a:r>
              <a:rPr sz="2000" dirty="0">
                <a:latin typeface="Aptos Display"/>
              </a:rPr>
              <a:t> il </a:t>
            </a:r>
            <a:r>
              <a:rPr sz="2000" dirty="0" err="1">
                <a:latin typeface="Aptos Display"/>
              </a:rPr>
              <a:t>problema</a:t>
            </a:r>
            <a:endParaRPr sz="1200" dirty="0">
              <a:latin typeface="Aptos Display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044184" y="2286000"/>
            <a:ext cx="2514600" cy="4251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44184" y="2286000"/>
            <a:ext cx="2514600" cy="91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81344" y="239572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56082"/>
                </a:solidFill>
                <a:latin typeface="Aptos Display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2472" y="2909798"/>
            <a:ext cx="26334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i="0" dirty="0">
                <a:solidFill>
                  <a:srgbClr val="000000"/>
                </a:solidFill>
                <a:latin typeface="Aptos Display"/>
              </a:rPr>
              <a:t>Divisione </a:t>
            </a:r>
            <a:r>
              <a:rPr sz="2000" b="1" i="0" dirty="0">
                <a:solidFill>
                  <a:srgbClr val="000000"/>
                </a:solidFill>
                <a:latin typeface="Aptos Display"/>
              </a:rPr>
              <a:t>3 </a:t>
            </a:r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classi</a:t>
            </a:r>
            <a:r>
              <a:rPr sz="2000" b="1" i="0" dirty="0">
                <a:solidFill>
                  <a:srgbClr val="000000"/>
                </a:solidFill>
                <a:latin typeface="Aptos Display"/>
              </a:rPr>
              <a:t>
(</a:t>
            </a:r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Usato</a:t>
            </a:r>
            <a:r>
              <a:rPr sz="2000" b="1" i="0" dirty="0">
                <a:solidFill>
                  <a:srgbClr val="000000"/>
                </a:solidFill>
                <a:latin typeface="Aptos Display"/>
              </a:rPr>
              <a:t>/</a:t>
            </a:r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Ottime</a:t>
            </a:r>
            <a:r>
              <a:rPr sz="2000" b="1" i="0" dirty="0">
                <a:solidFill>
                  <a:srgbClr val="000000"/>
                </a:solidFill>
                <a:latin typeface="Aptos Display"/>
              </a:rPr>
              <a:t>/Nuovo)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3749039"/>
            <a:ext cx="22402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 err="1">
                <a:latin typeface="Aptos Display"/>
              </a:rPr>
              <a:t>Accuracy</a:t>
            </a:r>
            <a:r>
              <a:rPr lang="it-IT" sz="2000" dirty="0">
                <a:latin typeface="Aptos Display"/>
              </a:rPr>
              <a:t>: 53%</a:t>
            </a:r>
          </a:p>
          <a:p>
            <a:r>
              <a:rPr lang="it-IT" sz="2000" dirty="0">
                <a:latin typeface="Aptos Display"/>
              </a:rPr>
              <a:t>Kappa: 0.138</a:t>
            </a:r>
          </a:p>
          <a:p>
            <a:r>
              <a:rPr lang="it-IT" sz="2000" dirty="0">
                <a:latin typeface="Aptos Display"/>
              </a:rPr>
              <a:t>MAE: 0.477</a:t>
            </a:r>
          </a:p>
          <a:p>
            <a:r>
              <a:rPr lang="it-IT" sz="2000" b="1" dirty="0">
                <a:latin typeface="Aptos Display"/>
              </a:rPr>
              <a:t>Sensitivity Usato: 7.7%</a:t>
            </a:r>
            <a:endParaRPr sz="1200" b="1" dirty="0">
              <a:latin typeface="Aptos Display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814816" y="2286000"/>
            <a:ext cx="2514600" cy="4251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814816" y="2286000"/>
            <a:ext cx="2514600" cy="9144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51976" y="239572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96B24"/>
                </a:solidFill>
                <a:latin typeface="Aptos Display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1976" y="2936836"/>
            <a:ext cx="22402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i="0" dirty="0">
                <a:solidFill>
                  <a:srgbClr val="000000"/>
                </a:solidFill>
                <a:latin typeface="Aptos Display"/>
              </a:rPr>
              <a:t>Divisione</a:t>
            </a:r>
            <a:r>
              <a:rPr sz="2000" b="1" i="0" dirty="0">
                <a:solidFill>
                  <a:srgbClr val="000000"/>
                </a:solidFill>
                <a:latin typeface="Aptos Display"/>
              </a:rPr>
              <a:t>+ </a:t>
            </a:r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Pesi</a:t>
            </a:r>
            <a:r>
              <a:rPr sz="2000" b="1" i="0" dirty="0">
                <a:solidFill>
                  <a:srgbClr val="000000"/>
                </a:solidFill>
                <a:latin typeface="Aptos Display"/>
              </a:rPr>
              <a:t>
(</a:t>
            </a:r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modello</a:t>
            </a:r>
            <a:r>
              <a:rPr sz="2000" b="1" i="0" dirty="0">
                <a:solidFill>
                  <a:srgbClr val="000000"/>
                </a:solidFill>
                <a:latin typeface="Aptos Display"/>
              </a:rPr>
              <a:t> finale)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1976" y="3749039"/>
            <a:ext cx="22402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>
                <a:latin typeface="Aptos Display"/>
              </a:rPr>
              <a:t>Accuracy: </a:t>
            </a:r>
            <a:r>
              <a:rPr lang="it-IT" sz="2000" dirty="0">
                <a:latin typeface="Aptos Display"/>
              </a:rPr>
              <a:t>55</a:t>
            </a:r>
            <a:r>
              <a:rPr sz="2000" dirty="0">
                <a:latin typeface="Aptos Display"/>
              </a:rPr>
              <a:t>%</a:t>
            </a:r>
          </a:p>
          <a:p>
            <a:r>
              <a:rPr sz="2000" dirty="0">
                <a:latin typeface="Aptos Display"/>
              </a:rPr>
              <a:t>Kappa: 0.207 </a:t>
            </a:r>
          </a:p>
          <a:p>
            <a:r>
              <a:rPr sz="2000" dirty="0">
                <a:latin typeface="Aptos Display"/>
              </a:rPr>
              <a:t>MAE: 0.</a:t>
            </a:r>
            <a:r>
              <a:rPr lang="it-IT" sz="2000" dirty="0">
                <a:latin typeface="Aptos Display"/>
              </a:rPr>
              <a:t>32</a:t>
            </a:r>
            <a:endParaRPr sz="2000" dirty="0">
              <a:latin typeface="Aptos Display"/>
            </a:endParaRPr>
          </a:p>
          <a:p>
            <a:r>
              <a:rPr sz="2000" b="1" dirty="0">
                <a:latin typeface="Aptos Display"/>
              </a:rPr>
              <a:t>Sensitivity </a:t>
            </a:r>
            <a:r>
              <a:rPr sz="2000" b="1" dirty="0" err="1">
                <a:latin typeface="Aptos Display"/>
              </a:rPr>
              <a:t>Usato</a:t>
            </a:r>
            <a:r>
              <a:rPr sz="2000" b="1" dirty="0">
                <a:latin typeface="Aptos Display"/>
              </a:rPr>
              <a:t>: 66%</a:t>
            </a:r>
            <a:endParaRPr lang="it-IT" sz="2000" b="1" dirty="0">
              <a:latin typeface="Aptos Display"/>
            </a:endParaRPr>
          </a:p>
          <a:p>
            <a:endParaRPr sz="1200" dirty="0">
              <a:solidFill>
                <a:srgbClr val="555555"/>
              </a:solidFill>
              <a:latin typeface="Aptos Display"/>
            </a:endParaRPr>
          </a:p>
        </p:txBody>
      </p:sp>
      <p:sp>
        <p:nvSpPr>
          <p:cNvPr id="999" name="PageNum30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199" y="472803"/>
            <a:ext cx="80467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dirty="0" err="1">
                <a:solidFill>
                  <a:srgbClr val="FFFFFF"/>
                </a:solidFill>
                <a:latin typeface="Aptos Display"/>
              </a:rPr>
              <a:t>Classificazione</a:t>
            </a:r>
            <a:r>
              <a:rPr sz="320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Aptos Display"/>
              </a:rPr>
              <a:t>sulla</a:t>
            </a:r>
            <a:r>
              <a:rPr sz="320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Aptos Display"/>
              </a:rPr>
              <a:t>Qualità</a:t>
            </a:r>
            <a:endParaRPr sz="3200" dirty="0">
              <a:solidFill>
                <a:srgbClr val="FFFFFF"/>
              </a:solidFill>
              <a:latin typeface="Aptos Display"/>
            </a:endParaRPr>
          </a:p>
          <a:p>
            <a:pPr algn="l"/>
            <a:r>
              <a:rPr sz="3200" i="1" dirty="0" err="1">
                <a:solidFill>
                  <a:srgbClr val="FFFFFF"/>
                </a:solidFill>
                <a:latin typeface="Aptos Display"/>
              </a:rPr>
              <a:t>Modello</a:t>
            </a:r>
            <a:r>
              <a:rPr sz="3200" i="1" dirty="0">
                <a:solidFill>
                  <a:srgbClr val="FFFFFF"/>
                </a:solidFill>
                <a:latin typeface="Aptos Display"/>
              </a:rPr>
              <a:t> Finale 3 Classi + </a:t>
            </a:r>
            <a:r>
              <a:rPr sz="3200" i="1" dirty="0" err="1">
                <a:solidFill>
                  <a:srgbClr val="FFFFFF"/>
                </a:solidFill>
                <a:latin typeface="Aptos Display"/>
              </a:rPr>
              <a:t>Pesi</a:t>
            </a:r>
            <a:endParaRPr sz="3200" i="1" dirty="0">
              <a:solidFill>
                <a:srgbClr val="FFFFFF"/>
              </a:solidFill>
              <a:latin typeface="Aptos Display"/>
            </a:endParaRPr>
          </a:p>
        </p:txBody>
      </p:sp>
      <p:pic>
        <p:nvPicPr>
          <p:cNvPr id="4" name="Picture 3" descr="unip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705" y="179116"/>
            <a:ext cx="265176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874520"/>
            <a:ext cx="5943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B20E10"/>
                </a:solidFill>
                <a:latin typeface="Aptos Display"/>
              </a:rPr>
              <a:t>Confusion Matrix </a:t>
            </a:r>
            <a:r>
              <a:rPr lang="it-IT" sz="2000" b="1" dirty="0">
                <a:solidFill>
                  <a:srgbClr val="B20E10"/>
                </a:solidFill>
                <a:latin typeface="Aptos Display"/>
              </a:rPr>
              <a:t>su</a:t>
            </a:r>
            <a:r>
              <a:rPr sz="2000" b="1" i="0" dirty="0">
                <a:solidFill>
                  <a:srgbClr val="B20E10"/>
                </a:solidFill>
                <a:latin typeface="Aptos Display"/>
              </a:rPr>
              <a:t> Test set (n=478)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5059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920240" y="2286000"/>
            <a:ext cx="1234440" cy="658368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2450592"/>
            <a:ext cx="1143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Aptos Display"/>
              </a:rPr>
              <a:t>Usato</a:t>
            </a:r>
            <a:endParaRPr sz="12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54680" y="2286000"/>
            <a:ext cx="1325880" cy="658368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2450592"/>
            <a:ext cx="1234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Aptos Display"/>
              </a:rPr>
              <a:t>Ottime</a:t>
            </a:r>
            <a:endParaRPr sz="12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480559" y="2286000"/>
            <a:ext cx="1234440" cy="658368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79" y="2450592"/>
            <a:ext cx="1143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Aptos Display"/>
              </a:rPr>
              <a:t> Nuovo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35808"/>
            <a:ext cx="1417320" cy="658368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04274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Pred: Usato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3035808"/>
            <a:ext cx="1234440" cy="658368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65960" y="320040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  <a:latin typeface="Aptos Display"/>
              </a:rPr>
              <a:t>43 (66%)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80" y="3035808"/>
            <a:ext cx="132588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3200400"/>
            <a:ext cx="1234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  <a:latin typeface="Aptos Display"/>
              </a:rPr>
              <a:t>86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3035808"/>
            <a:ext cx="123444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79" y="320040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  <a:latin typeface="Aptos Display"/>
              </a:rPr>
              <a:t>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85615"/>
            <a:ext cx="1417320" cy="658368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776781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Aptos Display"/>
              </a:rPr>
              <a:t>Pred: </a:t>
            </a:r>
            <a:r>
              <a:rPr sz="2000" b="1" i="0" dirty="0" err="1">
                <a:solidFill>
                  <a:srgbClr val="FFFFFF"/>
                </a:solidFill>
                <a:latin typeface="Aptos Display"/>
              </a:rPr>
              <a:t>Ottime</a:t>
            </a:r>
            <a:endParaRPr sz="20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920240" y="3785615"/>
            <a:ext cx="123444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65960" y="3950207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  <a:latin typeface="Aptos Display"/>
              </a:rPr>
              <a:t>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3785615"/>
            <a:ext cx="1325880" cy="658368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0" y="3950207"/>
            <a:ext cx="1234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  <a:latin typeface="Aptos Display"/>
              </a:rPr>
              <a:t>72 (30%)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59" y="3785615"/>
            <a:ext cx="123444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79" y="3950207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  <a:latin typeface="Aptos Display"/>
              </a:rPr>
              <a:t>50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535424"/>
            <a:ext cx="1417320" cy="658368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5780" y="4557537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Aptos Display"/>
              </a:rPr>
              <a:t>Pred: Nuovo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4535424"/>
            <a:ext cx="123444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65960" y="4700016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000000"/>
                </a:solidFill>
                <a:latin typeface="Aptos Display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4680" y="4535424"/>
            <a:ext cx="1325880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0" y="4700016"/>
            <a:ext cx="1234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  <a:latin typeface="Aptos Display"/>
              </a:rPr>
              <a:t>79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59" y="4535424"/>
            <a:ext cx="1234440" cy="658368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34839" y="4700016"/>
            <a:ext cx="141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000000"/>
                </a:solidFill>
                <a:latin typeface="Aptos Display"/>
              </a:rPr>
              <a:t>111 (63%)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1874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20E10"/>
                </a:solidFill>
                <a:latin typeface="Aptos Display"/>
              </a:rPr>
              <a:t>Metriche sul test set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2286000"/>
            <a:ext cx="50292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12280" y="2377440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Aptos Display"/>
              </a:rPr>
              <a:t>Accuracy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235915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</a:rPr>
              <a:t>55</a:t>
            </a:r>
            <a:r>
              <a:rPr sz="2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</a:rPr>
              <a:t>.3%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2852928"/>
            <a:ext cx="50292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12280" y="2944368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Aptos Display"/>
              </a:rPr>
              <a:t>Kappa di Cohen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292608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</a:rPr>
              <a:t>0.207</a:t>
            </a:r>
            <a:r>
              <a:rPr sz="2000" b="1" i="0" dirty="0">
                <a:solidFill>
                  <a:srgbClr val="B20E10"/>
                </a:solidFill>
                <a:latin typeface="Aptos Display"/>
              </a:rPr>
              <a:t>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3419856"/>
            <a:ext cx="50292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12280" y="3511296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Aptos Display"/>
              </a:rPr>
              <a:t>MAE </a:t>
            </a:r>
            <a:r>
              <a:rPr sz="2000" b="0" i="0" dirty="0" err="1">
                <a:latin typeface="Aptos Display"/>
              </a:rPr>
              <a:t>ordinale</a:t>
            </a:r>
            <a:endParaRPr sz="2000" b="0" i="0" dirty="0">
              <a:latin typeface="Aptos Display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144000" y="3493008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</a:rPr>
              <a:t>0.</a:t>
            </a:r>
            <a:r>
              <a:rPr lang="it-IT" sz="2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</a:rPr>
              <a:t>32</a:t>
            </a:r>
            <a:endParaRPr sz="1400" b="1" i="0" dirty="0">
              <a:solidFill>
                <a:schemeClr val="tx1">
                  <a:lumMod val="95000"/>
                  <a:lumOff val="5000"/>
                </a:schemeClr>
              </a:solidFill>
              <a:latin typeface="Aptos Display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75120" y="3986783"/>
            <a:ext cx="50292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675120" y="4553712"/>
            <a:ext cx="5029200" cy="5303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12280" y="4078223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Aptos Display"/>
              </a:rPr>
              <a:t>Sensitivity </a:t>
            </a:r>
            <a:r>
              <a:rPr sz="2000" b="0" i="0" dirty="0" err="1">
                <a:latin typeface="Aptos Display"/>
              </a:rPr>
              <a:t>Usato</a:t>
            </a:r>
            <a:endParaRPr sz="1300" b="0" i="0" dirty="0">
              <a:latin typeface="Aptos Display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175252" y="4110719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</a:rPr>
              <a:t>66.2%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75120" y="5120640"/>
            <a:ext cx="50292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5" name="TextBox 54"/>
          <p:cNvSpPr txBox="1"/>
          <p:nvPr/>
        </p:nvSpPr>
        <p:spPr>
          <a:xfrm>
            <a:off x="6812280" y="4666450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Aptos Display"/>
              </a:rPr>
              <a:t>Sensitivity Nuovo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75252" y="4674667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</a:rPr>
              <a:t>63.1%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73505" y="5257800"/>
            <a:ext cx="2926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Aptos Display"/>
              </a:rPr>
              <a:t>Sensitivity </a:t>
            </a:r>
            <a:r>
              <a:rPr sz="2000" b="0" i="0" dirty="0" err="1">
                <a:latin typeface="Aptos Display"/>
              </a:rPr>
              <a:t>Ottime</a:t>
            </a:r>
            <a:endParaRPr sz="1300" b="0" i="0" dirty="0">
              <a:latin typeface="Aptos Display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144000" y="52532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 dirty="0">
                <a:solidFill>
                  <a:srgbClr val="B20E10"/>
                </a:solidFill>
                <a:latin typeface="Aptos Display"/>
              </a:rPr>
              <a:t>30.4%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9514" y="5472143"/>
            <a:ext cx="1187248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 err="1">
                <a:latin typeface="Aptos Display"/>
              </a:rPr>
              <a:t>Ottime</a:t>
            </a:r>
            <a:r>
              <a:rPr sz="2000" b="0" i="1" dirty="0">
                <a:latin typeface="Aptos Display"/>
              </a:rPr>
              <a:t> è la </a:t>
            </a:r>
            <a:r>
              <a:rPr sz="2000" b="0" i="1" dirty="0" err="1">
                <a:latin typeface="Aptos Display"/>
              </a:rPr>
              <a:t>classe</a:t>
            </a:r>
            <a:r>
              <a:rPr sz="2000" b="0" i="1" dirty="0">
                <a:latin typeface="Aptos Display"/>
              </a:rPr>
              <a:t> centrale </a:t>
            </a:r>
            <a:r>
              <a:rPr sz="2000" b="0" i="1" dirty="0" err="1">
                <a:latin typeface="Aptos Display"/>
              </a:rPr>
              <a:t>strutturalmente</a:t>
            </a:r>
            <a:r>
              <a:rPr sz="2000" b="0" i="1" dirty="0">
                <a:latin typeface="Aptos Display"/>
              </a:rPr>
              <a:t> </a:t>
            </a:r>
            <a:r>
              <a:rPr sz="2000" b="0" i="1" dirty="0" err="1">
                <a:latin typeface="Aptos Display"/>
              </a:rPr>
              <a:t>ambigua</a:t>
            </a:r>
            <a:r>
              <a:rPr sz="2000" b="0" i="1" dirty="0">
                <a:latin typeface="Aptos Display"/>
              </a:rPr>
              <a:t>. </a:t>
            </a:r>
            <a:endParaRPr lang="it-IT" sz="1100" b="0" i="1" dirty="0">
              <a:latin typeface="Aptos Display"/>
            </a:endParaRPr>
          </a:p>
          <a:p>
            <a:pPr algn="l"/>
            <a:endParaRPr lang="it-IT" sz="1100" b="0" i="1" dirty="0">
              <a:latin typeface="Aptos Display"/>
            </a:endParaRPr>
          </a:p>
          <a:p>
            <a:pPr algn="l"/>
            <a:r>
              <a:rPr sz="2000" b="0" i="1" dirty="0">
                <a:latin typeface="Aptos Display"/>
              </a:rPr>
              <a:t>Il 65% degli </a:t>
            </a:r>
            <a:r>
              <a:rPr sz="2000" b="0" i="1" dirty="0" err="1">
                <a:latin typeface="Aptos Display"/>
              </a:rPr>
              <a:t>errori</a:t>
            </a:r>
            <a:r>
              <a:rPr sz="2000" b="0" i="1" dirty="0">
                <a:latin typeface="Aptos Display"/>
              </a:rPr>
              <a:t> </a:t>
            </a:r>
            <a:r>
              <a:rPr sz="2000" b="0" i="1" dirty="0" err="1">
                <a:latin typeface="Aptos Display"/>
              </a:rPr>
              <a:t>coinvolge</a:t>
            </a:r>
            <a:r>
              <a:rPr sz="2000" b="0" i="1" dirty="0">
                <a:latin typeface="Aptos Display"/>
              </a:rPr>
              <a:t> </a:t>
            </a:r>
            <a:r>
              <a:rPr sz="2000" b="0" i="1" dirty="0" err="1">
                <a:latin typeface="Aptos Display"/>
              </a:rPr>
              <a:t>questa</a:t>
            </a:r>
            <a:r>
              <a:rPr sz="2000" b="0" i="1" dirty="0">
                <a:latin typeface="Aptos Display"/>
              </a:rPr>
              <a:t> </a:t>
            </a:r>
            <a:r>
              <a:rPr sz="2000" b="0" i="1" dirty="0" err="1">
                <a:latin typeface="Aptos Display"/>
              </a:rPr>
              <a:t>classe</a:t>
            </a:r>
            <a:r>
              <a:rPr sz="2000" b="0" i="1" dirty="0">
                <a:latin typeface="Aptos Display"/>
              </a:rPr>
              <a:t>, </a:t>
            </a:r>
            <a:r>
              <a:rPr sz="2000" b="0" i="1" dirty="0" err="1">
                <a:latin typeface="Aptos Display"/>
              </a:rPr>
              <a:t>classificata</a:t>
            </a:r>
            <a:r>
              <a:rPr sz="2000" b="0" i="1" dirty="0">
                <a:latin typeface="Aptos Display"/>
              </a:rPr>
              <a:t> </a:t>
            </a:r>
            <a:r>
              <a:rPr sz="2000" b="0" i="1" dirty="0" err="1">
                <a:latin typeface="Aptos Display"/>
              </a:rPr>
              <a:t>erroneamente</a:t>
            </a:r>
            <a:r>
              <a:rPr sz="2000" b="0" i="1" dirty="0">
                <a:latin typeface="Aptos Display"/>
              </a:rPr>
              <a:t> in </a:t>
            </a:r>
            <a:r>
              <a:rPr sz="2000" b="0" i="1" dirty="0" err="1">
                <a:latin typeface="Aptos Display"/>
              </a:rPr>
              <a:t>entrambe</a:t>
            </a:r>
            <a:r>
              <a:rPr sz="2000" b="0" i="1" dirty="0">
                <a:latin typeface="Aptos Display"/>
              </a:rPr>
              <a:t> le </a:t>
            </a:r>
            <a:r>
              <a:rPr sz="2000" b="0" i="1" dirty="0" err="1">
                <a:latin typeface="Aptos Display"/>
              </a:rPr>
              <a:t>direzioni</a:t>
            </a:r>
            <a:r>
              <a:rPr sz="2000" b="0" i="1" dirty="0">
                <a:latin typeface="Aptos Display"/>
              </a:rPr>
              <a:t>.</a:t>
            </a:r>
            <a:endParaRPr lang="it-IT" sz="1100" b="0" i="1" dirty="0">
              <a:latin typeface="Aptos Display"/>
            </a:endParaRPr>
          </a:p>
          <a:p>
            <a:pPr algn="l"/>
            <a:endParaRPr lang="it-IT" sz="1100" b="0" i="1" dirty="0">
              <a:latin typeface="Aptos Display"/>
            </a:endParaRPr>
          </a:p>
          <a:p>
            <a:pPr algn="l"/>
            <a:r>
              <a:rPr sz="2000" b="0" i="1" dirty="0">
                <a:latin typeface="Aptos Display"/>
              </a:rPr>
              <a:t> </a:t>
            </a:r>
            <a:r>
              <a:rPr sz="2000" b="0" i="1" dirty="0" err="1">
                <a:latin typeface="Aptos Display"/>
              </a:rPr>
              <a:t>Gli</a:t>
            </a:r>
            <a:r>
              <a:rPr sz="2000" b="0" i="1" dirty="0">
                <a:latin typeface="Aptos Display"/>
              </a:rPr>
              <a:t> </a:t>
            </a:r>
            <a:r>
              <a:rPr sz="2000" b="0" i="1" dirty="0" err="1">
                <a:latin typeface="Aptos Display"/>
              </a:rPr>
              <a:t>errori</a:t>
            </a:r>
            <a:r>
              <a:rPr sz="2000" b="0" i="1" dirty="0">
                <a:latin typeface="Aptos Display"/>
              </a:rPr>
              <a:t> </a:t>
            </a:r>
            <a:r>
              <a:rPr sz="2000" b="0" i="1" dirty="0" err="1">
                <a:latin typeface="Aptos Display"/>
              </a:rPr>
              <a:t>gravi</a:t>
            </a:r>
            <a:r>
              <a:rPr sz="2000" b="0" i="1" dirty="0">
                <a:latin typeface="Aptos Display"/>
              </a:rPr>
              <a:t> (Nuovo</a:t>
            </a:r>
            <a:r>
              <a:rPr lang="it-IT" sz="2000" b="0" i="1" dirty="0">
                <a:latin typeface="Aptos Display"/>
              </a:rPr>
              <a:t>↔</a:t>
            </a:r>
            <a:r>
              <a:rPr sz="2000" b="0" i="1" dirty="0" err="1">
                <a:latin typeface="Aptos Display"/>
              </a:rPr>
              <a:t>Usato</a:t>
            </a:r>
            <a:r>
              <a:rPr sz="2000" b="0" i="1" dirty="0">
                <a:latin typeface="Aptos Display"/>
              </a:rPr>
              <a:t>) </a:t>
            </a:r>
            <a:r>
              <a:rPr sz="2000" b="0" i="1" dirty="0" err="1">
                <a:latin typeface="Aptos Display"/>
              </a:rPr>
              <a:t>sono</a:t>
            </a:r>
            <a:r>
              <a:rPr sz="2000" b="0" i="1" dirty="0">
                <a:latin typeface="Aptos Display"/>
              </a:rPr>
              <a:t> solo</a:t>
            </a:r>
            <a:r>
              <a:rPr lang="it-IT" sz="2000" b="0" i="1" dirty="0">
                <a:latin typeface="Aptos Display"/>
              </a:rPr>
              <a:t> 8% ovvero 20/252 </a:t>
            </a:r>
            <a:endParaRPr sz="1100" b="0" i="1" dirty="0">
              <a:latin typeface="Aptos Display"/>
            </a:endParaRPr>
          </a:p>
        </p:txBody>
      </p:sp>
      <p:sp>
        <p:nvSpPr>
          <p:cNvPr id="999" name="PageNum31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-11575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457200" y="114300"/>
            <a:ext cx="11277600" cy="1494581"/>
          </a:xfrm>
        </p:spPr>
        <p:txBody>
          <a:bodyPr anchor="ctr">
            <a:normAutofit/>
          </a:bodyPr>
          <a:lstStyle/>
          <a:p>
            <a:r>
              <a:rPr lang="it-IT" sz="2400" dirty="0">
                <a:solidFill>
                  <a:srgbClr val="FFFFFF"/>
                </a:solidFill>
                <a:latin typeface="Aptos Display"/>
              </a:rPr>
              <a:t>Classificazione sulla Qualità</a:t>
            </a:r>
          </a:p>
          <a:p>
            <a:r>
              <a:rPr lang="it-IT" sz="2400" dirty="0">
                <a:solidFill>
                  <a:srgbClr val="FFFFFF"/>
                </a:solidFill>
                <a:latin typeface="Aptos Display"/>
              </a:rPr>
              <a:t>Permutation Feature </a:t>
            </a:r>
            <a:r>
              <a:rPr lang="it-IT" sz="2400" dirty="0" err="1">
                <a:solidFill>
                  <a:srgbClr val="FFFFFF"/>
                </a:solidFill>
                <a:latin typeface="Aptos Display"/>
              </a:rPr>
              <a:t>Importance</a:t>
            </a:r>
            <a:r>
              <a:rPr lang="it-IT" sz="2400" dirty="0">
                <a:solidFill>
                  <a:srgbClr val="FFFFFF"/>
                </a:solidFill>
                <a:latin typeface="Aptos Display"/>
              </a:rPr>
              <a:t>: Modello 3C + Pesi</a:t>
            </a:r>
          </a:p>
        </p:txBody>
      </p:sp>
      <p:pic>
        <p:nvPicPr>
          <p:cNvPr id="4" name="Perm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775" y="1693086"/>
            <a:ext cx="6578449" cy="4889119"/>
          </a:xfrm>
          <a:prstGeom prst="rect">
            <a:avLst/>
          </a:prstGeom>
        </p:spPr>
      </p:pic>
      <p:sp>
        <p:nvSpPr>
          <p:cNvPr id="99" name="PgNum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dirty="0">
                <a:solidFill>
                  <a:srgbClr val="000000"/>
                </a:solidFill>
                <a:latin typeface="Aptos Display"/>
              </a:rPr>
              <a:t>32</a:t>
            </a:r>
          </a:p>
        </p:txBody>
      </p:sp>
      <p:pic>
        <p:nvPicPr>
          <p:cNvPr id="5" name="Picture 3" descr="unipd_logo.png">
            <a:extLst>
              <a:ext uri="{FF2B5EF4-FFF2-40B4-BE49-F238E27FC236}">
                <a16:creationId xmlns:a16="http://schemas.microsoft.com/office/drawing/2014/main" id="{0931AA95-D792-A5EF-7EB3-8B97B655E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046" y="210080"/>
            <a:ext cx="265176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27249"/>
            <a:ext cx="80467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dirty="0" err="1">
                <a:solidFill>
                  <a:srgbClr val="FFFFFF"/>
                </a:solidFill>
                <a:latin typeface="Aptos Display"/>
              </a:rPr>
              <a:t>Classificazione</a:t>
            </a:r>
            <a:r>
              <a:rPr sz="320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Aptos Display"/>
              </a:rPr>
              <a:t>sulla</a:t>
            </a:r>
            <a:r>
              <a:rPr sz="320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Aptos Display"/>
              </a:rPr>
              <a:t>Qualità</a:t>
            </a:r>
            <a:endParaRPr sz="3200" dirty="0">
              <a:solidFill>
                <a:srgbClr val="FFFFFF"/>
              </a:solidFill>
              <a:latin typeface="Aptos Display"/>
            </a:endParaRPr>
          </a:p>
          <a:p>
            <a:pPr algn="l"/>
            <a:r>
              <a:rPr sz="3200" i="1" dirty="0" err="1">
                <a:solidFill>
                  <a:srgbClr val="FFFFFF"/>
                </a:solidFill>
                <a:latin typeface="Aptos Display"/>
              </a:rPr>
              <a:t>Analisi</a:t>
            </a:r>
            <a:r>
              <a:rPr sz="3200" i="1" dirty="0">
                <a:solidFill>
                  <a:srgbClr val="FFFFFF"/>
                </a:solidFill>
                <a:latin typeface="Aptos Display"/>
              </a:rPr>
              <a:t> degli </a:t>
            </a:r>
            <a:r>
              <a:rPr sz="3200" i="1" dirty="0" err="1">
                <a:solidFill>
                  <a:srgbClr val="FFFFFF"/>
                </a:solidFill>
                <a:latin typeface="Aptos Display"/>
              </a:rPr>
              <a:t>errori</a:t>
            </a:r>
            <a:r>
              <a:rPr sz="3200" i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lang="it-IT" sz="3200" i="1" dirty="0">
                <a:solidFill>
                  <a:srgbClr val="FFFFFF"/>
                </a:solidFill>
                <a:latin typeface="Aptos Display"/>
              </a:rPr>
              <a:t>:</a:t>
            </a:r>
            <a:r>
              <a:rPr sz="3200" i="1" dirty="0" err="1">
                <a:solidFill>
                  <a:srgbClr val="FFFFFF"/>
                </a:solidFill>
                <a:latin typeface="Aptos Display"/>
              </a:rPr>
              <a:t>Modello</a:t>
            </a:r>
            <a:r>
              <a:rPr sz="3200" i="1" dirty="0">
                <a:solidFill>
                  <a:srgbClr val="FFFFFF"/>
                </a:solidFill>
                <a:latin typeface="Aptos Display"/>
              </a:rPr>
              <a:t> 3C+Pesi</a:t>
            </a:r>
          </a:p>
        </p:txBody>
      </p:sp>
      <p:pic>
        <p:nvPicPr>
          <p:cNvPr id="4" name="Picture 3" descr="unip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71305"/>
            <a:ext cx="265176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9438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B20E10"/>
                </a:solidFill>
                <a:latin typeface="Aptos Display"/>
              </a:rPr>
              <a:t>Tasso di </a:t>
            </a:r>
            <a:r>
              <a:rPr sz="2000" b="1" i="0" dirty="0" err="1">
                <a:solidFill>
                  <a:srgbClr val="B20E10"/>
                </a:solidFill>
                <a:latin typeface="Aptos Display"/>
              </a:rPr>
              <a:t>errore</a:t>
            </a:r>
            <a:r>
              <a:rPr sz="2000" b="1" i="0" dirty="0">
                <a:solidFill>
                  <a:srgbClr val="B20E10"/>
                </a:solidFill>
                <a:latin typeface="Aptos Display"/>
              </a:rPr>
              <a:t> per brand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563923"/>
              </p:ext>
            </p:extLst>
          </p:nvPr>
        </p:nvGraphicFramePr>
        <p:xfrm>
          <a:off x="502920" y="2315968"/>
          <a:ext cx="4297680" cy="3958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5530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Aptos Display"/>
                        </a:rPr>
                        <a:t>Brand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N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Errori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Tasso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530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Nike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73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45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000000"/>
                          </a:solidFill>
                          <a:latin typeface="Aptos Display"/>
                        </a:rPr>
                        <a:t>61.6%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530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Champion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000000"/>
                          </a:solidFill>
                          <a:latin typeface="Aptos Display"/>
                        </a:rPr>
                        <a:t>61.5%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530">
                <a:tc>
                  <a:txBody>
                    <a:bodyPr/>
                    <a:lstStyle/>
                    <a:p>
                      <a:pPr algn="ctr"/>
                      <a:r>
                        <a:rPr lang="it-IT"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Ignoto</a:t>
                      </a:r>
                      <a:endParaRPr sz="1200" dirty="0">
                        <a:solidFill>
                          <a:srgbClr val="000000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124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74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000000"/>
                          </a:solidFill>
                          <a:latin typeface="Aptos Display"/>
                        </a:rPr>
                        <a:t>59.7%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530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Asics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29.4%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530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Autry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15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5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33.3%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530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Vans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23560" y="1943819"/>
            <a:ext cx="6080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B20E10"/>
                </a:solidFill>
                <a:latin typeface="Aptos Display"/>
              </a:rPr>
              <a:t>Tasso di </a:t>
            </a:r>
            <a:r>
              <a:rPr sz="2000" b="1" i="0" dirty="0" err="1">
                <a:solidFill>
                  <a:srgbClr val="B20E10"/>
                </a:solidFill>
                <a:latin typeface="Aptos Display"/>
              </a:rPr>
              <a:t>errore</a:t>
            </a:r>
            <a:r>
              <a:rPr sz="2000" b="1" i="0" dirty="0">
                <a:solidFill>
                  <a:srgbClr val="B20E10"/>
                </a:solidFill>
                <a:latin typeface="Aptos Display"/>
              </a:rPr>
              <a:t> per fascia di </a:t>
            </a:r>
            <a:r>
              <a:rPr sz="2000" b="1" i="0" dirty="0" err="1">
                <a:solidFill>
                  <a:srgbClr val="B20E10"/>
                </a:solidFill>
                <a:latin typeface="Aptos Display"/>
              </a:rPr>
              <a:t>prezzo</a:t>
            </a:r>
            <a:endParaRPr sz="1300" b="1" i="0" dirty="0">
              <a:solidFill>
                <a:srgbClr val="B20E10"/>
              </a:solidFill>
              <a:latin typeface="Aptos Display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484057"/>
              </p:ext>
            </p:extLst>
          </p:nvPr>
        </p:nvGraphicFramePr>
        <p:xfrm>
          <a:off x="5669280" y="2277067"/>
          <a:ext cx="4114800" cy="3958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9785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Fascia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Aptos Display"/>
                        </a:rPr>
                        <a:t>N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Errori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Tasso</a:t>
                      </a:r>
                    </a:p>
                  </a:txBody>
                  <a:tcPr>
                    <a:solidFill>
                      <a:srgbClr val="B20E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785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&lt; 10€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85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54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000000"/>
                          </a:solidFill>
                          <a:latin typeface="Aptos Display"/>
                        </a:rPr>
                        <a:t>63.5%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785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10-20€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000000"/>
                          </a:solidFill>
                          <a:latin typeface="Aptos Display"/>
                        </a:rPr>
                        <a:t>59.2%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785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20-35€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62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32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000000"/>
                          </a:solidFill>
                          <a:latin typeface="Aptos Display"/>
                        </a:rPr>
                        <a:t>51.6%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785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35-50€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37.7%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9785"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&gt; 50€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158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75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47.5%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99" name="PageNum32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3453"/>
            <a:ext cx="80467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dirty="0" err="1">
                <a:solidFill>
                  <a:srgbClr val="FFFFFF"/>
                </a:solidFill>
                <a:latin typeface="Aptos Display"/>
              </a:rPr>
              <a:t>Classificazione</a:t>
            </a:r>
            <a:r>
              <a:rPr sz="320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Aptos Display"/>
              </a:rPr>
              <a:t>sulla</a:t>
            </a:r>
            <a:r>
              <a:rPr sz="320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Aptos Display"/>
              </a:rPr>
              <a:t>Qualità</a:t>
            </a:r>
            <a:endParaRPr sz="3200" dirty="0">
              <a:solidFill>
                <a:srgbClr val="FFFFFF"/>
              </a:solidFill>
              <a:latin typeface="Aptos Display"/>
            </a:endParaRPr>
          </a:p>
          <a:p>
            <a:pPr algn="l"/>
            <a:r>
              <a:rPr sz="3200" i="1" dirty="0" err="1">
                <a:solidFill>
                  <a:srgbClr val="FFFFFF"/>
                </a:solidFill>
                <a:latin typeface="Aptos Display"/>
              </a:rPr>
              <a:t>Confronto</a:t>
            </a:r>
            <a:r>
              <a:rPr sz="3200" i="1" dirty="0">
                <a:solidFill>
                  <a:srgbClr val="FFFFFF"/>
                </a:solidFill>
                <a:latin typeface="Aptos Display"/>
              </a:rPr>
              <a:t> tutti </a:t>
            </a:r>
            <a:r>
              <a:rPr sz="3200" i="1" dirty="0" err="1">
                <a:solidFill>
                  <a:srgbClr val="FFFFFF"/>
                </a:solidFill>
                <a:latin typeface="Aptos Display"/>
              </a:rPr>
              <a:t>i</a:t>
            </a:r>
            <a:r>
              <a:rPr sz="3200" i="1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i="1" dirty="0" err="1">
                <a:solidFill>
                  <a:srgbClr val="FFFFFF"/>
                </a:solidFill>
                <a:latin typeface="Aptos Display"/>
              </a:rPr>
              <a:t>modelli</a:t>
            </a:r>
            <a:endParaRPr sz="3200" i="1" dirty="0">
              <a:solidFill>
                <a:srgbClr val="FFFFFF"/>
              </a:solidFill>
              <a:latin typeface="Aptos Display"/>
            </a:endParaRPr>
          </a:p>
        </p:txBody>
      </p:sp>
      <p:pic>
        <p:nvPicPr>
          <p:cNvPr id="4" name="Picture 3" descr="unip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9384" y="164592"/>
            <a:ext cx="265176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874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20E10"/>
                </a:solidFill>
                <a:latin typeface="Aptos Display"/>
              </a:rPr>
              <a:t>Metriche sul test set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21102"/>
              </p:ext>
            </p:extLst>
          </p:nvPr>
        </p:nvGraphicFramePr>
        <p:xfrm>
          <a:off x="502920" y="2286000"/>
          <a:ext cx="10678224" cy="3533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5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2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6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368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83920"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FFFFFF"/>
                          </a:solidFill>
                          <a:latin typeface="Aptos Display"/>
                        </a:rPr>
                        <a:t>Modello</a:t>
                      </a:r>
                      <a:endParaRPr sz="2000" b="1" dirty="0">
                        <a:solidFill>
                          <a:srgbClr val="FFFFFF"/>
                        </a:solidFill>
                        <a:latin typeface="Aptos Display"/>
                      </a:endParaRPr>
                    </a:p>
                  </a:txBody>
                  <a:tcPr anchor="ctr"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ptos Display"/>
                        </a:rPr>
                        <a:t>Accuracy</a:t>
                      </a:r>
                    </a:p>
                  </a:txBody>
                  <a:tcPr anchor="ctr"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Aptos Display"/>
                        </a:rPr>
                        <a:t>Kappa</a:t>
                      </a:r>
                    </a:p>
                  </a:txBody>
                  <a:tcPr anchor="ctr"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Aptos Display"/>
                        </a:rPr>
                        <a:t>MAE ord.</a:t>
                      </a:r>
                    </a:p>
                  </a:txBody>
                  <a:tcPr anchor="ctr"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Aptos Display"/>
                        </a:rPr>
                        <a:t>Sensitivity
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  <a:latin typeface="Aptos Display"/>
                        </a:rPr>
                        <a:t>Usato</a:t>
                      </a:r>
                      <a:endParaRPr sz="1200" b="1" dirty="0">
                        <a:solidFill>
                          <a:srgbClr val="FFFFFF"/>
                        </a:solidFill>
                        <a:latin typeface="Aptos Display"/>
                      </a:endParaRPr>
                    </a:p>
                  </a:txBody>
                  <a:tcPr anchor="ctr">
                    <a:solidFill>
                      <a:srgbClr val="B20E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Aptos Display"/>
                        </a:rPr>
                        <a:t>Sensitivity
Nuovo</a:t>
                      </a:r>
                    </a:p>
                  </a:txBody>
                  <a:tcPr anchor="ctr">
                    <a:solidFill>
                      <a:srgbClr val="B20E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287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Step (5 classi)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0.464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0.017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0.776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0.0%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15.7%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287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Pesato (5 classi)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0.318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0.134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1.044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53.8%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>
                          <a:solidFill>
                            <a:srgbClr val="000000"/>
                          </a:solidFill>
                          <a:latin typeface="Aptos Display"/>
                        </a:rPr>
                        <a:t>57.3%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287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3 Classi (no pesi)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0.529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0.138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0.477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7.7%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Aptos Display"/>
                        </a:rPr>
                        <a:t>37.5%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287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000000"/>
                          </a:solidFill>
                          <a:latin typeface="Aptos Display"/>
                        </a:rPr>
                        <a:t>3C + </a:t>
                      </a:r>
                      <a:r>
                        <a:rPr sz="2000" b="1" dirty="0" err="1">
                          <a:solidFill>
                            <a:srgbClr val="000000"/>
                          </a:solidFill>
                          <a:latin typeface="Aptos Display"/>
                        </a:rPr>
                        <a:t>Pesi</a:t>
                      </a:r>
                      <a:r>
                        <a:rPr sz="2000" b="1" dirty="0">
                          <a:solidFill>
                            <a:srgbClr val="000000"/>
                          </a:solidFill>
                          <a:latin typeface="Aptos Display"/>
                        </a:rPr>
                        <a:t>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000000"/>
                          </a:solidFill>
                          <a:latin typeface="Aptos Display"/>
                        </a:rPr>
                        <a:t>0.</a:t>
                      </a:r>
                      <a:r>
                        <a:rPr lang="it-IT" sz="2000" b="1" dirty="0">
                          <a:solidFill>
                            <a:srgbClr val="000000"/>
                          </a:solidFill>
                          <a:latin typeface="Aptos Display"/>
                        </a:rPr>
                        <a:t>553</a:t>
                      </a:r>
                      <a:endParaRPr sz="1200" b="1" dirty="0">
                        <a:solidFill>
                          <a:srgbClr val="000000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000000"/>
                          </a:solidFill>
                          <a:latin typeface="Aptos Display"/>
                        </a:rPr>
                        <a:t>0.207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000000"/>
                          </a:solidFill>
                          <a:latin typeface="Aptos Display"/>
                        </a:rPr>
                        <a:t>0.</a:t>
                      </a:r>
                      <a:r>
                        <a:rPr lang="it-IT" sz="2000" b="1" dirty="0">
                          <a:solidFill>
                            <a:srgbClr val="000000"/>
                          </a:solidFill>
                          <a:latin typeface="Aptos Display"/>
                        </a:rPr>
                        <a:t>32</a:t>
                      </a:r>
                      <a:endParaRPr sz="1200" b="1" dirty="0">
                        <a:solidFill>
                          <a:srgbClr val="000000"/>
                        </a:solidFill>
                        <a:latin typeface="Aptos Display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000000"/>
                          </a:solidFill>
                          <a:latin typeface="Aptos Display"/>
                        </a:rPr>
                        <a:t>66.2%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000000"/>
                          </a:solidFill>
                          <a:latin typeface="Aptos Display"/>
                        </a:rPr>
                        <a:t>63.1%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99" name="PageNum33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50792"/>
            <a:ext cx="80467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dirty="0" err="1">
                <a:solidFill>
                  <a:srgbClr val="FFFFFF"/>
                </a:solidFill>
                <a:latin typeface="Aptos Display"/>
              </a:rPr>
              <a:t>Classificazione</a:t>
            </a:r>
            <a:r>
              <a:rPr sz="320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Aptos Display"/>
              </a:rPr>
              <a:t>sulla</a:t>
            </a:r>
            <a:r>
              <a:rPr sz="3200" dirty="0">
                <a:solidFill>
                  <a:srgbClr val="FFFFFF"/>
                </a:solidFill>
                <a:latin typeface="Aptos Display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Aptos Display"/>
              </a:rPr>
              <a:t>Qualità</a:t>
            </a:r>
            <a:endParaRPr sz="3200" dirty="0">
              <a:solidFill>
                <a:srgbClr val="FFFFFF"/>
              </a:solidFill>
              <a:latin typeface="Aptos Display"/>
            </a:endParaRPr>
          </a:p>
          <a:p>
            <a:pPr algn="l"/>
            <a:r>
              <a:rPr sz="3200" i="1" dirty="0" err="1">
                <a:solidFill>
                  <a:srgbClr val="FFFFFF"/>
                </a:solidFill>
                <a:latin typeface="Aptos Display"/>
              </a:rPr>
              <a:t>Conclusioni</a:t>
            </a:r>
            <a:endParaRPr sz="3200" i="1" dirty="0">
              <a:solidFill>
                <a:srgbClr val="FFFFFF"/>
              </a:solidFill>
              <a:latin typeface="Aptos Display"/>
            </a:endParaRPr>
          </a:p>
        </p:txBody>
      </p:sp>
      <p:pic>
        <p:nvPicPr>
          <p:cNvPr id="4" name="Picture 3" descr="unip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85310"/>
            <a:ext cx="2651760" cy="1188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920240"/>
            <a:ext cx="502920" cy="502920"/>
          </a:xfrm>
          <a:prstGeom prst="rect">
            <a:avLst/>
          </a:prstGeom>
          <a:solidFill>
            <a:srgbClr val="B20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Variabili</a:t>
            </a:r>
            <a:r>
              <a:rPr sz="2000" b="1" i="0" dirty="0">
                <a:solidFill>
                  <a:srgbClr val="000000"/>
                </a:solidFill>
                <a:latin typeface="Aptos Display"/>
              </a:rPr>
              <a:t> del </a:t>
            </a:r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prodotto</a:t>
            </a:r>
            <a:r>
              <a:rPr sz="2000" b="1" i="0" dirty="0">
                <a:solidFill>
                  <a:srgbClr val="000000"/>
                </a:solidFill>
                <a:latin typeface="Aptos Display"/>
              </a:rPr>
              <a:t>, non del </a:t>
            </a:r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venditore</a:t>
            </a:r>
            <a:endParaRPr sz="1400" b="1" i="0" dirty="0">
              <a:solidFill>
                <a:srgbClr val="000000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2267712"/>
            <a:ext cx="10561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Aptos Display"/>
              </a:rPr>
              <a:t>Lo stepwise </a:t>
            </a:r>
            <a:r>
              <a:rPr sz="2000" b="0" i="0" dirty="0" err="1">
                <a:latin typeface="Aptos Display"/>
              </a:rPr>
              <a:t>elimina</a:t>
            </a:r>
            <a:r>
              <a:rPr lang="it-IT" sz="2000" b="0" i="0" dirty="0">
                <a:latin typeface="Aptos Display"/>
              </a:rPr>
              <a:t> per tutti i modelli la maggior parte dell</a:t>
            </a:r>
            <a:r>
              <a:rPr lang="it-IT" sz="2000" dirty="0">
                <a:latin typeface="Aptos Display"/>
              </a:rPr>
              <a:t>e variabili relative al venditore</a:t>
            </a:r>
            <a:r>
              <a:rPr sz="2000" b="0" i="0" dirty="0">
                <a:latin typeface="Aptos Display"/>
              </a:rPr>
              <a:t>. </a:t>
            </a:r>
            <a:endParaRPr lang="it-IT" sz="2000" b="0" i="0" dirty="0">
              <a:latin typeface="Aptos Display"/>
            </a:endParaRPr>
          </a:p>
          <a:p>
            <a:pPr algn="l"/>
            <a:r>
              <a:rPr sz="2000" b="0" i="0" dirty="0">
                <a:latin typeface="Aptos Display"/>
              </a:rPr>
              <a:t>La </a:t>
            </a:r>
            <a:r>
              <a:rPr sz="2000" b="0" i="0" dirty="0" err="1">
                <a:latin typeface="Aptos Display"/>
              </a:rPr>
              <a:t>condizione</a:t>
            </a:r>
            <a:r>
              <a:rPr sz="2000" b="0" i="0" dirty="0">
                <a:latin typeface="Aptos Display"/>
              </a:rPr>
              <a:t> </a:t>
            </a:r>
            <a:r>
              <a:rPr sz="2000" b="0" i="0" dirty="0" err="1">
                <a:latin typeface="Aptos Display"/>
              </a:rPr>
              <a:t>fisica</a:t>
            </a:r>
            <a:r>
              <a:rPr sz="2000" b="0" i="0" dirty="0">
                <a:latin typeface="Aptos Display"/>
              </a:rPr>
              <a:t> </a:t>
            </a:r>
            <a:r>
              <a:rPr sz="2000" b="0" i="0" dirty="0" err="1">
                <a:latin typeface="Aptos Display"/>
              </a:rPr>
              <a:t>dipende</a:t>
            </a:r>
            <a:r>
              <a:rPr sz="2000" b="0" i="0" dirty="0">
                <a:latin typeface="Aptos Display"/>
              </a:rPr>
              <a:t> </a:t>
            </a:r>
            <a:r>
              <a:rPr sz="2000" b="0" i="0" dirty="0" err="1">
                <a:latin typeface="Aptos Display"/>
              </a:rPr>
              <a:t>dalle</a:t>
            </a:r>
            <a:r>
              <a:rPr sz="2000" b="0" i="0" dirty="0">
                <a:latin typeface="Aptos Display"/>
              </a:rPr>
              <a:t> </a:t>
            </a:r>
            <a:r>
              <a:rPr sz="2000" b="0" i="0" dirty="0" err="1">
                <a:latin typeface="Aptos Display"/>
              </a:rPr>
              <a:t>caratteristiche</a:t>
            </a:r>
            <a:r>
              <a:rPr sz="2000" b="0" i="0" dirty="0">
                <a:latin typeface="Aptos Display"/>
              </a:rPr>
              <a:t> della scarpa, non da chi la </a:t>
            </a:r>
            <a:r>
              <a:rPr sz="2000" b="0" i="0" dirty="0" err="1">
                <a:latin typeface="Aptos Display"/>
              </a:rPr>
              <a:t>vende</a:t>
            </a:r>
            <a:r>
              <a:rPr sz="2000" b="0" i="0" dirty="0">
                <a:latin typeface="Aptos Display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017520"/>
            <a:ext cx="112471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108960"/>
            <a:ext cx="502920" cy="50292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60" y="5498810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LogPrice</a:t>
            </a:r>
            <a:r>
              <a:rPr sz="2000" b="1" i="0" dirty="0">
                <a:solidFill>
                  <a:srgbClr val="000000"/>
                </a:solidFill>
                <a:latin typeface="Aptos Display"/>
              </a:rPr>
              <a:t> è il </a:t>
            </a:r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predittore</a:t>
            </a:r>
            <a:r>
              <a:rPr sz="2000" b="1" i="0" dirty="0">
                <a:solidFill>
                  <a:srgbClr val="000000"/>
                </a:solidFill>
                <a:latin typeface="Aptos Display"/>
              </a:rPr>
              <a:t> </a:t>
            </a:r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principale</a:t>
            </a:r>
            <a:endParaRPr sz="1400" b="1" i="0" dirty="0">
              <a:solidFill>
                <a:srgbClr val="000000"/>
              </a:solidFill>
              <a:latin typeface="Aptos Display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57288" y="5837197"/>
            <a:ext cx="10561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dirty="0">
                <a:latin typeface="Aptos Display"/>
              </a:rPr>
              <a:t>Seguito da </a:t>
            </a:r>
            <a:r>
              <a:rPr sz="2000" b="0" i="0" dirty="0">
                <a:latin typeface="Aptos Display"/>
              </a:rPr>
              <a:t>Brand e </a:t>
            </a:r>
            <a:r>
              <a:rPr lang="it-IT" sz="2000" b="0" i="0" dirty="0">
                <a:latin typeface="Aptos Display"/>
              </a:rPr>
              <a:t>Size</a:t>
            </a:r>
            <a:endParaRPr sz="1200" b="0" i="0" dirty="0">
              <a:latin typeface="Aptos Display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4206240"/>
            <a:ext cx="112471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4297680"/>
            <a:ext cx="502920" cy="50292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42976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60" y="3168108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Sbilanciamento</a:t>
            </a:r>
            <a:r>
              <a:rPr sz="2000" b="1" i="0" dirty="0">
                <a:solidFill>
                  <a:srgbClr val="000000"/>
                </a:solidFill>
                <a:latin typeface="Aptos Display"/>
              </a:rPr>
              <a:t> </a:t>
            </a:r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richiede</a:t>
            </a:r>
            <a:r>
              <a:rPr sz="2000" b="1" i="0" dirty="0">
                <a:solidFill>
                  <a:srgbClr val="000000"/>
                </a:solidFill>
                <a:latin typeface="Aptos Display"/>
              </a:rPr>
              <a:t> </a:t>
            </a:r>
            <a:r>
              <a:rPr sz="2000" b="1" i="0" dirty="0" err="1">
                <a:solidFill>
                  <a:srgbClr val="000000"/>
                </a:solidFill>
                <a:latin typeface="Aptos Display"/>
              </a:rPr>
              <a:t>intervento</a:t>
            </a:r>
            <a:endParaRPr sz="1400" b="1" i="0" dirty="0">
              <a:solidFill>
                <a:srgbClr val="000000"/>
              </a:solidFill>
              <a:latin typeface="Aptos Displa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3000" y="3515580"/>
            <a:ext cx="10561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Aptos Display"/>
              </a:rPr>
              <a:t>Il </a:t>
            </a:r>
            <a:r>
              <a:rPr sz="2000" b="0" i="0" dirty="0" err="1">
                <a:latin typeface="Aptos Display"/>
              </a:rPr>
              <a:t>modello</a:t>
            </a:r>
            <a:r>
              <a:rPr sz="2000" b="0" i="0" dirty="0">
                <a:latin typeface="Aptos Display"/>
              </a:rPr>
              <a:t> base </a:t>
            </a:r>
            <a:r>
              <a:rPr sz="2000" b="0" i="0" dirty="0" err="1">
                <a:latin typeface="Aptos Display"/>
              </a:rPr>
              <a:t>collassa</a:t>
            </a:r>
            <a:r>
              <a:rPr sz="2000" b="0" i="0" dirty="0">
                <a:latin typeface="Aptos Display"/>
              </a:rPr>
              <a:t> </a:t>
            </a:r>
            <a:r>
              <a:rPr sz="2000" b="0" i="0" dirty="0" err="1">
                <a:latin typeface="Aptos Display"/>
              </a:rPr>
              <a:t>su</a:t>
            </a:r>
            <a:r>
              <a:rPr sz="2000" b="0" i="0" dirty="0">
                <a:latin typeface="Aptos Display"/>
              </a:rPr>
              <a:t> </a:t>
            </a:r>
            <a:r>
              <a:rPr sz="2000" b="0" i="0" dirty="0" err="1">
                <a:latin typeface="Aptos Display"/>
              </a:rPr>
              <a:t>Ottime</a:t>
            </a:r>
            <a:r>
              <a:rPr lang="it-IT" sz="2000" dirty="0">
                <a:latin typeface="Aptos Display"/>
              </a:rPr>
              <a:t> mentre il nuovo modello che</a:t>
            </a:r>
            <a:r>
              <a:rPr sz="2000" b="0" i="0" dirty="0">
                <a:latin typeface="Aptos Display"/>
              </a:rPr>
              <a:t> </a:t>
            </a:r>
            <a:r>
              <a:rPr sz="2000" b="0" i="0" dirty="0" err="1">
                <a:latin typeface="Aptos Display"/>
              </a:rPr>
              <a:t>combinazione</a:t>
            </a:r>
            <a:r>
              <a:rPr sz="2000" b="0" i="0" dirty="0">
                <a:latin typeface="Aptos Display"/>
              </a:rPr>
              <a:t> </a:t>
            </a:r>
            <a:r>
              <a:rPr sz="2000" b="0" i="0" dirty="0" err="1">
                <a:latin typeface="Aptos Display"/>
              </a:rPr>
              <a:t>collasso+pesi</a:t>
            </a:r>
            <a:r>
              <a:rPr sz="2000" b="0" i="0" dirty="0">
                <a:latin typeface="Aptos Display"/>
              </a:rPr>
              <a:t> porta Kappa a 0.207 e la sensitivity di </a:t>
            </a:r>
            <a:r>
              <a:rPr sz="2000" b="0" i="0" dirty="0" err="1">
                <a:latin typeface="Aptos Display"/>
              </a:rPr>
              <a:t>Usato</a:t>
            </a:r>
            <a:r>
              <a:rPr sz="2000" b="0" i="0" dirty="0">
                <a:latin typeface="Aptos Display"/>
              </a:rPr>
              <a:t> da 0% a 66%.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030" y="5440197"/>
            <a:ext cx="1124712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486400"/>
            <a:ext cx="502920" cy="5029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5486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799" y="4318149"/>
            <a:ext cx="10561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ptos Display"/>
              </a:rPr>
              <a:t>La classe Ottime è strutturalmente ambigua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799" y="4671043"/>
            <a:ext cx="10561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latin typeface="Aptos Display"/>
              </a:rPr>
              <a:t>Il 65% degli </a:t>
            </a:r>
            <a:r>
              <a:rPr sz="2000" b="0" i="0" dirty="0" err="1">
                <a:latin typeface="Aptos Display"/>
              </a:rPr>
              <a:t>errori</a:t>
            </a:r>
            <a:r>
              <a:rPr sz="2000" b="0" i="0" dirty="0">
                <a:latin typeface="Aptos Display"/>
              </a:rPr>
              <a:t> la </a:t>
            </a:r>
            <a:r>
              <a:rPr sz="2000" b="0" i="0" dirty="0" err="1">
                <a:latin typeface="Aptos Display"/>
              </a:rPr>
              <a:t>coinvolge</a:t>
            </a:r>
            <a:r>
              <a:rPr sz="2000" b="0" i="0" dirty="0">
                <a:latin typeface="Aptos Display"/>
              </a:rPr>
              <a:t> in </a:t>
            </a:r>
            <a:r>
              <a:rPr sz="2000" b="0" i="0" dirty="0" err="1">
                <a:latin typeface="Aptos Display"/>
              </a:rPr>
              <a:t>entrambe</a:t>
            </a:r>
            <a:r>
              <a:rPr sz="2000" b="0" i="0" dirty="0">
                <a:latin typeface="Aptos Display"/>
              </a:rPr>
              <a:t> le </a:t>
            </a:r>
            <a:r>
              <a:rPr sz="2000" b="0" i="0" dirty="0" err="1">
                <a:latin typeface="Aptos Display"/>
              </a:rPr>
              <a:t>direzioni</a:t>
            </a:r>
            <a:r>
              <a:rPr lang="it-IT" sz="2000" b="0" i="0" dirty="0">
                <a:latin typeface="Aptos Display"/>
              </a:rPr>
              <a:t>, n</a:t>
            </a:r>
            <a:r>
              <a:rPr sz="2000" b="0" i="0" dirty="0">
                <a:latin typeface="Aptos Display"/>
              </a:rPr>
              <a:t>on è un </a:t>
            </a:r>
            <a:r>
              <a:rPr sz="2000" b="0" i="0" dirty="0" err="1">
                <a:latin typeface="Aptos Display"/>
              </a:rPr>
              <a:t>fallimento</a:t>
            </a:r>
            <a:r>
              <a:rPr sz="2000" b="0" i="0" dirty="0">
                <a:latin typeface="Aptos Display"/>
              </a:rPr>
              <a:t> del </a:t>
            </a:r>
            <a:r>
              <a:rPr sz="2000" b="0" i="0" dirty="0" err="1">
                <a:latin typeface="Aptos Display"/>
              </a:rPr>
              <a:t>modello</a:t>
            </a:r>
            <a:r>
              <a:rPr sz="2000" b="0" i="0" dirty="0">
                <a:latin typeface="Aptos Display"/>
              </a:rPr>
              <a:t>: la </a:t>
            </a:r>
            <a:r>
              <a:rPr sz="2000" b="0" i="0" dirty="0" err="1">
                <a:latin typeface="Aptos Display"/>
              </a:rPr>
              <a:t>classe</a:t>
            </a:r>
            <a:r>
              <a:rPr sz="2000" b="0" i="0" dirty="0">
                <a:latin typeface="Aptos Display"/>
              </a:rPr>
              <a:t> centrale </a:t>
            </a:r>
            <a:r>
              <a:rPr sz="2000" b="0" i="0" dirty="0" err="1">
                <a:latin typeface="Aptos Display"/>
              </a:rPr>
              <a:t>condivide</a:t>
            </a:r>
            <a:r>
              <a:rPr sz="2000" b="0" i="0" dirty="0">
                <a:latin typeface="Aptos Display"/>
              </a:rPr>
              <a:t> </a:t>
            </a:r>
            <a:r>
              <a:rPr sz="2000" b="0" i="0" dirty="0" err="1">
                <a:latin typeface="Aptos Display"/>
              </a:rPr>
              <a:t>caratteristiche</a:t>
            </a:r>
            <a:r>
              <a:rPr sz="2000" b="0" i="0" dirty="0">
                <a:latin typeface="Aptos Display"/>
              </a:rPr>
              <a:t> con </a:t>
            </a:r>
            <a:r>
              <a:rPr sz="2000" b="0" i="0" dirty="0" err="1">
                <a:latin typeface="Aptos Display"/>
              </a:rPr>
              <a:t>entrambe</a:t>
            </a:r>
            <a:r>
              <a:rPr sz="2000" b="0" i="0" dirty="0">
                <a:latin typeface="Aptos Display"/>
              </a:rPr>
              <a:t> le </a:t>
            </a:r>
            <a:r>
              <a:rPr sz="2000" b="0" i="0" dirty="0" err="1">
                <a:latin typeface="Aptos Display"/>
              </a:rPr>
              <a:t>adiacenti</a:t>
            </a:r>
            <a:r>
              <a:rPr lang="it-IT" sz="2000" b="0" i="0" dirty="0">
                <a:latin typeface="Aptos Display"/>
              </a:rPr>
              <a:t>.</a:t>
            </a:r>
            <a:r>
              <a:rPr sz="2000" b="0" i="0" dirty="0">
                <a:latin typeface="Aptos Display"/>
              </a:rPr>
              <a:t>.</a:t>
            </a:r>
          </a:p>
        </p:txBody>
      </p:sp>
      <p:sp>
        <p:nvSpPr>
          <p:cNvPr id="999" name="PageNum34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6BB0B-FC80-5201-8344-8D9B6E6FD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303B0B2D-557C-1639-4149-426A1C5948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11C169F-627E-E8E6-E948-429D71830C43}"/>
              </a:ext>
            </a:extLst>
          </p:cNvPr>
          <p:cNvSpPr/>
          <p:nvPr/>
        </p:nvSpPr>
        <p:spPr>
          <a:xfrm>
            <a:off x="0" y="-34390"/>
            <a:ext cx="12192000" cy="6892390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A5177E27-73A6-346C-A282-4AB6345FD0BE}"/>
              </a:ext>
            </a:extLst>
          </p:cNvPr>
          <p:cNvSpPr txBox="1"/>
          <p:nvPr/>
        </p:nvSpPr>
        <p:spPr>
          <a:xfrm>
            <a:off x="1075261" y="3201856"/>
            <a:ext cx="10041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000" i="1" dirty="0">
                <a:solidFill>
                  <a:schemeClr val="bg1"/>
                </a:solidFill>
              </a:rPr>
              <a:t>Brand intelligence</a:t>
            </a:r>
          </a:p>
        </p:txBody>
      </p:sp>
      <p:sp>
        <p:nvSpPr>
          <p:cNvPr id="999" name="PageNum35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chemeClr val="bg1"/>
                </a:solidFill>
                <a:latin typeface="Aptos Display"/>
              </a:rPr>
              <a:t>36</a:t>
            </a:r>
          </a:p>
        </p:txBody>
      </p:sp>
      <p:pic>
        <p:nvPicPr>
          <p:cNvPr id="2" name="Picture 1" descr="unipd_logo.png">
            <a:extLst>
              <a:ext uri="{FF2B5EF4-FFF2-40B4-BE49-F238E27FC236}">
                <a16:creationId xmlns:a16="http://schemas.microsoft.com/office/drawing/2014/main" id="{13B898B3-FF8B-31A6-2A74-909C9618A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286000" cy="1005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FCA5B2-A0FF-16F1-EDCD-948652A582CE}"/>
              </a:ext>
            </a:extLst>
          </p:cNvPr>
          <p:cNvSpPr txBox="1"/>
          <p:nvPr/>
        </p:nvSpPr>
        <p:spPr>
          <a:xfrm>
            <a:off x="1179871" y="2431123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FFCCCC"/>
                </a:solidFill>
                <a:latin typeface="Aptos Display"/>
              </a:rPr>
              <a:t>ANALISI DEI DATI AZIENDALI </a:t>
            </a:r>
            <a:r>
              <a:rPr lang="it-IT" sz="2000" dirty="0">
                <a:solidFill>
                  <a:srgbClr val="FFCCCC"/>
                </a:solidFill>
                <a:latin typeface="Aptos Display"/>
              </a:rPr>
              <a:t>: </a:t>
            </a:r>
            <a:r>
              <a:rPr sz="2000" b="0" i="0" dirty="0">
                <a:solidFill>
                  <a:srgbClr val="FFCCCC"/>
                </a:solidFill>
                <a:latin typeface="Aptos Display"/>
              </a:rPr>
              <a:t> VINTED.IT</a:t>
            </a:r>
          </a:p>
        </p:txBody>
      </p:sp>
    </p:spTree>
    <p:extLst>
      <p:ext uri="{BB962C8B-B14F-4D97-AF65-F5344CB8AC3E}">
        <p14:creationId xmlns:p14="http://schemas.microsoft.com/office/powerpoint/2010/main" val="11478378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504D8-2B39-4DFF-572F-43385DBB5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99FCE4D-CC11-F817-CCBD-531651E031A0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0F7F230-F5BD-803E-2E56-D8CC845DB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658"/>
            <a:ext cx="10515600" cy="1325563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Brand intelligence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1C63EF7-A881-E692-50F1-CAB003E64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3786"/>
            <a:ext cx="10515600" cy="31969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it-IT" sz="2400" b="1" dirty="0">
                <a:latin typeface="Aptos Display"/>
              </a:rPr>
              <a:t>Il problema aziendale:</a:t>
            </a:r>
            <a:r>
              <a:rPr lang="it-IT" sz="2400" dirty="0">
                <a:latin typeface="Aptos Display"/>
              </a:rPr>
              <a:t> Vinted vuole introdurre nella piattaforma una sezione Community e dei suggerimenti di venditori affini da seguire.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it-IT" sz="2400" b="1" dirty="0">
                <a:latin typeface="Aptos Display"/>
              </a:rPr>
              <a:t>L'obiettivo della consulenza:</a:t>
            </a:r>
            <a:r>
              <a:rPr lang="it-IT" sz="2400" dirty="0">
                <a:latin typeface="Aptos Display"/>
              </a:rPr>
              <a:t> Esplorare l'ecosistema dei brand e mappare la co-occorrenza sistematica dei brand negli armadi degli utenti virtuali, individuando network di somiglianza.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it-IT" sz="2400" b="1" dirty="0">
                <a:latin typeface="Aptos Display"/>
              </a:rPr>
              <a:t>L'approccio statistico: </a:t>
            </a:r>
            <a:r>
              <a:rPr lang="it-IT" sz="2400" dirty="0">
                <a:latin typeface="Aptos Display"/>
              </a:rPr>
              <a:t>Market Basket Analysis e Analisi dei dati di rete.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it-IT" sz="2400" dirty="0">
              <a:latin typeface="Aptos Display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3A408A-7EEE-D057-946F-A880DED33E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99" name="PageNum36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39150303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0240" y="236545"/>
            <a:ext cx="8100000" cy="1325563"/>
          </a:xfrm>
        </p:spPr>
        <p:txBody>
          <a:bodyPr>
            <a:normAutofit/>
          </a:bodyPr>
          <a:lstStyle/>
          <a:p>
            <a:r>
              <a:rPr lang="it-IT" sz="4000" dirty="0">
                <a:solidFill>
                  <a:schemeClr val="bg1"/>
                </a:solidFill>
                <a:latin typeface="Aptos Display"/>
              </a:rPr>
              <a:t>  Market Basket Analysis sui Brand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683" y="2291311"/>
            <a:ext cx="5532120" cy="4714426"/>
          </a:xfrm>
        </p:spPr>
        <p:txBody>
          <a:bodyPr anchor="t">
            <a:normAutofit lnSpcReduction="10000"/>
          </a:bodyPr>
          <a:lstStyle/>
          <a:p>
            <a:pPr marL="342900" indent="-342900">
              <a:lnSpc>
                <a:spcPct val="100000"/>
              </a:lnSpc>
              <a:buChar char="•"/>
            </a:pPr>
            <a:r>
              <a:rPr lang="it-IT" sz="2000" b="1" dirty="0">
                <a:latin typeface="+mj-lt"/>
              </a:rPr>
              <a:t>Variabili utili dal dataset</a:t>
            </a:r>
            <a:r>
              <a:rPr lang="it-IT" sz="2000" dirty="0">
                <a:latin typeface="+mj-lt"/>
              </a:rPr>
              <a:t>: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it-IT" sz="1800" dirty="0">
                <a:latin typeface="+mj-lt"/>
              </a:rPr>
              <a:t>Brand, Venditore, URL altri articoli</a:t>
            </a: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it-IT" sz="2000" b="1" dirty="0">
                <a:latin typeface="+mj-lt"/>
              </a:rPr>
              <a:t>Pulizia Brand</a:t>
            </a:r>
            <a:r>
              <a:rPr lang="it-IT" sz="2000" dirty="0">
                <a:latin typeface="+mj-lt"/>
              </a:rPr>
              <a:t>: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it-IT" sz="1800" dirty="0">
                <a:latin typeface="+mj-lt"/>
              </a:rPr>
              <a:t>Rimozione dei non-brand </a:t>
            </a:r>
            <a:br>
              <a:rPr lang="it-IT" sz="1800" dirty="0">
                <a:latin typeface="+mj-lt"/>
              </a:rPr>
            </a:br>
            <a:r>
              <a:rPr lang="it-IT" sz="1800" dirty="0">
                <a:latin typeface="+mj-lt"/>
              </a:rPr>
              <a:t>(ad es. “scarpe”, “ignoto”, …)</a:t>
            </a: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it-IT" sz="2000" b="1" dirty="0">
                <a:latin typeface="+mj-lt"/>
              </a:rPr>
              <a:t>Estrazione brand</a:t>
            </a:r>
            <a:r>
              <a:rPr lang="it-IT" sz="2000" dirty="0">
                <a:latin typeface="+mj-lt"/>
              </a:rPr>
              <a:t>: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it-IT" sz="1800" dirty="0">
                <a:latin typeface="+mj-lt"/>
              </a:rPr>
              <a:t>Unione dei brand puliti con i brand dall’URL di altri articoli (tramite dizionario di brand di calzature e abbigliamento)</a:t>
            </a: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it-IT" sz="2000" b="1" dirty="0">
                <a:latin typeface="+mj-lt"/>
              </a:rPr>
              <a:t>Creazione nuovo dataset</a:t>
            </a:r>
            <a:r>
              <a:rPr lang="it-IT" sz="2000" dirty="0">
                <a:latin typeface="+mj-lt"/>
              </a:rPr>
              <a:t>: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it-IT" sz="1800" dirty="0">
                <a:latin typeface="+mj-lt"/>
              </a:rPr>
              <a:t>→ matrice di incidenza Venditori × Brand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it-IT" sz="1800" dirty="0">
                <a:latin typeface="+mj-lt"/>
              </a:rPr>
              <a:t>(Ogni cella = 1 se quel brand compare tra gli articoli in vendita del venditore, 0 altrimenti</a:t>
            </a:r>
            <a:r>
              <a:rPr lang="it-IT" sz="2000" dirty="0">
                <a:latin typeface="+mj-lt"/>
              </a:rPr>
              <a:t>)</a:t>
            </a:r>
          </a:p>
        </p:txBody>
      </p:sp>
      <p:sp>
        <p:nvSpPr>
          <p:cNvPr id="20" name="Box1912"/>
          <p:cNvSpPr/>
          <p:nvPr/>
        </p:nvSpPr>
        <p:spPr>
          <a:xfrm>
            <a:off x="6390240" y="2229000"/>
            <a:ext cx="1800000" cy="12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it-IT" sz="3200" b="1" dirty="0">
                <a:solidFill>
                  <a:srgbClr val="B20E10"/>
                </a:solidFill>
                <a:latin typeface="Aptos Display"/>
              </a:rPr>
              <a:t>1912</a:t>
            </a:r>
          </a:p>
          <a:p>
            <a:pPr algn="ctr"/>
            <a:r>
              <a:rPr lang="it-IT" dirty="0">
                <a:solidFill>
                  <a:srgbClr val="555555"/>
                </a:solidFill>
                <a:latin typeface="Aptos Display"/>
              </a:rPr>
              <a:t>Prodotti</a:t>
            </a:r>
            <a:endParaRPr lang="it-IT" sz="1600" dirty="0">
              <a:solidFill>
                <a:srgbClr val="555555"/>
              </a:solidFill>
              <a:latin typeface="Aptos Display"/>
            </a:endParaRPr>
          </a:p>
        </p:txBody>
      </p:sp>
      <p:sp>
        <p:nvSpPr>
          <p:cNvPr id="21" name="Box1725"/>
          <p:cNvSpPr/>
          <p:nvPr/>
        </p:nvSpPr>
        <p:spPr>
          <a:xfrm>
            <a:off x="6390240" y="3629000"/>
            <a:ext cx="1800000" cy="12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it-IT" sz="3200" b="1" dirty="0">
                <a:solidFill>
                  <a:srgbClr val="B20E10"/>
                </a:solidFill>
                <a:latin typeface="Aptos Display"/>
              </a:rPr>
              <a:t>1725</a:t>
            </a:r>
          </a:p>
          <a:p>
            <a:pPr algn="ctr"/>
            <a:r>
              <a:rPr lang="it-IT" dirty="0">
                <a:solidFill>
                  <a:srgbClr val="555555"/>
                </a:solidFill>
                <a:latin typeface="Aptos Display"/>
              </a:rPr>
              <a:t>Venditori</a:t>
            </a:r>
            <a:endParaRPr lang="it-IT" sz="1600" dirty="0">
              <a:solidFill>
                <a:srgbClr val="555555"/>
              </a:solidFill>
              <a:latin typeface="Aptos Display"/>
            </a:endParaRPr>
          </a:p>
        </p:txBody>
      </p:sp>
      <p:sp>
        <p:nvSpPr>
          <p:cNvPr id="22" name="Box236"/>
          <p:cNvSpPr/>
          <p:nvPr/>
        </p:nvSpPr>
        <p:spPr>
          <a:xfrm>
            <a:off x="6390240" y="5029000"/>
            <a:ext cx="1800000" cy="12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it-IT" sz="3200" b="1" dirty="0">
                <a:solidFill>
                  <a:srgbClr val="B20E10"/>
                </a:solidFill>
                <a:latin typeface="Aptos Display"/>
              </a:rPr>
              <a:t>236</a:t>
            </a:r>
          </a:p>
          <a:p>
            <a:pPr algn="ctr"/>
            <a:r>
              <a:rPr lang="it-IT" dirty="0">
                <a:solidFill>
                  <a:srgbClr val="555555"/>
                </a:solidFill>
                <a:latin typeface="Aptos Display"/>
              </a:rPr>
              <a:t>Brand</a:t>
            </a:r>
            <a:endParaRPr lang="it-IT" sz="1600" dirty="0">
              <a:solidFill>
                <a:srgbClr val="555555"/>
              </a:solidFill>
              <a:latin typeface="Aptos Display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99" name="PageNum39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38</a:t>
            </a:r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95C5F4B4-7A83-B176-6C13-671434A011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825" t="4174" r="35070" b="2228"/>
          <a:stretch>
            <a:fillRect/>
          </a:stretch>
        </p:blipFill>
        <p:spPr>
          <a:xfrm>
            <a:off x="8723280" y="1696703"/>
            <a:ext cx="2117846" cy="510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F98CAE3-54D3-7A41-1E9D-9C04F50B4C12}"/>
              </a:ext>
            </a:extLst>
          </p:cNvPr>
          <p:cNvSpPr txBox="1"/>
          <p:nvPr/>
        </p:nvSpPr>
        <p:spPr>
          <a:xfrm>
            <a:off x="457683" y="1747812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B20E10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Preparazione dei Dati - Matrice di incidenza: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B9E0C16-9312-5DF7-9CFA-E1D1BF9775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330"/>
          <a:stretch>
            <a:fillRect/>
          </a:stretch>
        </p:blipFill>
        <p:spPr>
          <a:xfrm>
            <a:off x="31449" y="1970833"/>
            <a:ext cx="6331664" cy="4412133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461760" y="4822777"/>
            <a:ext cx="5486400" cy="975360"/>
          </a:xfrm>
          <a:prstGeom prst="rect">
            <a:avLst/>
          </a:prstGeom>
          <a:solidFill>
            <a:srgbClr val="FFF0F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3" name="Text 1"/>
          <p:cNvSpPr/>
          <p:nvPr/>
        </p:nvSpPr>
        <p:spPr>
          <a:xfrm>
            <a:off x="426720" y="0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</a:rPr>
              <a:t>Market Basket Analysis - </a:t>
            </a:r>
            <a:r>
              <a:rPr lang="en-US" sz="2933" b="1" dirty="0" err="1">
                <a:solidFill>
                  <a:srgbClr val="FFFFFF"/>
                </a:solidFill>
              </a:rPr>
              <a:t>Regole</a:t>
            </a:r>
            <a:r>
              <a:rPr lang="en-US" sz="2933" b="1" dirty="0">
                <a:solidFill>
                  <a:srgbClr val="FFFFFF"/>
                </a:solidFill>
              </a:rPr>
              <a:t> di </a:t>
            </a:r>
            <a:r>
              <a:rPr lang="en-US" sz="2933" b="1" dirty="0" err="1">
                <a:solidFill>
                  <a:srgbClr val="FFFFFF"/>
                </a:solidFill>
              </a:rPr>
              <a:t>associazione</a:t>
            </a:r>
            <a:r>
              <a:rPr lang="en-US" sz="2933" b="1" dirty="0">
                <a:solidFill>
                  <a:srgbClr val="FFFFFF"/>
                </a:solidFill>
              </a:rPr>
              <a:t> per </a:t>
            </a:r>
            <a:r>
              <a:rPr lang="en-US" sz="2933" b="1" dirty="0" err="1">
                <a:solidFill>
                  <a:srgbClr val="FFFFFF"/>
                </a:solidFill>
              </a:rPr>
              <a:t>i</a:t>
            </a:r>
            <a:r>
              <a:rPr lang="en-US" sz="2933" b="1" dirty="0">
                <a:solidFill>
                  <a:srgbClr val="FFFFFF"/>
                </a:solidFill>
              </a:rPr>
              <a:t> Brand</a:t>
            </a:r>
            <a:endParaRPr lang="en-US" sz="2933" dirty="0"/>
          </a:p>
        </p:txBody>
      </p:sp>
      <p:sp>
        <p:nvSpPr>
          <p:cNvPr id="6" name="Text 4"/>
          <p:cNvSpPr/>
          <p:nvPr/>
        </p:nvSpPr>
        <p:spPr>
          <a:xfrm>
            <a:off x="729119" y="1757473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333333"/>
                </a:solidFill>
              </a:rPr>
              <a:t>Brand più frequenti </a:t>
            </a:r>
            <a:r>
              <a:rPr lang="en-US" sz="2133" b="1" dirty="0" err="1">
                <a:solidFill>
                  <a:srgbClr val="333333"/>
                </a:solidFill>
              </a:rPr>
              <a:t>negli</a:t>
            </a:r>
            <a:r>
              <a:rPr lang="en-US" sz="2133" b="1" dirty="0">
                <a:solidFill>
                  <a:srgbClr val="333333"/>
                </a:solidFill>
              </a:rPr>
              <a:t> </a:t>
            </a:r>
            <a:r>
              <a:rPr lang="en-US" sz="2133" b="1" dirty="0" err="1">
                <a:solidFill>
                  <a:srgbClr val="333333"/>
                </a:solidFill>
              </a:rPr>
              <a:t>armadi</a:t>
            </a:r>
            <a:r>
              <a:rPr lang="en-US" sz="2133" b="1" dirty="0">
                <a:solidFill>
                  <a:srgbClr val="333333"/>
                </a:solidFill>
              </a:rPr>
              <a:t>:</a:t>
            </a:r>
            <a:endParaRPr lang="en-US" sz="2133" dirty="0"/>
          </a:p>
        </p:txBody>
      </p:sp>
      <p:sp>
        <p:nvSpPr>
          <p:cNvPr id="8" name="Text 5"/>
          <p:cNvSpPr/>
          <p:nvPr/>
        </p:nvSpPr>
        <p:spPr>
          <a:xfrm>
            <a:off x="6428878" y="1755268"/>
            <a:ext cx="6164903" cy="5092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 err="1">
                <a:solidFill>
                  <a:srgbClr val="333333"/>
                </a:solidFill>
              </a:rPr>
              <a:t>Soglie</a:t>
            </a:r>
            <a:r>
              <a:rPr lang="en-US" sz="2133" b="1" dirty="0">
                <a:solidFill>
                  <a:srgbClr val="333333"/>
                </a:solidFill>
              </a:rPr>
              <a:t> </a:t>
            </a:r>
            <a:r>
              <a:rPr lang="en-US" sz="2133" b="1" dirty="0" err="1">
                <a:solidFill>
                  <a:srgbClr val="333333"/>
                </a:solidFill>
              </a:rPr>
              <a:t>minime</a:t>
            </a:r>
            <a:r>
              <a:rPr lang="en-US" sz="2133" b="1" dirty="0">
                <a:solidFill>
                  <a:srgbClr val="333333"/>
                </a:solidFill>
              </a:rPr>
              <a:t> per le </a:t>
            </a:r>
            <a:r>
              <a:rPr lang="en-US" sz="2133" b="1" dirty="0" err="1">
                <a:solidFill>
                  <a:srgbClr val="333333"/>
                </a:solidFill>
              </a:rPr>
              <a:t>regole</a:t>
            </a:r>
            <a:r>
              <a:rPr lang="en-US" sz="2133" b="1" dirty="0">
                <a:solidFill>
                  <a:srgbClr val="333333"/>
                </a:solidFill>
              </a:rPr>
              <a:t> di </a:t>
            </a:r>
            <a:r>
              <a:rPr lang="en-US" sz="2133" b="1" dirty="0" err="1">
                <a:solidFill>
                  <a:srgbClr val="333333"/>
                </a:solidFill>
              </a:rPr>
              <a:t>associazione</a:t>
            </a:r>
            <a:r>
              <a:rPr lang="en-US" sz="2133" b="1" dirty="0">
                <a:solidFill>
                  <a:srgbClr val="333333"/>
                </a:solidFill>
              </a:rPr>
              <a:t>:</a:t>
            </a:r>
            <a:endParaRPr lang="en-US" sz="2133" dirty="0"/>
          </a:p>
        </p:txBody>
      </p:sp>
      <p:sp>
        <p:nvSpPr>
          <p:cNvPr id="9" name="Shape 6"/>
          <p:cNvSpPr/>
          <p:nvPr/>
        </p:nvSpPr>
        <p:spPr>
          <a:xfrm>
            <a:off x="6428879" y="2425328"/>
            <a:ext cx="5486400" cy="929459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10" name="Text 7"/>
          <p:cNvSpPr/>
          <p:nvPr/>
        </p:nvSpPr>
        <p:spPr>
          <a:xfrm>
            <a:off x="6584973" y="2536291"/>
            <a:ext cx="170688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333333"/>
                </a:solidFill>
              </a:rPr>
              <a:t>Supporto minimo</a:t>
            </a:r>
            <a:endParaRPr lang="en-US" sz="1867" dirty="0"/>
          </a:p>
        </p:txBody>
      </p:sp>
      <p:sp>
        <p:nvSpPr>
          <p:cNvPr id="11" name="Shape 8"/>
          <p:cNvSpPr/>
          <p:nvPr/>
        </p:nvSpPr>
        <p:spPr>
          <a:xfrm>
            <a:off x="7852938" y="2683097"/>
            <a:ext cx="975360" cy="3657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12" name="Text 9"/>
          <p:cNvSpPr/>
          <p:nvPr/>
        </p:nvSpPr>
        <p:spPr>
          <a:xfrm>
            <a:off x="7856633" y="2683097"/>
            <a:ext cx="97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2%</a:t>
            </a:r>
            <a:endParaRPr lang="en-US" sz="1867" dirty="0"/>
          </a:p>
        </p:txBody>
      </p:sp>
      <p:sp>
        <p:nvSpPr>
          <p:cNvPr id="13" name="Text 10"/>
          <p:cNvSpPr/>
          <p:nvPr/>
        </p:nvSpPr>
        <p:spPr>
          <a:xfrm>
            <a:off x="8994186" y="2600317"/>
            <a:ext cx="2890613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dirty="0">
                <a:solidFill>
                  <a:srgbClr val="666666"/>
                </a:solidFill>
              </a:rPr>
              <a:t>La combinazione di brand deve comparire in almeno il 2% degli armadi.</a:t>
            </a:r>
            <a:endParaRPr lang="en-US" dirty="0">
              <a:solidFill>
                <a:srgbClr val="666666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428879" y="3435747"/>
            <a:ext cx="5486400" cy="955055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15" name="Text 12"/>
          <p:cNvSpPr/>
          <p:nvPr/>
        </p:nvSpPr>
        <p:spPr>
          <a:xfrm>
            <a:off x="6584973" y="3567300"/>
            <a:ext cx="1278867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333333"/>
                </a:solidFill>
              </a:rPr>
              <a:t>Fiducia minima</a:t>
            </a:r>
            <a:endParaRPr lang="en-US" sz="1867" dirty="0"/>
          </a:p>
        </p:txBody>
      </p:sp>
      <p:sp>
        <p:nvSpPr>
          <p:cNvPr id="16" name="Shape 13"/>
          <p:cNvSpPr/>
          <p:nvPr/>
        </p:nvSpPr>
        <p:spPr>
          <a:xfrm>
            <a:off x="7856633" y="3678534"/>
            <a:ext cx="975360" cy="3657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17" name="Text 14"/>
          <p:cNvSpPr/>
          <p:nvPr/>
        </p:nvSpPr>
        <p:spPr>
          <a:xfrm>
            <a:off x="7856633" y="3678534"/>
            <a:ext cx="97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50%</a:t>
            </a:r>
            <a:endParaRPr lang="en-US" sz="1867" dirty="0"/>
          </a:p>
        </p:txBody>
      </p:sp>
      <p:sp>
        <p:nvSpPr>
          <p:cNvPr id="18" name="Text 15"/>
          <p:cNvSpPr/>
          <p:nvPr/>
        </p:nvSpPr>
        <p:spPr>
          <a:xfrm>
            <a:off x="9019676" y="3567300"/>
            <a:ext cx="274560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666666"/>
                </a:solidFill>
              </a:rPr>
              <a:t>Almeno 50% di </a:t>
            </a:r>
            <a:r>
              <a:rPr lang="en-US" dirty="0" err="1">
                <a:solidFill>
                  <a:srgbClr val="666666"/>
                </a:solidFill>
              </a:rPr>
              <a:t>probabilità</a:t>
            </a:r>
            <a:r>
              <a:rPr lang="en-US" dirty="0">
                <a:solidFill>
                  <a:srgbClr val="666666"/>
                </a:solidFill>
              </a:rPr>
              <a:t> </a:t>
            </a:r>
            <a:r>
              <a:rPr lang="en-US" dirty="0" err="1">
                <a:solidFill>
                  <a:srgbClr val="666666"/>
                </a:solidFill>
              </a:rPr>
              <a:t>condizionata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7852938" y="5128707"/>
            <a:ext cx="975360" cy="3657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25" name="Text 22"/>
          <p:cNvSpPr/>
          <p:nvPr/>
        </p:nvSpPr>
        <p:spPr>
          <a:xfrm>
            <a:off x="6581279" y="4969162"/>
            <a:ext cx="1092474" cy="5323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 err="1">
                <a:solidFill>
                  <a:srgbClr val="333333"/>
                </a:solidFill>
              </a:rPr>
              <a:t>Regole</a:t>
            </a:r>
            <a:r>
              <a:rPr lang="en-US" sz="1867" b="1" dirty="0">
                <a:solidFill>
                  <a:srgbClr val="333333"/>
                </a:solidFill>
              </a:rPr>
              <a:t> </a:t>
            </a:r>
            <a:r>
              <a:rPr lang="en-US" sz="1867" b="1" dirty="0" err="1">
                <a:solidFill>
                  <a:srgbClr val="333333"/>
                </a:solidFill>
              </a:rPr>
              <a:t>estratte</a:t>
            </a:r>
            <a:endParaRPr lang="en-US" sz="1867" dirty="0"/>
          </a:p>
        </p:txBody>
      </p:sp>
      <p:sp>
        <p:nvSpPr>
          <p:cNvPr id="27" name="Text 24"/>
          <p:cNvSpPr/>
          <p:nvPr/>
        </p:nvSpPr>
        <p:spPr>
          <a:xfrm>
            <a:off x="7852938" y="5125086"/>
            <a:ext cx="97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</a:rPr>
              <a:t>66</a:t>
            </a:r>
            <a:endParaRPr lang="en-US" sz="1467" dirty="0"/>
          </a:p>
        </p:txBody>
      </p:sp>
      <p:sp>
        <p:nvSpPr>
          <p:cNvPr id="28" name="Text 25"/>
          <p:cNvSpPr/>
          <p:nvPr/>
        </p:nvSpPr>
        <p:spPr>
          <a:xfrm>
            <a:off x="9019676" y="4977852"/>
            <a:ext cx="25603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666666"/>
                </a:solidFill>
              </a:rPr>
              <a:t>Ordinate per Lift </a:t>
            </a:r>
            <a:br>
              <a:rPr lang="en-US" dirty="0">
                <a:solidFill>
                  <a:srgbClr val="666666"/>
                </a:solidFill>
              </a:rPr>
            </a:br>
            <a:r>
              <a:rPr lang="en-US" dirty="0">
                <a:solidFill>
                  <a:srgbClr val="666666"/>
                </a:solidFill>
              </a:rPr>
              <a:t>(forza associazione)</a:t>
            </a: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644640" y="4883737"/>
            <a:ext cx="51206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5AEEFF9-D275-C52F-9C74-7DFB91722A5C}"/>
              </a:ext>
            </a:extLst>
          </p:cNvPr>
          <p:cNvSpPr/>
          <p:nvPr/>
        </p:nvSpPr>
        <p:spPr>
          <a:xfrm>
            <a:off x="0" y="-23446"/>
            <a:ext cx="12192000" cy="1469903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txBody>
          <a:bodyPr rtlCol="0" anchor="ctr"/>
          <a:lstStyle/>
          <a:p>
            <a:r>
              <a:rPr lang="it-IT" sz="4000" dirty="0">
                <a:solidFill>
                  <a:schemeClr val="bg1"/>
                </a:solidFill>
              </a:rPr>
              <a:t>  MBA: Regole di Associazione per Brand </a:t>
            </a:r>
            <a:endParaRPr lang="it-IT" sz="4000" dirty="0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B059118-689A-2AD7-7647-2B4920495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479" y="93260"/>
            <a:ext cx="2656114" cy="1193176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5876E61-8F6E-5B7A-7F8E-08FB5ECAF016}"/>
              </a:ext>
            </a:extLst>
          </p:cNvPr>
          <p:cNvSpPr txBox="1"/>
          <p:nvPr/>
        </p:nvSpPr>
        <p:spPr>
          <a:xfrm>
            <a:off x="11465169" y="6408888"/>
            <a:ext cx="7268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39</a:t>
            </a:r>
            <a:endParaRPr lang="it-IT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50" y="207851"/>
            <a:ext cx="8865236" cy="1325563"/>
          </a:xfrm>
        </p:spPr>
        <p:txBody>
          <a:bodyPr>
            <a:normAutofit/>
          </a:bodyPr>
          <a:lstStyle/>
          <a:p>
            <a:r>
              <a:rPr lang="it-IT" sz="4000" dirty="0">
                <a:solidFill>
                  <a:schemeClr val="bg1"/>
                </a:solidFill>
                <a:latin typeface="Aptos Display"/>
              </a:rPr>
              <a:t>MBA: Regole di Associazione per i Brand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582890" y="2758000"/>
            <a:ext cx="5000000" cy="4000000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  <a:buClr>
                <a:srgbClr val="B20E10"/>
              </a:buClr>
            </a:pPr>
            <a:r>
              <a:rPr lang="it-IT" sz="2400" dirty="0">
                <a:latin typeface="Aptos Display"/>
              </a:rPr>
              <a:t>Nike e Adidas dominano il </a:t>
            </a:r>
            <a:r>
              <a:rPr lang="it-IT" sz="2400" b="1" dirty="0">
                <a:latin typeface="Aptos Display"/>
              </a:rPr>
              <a:t>Supporto</a:t>
            </a:r>
            <a:r>
              <a:rPr lang="it-IT" sz="2400" dirty="0">
                <a:latin typeface="Aptos Display"/>
              </a:rPr>
              <a:t>.</a:t>
            </a:r>
          </a:p>
          <a:p>
            <a:pPr>
              <a:lnSpc>
                <a:spcPct val="100000"/>
              </a:lnSpc>
            </a:pPr>
            <a:endParaRPr lang="it-IT" sz="2400" dirty="0">
              <a:latin typeface="Aptos Display"/>
            </a:endParaRPr>
          </a:p>
          <a:p>
            <a:pPr>
              <a:lnSpc>
                <a:spcPct val="100000"/>
              </a:lnSpc>
              <a:buClr>
                <a:srgbClr val="B20E10"/>
              </a:buClr>
            </a:pPr>
            <a:r>
              <a:rPr lang="it-IT" sz="2400" dirty="0">
                <a:latin typeface="Aptos Display"/>
              </a:rPr>
              <a:t>Il </a:t>
            </a:r>
            <a:r>
              <a:rPr lang="it-IT" sz="2400" b="1" dirty="0">
                <a:latin typeface="Aptos Display"/>
              </a:rPr>
              <a:t>Lift</a:t>
            </a:r>
            <a:r>
              <a:rPr lang="it-IT" sz="2400" dirty="0">
                <a:latin typeface="Aptos Display"/>
              </a:rPr>
              <a:t> cresce notevolmente quando a questi si combinano i brand dell'ecosistema streetwear </a:t>
            </a:r>
            <a:br>
              <a:rPr lang="it-IT" sz="2400" dirty="0">
                <a:latin typeface="Aptos Display"/>
              </a:rPr>
            </a:br>
            <a:r>
              <a:rPr lang="it-IT" sz="2400" dirty="0">
                <a:latin typeface="Aptos Display"/>
              </a:rPr>
              <a:t>(Vans, Converse, Puma).</a:t>
            </a:r>
          </a:p>
        </p:txBody>
      </p:sp>
      <p:pic>
        <p:nvPicPr>
          <p:cNvPr id="10" name="Image10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8426" b="7674"/>
          <a:stretch>
            <a:fillRect/>
          </a:stretch>
        </p:blipFill>
        <p:spPr>
          <a:xfrm>
            <a:off x="1029340" y="1695440"/>
            <a:ext cx="5494440" cy="5062560"/>
          </a:xfrm>
          <a:prstGeom prst="rect">
            <a:avLst/>
          </a:prstGeom>
        </p:spPr>
      </p:pic>
      <p:pic>
        <p:nvPicPr>
          <p:cNvPr id="6" name="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99" name="PageNum41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51550" y="207851"/>
            <a:ext cx="8100000" cy="1325563"/>
          </a:xfrm>
        </p:spPr>
        <p:txBody>
          <a:bodyPr>
            <a:normAutofit/>
          </a:bodyPr>
          <a:lstStyle/>
          <a:p>
            <a:r>
              <a:rPr lang="it-IT" sz="4000" dirty="0">
                <a:solidFill>
                  <a:schemeClr val="bg1"/>
                </a:solidFill>
                <a:latin typeface="Aptos Display"/>
              </a:rPr>
              <a:t>MBA: Visualizzazione delle 66 Regole</a:t>
            </a: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99" name="PageNum42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41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99B7CF-721A-8E5D-4B58-05906EB2B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841" y="1706880"/>
            <a:ext cx="5151120" cy="51511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8A596D-EA2B-E12F-B220-505A653FA5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39" y="1706880"/>
            <a:ext cx="5151120" cy="51511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10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5139" t="7956" b="1429"/>
          <a:stretch>
            <a:fillRect/>
          </a:stretch>
        </p:blipFill>
        <p:spPr>
          <a:xfrm>
            <a:off x="853440" y="1679540"/>
            <a:ext cx="5846560" cy="5078460"/>
          </a:xfrm>
          <a:prstGeom prst="rect">
            <a:avLst/>
          </a:prstGeom>
        </p:spPr>
      </p:pic>
      <p:sp>
        <p:nvSpPr>
          <p:cNvPr id="4" name="Rettangolo 3"/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19100" y="-77424"/>
            <a:ext cx="8100000" cy="1325563"/>
          </a:xfrm>
        </p:spPr>
        <p:txBody>
          <a:bodyPr>
            <a:normAutofit/>
          </a:bodyPr>
          <a:lstStyle/>
          <a:p>
            <a:endParaRPr lang="it-IT" dirty="0">
              <a:solidFill>
                <a:schemeClr val="bg1"/>
              </a:solidFill>
            </a:endParaRPr>
          </a:p>
          <a:p>
            <a:r>
              <a:rPr lang="it-IT" sz="4000" dirty="0">
                <a:solidFill>
                  <a:schemeClr val="bg1"/>
                </a:solidFill>
                <a:latin typeface="Aptos Display"/>
              </a:rPr>
              <a:t>MBA: Grafo delle Regole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585700" y="1556998"/>
            <a:ext cx="5407760" cy="4800000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endParaRPr lang="it-IT" sz="2000" b="1" dirty="0">
              <a:latin typeface="Aptos Display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it-IT" sz="2200" b="1" dirty="0">
                <a:solidFill>
                  <a:srgbClr val="C00000"/>
                </a:solidFill>
                <a:latin typeface="Aptos Display"/>
              </a:rPr>
              <a:t>Insight principali:</a:t>
            </a:r>
            <a:br>
              <a:rPr lang="it-IT" sz="2000" b="1" dirty="0">
                <a:latin typeface="Aptos Display"/>
              </a:rPr>
            </a:br>
            <a:endParaRPr lang="it-IT" sz="2000" b="1" dirty="0">
              <a:latin typeface="Aptos Display"/>
            </a:endParaRPr>
          </a:p>
          <a:p>
            <a:pPr marL="457200" indent="-457200">
              <a:lnSpc>
                <a:spcPct val="150000"/>
              </a:lnSpc>
              <a:buChar char="•"/>
            </a:pPr>
            <a:r>
              <a:rPr lang="it-IT" sz="2000" b="1" dirty="0">
                <a:latin typeface="Aptos Display"/>
              </a:rPr>
              <a:t>Nodi Hub:  </a:t>
            </a:r>
            <a:r>
              <a:rPr lang="it-IT" sz="2000" dirty="0">
                <a:latin typeface="Aptos Display"/>
              </a:rPr>
              <a:t>Nike e Adidas dominano il centro assorbendo le connessioni.</a:t>
            </a:r>
          </a:p>
          <a:p>
            <a:pPr marL="457200" indent="-457200">
              <a:lnSpc>
                <a:spcPct val="150000"/>
              </a:lnSpc>
              <a:buChar char="•"/>
            </a:pPr>
            <a:r>
              <a:rPr lang="it-IT" sz="2000" b="1" dirty="0">
                <a:latin typeface="Aptos Display"/>
              </a:rPr>
              <a:t>L'ecosistema streetwear </a:t>
            </a:r>
            <a:r>
              <a:rPr lang="it-IT" sz="2000" dirty="0">
                <a:latin typeface="Aptos Display"/>
              </a:rPr>
              <a:t>(Vans, Converse, Jordan, Puma) si lega a Nike e Adidas formando un </a:t>
            </a:r>
            <a:r>
              <a:rPr lang="it-IT" sz="2000" b="1" dirty="0">
                <a:latin typeface="Aptos Display"/>
              </a:rPr>
              <a:t>cluster denso </a:t>
            </a:r>
            <a:r>
              <a:rPr lang="it-IT" sz="2000" dirty="0">
                <a:latin typeface="Aptos Display"/>
              </a:rPr>
              <a:t>con Lift fino a 5.</a:t>
            </a:r>
          </a:p>
          <a:p>
            <a:pPr marL="457200" indent="-457200">
              <a:lnSpc>
                <a:spcPct val="150000"/>
              </a:lnSpc>
              <a:buChar char="•"/>
            </a:pPr>
            <a:r>
              <a:rPr lang="it-IT" sz="2000" b="1" dirty="0">
                <a:latin typeface="Aptos Display"/>
              </a:rPr>
              <a:t>Nodi periferici:</a:t>
            </a:r>
            <a:r>
              <a:rPr lang="it-IT" sz="2000" dirty="0">
                <a:latin typeface="Aptos Display"/>
              </a:rPr>
              <a:t> Brand costosi e fast-fashion hanno basso supporto ma alta fiducia nelle rispettive nicchie.</a:t>
            </a:r>
          </a:p>
          <a:p>
            <a:pPr>
              <a:lnSpc>
                <a:spcPct val="150000"/>
              </a:lnSpc>
            </a:pPr>
            <a:endParaRPr lang="it-IT" sz="1700" dirty="0">
              <a:latin typeface="Aptos Display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99" name="PageNum43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42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1F9B814-0133-6783-7533-E3C961958B79}"/>
              </a:ext>
            </a:extLst>
          </p:cNvPr>
          <p:cNvSpPr/>
          <p:nvPr/>
        </p:nvSpPr>
        <p:spPr>
          <a:xfrm>
            <a:off x="394712" y="1948745"/>
            <a:ext cx="1982727" cy="901135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A9A2222-84D4-D080-6D65-38E432614B6B}"/>
              </a:ext>
            </a:extLst>
          </p:cNvPr>
          <p:cNvSpPr txBox="1"/>
          <p:nvPr/>
        </p:nvSpPr>
        <p:spPr>
          <a:xfrm>
            <a:off x="419100" y="2076146"/>
            <a:ext cx="22513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800" dirty="0">
                <a:latin typeface="Aptos Display"/>
              </a:rPr>
              <a:t>Archi = implicazioni   Nodi = brand</a:t>
            </a: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3AA8F881-8E98-21CF-45E2-04CE2718B305}"/>
              </a:ext>
            </a:extLst>
          </p:cNvPr>
          <p:cNvSpPr/>
          <p:nvPr/>
        </p:nvSpPr>
        <p:spPr>
          <a:xfrm>
            <a:off x="6585700" y="3110849"/>
            <a:ext cx="228600" cy="2286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3B97CF7D-DED5-6EB9-B78F-00949743DBC4}"/>
              </a:ext>
            </a:extLst>
          </p:cNvPr>
          <p:cNvSpPr/>
          <p:nvPr/>
        </p:nvSpPr>
        <p:spPr>
          <a:xfrm>
            <a:off x="6585700" y="4003648"/>
            <a:ext cx="228600" cy="2286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6F09DD49-74D6-1403-30E1-03397712CFD6}"/>
              </a:ext>
            </a:extLst>
          </p:cNvPr>
          <p:cNvSpPr/>
          <p:nvPr/>
        </p:nvSpPr>
        <p:spPr>
          <a:xfrm>
            <a:off x="6585700" y="5246535"/>
            <a:ext cx="228600" cy="2286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00000" y="1750000"/>
            <a:ext cx="5700000" cy="4800000"/>
          </a:xfrm>
          <a:prstGeom prst="rect">
            <a:avLst/>
          </a:prstGeom>
        </p:spPr>
      </p:pic>
      <p:sp>
        <p:nvSpPr>
          <p:cNvPr id="4" name="Rettangolo 3"/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19100" y="141658"/>
            <a:ext cx="8938200" cy="1325563"/>
          </a:xfrm>
        </p:spPr>
        <p:txBody>
          <a:bodyPr>
            <a:normAutofit/>
          </a:bodyPr>
          <a:lstStyle/>
          <a:p>
            <a:r>
              <a:rPr lang="it-IT" sz="4000" dirty="0">
                <a:solidFill>
                  <a:schemeClr val="bg1"/>
                </a:solidFill>
                <a:latin typeface="Aptos Display"/>
              </a:rPr>
              <a:t>Analisi di Rete: Costruzione e Statistiche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700000" y="1749999"/>
            <a:ext cx="5700000" cy="4966343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 err="1">
                <a:solidFill>
                  <a:srgbClr val="CC0000"/>
                </a:solidFill>
              </a:rPr>
              <a:t>Preparazione</a:t>
            </a:r>
            <a:r>
              <a:rPr lang="en-US" sz="2200" b="1" dirty="0">
                <a:solidFill>
                  <a:srgbClr val="CC0000"/>
                </a:solidFill>
              </a:rPr>
              <a:t> </a:t>
            </a:r>
            <a:r>
              <a:rPr lang="en-US" sz="2200" b="1" dirty="0" err="1">
                <a:solidFill>
                  <a:srgbClr val="CC0000"/>
                </a:solidFill>
              </a:rPr>
              <a:t>dei</a:t>
            </a:r>
            <a:r>
              <a:rPr lang="en-US" sz="2200" b="1" dirty="0">
                <a:solidFill>
                  <a:srgbClr val="CC0000"/>
                </a:solidFill>
              </a:rPr>
              <a:t> Dati - rete Brand × Brand:</a:t>
            </a:r>
            <a:endParaRPr lang="it-IT" sz="2200" b="1" dirty="0">
              <a:latin typeface="Aptos Display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2000" b="1" dirty="0">
                <a:latin typeface="Aptos Display"/>
              </a:rPr>
              <a:t>1. Creazione Rete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it-IT" sz="1700" dirty="0">
                <a:latin typeface="Aptos Display"/>
              </a:rPr>
              <a:t>Matrice di adiacenza Brand × Brand (simmetrica, indiretta). </a:t>
            </a:r>
            <a:br>
              <a:rPr lang="it-IT" sz="1700" dirty="0">
                <a:latin typeface="Aptos Display"/>
              </a:rPr>
            </a:br>
            <a:r>
              <a:rPr lang="it-IT" sz="1700" dirty="0">
                <a:latin typeface="Aptos Display"/>
              </a:rPr>
              <a:t>Cella = 1 se la coppia è in almeno un armadio, 0 altrimenti.</a:t>
            </a:r>
          </a:p>
          <a:p>
            <a:pPr marL="0" indent="0">
              <a:lnSpc>
                <a:spcPct val="100000"/>
              </a:lnSpc>
              <a:buNone/>
            </a:pPr>
            <a:endParaRPr lang="it-IT" sz="1700" dirty="0">
              <a:latin typeface="Aptos Display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2000" b="1" dirty="0">
                <a:latin typeface="Aptos Display"/>
              </a:rPr>
              <a:t>2. Statistiche descrittive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it-IT" sz="1700" b="1" dirty="0">
                <a:latin typeface="Aptos Display"/>
              </a:rPr>
              <a:t>Nodi</a:t>
            </a:r>
            <a:r>
              <a:rPr lang="it-IT" sz="1700" dirty="0">
                <a:latin typeface="Aptos Display"/>
              </a:rPr>
              <a:t>: 236 brand  |  </a:t>
            </a:r>
            <a:r>
              <a:rPr lang="it-IT" sz="1700" b="1" dirty="0">
                <a:latin typeface="Aptos Display"/>
              </a:rPr>
              <a:t>Archi</a:t>
            </a:r>
            <a:r>
              <a:rPr lang="it-IT" sz="1700" dirty="0">
                <a:latin typeface="Aptos Display"/>
              </a:rPr>
              <a:t>: 3354  |  </a:t>
            </a:r>
            <a:r>
              <a:rPr lang="it-IT" sz="1700" b="1" dirty="0">
                <a:latin typeface="Aptos Display"/>
              </a:rPr>
              <a:t>Densità</a:t>
            </a:r>
            <a:r>
              <a:rPr lang="it-IT" sz="1700" dirty="0">
                <a:latin typeface="Aptos Display"/>
              </a:rPr>
              <a:t>: 12.1%  |  </a:t>
            </a:r>
            <a:br>
              <a:rPr lang="it-IT" sz="1700" dirty="0">
                <a:latin typeface="Aptos Display"/>
              </a:rPr>
            </a:br>
            <a:r>
              <a:rPr lang="it-IT" sz="1700" b="1" dirty="0">
                <a:latin typeface="Aptos Display"/>
              </a:rPr>
              <a:t>Diametro</a:t>
            </a:r>
            <a:r>
              <a:rPr lang="it-IT" sz="1700" dirty="0">
                <a:latin typeface="Aptos Display"/>
              </a:rPr>
              <a:t>: 4 gradi di separazione.</a:t>
            </a:r>
          </a:p>
          <a:p>
            <a:pPr>
              <a:lnSpc>
                <a:spcPct val="100000"/>
              </a:lnSpc>
            </a:pPr>
            <a:endParaRPr lang="it-IT" sz="1700" dirty="0">
              <a:latin typeface="Aptos Display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it-IT" sz="2000" b="1" dirty="0">
                <a:latin typeface="Aptos Display"/>
              </a:rPr>
              <a:t>3. Centralità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it-IT" sz="1700" b="1" dirty="0">
                <a:latin typeface="Aptos Display"/>
              </a:rPr>
              <a:t>Degree</a:t>
            </a:r>
            <a:r>
              <a:rPr lang="it-IT" sz="1700" dirty="0">
                <a:latin typeface="Aptos Display"/>
              </a:rPr>
              <a:t> (top 5): Nike, Adidas, Zara, Puma, H&amp;M.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it-IT" sz="1700" b="1" dirty="0">
                <a:latin typeface="Aptos Display"/>
              </a:rPr>
              <a:t>Betweenness</a:t>
            </a:r>
            <a:r>
              <a:rPr lang="it-IT" sz="1700" dirty="0">
                <a:latin typeface="Aptos Display"/>
              </a:rPr>
              <a:t>: quasi tutti = 0, pochi brand fungono da ponte </a:t>
            </a:r>
            <a:br>
              <a:rPr lang="it-IT" sz="1700" dirty="0">
                <a:latin typeface="Aptos Display"/>
              </a:rPr>
            </a:br>
            <a:r>
              <a:rPr lang="it-IT" sz="1700" dirty="0">
                <a:latin typeface="Aptos Display"/>
              </a:rPr>
              <a:t>tra stili.</a:t>
            </a: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99" name="PageNum44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6720" y="0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933" dirty="0"/>
          </a:p>
        </p:txBody>
      </p:sp>
      <p:sp>
        <p:nvSpPr>
          <p:cNvPr id="6" name="Text 4"/>
          <p:cNvSpPr/>
          <p:nvPr/>
        </p:nvSpPr>
        <p:spPr>
          <a:xfrm>
            <a:off x="487680" y="152400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333333"/>
                </a:solidFill>
              </a:rPr>
              <a:t>Dal modello base al modello </a:t>
            </a:r>
            <a:r>
              <a:rPr lang="en-US" sz="2400" b="1" dirty="0" err="1">
                <a:solidFill>
                  <a:srgbClr val="333333"/>
                </a:solidFill>
              </a:rPr>
              <a:t>definitivo</a:t>
            </a:r>
            <a:r>
              <a:rPr lang="en-US" sz="2400" b="1" dirty="0">
                <a:solidFill>
                  <a:srgbClr val="333333"/>
                </a:solidFill>
              </a:rPr>
              <a:t> (sui top-30 brand per frequenza)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26720" y="2072640"/>
            <a:ext cx="11338560" cy="10363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8" name="Text 6"/>
          <p:cNvSpPr/>
          <p:nvPr/>
        </p:nvSpPr>
        <p:spPr>
          <a:xfrm>
            <a:off x="591312" y="2213451"/>
            <a:ext cx="4803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333333"/>
                </a:solidFill>
              </a:rPr>
              <a:t>LM (Regressione Lineare)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1312" y="2731276"/>
            <a:ext cx="4803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666666"/>
                </a:solidFill>
              </a:rPr>
              <a:t>Cov: Google Trends (media annuale)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321808" y="2213451"/>
            <a:ext cx="24384" cy="79248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12" name="Text 10"/>
          <p:cNvSpPr/>
          <p:nvPr/>
        </p:nvSpPr>
        <p:spPr>
          <a:xfrm>
            <a:off x="5599176" y="2132661"/>
            <a:ext cx="633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333333"/>
                </a:solidFill>
              </a:rPr>
              <a:t>Covariata NON significativa. 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26720" y="3206496"/>
            <a:ext cx="11338560" cy="10363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14" name="Text 12"/>
          <p:cNvSpPr/>
          <p:nvPr/>
        </p:nvSpPr>
        <p:spPr>
          <a:xfrm>
            <a:off x="591312" y="3347307"/>
            <a:ext cx="4803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333333"/>
                </a:solidFill>
              </a:rPr>
              <a:t>SRM (Social Relations Model)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0832" y="3895947"/>
            <a:ext cx="4803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666666"/>
                </a:solidFill>
              </a:rPr>
              <a:t>Cov: </a:t>
            </a:r>
            <a:r>
              <a:rPr lang="en-US" dirty="0" err="1">
                <a:solidFill>
                  <a:srgbClr val="666666"/>
                </a:solidFill>
              </a:rPr>
              <a:t>Nessuna</a:t>
            </a:r>
            <a:r>
              <a:rPr lang="en-US" dirty="0">
                <a:solidFill>
                  <a:srgbClr val="666666"/>
                </a:solidFill>
              </a:rPr>
              <a:t> </a:t>
            </a:r>
            <a:r>
              <a:rPr lang="en-US" dirty="0" err="1">
                <a:solidFill>
                  <a:srgbClr val="666666"/>
                </a:solidFill>
              </a:rPr>
              <a:t>covariata</a:t>
            </a:r>
            <a:r>
              <a:rPr lang="en-US" dirty="0">
                <a:solidFill>
                  <a:srgbClr val="666666"/>
                </a:solidFill>
              </a:rPr>
              <a:t> (</a:t>
            </a:r>
            <a:r>
              <a:rPr lang="en-US" dirty="0" err="1">
                <a:solidFill>
                  <a:srgbClr val="666666"/>
                </a:solidFill>
              </a:rPr>
              <a:t>modello</a:t>
            </a:r>
            <a:r>
              <a:rPr lang="en-US" dirty="0">
                <a:solidFill>
                  <a:srgbClr val="666666"/>
                </a:solidFill>
              </a:rPr>
              <a:t> base)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321808" y="3347307"/>
            <a:ext cx="24384" cy="79248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18" name="Text 16"/>
          <p:cNvSpPr/>
          <p:nvPr/>
        </p:nvSpPr>
        <p:spPr>
          <a:xfrm>
            <a:off x="5580888" y="3424176"/>
            <a:ext cx="633984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333333"/>
                </a:solidFill>
              </a:rPr>
              <a:t>Modello di baseline puro. Cattura </a:t>
            </a:r>
            <a:r>
              <a:rPr lang="en-US" dirty="0" err="1">
                <a:solidFill>
                  <a:srgbClr val="333333"/>
                </a:solidFill>
              </a:rPr>
              <a:t>varianza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diadica</a:t>
            </a:r>
            <a:r>
              <a:rPr lang="en-US" dirty="0">
                <a:solidFill>
                  <a:srgbClr val="333333"/>
                </a:solidFill>
              </a:rPr>
              <a:t>, </a:t>
            </a:r>
            <a:br>
              <a:rPr lang="en-US" dirty="0">
                <a:solidFill>
                  <a:srgbClr val="333333"/>
                </a:solidFill>
              </a:rPr>
            </a:br>
            <a:r>
              <a:rPr lang="en-US" dirty="0">
                <a:solidFill>
                  <a:srgbClr val="333333"/>
                </a:solidFill>
              </a:rPr>
              <a:t>ma non spiega i driver della co-occorrenza.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26720" y="4340352"/>
            <a:ext cx="11338560" cy="10363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20" name="Text 18"/>
          <p:cNvSpPr/>
          <p:nvPr/>
        </p:nvSpPr>
        <p:spPr>
          <a:xfrm>
            <a:off x="591311" y="4481163"/>
            <a:ext cx="50095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333333"/>
                </a:solidFill>
              </a:rPr>
              <a:t>SRRM (Social Relations Regression Model)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1312" y="5029803"/>
            <a:ext cx="4803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666666"/>
                </a:solidFill>
              </a:rPr>
              <a:t>Cov: Google Trends (</a:t>
            </a:r>
            <a:r>
              <a:rPr lang="en-US" dirty="0" err="1">
                <a:solidFill>
                  <a:srgbClr val="666666"/>
                </a:solidFill>
              </a:rPr>
              <a:t>effetti</a:t>
            </a:r>
            <a:r>
              <a:rPr lang="en-US" dirty="0">
                <a:solidFill>
                  <a:srgbClr val="666666"/>
                </a:solidFill>
              </a:rPr>
              <a:t> </a:t>
            </a:r>
            <a:r>
              <a:rPr lang="en-US" dirty="0" err="1">
                <a:solidFill>
                  <a:srgbClr val="666666"/>
                </a:solidFill>
              </a:rPr>
              <a:t>dei</a:t>
            </a:r>
            <a:r>
              <a:rPr lang="en-US" dirty="0">
                <a:solidFill>
                  <a:srgbClr val="666666"/>
                </a:solidFill>
              </a:rPr>
              <a:t> </a:t>
            </a:r>
            <a:r>
              <a:rPr lang="en-US" dirty="0" err="1">
                <a:solidFill>
                  <a:srgbClr val="666666"/>
                </a:solidFill>
              </a:rPr>
              <a:t>singoli</a:t>
            </a:r>
            <a:r>
              <a:rPr lang="en-US" dirty="0">
                <a:solidFill>
                  <a:srgbClr val="666666"/>
                </a:solidFill>
              </a:rPr>
              <a:t> nodi)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321808" y="4481163"/>
            <a:ext cx="24384" cy="79248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24" name="Text 22"/>
          <p:cNvSpPr/>
          <p:nvPr/>
        </p:nvSpPr>
        <p:spPr>
          <a:xfrm>
            <a:off x="5599176" y="4400373"/>
            <a:ext cx="633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333333"/>
                </a:solidFill>
              </a:rPr>
              <a:t>Covariata ancora non significativa.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26720" y="5474207"/>
            <a:ext cx="11338560" cy="1193877"/>
          </a:xfrm>
          <a:prstGeom prst="rect">
            <a:avLst/>
          </a:prstGeom>
          <a:solidFill>
            <a:srgbClr val="FFF0F0"/>
          </a:solidFill>
          <a:ln w="254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26" name="Text 24"/>
          <p:cNvSpPr/>
          <p:nvPr/>
        </p:nvSpPr>
        <p:spPr>
          <a:xfrm>
            <a:off x="591312" y="5690317"/>
            <a:ext cx="4803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CC0000"/>
                </a:solidFill>
              </a:rPr>
              <a:t>AME - R=2 ✓ MODELLO FINALE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3504" y="6175851"/>
            <a:ext cx="4803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666666"/>
                </a:solidFill>
              </a:rPr>
              <a:t>Cov: Google Trends + 2 fattori latenti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321807" y="5615018"/>
            <a:ext cx="45719" cy="914399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30" name="Text 28"/>
          <p:cNvSpPr/>
          <p:nvPr/>
        </p:nvSpPr>
        <p:spPr>
          <a:xfrm>
            <a:off x="5599176" y="5596128"/>
            <a:ext cx="633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rgbClr val="333333"/>
                </a:solidFill>
              </a:rPr>
              <a:t>I fattori latenti catturano la </a:t>
            </a:r>
            <a:r>
              <a:rPr lang="en-US" dirty="0" err="1">
                <a:solidFill>
                  <a:srgbClr val="333333"/>
                </a:solidFill>
              </a:rPr>
              <a:t>struttura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latente</a:t>
            </a:r>
            <a:r>
              <a:rPr lang="en-US" dirty="0">
                <a:solidFill>
                  <a:srgbClr val="333333"/>
                </a:solidFill>
              </a:rPr>
              <a:t> del </a:t>
            </a:r>
            <a:r>
              <a:rPr lang="en-US" dirty="0" err="1">
                <a:solidFill>
                  <a:srgbClr val="333333"/>
                </a:solidFill>
              </a:rPr>
              <a:t>mercato</a:t>
            </a:r>
            <a:r>
              <a:rPr lang="en-US" dirty="0">
                <a:solidFill>
                  <a:srgbClr val="333333"/>
                </a:solidFill>
              </a:rPr>
              <a:t> </a:t>
            </a:r>
            <a:br>
              <a:rPr lang="en-US" dirty="0">
                <a:solidFill>
                  <a:srgbClr val="333333"/>
                </a:solidFill>
              </a:rPr>
            </a:br>
            <a:r>
              <a:rPr lang="en-US" dirty="0">
                <a:solidFill>
                  <a:srgbClr val="333333"/>
                </a:solidFill>
              </a:rPr>
              <a:t>(e </a:t>
            </a:r>
            <a:r>
              <a:rPr lang="en-US" dirty="0" err="1">
                <a:solidFill>
                  <a:srgbClr val="333333"/>
                </a:solidFill>
              </a:rPr>
              <a:t>quindi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anche</a:t>
            </a:r>
            <a:r>
              <a:rPr lang="en-US" dirty="0">
                <a:solidFill>
                  <a:srgbClr val="333333"/>
                </a:solidFill>
              </a:rPr>
              <a:t> la </a:t>
            </a:r>
            <a:r>
              <a:rPr lang="en-US" dirty="0" err="1">
                <a:solidFill>
                  <a:srgbClr val="333333"/>
                </a:solidFill>
              </a:rPr>
              <a:t>dipendenza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triadica</a:t>
            </a:r>
            <a:r>
              <a:rPr lang="en-US" dirty="0">
                <a:solidFill>
                  <a:srgbClr val="333333"/>
                </a:solidFill>
              </a:rPr>
              <a:t>). </a:t>
            </a:r>
            <a:br>
              <a:rPr lang="en-US" dirty="0">
                <a:solidFill>
                  <a:srgbClr val="333333"/>
                </a:solidFill>
              </a:rPr>
            </a:br>
            <a:r>
              <a:rPr lang="en-US" dirty="0" err="1">
                <a:solidFill>
                  <a:srgbClr val="333333"/>
                </a:solidFill>
              </a:rPr>
              <a:t>Mappa</a:t>
            </a:r>
            <a:r>
              <a:rPr lang="en-US" dirty="0">
                <a:solidFill>
                  <a:srgbClr val="333333"/>
                </a:solidFill>
              </a:rPr>
              <a:t> 2D interpretabile. Modello scelto per GoF e leggibilità.</a:t>
            </a:r>
            <a:endParaRPr lang="en-US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4E9D989D-FB61-46FD-925C-5000D3B9C1F9}"/>
              </a:ext>
            </a:extLst>
          </p:cNvPr>
          <p:cNvSpPr/>
          <p:nvPr/>
        </p:nvSpPr>
        <p:spPr>
          <a:xfrm>
            <a:off x="0" y="-25091"/>
            <a:ext cx="12192000" cy="1506420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txBody>
          <a:bodyPr rtlCol="0" anchor="ctr"/>
          <a:lstStyle/>
          <a:p>
            <a:endParaRPr lang="en-US" sz="3600" dirty="0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0DBF9116-7FF8-F567-38CD-C50FFF854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2526" y="170688"/>
            <a:ext cx="2656114" cy="1193176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750C4833-7207-FB7F-2DA8-5D8570166041}"/>
              </a:ext>
            </a:extLst>
          </p:cNvPr>
          <p:cNvSpPr txBox="1">
            <a:spLocks/>
          </p:cNvSpPr>
          <p:nvPr/>
        </p:nvSpPr>
        <p:spPr>
          <a:xfrm>
            <a:off x="384326" y="430085"/>
            <a:ext cx="89382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dirty="0">
                <a:solidFill>
                  <a:schemeClr val="bg1"/>
                </a:solidFill>
                <a:latin typeface="Aptos Display"/>
              </a:rPr>
              <a:t>Analisi di Rete: Percorso di Modellazione</a:t>
            </a:r>
          </a:p>
        </p:txBody>
      </p:sp>
      <p:sp>
        <p:nvSpPr>
          <p:cNvPr id="9" name="PageNum46">
            <a:extLst>
              <a:ext uri="{FF2B5EF4-FFF2-40B4-BE49-F238E27FC236}">
                <a16:creationId xmlns:a16="http://schemas.microsoft.com/office/drawing/2014/main" id="{197BAC3E-1CC3-5AC2-1394-2243F1B01DEF}"/>
              </a:ext>
            </a:extLst>
          </p:cNvPr>
          <p:cNvSpPr txBox="1"/>
          <p:nvPr/>
        </p:nvSpPr>
        <p:spPr>
          <a:xfrm>
            <a:off x="11660406" y="6466864"/>
            <a:ext cx="383618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5">
            <a:extLst>
              <a:ext uri="{FF2B5EF4-FFF2-40B4-BE49-F238E27FC236}">
                <a16:creationId xmlns:a16="http://schemas.microsoft.com/office/drawing/2014/main" id="{98729735-7E86-0975-BBEA-F257AF8A21BB}"/>
              </a:ext>
            </a:extLst>
          </p:cNvPr>
          <p:cNvSpPr/>
          <p:nvPr/>
        </p:nvSpPr>
        <p:spPr>
          <a:xfrm>
            <a:off x="7758812" y="1999138"/>
            <a:ext cx="4093403" cy="1431926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26A65A8B-B11E-4D4B-BD72-1F9437317377}"/>
              </a:ext>
            </a:extLst>
          </p:cNvPr>
          <p:cNvSpPr/>
          <p:nvPr/>
        </p:nvSpPr>
        <p:spPr>
          <a:xfrm>
            <a:off x="7758812" y="5077622"/>
            <a:ext cx="4093403" cy="1431926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E82BEB7-CB4C-FA80-5A79-8EFC28C9351A}"/>
              </a:ext>
            </a:extLst>
          </p:cNvPr>
          <p:cNvSpPr/>
          <p:nvPr/>
        </p:nvSpPr>
        <p:spPr>
          <a:xfrm>
            <a:off x="7758812" y="3538380"/>
            <a:ext cx="4093403" cy="143192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Rettangolo 3"/>
          <p:cNvSpPr/>
          <p:nvPr/>
        </p:nvSpPr>
        <p:spPr>
          <a:xfrm>
            <a:off x="0" y="0"/>
            <a:ext cx="12192000" cy="1542685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19100" y="161078"/>
            <a:ext cx="9322904" cy="1259369"/>
          </a:xfrm>
        </p:spPr>
        <p:txBody>
          <a:bodyPr>
            <a:normAutofit/>
          </a:bodyPr>
          <a:lstStyle/>
          <a:p>
            <a:r>
              <a:rPr lang="it-IT" sz="4000" dirty="0">
                <a:solidFill>
                  <a:schemeClr val="bg1"/>
                </a:solidFill>
                <a:latin typeface="Aptos Display"/>
              </a:rPr>
              <a:t>Analisi di Rete: </a:t>
            </a:r>
            <a:br>
              <a:rPr lang="it-IT" sz="4000" dirty="0">
                <a:solidFill>
                  <a:schemeClr val="bg1"/>
                </a:solidFill>
                <a:latin typeface="Aptos Display"/>
              </a:rPr>
            </a:br>
            <a:r>
              <a:rPr lang="it-IT" sz="4000" dirty="0">
                <a:solidFill>
                  <a:schemeClr val="bg1"/>
                </a:solidFill>
                <a:latin typeface="Aptos Display"/>
              </a:rPr>
              <a:t>La Mappa Latente dei Brand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7578720" y="1591914"/>
            <a:ext cx="5200000" cy="309288"/>
          </a:xfrm>
        </p:spPr>
        <p:txBody>
          <a:bodyPr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it-IT" sz="2000" b="1" dirty="0">
                <a:solidFill>
                  <a:srgbClr val="C00000"/>
                </a:solidFill>
                <a:latin typeface="Aptos Display"/>
              </a:rPr>
              <a:t>Lettura della Mappa:</a:t>
            </a:r>
            <a:endParaRPr lang="it-IT" sz="1800" dirty="0">
              <a:latin typeface="Aptos Display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99" name="PageNum46"/>
          <p:cNvSpPr txBox="1"/>
          <p:nvPr/>
        </p:nvSpPr>
        <p:spPr>
          <a:xfrm>
            <a:off x="11660406" y="6466864"/>
            <a:ext cx="383618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87CD60-41B2-7844-96C5-78E297DED524}"/>
              </a:ext>
            </a:extLst>
          </p:cNvPr>
          <p:cNvSpPr txBox="1"/>
          <p:nvPr/>
        </p:nvSpPr>
        <p:spPr>
          <a:xfrm>
            <a:off x="7829812" y="3581868"/>
            <a:ext cx="4022403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it-IT" sz="1600" b="1" dirty="0">
                <a:latin typeface="Aptos Display"/>
              </a:rPr>
              <a:t>Fast Fashion (a destra)</a:t>
            </a:r>
          </a:p>
          <a:p>
            <a:pPr>
              <a:lnSpc>
                <a:spcPct val="100000"/>
              </a:lnSpc>
            </a:pPr>
            <a:r>
              <a:rPr lang="it-IT" sz="1400" i="1" dirty="0">
                <a:solidFill>
                  <a:srgbClr val="666666"/>
                </a:solidFill>
                <a:latin typeface="Calibri" panose="020F0502020204030204"/>
              </a:rPr>
              <a:t>Zara, Shein, H&amp;M, Bershka, Stradivarius</a:t>
            </a:r>
            <a:r>
              <a:rPr lang="it-IT" sz="1600" dirty="0">
                <a:latin typeface="Aptos Display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it-IT" sz="1400" dirty="0">
                <a:solidFill>
                  <a:srgbClr val="333333"/>
                </a:solidFill>
              </a:rPr>
              <a:t>Trend rapidi e accessibilità economica. </a:t>
            </a:r>
            <a:br>
              <a:rPr lang="it-IT" sz="1400" dirty="0">
                <a:solidFill>
                  <a:srgbClr val="333333"/>
                </a:solidFill>
              </a:rPr>
            </a:br>
            <a:r>
              <a:rPr lang="it-IT" sz="1400" dirty="0">
                <a:solidFill>
                  <a:srgbClr val="333333"/>
                </a:solidFill>
              </a:rPr>
              <a:t>Armadio di chi cambia spesso outfit, con zero </a:t>
            </a:r>
            <a:br>
              <a:rPr lang="it-IT" sz="1400" dirty="0">
                <a:solidFill>
                  <a:srgbClr val="333333"/>
                </a:solidFill>
              </a:rPr>
            </a:br>
            <a:r>
              <a:rPr lang="it-IT" sz="1400" dirty="0">
                <a:solidFill>
                  <a:srgbClr val="333333"/>
                </a:solidFill>
              </a:rPr>
              <a:t>incroci verso il mondo premium sportivo.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95573B-31D6-53B1-DEB2-B56565DA4225}"/>
              </a:ext>
            </a:extLst>
          </p:cNvPr>
          <p:cNvSpPr txBox="1"/>
          <p:nvPr/>
        </p:nvSpPr>
        <p:spPr>
          <a:xfrm>
            <a:off x="7829812" y="5105847"/>
            <a:ext cx="42804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Hype / Streetwear (a sinistra)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1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Autry, Asics, Saucony, Jordan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icchie sneakerhead fidelizzate e ad alto budget. </a:t>
            </a:r>
            <a:b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Posizionate agli antipodi esatti del fast-fashion, </a:t>
            </a:r>
            <a:b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dimostrando un'incompatibilità stilistica netta.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22937F-5765-78DF-C4DB-3FF1771B757A}"/>
              </a:ext>
            </a:extLst>
          </p:cNvPr>
          <p:cNvSpPr txBox="1"/>
          <p:nvPr/>
        </p:nvSpPr>
        <p:spPr>
          <a:xfrm>
            <a:off x="7840232" y="2053381"/>
            <a:ext cx="42704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Cluster Sportswear (centro)</a:t>
            </a:r>
            <a:b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</a:br>
            <a:r>
              <a:rPr kumimoji="0" lang="it-IT" sz="1400" b="0" i="1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Nike, Adidas, Levi's, Guess </a:t>
            </a:r>
          </a:p>
          <a:p>
            <a:pPr marL="0" marR="0" lvl="0" indent="0" algn="l" defTabSz="914400" rtl="0" eaLnBrk="1" fontAlgn="auto" latinLnBrk="0" hangingPunct="1"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Baricentro della rete. Brand "Jolly": si abbinano a </a:t>
            </a:r>
            <a:b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qualsiasi stile e tengono unita l'intera piattaforma </a:t>
            </a:r>
            <a:b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Vinted, fungendo da "ponti" gravitazionali. </a:t>
            </a:r>
            <a:endParaRPr lang="it-IT" sz="1600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0EC18C9-7A61-CF45-D7D6-48B4185F29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182" t="9398" r="2560" b="1843"/>
          <a:stretch>
            <a:fillRect/>
          </a:stretch>
        </p:blipFill>
        <p:spPr>
          <a:xfrm>
            <a:off x="0" y="1759544"/>
            <a:ext cx="7679345" cy="495679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FC07-9D65-A574-E1F7-297752291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11E8AC2B-6EDB-8056-13E3-A95A3304CA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0B0ADF1-7540-D354-DFF1-A26E3C9BDCD2}"/>
              </a:ext>
            </a:extLst>
          </p:cNvPr>
          <p:cNvSpPr/>
          <p:nvPr/>
        </p:nvSpPr>
        <p:spPr>
          <a:xfrm>
            <a:off x="0" y="-34390"/>
            <a:ext cx="12192000" cy="6892390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90138A64-B4E5-78CF-975C-2DDED6988154}"/>
              </a:ext>
            </a:extLst>
          </p:cNvPr>
          <p:cNvSpPr txBox="1"/>
          <p:nvPr/>
        </p:nvSpPr>
        <p:spPr>
          <a:xfrm>
            <a:off x="1075261" y="3255962"/>
            <a:ext cx="10041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000" i="1" dirty="0">
                <a:solidFill>
                  <a:schemeClr val="bg1"/>
                </a:solidFill>
              </a:rPr>
              <a:t>Segmentazione dei prodotti</a:t>
            </a:r>
          </a:p>
        </p:txBody>
      </p:sp>
      <p:sp>
        <p:nvSpPr>
          <p:cNvPr id="999" name="PageNum37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chemeClr val="bg1"/>
                </a:solidFill>
                <a:latin typeface="Aptos Display"/>
              </a:rPr>
              <a:t>46</a:t>
            </a:r>
          </a:p>
        </p:txBody>
      </p:sp>
      <p:pic>
        <p:nvPicPr>
          <p:cNvPr id="2" name="Picture 1" descr="unipd_logo.png">
            <a:extLst>
              <a:ext uri="{FF2B5EF4-FFF2-40B4-BE49-F238E27FC236}">
                <a16:creationId xmlns:a16="http://schemas.microsoft.com/office/drawing/2014/main" id="{74563991-BBCE-C1E2-A7B0-3BB34F06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286000" cy="1005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3667EE-341D-1066-BF7C-42669C0DD4A0}"/>
              </a:ext>
            </a:extLst>
          </p:cNvPr>
          <p:cNvSpPr txBox="1"/>
          <p:nvPr/>
        </p:nvSpPr>
        <p:spPr>
          <a:xfrm>
            <a:off x="904568" y="240407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FFCCCC"/>
                </a:solidFill>
                <a:latin typeface="Aptos Display"/>
              </a:rPr>
              <a:t>ANALISI DEI DATI AZIENDALI </a:t>
            </a:r>
            <a:r>
              <a:rPr lang="it-IT" sz="2000" dirty="0">
                <a:solidFill>
                  <a:srgbClr val="FFCCCC"/>
                </a:solidFill>
                <a:latin typeface="Aptos Display"/>
              </a:rPr>
              <a:t>: </a:t>
            </a:r>
            <a:r>
              <a:rPr sz="2000" b="0" i="0" dirty="0">
                <a:solidFill>
                  <a:srgbClr val="FFCCCC"/>
                </a:solidFill>
                <a:latin typeface="Aptos Display"/>
              </a:rPr>
              <a:t> VINTED.IT</a:t>
            </a:r>
          </a:p>
        </p:txBody>
      </p:sp>
    </p:spTree>
    <p:extLst>
      <p:ext uri="{BB962C8B-B14F-4D97-AF65-F5344CB8AC3E}">
        <p14:creationId xmlns:p14="http://schemas.microsoft.com/office/powerpoint/2010/main" val="37198858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47F1-508B-E46F-E4DD-E22309825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0" y="-10328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0" name="TitoloP1"/>
          <p:cNvSpPr>
            <a:spLocks noGrp="1"/>
          </p:cNvSpPr>
          <p:nvPr>
            <p:ph type="title"/>
          </p:nvPr>
        </p:nvSpPr>
        <p:spPr>
          <a:xfrm>
            <a:off x="508393" y="141657"/>
            <a:ext cx="8100000" cy="1325563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Segmentazione dei prodotti</a:t>
            </a:r>
          </a:p>
        </p:txBody>
      </p:sp>
      <p:pic>
        <p:nvPicPr>
          <p:cNvPr id="201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99" name="PageNum48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47</a:t>
            </a: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C7F4C627-AEEE-B500-A32E-E3E087763C6D}"/>
              </a:ext>
            </a:extLst>
          </p:cNvPr>
          <p:cNvSpPr/>
          <p:nvPr/>
        </p:nvSpPr>
        <p:spPr>
          <a:xfrm>
            <a:off x="658245" y="1695020"/>
            <a:ext cx="3197475" cy="4285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B20E10"/>
                </a:solidFill>
              </a:rPr>
              <a:t>Struttura</a:t>
            </a:r>
            <a:r>
              <a:rPr lang="en-US" sz="2000" b="1" dirty="0">
                <a:solidFill>
                  <a:srgbClr val="B20E10"/>
                </a:solidFill>
              </a:rPr>
              <a:t> </a:t>
            </a:r>
            <a:r>
              <a:rPr lang="en-US" sz="2000" b="1" dirty="0" err="1">
                <a:solidFill>
                  <a:srgbClr val="B20E10"/>
                </a:solidFill>
              </a:rPr>
              <a:t>dei</a:t>
            </a:r>
            <a:r>
              <a:rPr lang="en-US" sz="2000" b="1" dirty="0">
                <a:solidFill>
                  <a:srgbClr val="B20E10"/>
                </a:solidFill>
              </a:rPr>
              <a:t> Dati</a:t>
            </a:r>
            <a:endParaRPr lang="en-US" sz="2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E816604-7593-3A7A-66A2-3A77150FC1B0}"/>
              </a:ext>
            </a:extLst>
          </p:cNvPr>
          <p:cNvSpPr/>
          <p:nvPr/>
        </p:nvSpPr>
        <p:spPr>
          <a:xfrm>
            <a:off x="7686446" y="1957889"/>
            <a:ext cx="2438400" cy="91523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9D19B86-8281-AA6F-8468-6770E1BE6863}"/>
              </a:ext>
            </a:extLst>
          </p:cNvPr>
          <p:cNvSpPr/>
          <p:nvPr/>
        </p:nvSpPr>
        <p:spPr>
          <a:xfrm>
            <a:off x="7686446" y="1877133"/>
            <a:ext cx="2438400" cy="5383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510" b="1" dirty="0">
                <a:solidFill>
                  <a:srgbClr val="B20E10"/>
                </a:solidFill>
              </a:rPr>
              <a:t>1912</a:t>
            </a:r>
            <a:endParaRPr lang="en-US" sz="251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787908B-C05F-08F5-FE6A-EF3ED83C77CB}"/>
              </a:ext>
            </a:extLst>
          </p:cNvPr>
          <p:cNvSpPr/>
          <p:nvPr/>
        </p:nvSpPr>
        <p:spPr>
          <a:xfrm>
            <a:off x="7686446" y="2496260"/>
            <a:ext cx="2438400" cy="376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666666"/>
                </a:solidFill>
              </a:rPr>
              <a:t>Prodotti</a:t>
            </a:r>
            <a:endParaRPr lang="en-US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5A941DC-72FC-65DB-0558-55D8502D3B4E}"/>
              </a:ext>
            </a:extLst>
          </p:cNvPr>
          <p:cNvSpPr/>
          <p:nvPr/>
        </p:nvSpPr>
        <p:spPr>
          <a:xfrm>
            <a:off x="7686446" y="5708310"/>
            <a:ext cx="2438400" cy="91523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7C8B47F-7BB9-9FB2-7004-483B0EF9E1B6}"/>
              </a:ext>
            </a:extLst>
          </p:cNvPr>
          <p:cNvSpPr/>
          <p:nvPr/>
        </p:nvSpPr>
        <p:spPr>
          <a:xfrm>
            <a:off x="7686446" y="5641013"/>
            <a:ext cx="2438400" cy="5383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510" b="1" dirty="0">
                <a:solidFill>
                  <a:srgbClr val="B20E10"/>
                </a:solidFill>
              </a:rPr>
              <a:t>4</a:t>
            </a:r>
            <a:endParaRPr lang="en-US" sz="251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61BB904-DA08-CC4E-D948-0A432DD3849B}"/>
              </a:ext>
            </a:extLst>
          </p:cNvPr>
          <p:cNvSpPr/>
          <p:nvPr/>
        </p:nvSpPr>
        <p:spPr>
          <a:xfrm>
            <a:off x="7686446" y="6246681"/>
            <a:ext cx="2438400" cy="376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 err="1">
                <a:solidFill>
                  <a:srgbClr val="666666"/>
                </a:solidFill>
              </a:rPr>
              <a:t>Segmenti</a:t>
            </a:r>
            <a:endParaRPr lang="en-US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1085CD5A-644A-4EB5-D135-B68C91987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451566"/>
              </p:ext>
            </p:extLst>
          </p:nvPr>
        </p:nvGraphicFramePr>
        <p:xfrm>
          <a:off x="658245" y="2254926"/>
          <a:ext cx="4538595" cy="4238315"/>
        </p:xfrm>
        <a:graphic>
          <a:graphicData uri="http://schemas.openxmlformats.org/drawingml/2006/table">
            <a:tbl>
              <a:tblPr/>
              <a:tblGrid>
                <a:gridCol w="1947795">
                  <a:extLst>
                    <a:ext uri="{9D8B030D-6E8A-4147-A177-3AD203B41FA5}">
                      <a16:colId xmlns:a16="http://schemas.microsoft.com/office/drawing/2014/main" val="3036034735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569660822"/>
                    </a:ext>
                  </a:extLst>
                </a:gridCol>
              </a:tblGrid>
              <a:tr h="334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Variabile</a:t>
                      </a:r>
                      <a:endParaRPr lang="it-IT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04" marR="58604" marT="39070" marB="3907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Tipologia</a:t>
                      </a:r>
                      <a:endParaRPr lang="it-IT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04" marR="58604" marT="39070" marB="3907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388003"/>
                  </a:ext>
                </a:extLst>
              </a:tr>
              <a:tr h="77684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LogPrice</a:t>
                      </a:r>
                      <a:endParaRPr lang="it-IT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04" marR="58604" marT="39070" marB="3907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Quantitativa</a:t>
                      </a:r>
                    </a:p>
                  </a:txBody>
                  <a:tcPr marL="58604" marR="58604" marT="39070" marB="3907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323571"/>
                  </a:ext>
                </a:extLst>
              </a:tr>
              <a:tr h="5513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Favorites_Count</a:t>
                      </a:r>
                      <a:endParaRPr lang="it-IT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04" marR="58604" marT="39070" marB="3907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Quantitativa</a:t>
                      </a:r>
                    </a:p>
                  </a:txBody>
                  <a:tcPr marL="58604" marR="58604" marT="39070" marB="3907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385460"/>
                  </a:ext>
                </a:extLst>
              </a:tr>
              <a:tr h="5513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Size</a:t>
                      </a:r>
                    </a:p>
                  </a:txBody>
                  <a:tcPr marL="58604" marR="58604" marT="39070" marB="3907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Quantitativa</a:t>
                      </a:r>
                    </a:p>
                  </a:txBody>
                  <a:tcPr marL="58604" marR="58604" marT="39070" marB="3907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654245"/>
                  </a:ext>
                </a:extLst>
              </a:tr>
              <a:tr h="5513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Condition</a:t>
                      </a:r>
                      <a:endParaRPr lang="it-IT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04" marR="58604" marT="39070" marB="3907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Qualitativa (Ordinale)</a:t>
                      </a:r>
                    </a:p>
                  </a:txBody>
                  <a:tcPr marL="58604" marR="58604" marT="39070" marB="3907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389646"/>
                  </a:ext>
                </a:extLst>
              </a:tr>
              <a:tr h="334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Brand</a:t>
                      </a:r>
                      <a:endParaRPr lang="it-IT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04" marR="58604" marT="39070" marB="3907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Qualitativa (Nominale)</a:t>
                      </a:r>
                    </a:p>
                  </a:txBody>
                  <a:tcPr marL="58604" marR="58604" marT="39070" marB="3907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58306"/>
                  </a:ext>
                </a:extLst>
              </a:tr>
              <a:tr h="5513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Color_new</a:t>
                      </a:r>
                      <a:endParaRPr lang="it-IT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04" marR="58604" marT="39070" marB="3907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Qualitativa (Nominale)</a:t>
                      </a:r>
                    </a:p>
                  </a:txBody>
                  <a:tcPr marL="58604" marR="58604" marT="39070" marB="3907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232332"/>
                  </a:ext>
                </a:extLst>
              </a:tr>
              <a:tr h="55131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Is_Boosted</a:t>
                      </a:r>
                      <a:endParaRPr lang="it-IT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8604" marR="58604" marT="39070" marB="3907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Qualitativa (Dicotomica)</a:t>
                      </a:r>
                    </a:p>
                  </a:txBody>
                  <a:tcPr marL="58604" marR="58604" marT="39070" marB="3907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340536"/>
                  </a:ext>
                </a:extLst>
              </a:tr>
            </a:tbl>
          </a:graphicData>
        </a:graphic>
      </p:graphicFrame>
      <p:sp>
        <p:nvSpPr>
          <p:cNvPr id="35" name="Arrow: Down 34">
            <a:extLst>
              <a:ext uri="{FF2B5EF4-FFF2-40B4-BE49-F238E27FC236}">
                <a16:creationId xmlns:a16="http://schemas.microsoft.com/office/drawing/2014/main" id="{7E568046-E3DE-D3BE-57E1-BCBD9945A83B}"/>
              </a:ext>
            </a:extLst>
          </p:cNvPr>
          <p:cNvSpPr/>
          <p:nvPr/>
        </p:nvSpPr>
        <p:spPr>
          <a:xfrm rot="19161146">
            <a:off x="7932593" y="4999865"/>
            <a:ext cx="255064" cy="655451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B375804D-EC0D-0205-4200-3F2A39ACEB31}"/>
              </a:ext>
            </a:extLst>
          </p:cNvPr>
          <p:cNvSpPr/>
          <p:nvPr/>
        </p:nvSpPr>
        <p:spPr>
          <a:xfrm>
            <a:off x="6115388" y="3788637"/>
            <a:ext cx="2630166" cy="109094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 sz="4000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863A908F-4400-D14E-C6D4-E28E9A85C842}"/>
              </a:ext>
            </a:extLst>
          </p:cNvPr>
          <p:cNvSpPr/>
          <p:nvPr/>
        </p:nvSpPr>
        <p:spPr>
          <a:xfrm>
            <a:off x="6115388" y="3788635"/>
            <a:ext cx="2630166" cy="670713"/>
          </a:xfrm>
          <a:prstGeom prst="rect">
            <a:avLst/>
          </a:prstGeom>
          <a:solidFill>
            <a:srgbClr val="B20E10"/>
          </a:solidFill>
          <a:ln w="12700">
            <a:solidFill>
              <a:srgbClr val="B20E10"/>
            </a:solidFill>
            <a:prstDash val="solid"/>
          </a:ln>
        </p:spPr>
        <p:txBody>
          <a:bodyPr/>
          <a:lstStyle/>
          <a:p>
            <a:endParaRPr lang="it-IT" sz="400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29A6A05F-26EC-4FA1-0600-C212E5A6CEEE}"/>
              </a:ext>
            </a:extLst>
          </p:cNvPr>
          <p:cNvSpPr/>
          <p:nvPr/>
        </p:nvSpPr>
        <p:spPr>
          <a:xfrm>
            <a:off x="6296153" y="3857044"/>
            <a:ext cx="2800000" cy="538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Distanza </a:t>
            </a:r>
            <a:r>
              <a:rPr lang="en-US" sz="2000" b="1" dirty="0" err="1">
                <a:solidFill>
                  <a:srgbClr val="FFFFFF"/>
                </a:solidFill>
              </a:rPr>
              <a:t>Euclidea</a:t>
            </a:r>
            <a:r>
              <a:rPr lang="en-US" sz="2000" b="1" dirty="0">
                <a:solidFill>
                  <a:srgbClr val="FFFFFF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→ K-Means</a:t>
            </a:r>
            <a:endParaRPr lang="en-US" sz="2000" dirty="0"/>
          </a:p>
        </p:txBody>
      </p:sp>
      <p:sp>
        <p:nvSpPr>
          <p:cNvPr id="42" name="Shape 5">
            <a:extLst>
              <a:ext uri="{FF2B5EF4-FFF2-40B4-BE49-F238E27FC236}">
                <a16:creationId xmlns:a16="http://schemas.microsoft.com/office/drawing/2014/main" id="{EE463C6C-741F-05DD-7268-51FEFB313759}"/>
              </a:ext>
            </a:extLst>
          </p:cNvPr>
          <p:cNvSpPr/>
          <p:nvPr/>
        </p:nvSpPr>
        <p:spPr>
          <a:xfrm>
            <a:off x="8943137" y="3788637"/>
            <a:ext cx="2630166" cy="1090941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 sz="4000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8B6AD7B2-A1CA-C6E0-3696-B9FD807FFBD3}"/>
              </a:ext>
            </a:extLst>
          </p:cNvPr>
          <p:cNvSpPr/>
          <p:nvPr/>
        </p:nvSpPr>
        <p:spPr>
          <a:xfrm>
            <a:off x="8943137" y="3788635"/>
            <a:ext cx="2630166" cy="670713"/>
          </a:xfrm>
          <a:prstGeom prst="rect">
            <a:avLst/>
          </a:prstGeom>
          <a:solidFill>
            <a:srgbClr val="B20E10"/>
          </a:solidFill>
          <a:ln w="12700">
            <a:solidFill>
              <a:srgbClr val="B20E10"/>
            </a:solidFill>
            <a:prstDash val="solid"/>
          </a:ln>
        </p:spPr>
        <p:txBody>
          <a:bodyPr/>
          <a:lstStyle/>
          <a:p>
            <a:endParaRPr lang="it-IT" sz="4000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7DA3C8DD-2C54-1683-B23A-9CB8A74673DD}"/>
              </a:ext>
            </a:extLst>
          </p:cNvPr>
          <p:cNvSpPr/>
          <p:nvPr/>
        </p:nvSpPr>
        <p:spPr>
          <a:xfrm>
            <a:off x="9096153" y="3813208"/>
            <a:ext cx="2800000" cy="8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</a:rPr>
              <a:t>Dissimilarità</a:t>
            </a:r>
            <a:r>
              <a:rPr lang="en-US" sz="2000" b="1" dirty="0">
                <a:solidFill>
                  <a:srgbClr val="FFFFFF"/>
                </a:solidFill>
              </a:rPr>
              <a:t> di Gower </a:t>
            </a:r>
            <a:br>
              <a:rPr lang="en-US" sz="2000" b="1" dirty="0">
                <a:solidFill>
                  <a:srgbClr val="FFFFFF"/>
                </a:solidFill>
              </a:rPr>
            </a:br>
            <a:r>
              <a:rPr lang="en-US" sz="2000" b="1" dirty="0">
                <a:solidFill>
                  <a:srgbClr val="FFFFFF"/>
                </a:solidFill>
              </a:rPr>
              <a:t>→ </a:t>
            </a:r>
            <a:r>
              <a:rPr lang="en-US" sz="2000" b="1" dirty="0" err="1">
                <a:solidFill>
                  <a:srgbClr val="FFFFFF"/>
                </a:solidFill>
              </a:rPr>
              <a:t>Gerarchico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0B8117-41D5-E147-7921-C7A92FA87B1A}"/>
              </a:ext>
            </a:extLst>
          </p:cNvPr>
          <p:cNvSpPr txBox="1"/>
          <p:nvPr/>
        </p:nvSpPr>
        <p:spPr>
          <a:xfrm>
            <a:off x="6096000" y="4427932"/>
            <a:ext cx="3192026" cy="44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Solo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variabili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quantitative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55C9F5-3BA6-5196-981D-266DDECDE861}"/>
              </a:ext>
            </a:extLst>
          </p:cNvPr>
          <p:cNvSpPr txBox="1"/>
          <p:nvPr/>
        </p:nvSpPr>
        <p:spPr>
          <a:xfrm>
            <a:off x="8943137" y="4431046"/>
            <a:ext cx="3192026" cy="44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Variabili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miste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5AB200E0-D17A-AE5F-E8B1-E64F0C14A6B9}"/>
              </a:ext>
            </a:extLst>
          </p:cNvPr>
          <p:cNvSpPr/>
          <p:nvPr/>
        </p:nvSpPr>
        <p:spPr>
          <a:xfrm rot="2373872">
            <a:off x="9644562" y="4935081"/>
            <a:ext cx="255064" cy="655451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4A647C78-70E7-C4E0-521C-B5C194DFF855}"/>
              </a:ext>
            </a:extLst>
          </p:cNvPr>
          <p:cNvSpPr/>
          <p:nvPr/>
        </p:nvSpPr>
        <p:spPr>
          <a:xfrm>
            <a:off x="8745554" y="3030588"/>
            <a:ext cx="255064" cy="538371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99928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A543D51-06F9-0F68-767A-928ECE0EDA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739"/>
          <a:stretch>
            <a:fillRect/>
          </a:stretch>
        </p:blipFill>
        <p:spPr>
          <a:xfrm>
            <a:off x="5066600" y="1722059"/>
            <a:ext cx="6975400" cy="5035941"/>
          </a:xfrm>
          <a:prstGeom prst="rect">
            <a:avLst/>
          </a:prstGeom>
        </p:spPr>
      </p:pic>
      <p:sp>
        <p:nvSpPr>
          <p:cNvPr id="4" name="Rettangolo 3"/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19100" y="186869"/>
            <a:ext cx="8938200" cy="1325563"/>
          </a:xfrm>
        </p:spPr>
        <p:txBody>
          <a:bodyPr>
            <a:normAutofit/>
          </a:bodyPr>
          <a:lstStyle/>
          <a:p>
            <a:r>
              <a:rPr lang="it-IT" sz="4000" dirty="0">
                <a:solidFill>
                  <a:schemeClr val="bg1"/>
                </a:solidFill>
                <a:latin typeface="Aptos Display"/>
              </a:rPr>
              <a:t>Clustering K-Means - Euclidea </a:t>
            </a:r>
            <a:br>
              <a:rPr lang="it-IT" sz="4000" dirty="0">
                <a:solidFill>
                  <a:schemeClr val="bg1"/>
                </a:solidFill>
                <a:latin typeface="Aptos Display"/>
              </a:rPr>
            </a:br>
            <a:r>
              <a:rPr lang="it-IT" sz="4000" dirty="0">
                <a:solidFill>
                  <a:schemeClr val="bg1"/>
                </a:solidFill>
                <a:latin typeface="Aptos Display"/>
              </a:rPr>
              <a:t>Profili dei 4 Segmenti</a:t>
            </a:r>
          </a:p>
        </p:txBody>
      </p:sp>
      <p:sp>
        <p:nvSpPr>
          <p:cNvPr id="20" name="Box20"/>
          <p:cNvSpPr/>
          <p:nvPr/>
        </p:nvSpPr>
        <p:spPr>
          <a:xfrm>
            <a:off x="700000" y="1900000"/>
            <a:ext cx="500000" cy="1000000"/>
          </a:xfrm>
          <a:prstGeom prst="rect">
            <a:avLst/>
          </a:prstGeom>
          <a:solidFill>
            <a:srgbClr val="B20E10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2400" b="1" dirty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20" name="TBox120"/>
          <p:cNvSpPr txBox="1"/>
          <p:nvPr/>
        </p:nvSpPr>
        <p:spPr>
          <a:xfrm>
            <a:off x="1300000" y="1993411"/>
            <a:ext cx="4700000" cy="1000000"/>
          </a:xfrm>
          <a:prstGeom prst="rect">
            <a:avLst/>
          </a:prstGeom>
          <a:noFill/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1700" b="1" dirty="0">
                <a:latin typeface="Aptos Display"/>
              </a:rPr>
              <a:t>Hype / Virale  ·  25%</a:t>
            </a:r>
          </a:p>
          <a:p>
            <a:pPr>
              <a:lnSpc>
                <a:spcPct val="100000"/>
              </a:lnSpc>
            </a:pPr>
            <a:r>
              <a:rPr lang="it-IT" sz="1600" dirty="0">
                <a:latin typeface="Aptos Display"/>
              </a:rPr>
              <a:t>Alto prezzo, molti preferiti. </a:t>
            </a:r>
            <a:br>
              <a:rPr lang="it-IT" sz="1600" dirty="0">
                <a:latin typeface="Aptos Display"/>
              </a:rPr>
            </a:br>
            <a:r>
              <a:rPr lang="it-IT" sz="1600" dirty="0">
                <a:latin typeface="Aptos Display"/>
              </a:rPr>
              <a:t>Prodotti costosi, ma molto ambiti.</a:t>
            </a:r>
          </a:p>
        </p:txBody>
      </p:sp>
      <p:sp>
        <p:nvSpPr>
          <p:cNvPr id="22" name="Box22"/>
          <p:cNvSpPr/>
          <p:nvPr/>
        </p:nvSpPr>
        <p:spPr>
          <a:xfrm>
            <a:off x="700000" y="3050000"/>
            <a:ext cx="500000" cy="1000000"/>
          </a:xfrm>
          <a:prstGeom prst="rect">
            <a:avLst/>
          </a:prstGeom>
          <a:solidFill>
            <a:srgbClr val="B20E10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2400" b="1" dirty="0">
                <a:solidFill>
                  <a:schemeClr val="bg1"/>
                </a:solidFill>
                <a:latin typeface="Aptos Display"/>
              </a:rPr>
              <a:t>2</a:t>
            </a:r>
          </a:p>
        </p:txBody>
      </p:sp>
      <p:sp>
        <p:nvSpPr>
          <p:cNvPr id="122" name="TBox122"/>
          <p:cNvSpPr txBox="1"/>
          <p:nvPr/>
        </p:nvSpPr>
        <p:spPr>
          <a:xfrm>
            <a:off x="1300000" y="2987171"/>
            <a:ext cx="5009360" cy="1150000"/>
          </a:xfrm>
          <a:prstGeom prst="rect">
            <a:avLst/>
          </a:prstGeom>
          <a:noFill/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1700" b="1" dirty="0">
                <a:latin typeface="Aptos Display"/>
              </a:rPr>
              <a:t>Premium Silenzioso  ·  26%</a:t>
            </a:r>
          </a:p>
          <a:p>
            <a:pPr>
              <a:lnSpc>
                <a:spcPct val="100000"/>
              </a:lnSpc>
            </a:pPr>
            <a:r>
              <a:rPr lang="it-IT" sz="1600" dirty="0">
                <a:latin typeface="Aptos Display"/>
              </a:rPr>
              <a:t>Alto prezzo, condizioni ottime, </a:t>
            </a:r>
            <a:br>
              <a:rPr lang="it-IT" sz="1600" dirty="0">
                <a:latin typeface="Aptos Display"/>
              </a:rPr>
            </a:br>
            <a:r>
              <a:rPr lang="it-IT" sz="1600" dirty="0">
                <a:latin typeface="Aptos Display"/>
              </a:rPr>
              <a:t>ma interazioni sotto la media.</a:t>
            </a:r>
            <a:br>
              <a:rPr lang="it-IT" sz="1600" dirty="0">
                <a:latin typeface="Aptos Display"/>
              </a:rPr>
            </a:br>
            <a:r>
              <a:rPr lang="it-IT" sz="1600" dirty="0">
                <a:latin typeface="Aptos Display"/>
              </a:rPr>
              <a:t>Vendita di qualità, non di hype.</a:t>
            </a:r>
          </a:p>
        </p:txBody>
      </p:sp>
      <p:sp>
        <p:nvSpPr>
          <p:cNvPr id="24" name="Box24"/>
          <p:cNvSpPr/>
          <p:nvPr/>
        </p:nvSpPr>
        <p:spPr>
          <a:xfrm>
            <a:off x="700000" y="4200000"/>
            <a:ext cx="500000" cy="1000000"/>
          </a:xfrm>
          <a:prstGeom prst="rect">
            <a:avLst/>
          </a:prstGeom>
          <a:solidFill>
            <a:srgbClr val="B20E10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2400" b="1" dirty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24" name="TBox124"/>
          <p:cNvSpPr txBox="1"/>
          <p:nvPr/>
        </p:nvSpPr>
        <p:spPr>
          <a:xfrm>
            <a:off x="1300000" y="4275000"/>
            <a:ext cx="4700000" cy="1000000"/>
          </a:xfrm>
          <a:prstGeom prst="rect">
            <a:avLst/>
          </a:prstGeom>
          <a:noFill/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1700" b="1" dirty="0">
                <a:latin typeface="Aptos Display"/>
              </a:rPr>
              <a:t>Fast-Fashion / Svuota-Armadio  ·  40%</a:t>
            </a:r>
          </a:p>
          <a:p>
            <a:pPr>
              <a:lnSpc>
                <a:spcPct val="100000"/>
              </a:lnSpc>
            </a:pPr>
            <a:r>
              <a:rPr lang="it-IT" sz="1600" dirty="0">
                <a:latin typeface="Aptos Display"/>
              </a:rPr>
              <a:t>Basso prezzo, interazioni sotto la media. </a:t>
            </a:r>
            <a:br>
              <a:rPr lang="it-IT" sz="1600" dirty="0">
                <a:latin typeface="Aptos Display"/>
              </a:rPr>
            </a:br>
            <a:r>
              <a:rPr lang="it-IT" sz="1600" dirty="0">
                <a:latin typeface="Aptos Display"/>
              </a:rPr>
              <a:t>Macro-mercato di massa.</a:t>
            </a:r>
          </a:p>
        </p:txBody>
      </p:sp>
      <p:sp>
        <p:nvSpPr>
          <p:cNvPr id="26" name="Box26"/>
          <p:cNvSpPr/>
          <p:nvPr/>
        </p:nvSpPr>
        <p:spPr>
          <a:xfrm>
            <a:off x="700000" y="5350000"/>
            <a:ext cx="500000" cy="1000000"/>
          </a:xfrm>
          <a:prstGeom prst="rect">
            <a:avLst/>
          </a:prstGeom>
          <a:solidFill>
            <a:srgbClr val="B20E10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it-IT" sz="2400" b="1" dirty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26" name="TBox126"/>
          <p:cNvSpPr txBox="1"/>
          <p:nvPr/>
        </p:nvSpPr>
        <p:spPr>
          <a:xfrm>
            <a:off x="1300000" y="5516500"/>
            <a:ext cx="4700000" cy="1000000"/>
          </a:xfrm>
          <a:prstGeom prst="rect">
            <a:avLst/>
          </a:prstGeom>
          <a:noFill/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1700" b="1" dirty="0">
                <a:latin typeface="Aptos Display"/>
              </a:rPr>
              <a:t>Kids  ·  10%</a:t>
            </a:r>
          </a:p>
          <a:p>
            <a:pPr>
              <a:lnSpc>
                <a:spcPct val="100000"/>
              </a:lnSpc>
            </a:pPr>
            <a:r>
              <a:rPr lang="it-IT" sz="1600" dirty="0">
                <a:latin typeface="Aptos Display"/>
              </a:rPr>
              <a:t>Taglia media 26, prezzi minimi.</a:t>
            </a: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99" name="PageNum49"/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3" name="Text 1"/>
          <p:cNvSpPr/>
          <p:nvPr/>
        </p:nvSpPr>
        <p:spPr>
          <a:xfrm>
            <a:off x="426720" y="0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</a:rPr>
              <a:t>K-Means — </a:t>
            </a:r>
            <a:r>
              <a:rPr lang="en-US" sz="2933" b="1" dirty="0" err="1">
                <a:solidFill>
                  <a:srgbClr val="FFFFFF"/>
                </a:solidFill>
              </a:rPr>
              <a:t>Profilazione</a:t>
            </a:r>
            <a:r>
              <a:rPr lang="en-US" sz="2933" b="1" dirty="0">
                <a:solidFill>
                  <a:srgbClr val="FFFFFF"/>
                </a:solidFill>
              </a:rPr>
              <a:t> Commerciale (</a:t>
            </a:r>
            <a:r>
              <a:rPr lang="en-US" sz="2933" b="1" dirty="0" err="1">
                <a:solidFill>
                  <a:srgbClr val="FFFFFF"/>
                </a:solidFill>
              </a:rPr>
              <a:t>Modello</a:t>
            </a:r>
            <a:r>
              <a:rPr lang="en-US" sz="2933" b="1" dirty="0">
                <a:solidFill>
                  <a:srgbClr val="FFFFFF"/>
                </a:solidFill>
              </a:rPr>
              <a:t> </a:t>
            </a:r>
            <a:r>
              <a:rPr lang="en-US" sz="2933" b="1" dirty="0" err="1">
                <a:solidFill>
                  <a:srgbClr val="FFFFFF"/>
                </a:solidFill>
              </a:rPr>
              <a:t>Multinomiale</a:t>
            </a:r>
            <a:r>
              <a:rPr lang="en-US" sz="2933" b="1" dirty="0">
                <a:solidFill>
                  <a:srgbClr val="FFFFFF"/>
                </a:solidFill>
              </a:rPr>
              <a:t>)</a:t>
            </a:r>
            <a:endParaRPr lang="en-US" sz="2933" dirty="0"/>
          </a:p>
        </p:txBody>
      </p:sp>
      <p:sp>
        <p:nvSpPr>
          <p:cNvPr id="14" name="Shape 11"/>
          <p:cNvSpPr/>
          <p:nvPr/>
        </p:nvSpPr>
        <p:spPr>
          <a:xfrm>
            <a:off x="6621191" y="1894389"/>
            <a:ext cx="4438696" cy="45040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 sz="4267"/>
          </a:p>
        </p:txBody>
      </p:sp>
      <p:sp>
        <p:nvSpPr>
          <p:cNvPr id="15" name="Text 12"/>
          <p:cNvSpPr/>
          <p:nvPr/>
        </p:nvSpPr>
        <p:spPr>
          <a:xfrm>
            <a:off x="6621191" y="1906975"/>
            <a:ext cx="4438696" cy="691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 err="1">
                <a:solidFill>
                  <a:srgbClr val="CC0000"/>
                </a:solidFill>
              </a:rPr>
              <a:t>Risultati</a:t>
            </a:r>
            <a:r>
              <a:rPr lang="en-US" sz="2133" b="1" dirty="0">
                <a:solidFill>
                  <a:srgbClr val="CC0000"/>
                </a:solidFill>
              </a:rPr>
              <a:t> del </a:t>
            </a:r>
            <a:r>
              <a:rPr lang="en-US" sz="2133" b="1" dirty="0" err="1">
                <a:solidFill>
                  <a:srgbClr val="CC0000"/>
                </a:solidFill>
              </a:rPr>
              <a:t>Modello</a:t>
            </a:r>
            <a:r>
              <a:rPr lang="en-US" sz="2133" b="1" dirty="0">
                <a:solidFill>
                  <a:srgbClr val="CC0000"/>
                </a:solidFill>
              </a:rPr>
              <a:t> (Test ANOVA)</a:t>
            </a:r>
          </a:p>
        </p:txBody>
      </p:sp>
      <p:sp>
        <p:nvSpPr>
          <p:cNvPr id="16" name="Text 13"/>
          <p:cNvSpPr/>
          <p:nvPr/>
        </p:nvSpPr>
        <p:spPr>
          <a:xfrm>
            <a:off x="6859339" y="2473258"/>
            <a:ext cx="4127193" cy="36489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80990" indent="-380990">
              <a:lnSpc>
                <a:spcPct val="150000"/>
              </a:lnSpc>
              <a:spcBef>
                <a:spcPts val="1067"/>
              </a:spcBef>
              <a:buFont typeface="Arial" panose="020B0604020202020204" pitchFamily="34" charset="0"/>
              <a:buChar char="•"/>
            </a:pPr>
            <a:r>
              <a:rPr lang="it-IT" sz="1867" b="1" dirty="0">
                <a:solidFill>
                  <a:srgbClr val="333333"/>
                </a:solidFill>
              </a:rPr>
              <a:t>Predittori Primari</a:t>
            </a:r>
            <a:r>
              <a:rPr lang="it-IT" sz="1867" dirty="0">
                <a:solidFill>
                  <a:srgbClr val="333333"/>
                </a:solidFill>
              </a:rPr>
              <a:t>: </a:t>
            </a:r>
            <a:br>
              <a:rPr lang="it-IT" sz="1867" dirty="0">
                <a:solidFill>
                  <a:srgbClr val="333333"/>
                </a:solidFill>
              </a:rPr>
            </a:br>
            <a:r>
              <a:rPr lang="it-IT" sz="1867" dirty="0">
                <a:solidFill>
                  <a:srgbClr val="333333"/>
                </a:solidFill>
              </a:rPr>
              <a:t>Brand e Sponsorizzazione (Boost).</a:t>
            </a:r>
            <a:br>
              <a:rPr lang="it-IT" sz="1867" dirty="0">
                <a:solidFill>
                  <a:srgbClr val="333333"/>
                </a:solidFill>
              </a:rPr>
            </a:br>
            <a:r>
              <a:rPr lang="it-IT" sz="1867" dirty="0">
                <a:solidFill>
                  <a:srgbClr val="333333"/>
                </a:solidFill>
              </a:rPr>
              <a:t>Guidano fortemente la segmentazione commerciale.</a:t>
            </a:r>
          </a:p>
          <a:p>
            <a:pPr marL="380990" indent="-380990">
              <a:lnSpc>
                <a:spcPct val="150000"/>
              </a:lnSpc>
              <a:spcBef>
                <a:spcPts val="1067"/>
              </a:spcBef>
              <a:buFont typeface="Arial" panose="020B0604020202020204" pitchFamily="34" charset="0"/>
              <a:buChar char="•"/>
            </a:pPr>
            <a:r>
              <a:rPr lang="it-IT" sz="1867" b="1" dirty="0">
                <a:solidFill>
                  <a:srgbClr val="333333"/>
                </a:solidFill>
              </a:rPr>
              <a:t>Predittore Secondario</a:t>
            </a:r>
            <a:r>
              <a:rPr lang="it-IT" sz="1867" dirty="0">
                <a:solidFill>
                  <a:srgbClr val="333333"/>
                </a:solidFill>
              </a:rPr>
              <a:t>: </a:t>
            </a:r>
            <a:r>
              <a:rPr lang="en-US" sz="1867" dirty="0" err="1">
                <a:solidFill>
                  <a:srgbClr val="333333"/>
                </a:solidFill>
              </a:rPr>
              <a:t>Colore</a:t>
            </a:r>
            <a:r>
              <a:rPr lang="en-US" sz="1867" dirty="0">
                <a:solidFill>
                  <a:srgbClr val="333333"/>
                </a:solidFill>
              </a:rPr>
              <a:t>. </a:t>
            </a:r>
            <a:br>
              <a:rPr lang="en-US" sz="1867" dirty="0">
                <a:solidFill>
                  <a:srgbClr val="333333"/>
                </a:solidFill>
              </a:rPr>
            </a:br>
            <a:r>
              <a:rPr lang="it-IT" sz="1867" dirty="0">
                <a:solidFill>
                  <a:srgbClr val="333333"/>
                </a:solidFill>
              </a:rPr>
              <a:t>Risulta statisticamente significativo, ma con un effetto limitato rispetto alle logiche di marca e di marketing.</a:t>
            </a:r>
            <a:endParaRPr lang="en-US" sz="1867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090824F6-9C01-F6BD-E6CA-B7FE7B49E8C3}"/>
              </a:ext>
            </a:extLst>
          </p:cNvPr>
          <p:cNvSpPr/>
          <p:nvPr/>
        </p:nvSpPr>
        <p:spPr>
          <a:xfrm>
            <a:off x="1132113" y="1894390"/>
            <a:ext cx="4438696" cy="45040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 sz="2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E7E33AA0-B218-C60A-054C-3B183C6FDE87}"/>
              </a:ext>
            </a:extLst>
          </p:cNvPr>
          <p:cNvSpPr/>
          <p:nvPr/>
        </p:nvSpPr>
        <p:spPr>
          <a:xfrm>
            <a:off x="1296907" y="1922134"/>
            <a:ext cx="4109108" cy="783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 err="1">
                <a:solidFill>
                  <a:srgbClr val="CC0000"/>
                </a:solidFill>
              </a:rPr>
              <a:t>Obiettivo</a:t>
            </a:r>
            <a:r>
              <a:rPr lang="en-US" sz="2133" b="1" dirty="0">
                <a:solidFill>
                  <a:srgbClr val="CC0000"/>
                </a:solidFill>
              </a:rPr>
              <a:t> della </a:t>
            </a:r>
            <a:r>
              <a:rPr lang="en-US" sz="2133" b="1" dirty="0" err="1">
                <a:solidFill>
                  <a:srgbClr val="CC0000"/>
                </a:solidFill>
              </a:rPr>
              <a:t>profilazione</a:t>
            </a:r>
            <a:r>
              <a:rPr lang="en-US" sz="2133" b="1" dirty="0">
                <a:solidFill>
                  <a:srgbClr val="CC0000"/>
                </a:solidFill>
              </a:rPr>
              <a:t>:</a:t>
            </a:r>
            <a:endParaRPr lang="en-US" sz="2133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B6CE79-0837-E0FA-B585-2D49A08C596C}"/>
              </a:ext>
            </a:extLst>
          </p:cNvPr>
          <p:cNvSpPr txBox="1"/>
          <p:nvPr/>
        </p:nvSpPr>
        <p:spPr>
          <a:xfrm>
            <a:off x="1296907" y="2613155"/>
            <a:ext cx="4109108" cy="2637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sz="1867" dirty="0">
                <a:solidFill>
                  <a:srgbClr val="333333"/>
                </a:solidFill>
              </a:rPr>
              <a:t>Valutare l'impatto delle variabili qualitative (Brand, Colore, Sponsorizzazione) sull'appartenenza ai 4 segmenti precedentemente individuati, tramite un </a:t>
            </a:r>
            <a:r>
              <a:rPr lang="it-IT" sz="1867" b="1" dirty="0">
                <a:solidFill>
                  <a:srgbClr val="333333"/>
                </a:solidFill>
              </a:rPr>
              <a:t>modello di regressione multinomiale</a:t>
            </a:r>
            <a:r>
              <a:rPr lang="it-IT" sz="1867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F1F4861-8E5B-0FB8-0334-05B98BC38C48}"/>
              </a:ext>
            </a:extLst>
          </p:cNvPr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1820EDD-C222-C27F-B0D8-DE46CE221CB8}"/>
              </a:ext>
            </a:extLst>
          </p:cNvPr>
          <p:cNvSpPr txBox="1"/>
          <p:nvPr/>
        </p:nvSpPr>
        <p:spPr>
          <a:xfrm>
            <a:off x="419100" y="158399"/>
            <a:ext cx="86533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</a:rPr>
              <a:t>K-Means: </a:t>
            </a:r>
            <a:r>
              <a:rPr lang="en-US" sz="4000" dirty="0" err="1">
                <a:solidFill>
                  <a:srgbClr val="FFFFFF"/>
                </a:solidFill>
              </a:rPr>
              <a:t>Profilazione</a:t>
            </a:r>
            <a:r>
              <a:rPr lang="en-US" sz="4000" dirty="0">
                <a:solidFill>
                  <a:srgbClr val="FFFFFF"/>
                </a:solidFill>
              </a:rPr>
              <a:t> Commerciale (</a:t>
            </a:r>
            <a:r>
              <a:rPr lang="en-US" sz="4000" dirty="0" err="1">
                <a:solidFill>
                  <a:srgbClr val="FFFFFF"/>
                </a:solidFill>
              </a:rPr>
              <a:t>Modello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Multinomiale</a:t>
            </a:r>
            <a:r>
              <a:rPr lang="en-US" sz="4000" dirty="0">
                <a:solidFill>
                  <a:srgbClr val="FFFFFF"/>
                </a:solidFill>
              </a:rPr>
              <a:t>)</a:t>
            </a:r>
            <a:endParaRPr lang="en-US" sz="4000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54C07B43-305B-02DC-575F-E7D2F5433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8" name="PageNum49">
            <a:extLst>
              <a:ext uri="{FF2B5EF4-FFF2-40B4-BE49-F238E27FC236}">
                <a16:creationId xmlns:a16="http://schemas.microsoft.com/office/drawing/2014/main" id="{F441CD8F-38FC-5BB0-F3C4-B90715C33FA8}"/>
              </a:ext>
            </a:extLst>
          </p:cNvPr>
          <p:cNvSpPr txBox="1"/>
          <p:nvPr/>
        </p:nvSpPr>
        <p:spPr>
          <a:xfrm>
            <a:off x="11642000" y="645800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C0B40-DF3E-7B3D-291B-CFB1C1B04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/>
        </p:nvSpPr>
        <p:spPr>
          <a:xfrm>
            <a:off x="0" y="0"/>
            <a:ext cx="12192000" cy="1608881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0" name="TitoloP1"/>
          <p:cNvSpPr>
            <a:spLocks noGrp="1"/>
          </p:cNvSpPr>
          <p:nvPr>
            <p:ph type="title"/>
          </p:nvPr>
        </p:nvSpPr>
        <p:spPr>
          <a:xfrm>
            <a:off x="460588" y="141657"/>
            <a:ext cx="8938200" cy="1325563"/>
          </a:xfrm>
        </p:spPr>
        <p:txBody>
          <a:bodyPr>
            <a:normAutofit/>
          </a:bodyPr>
          <a:lstStyle/>
          <a:p>
            <a:r>
              <a:rPr lang="it-IT" sz="4000" dirty="0">
                <a:solidFill>
                  <a:schemeClr val="bg1"/>
                </a:solidFill>
                <a:latin typeface="Aptos Display"/>
              </a:rPr>
              <a:t>Clustering </a:t>
            </a:r>
            <a:r>
              <a:rPr lang="it-IT" sz="4000" dirty="0">
                <a:solidFill>
                  <a:schemeClr val="bg1"/>
                </a:solidFill>
              </a:rPr>
              <a:t>Gerarchico </a:t>
            </a:r>
            <a:r>
              <a:rPr lang="it-IT" sz="4000" dirty="0">
                <a:solidFill>
                  <a:schemeClr val="bg1"/>
                </a:solidFill>
                <a:latin typeface="Aptos Display"/>
              </a:rPr>
              <a:t>- </a:t>
            </a:r>
            <a:r>
              <a:rPr lang="it-IT" sz="4000" dirty="0">
                <a:solidFill>
                  <a:schemeClr val="bg1"/>
                </a:solidFill>
              </a:rPr>
              <a:t>Gower</a:t>
            </a:r>
            <a:br>
              <a:rPr lang="it-IT" sz="4000" dirty="0">
                <a:solidFill>
                  <a:schemeClr val="bg1"/>
                </a:solidFill>
                <a:latin typeface="Aptos Display"/>
              </a:rPr>
            </a:br>
            <a:r>
              <a:rPr lang="it-IT" sz="4000" dirty="0">
                <a:solidFill>
                  <a:schemeClr val="bg1"/>
                </a:solidFill>
                <a:latin typeface="Aptos Display"/>
              </a:rPr>
              <a:t>Profili dei 4 Segmenti</a:t>
            </a:r>
          </a:p>
        </p:txBody>
      </p:sp>
      <p:pic>
        <p:nvPicPr>
          <p:cNvPr id="201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786" y="207851"/>
            <a:ext cx="2656114" cy="1193176"/>
          </a:xfrm>
          <a:prstGeom prst="rect">
            <a:avLst/>
          </a:prstGeom>
        </p:spPr>
      </p:pic>
      <p:sp>
        <p:nvSpPr>
          <p:cNvPr id="999" name="PageNum51"/>
          <p:cNvSpPr txBox="1"/>
          <p:nvPr/>
        </p:nvSpPr>
        <p:spPr>
          <a:xfrm>
            <a:off x="11699268" y="6515650"/>
            <a:ext cx="400000" cy="300000"/>
          </a:xfrm>
          <a:prstGeom prst="rect">
            <a:avLst/>
          </a:prstGeom>
          <a:noFill/>
        </p:spPr>
        <p:txBody>
          <a:bodyPr wrap="none" rtlCol="0"/>
          <a:lstStyle/>
          <a:p>
            <a:pPr algn="r"/>
            <a:r>
              <a:rPr lang="it-IT" sz="1400" b="0" dirty="0">
                <a:solidFill>
                  <a:srgbClr val="000000"/>
                </a:solidFill>
                <a:latin typeface="Aptos Display"/>
              </a:rPr>
              <a:t>50</a:t>
            </a: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C92CAB53-44DC-8BD7-427D-6B6DC3C1E91D}"/>
              </a:ext>
            </a:extLst>
          </p:cNvPr>
          <p:cNvSpPr/>
          <p:nvPr/>
        </p:nvSpPr>
        <p:spPr>
          <a:xfrm>
            <a:off x="6250628" y="1847039"/>
            <a:ext cx="525500" cy="376859"/>
          </a:xfrm>
          <a:prstGeom prst="rect">
            <a:avLst/>
          </a:prstGeom>
          <a:solidFill>
            <a:srgbClr val="B20E10"/>
          </a:solidFill>
          <a:ln w="12700">
            <a:solidFill>
              <a:srgbClr val="B20E1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FA1698EF-797A-ED1C-111A-54AA775517AC}"/>
              </a:ext>
            </a:extLst>
          </p:cNvPr>
          <p:cNvSpPr/>
          <p:nvPr/>
        </p:nvSpPr>
        <p:spPr>
          <a:xfrm>
            <a:off x="6250628" y="1847039"/>
            <a:ext cx="525500" cy="376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6" b="1" dirty="0">
                <a:solidFill>
                  <a:srgbClr val="FFFFFF"/>
                </a:solidFill>
              </a:rPr>
              <a:t>1</a:t>
            </a:r>
            <a:endParaRPr lang="en-US" sz="1506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9133FFD-2436-F201-555D-514355D2B14E}"/>
              </a:ext>
            </a:extLst>
          </p:cNvPr>
          <p:cNvSpPr/>
          <p:nvPr/>
        </p:nvSpPr>
        <p:spPr>
          <a:xfrm>
            <a:off x="6799268" y="1763171"/>
            <a:ext cx="5405149" cy="3768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7" b="1" dirty="0">
                <a:solidFill>
                  <a:srgbClr val="333333"/>
                </a:solidFill>
              </a:rPr>
              <a:t>No Boost (Chiaro)  ·  33.6%</a:t>
            </a:r>
            <a:endParaRPr lang="en-US" sz="1757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0D955333-8D20-179E-CF8F-645297780DD3}"/>
              </a:ext>
            </a:extLst>
          </p:cNvPr>
          <p:cNvSpPr/>
          <p:nvPr/>
        </p:nvSpPr>
        <p:spPr>
          <a:xfrm>
            <a:off x="6799268" y="2027844"/>
            <a:ext cx="5350000" cy="962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it-IT" sz="1757" dirty="0">
                <a:solidFill>
                  <a:srgbClr val="666666"/>
                </a:solidFill>
              </a:rPr>
              <a:t>100% non sponsorizzati, prezzi bassi. </a:t>
            </a:r>
            <a:br>
              <a:rPr lang="it-IT" sz="1757" dirty="0">
                <a:solidFill>
                  <a:srgbClr val="666666"/>
                </a:solidFill>
              </a:rPr>
            </a:br>
            <a:r>
              <a:rPr lang="it-IT" sz="1757" dirty="0">
                <a:solidFill>
                  <a:srgbClr val="666666"/>
                </a:solidFill>
              </a:rPr>
              <a:t>Colori chiari/multicolor. </a:t>
            </a:r>
            <a:br>
              <a:rPr lang="it-IT" sz="1757" dirty="0">
                <a:solidFill>
                  <a:srgbClr val="666666"/>
                </a:solidFill>
              </a:rPr>
            </a:br>
            <a:r>
              <a:rPr lang="it-IT" sz="1757" dirty="0">
                <a:solidFill>
                  <a:srgbClr val="666666"/>
                </a:solidFill>
              </a:rPr>
              <a:t>Rappresenta il fast-fashion da giorno</a:t>
            </a:r>
            <a:endParaRPr lang="en-US" sz="1757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1E47D33E-83F8-ABB3-1B52-2EEB72086656}"/>
              </a:ext>
            </a:extLst>
          </p:cNvPr>
          <p:cNvSpPr/>
          <p:nvPr/>
        </p:nvSpPr>
        <p:spPr>
          <a:xfrm>
            <a:off x="6250628" y="3118450"/>
            <a:ext cx="525500" cy="376859"/>
          </a:xfrm>
          <a:prstGeom prst="rect">
            <a:avLst/>
          </a:prstGeom>
          <a:solidFill>
            <a:srgbClr val="B20E10"/>
          </a:solidFill>
          <a:ln w="12700">
            <a:solidFill>
              <a:srgbClr val="B20E1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63E1B86D-6099-6810-8A2D-E9A01F800665}"/>
              </a:ext>
            </a:extLst>
          </p:cNvPr>
          <p:cNvSpPr/>
          <p:nvPr/>
        </p:nvSpPr>
        <p:spPr>
          <a:xfrm>
            <a:off x="6250628" y="3118450"/>
            <a:ext cx="525500" cy="376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6" b="1" dirty="0">
                <a:solidFill>
                  <a:srgbClr val="FFFFFF"/>
                </a:solidFill>
              </a:rPr>
              <a:t>2</a:t>
            </a:r>
            <a:endParaRPr lang="en-US" sz="1506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D2C4F166-3F97-F6B5-1078-2FD7B321F017}"/>
              </a:ext>
            </a:extLst>
          </p:cNvPr>
          <p:cNvSpPr/>
          <p:nvPr/>
        </p:nvSpPr>
        <p:spPr>
          <a:xfrm>
            <a:off x="6799268" y="3038460"/>
            <a:ext cx="5405149" cy="3768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57" b="1" dirty="0">
                <a:solidFill>
                  <a:srgbClr val="333333"/>
                </a:solidFill>
              </a:rPr>
              <a:t>No Boost (Scuro)  ·  10.1%</a:t>
            </a:r>
            <a:endParaRPr lang="en-US" sz="1757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F3759167-AC68-EE4E-3C8E-5C3F01EB9997}"/>
              </a:ext>
            </a:extLst>
          </p:cNvPr>
          <p:cNvSpPr/>
          <p:nvPr/>
        </p:nvSpPr>
        <p:spPr>
          <a:xfrm>
            <a:off x="6799268" y="3268219"/>
            <a:ext cx="5300000" cy="1092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it-IT" sz="1757" dirty="0">
                <a:solidFill>
                  <a:srgbClr val="666666"/>
                </a:solidFill>
              </a:rPr>
              <a:t>100% non sponsorizzati, prezzi bassi. </a:t>
            </a:r>
            <a:br>
              <a:rPr lang="it-IT" sz="1757" dirty="0">
                <a:solidFill>
                  <a:srgbClr val="666666"/>
                </a:solidFill>
              </a:rPr>
            </a:br>
            <a:r>
              <a:rPr lang="it-IT" sz="1757" dirty="0">
                <a:solidFill>
                  <a:srgbClr val="666666"/>
                </a:solidFill>
              </a:rPr>
              <a:t>Monopolio dei capi scuri. </a:t>
            </a:r>
            <a:br>
              <a:rPr lang="it-IT" sz="1757" dirty="0">
                <a:solidFill>
                  <a:srgbClr val="666666"/>
                </a:solidFill>
              </a:rPr>
            </a:br>
            <a:r>
              <a:rPr lang="it-IT" sz="1757" dirty="0">
                <a:solidFill>
                  <a:srgbClr val="666666"/>
                </a:solidFill>
              </a:rPr>
              <a:t>Abbigliamento basic.</a:t>
            </a:r>
            <a:endParaRPr lang="en-US" sz="1757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D8032464-6D3B-7330-E959-5DD202A481C8}"/>
              </a:ext>
            </a:extLst>
          </p:cNvPr>
          <p:cNvSpPr/>
          <p:nvPr/>
        </p:nvSpPr>
        <p:spPr>
          <a:xfrm>
            <a:off x="6250628" y="4501124"/>
            <a:ext cx="525500" cy="376859"/>
          </a:xfrm>
          <a:prstGeom prst="rect">
            <a:avLst/>
          </a:prstGeom>
          <a:solidFill>
            <a:srgbClr val="B20E10"/>
          </a:solidFill>
          <a:ln w="12700">
            <a:solidFill>
              <a:srgbClr val="B20E1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C0945652-3052-4393-AC2D-2C28E269A9FD}"/>
              </a:ext>
            </a:extLst>
          </p:cNvPr>
          <p:cNvSpPr/>
          <p:nvPr/>
        </p:nvSpPr>
        <p:spPr>
          <a:xfrm>
            <a:off x="6250628" y="4501124"/>
            <a:ext cx="525500" cy="376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6" b="1" dirty="0">
                <a:solidFill>
                  <a:srgbClr val="FFFFFF"/>
                </a:solidFill>
              </a:rPr>
              <a:t>3</a:t>
            </a:r>
            <a:endParaRPr lang="en-US" sz="1506" dirty="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54EF632F-F46B-CE04-97BA-3D7AE73295A5}"/>
              </a:ext>
            </a:extLst>
          </p:cNvPr>
          <p:cNvSpPr/>
          <p:nvPr/>
        </p:nvSpPr>
        <p:spPr>
          <a:xfrm>
            <a:off x="6799268" y="4421134"/>
            <a:ext cx="5405149" cy="3768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7" b="1" dirty="0">
                <a:solidFill>
                  <a:srgbClr val="333333"/>
                </a:solidFill>
              </a:rPr>
              <a:t>Boosted - Premium (Tinta </a:t>
            </a:r>
            <a:r>
              <a:rPr lang="en-US" sz="1757" b="1" dirty="0" err="1">
                <a:solidFill>
                  <a:srgbClr val="333333"/>
                </a:solidFill>
              </a:rPr>
              <a:t>unita</a:t>
            </a:r>
            <a:r>
              <a:rPr lang="en-US" sz="1757" b="1" dirty="0">
                <a:solidFill>
                  <a:srgbClr val="333333"/>
                </a:solidFill>
              </a:rPr>
              <a:t>)  ·  24.6%</a:t>
            </a:r>
            <a:endParaRPr lang="en-US" sz="1757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B17CCF58-5901-629F-F2F6-DB5F279EB072}"/>
              </a:ext>
            </a:extLst>
          </p:cNvPr>
          <p:cNvSpPr/>
          <p:nvPr/>
        </p:nvSpPr>
        <p:spPr>
          <a:xfrm>
            <a:off x="6799268" y="4666935"/>
            <a:ext cx="5405149" cy="1025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it-IT" sz="1757" dirty="0">
                <a:solidFill>
                  <a:srgbClr val="666666"/>
                </a:solidFill>
              </a:rPr>
              <a:t>100% Sponsorizzato, salto netto di prezzo. Tinta unita. </a:t>
            </a:r>
            <a:br>
              <a:rPr lang="it-IT" sz="1757" dirty="0">
                <a:solidFill>
                  <a:srgbClr val="666666"/>
                </a:solidFill>
              </a:rPr>
            </a:br>
            <a:r>
              <a:rPr lang="it-IT" sz="1757" dirty="0">
                <a:solidFill>
                  <a:srgbClr val="666666"/>
                </a:solidFill>
              </a:rPr>
              <a:t>Marche di lusso e segmento premium.</a:t>
            </a:r>
            <a:endParaRPr lang="en-US" sz="1757" dirty="0"/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AF8BD9D5-6F18-3C63-2E55-B5854ECC519E}"/>
              </a:ext>
            </a:extLst>
          </p:cNvPr>
          <p:cNvSpPr/>
          <p:nvPr/>
        </p:nvSpPr>
        <p:spPr>
          <a:xfrm>
            <a:off x="6250628" y="5701124"/>
            <a:ext cx="525500" cy="376859"/>
          </a:xfrm>
          <a:prstGeom prst="rect">
            <a:avLst/>
          </a:prstGeom>
          <a:solidFill>
            <a:srgbClr val="B20E10"/>
          </a:solidFill>
          <a:ln w="12700">
            <a:solidFill>
              <a:srgbClr val="B20E1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022C8EFF-0558-91D6-27B8-1947F30E7C2D}"/>
              </a:ext>
            </a:extLst>
          </p:cNvPr>
          <p:cNvSpPr/>
          <p:nvPr/>
        </p:nvSpPr>
        <p:spPr>
          <a:xfrm>
            <a:off x="6250628" y="5701124"/>
            <a:ext cx="525500" cy="376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6" b="1" dirty="0">
                <a:solidFill>
                  <a:srgbClr val="FFFFFF"/>
                </a:solidFill>
              </a:rPr>
              <a:t>4</a:t>
            </a:r>
            <a:endParaRPr lang="en-US" sz="1506" dirty="0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9991F4F6-7666-9728-7686-2A57AEAAE5B3}"/>
              </a:ext>
            </a:extLst>
          </p:cNvPr>
          <p:cNvSpPr/>
          <p:nvPr/>
        </p:nvSpPr>
        <p:spPr>
          <a:xfrm>
            <a:off x="6799268" y="5621133"/>
            <a:ext cx="5405149" cy="3768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7" b="1" dirty="0">
                <a:solidFill>
                  <a:srgbClr val="333333"/>
                </a:solidFill>
              </a:rPr>
              <a:t>Boosted - Hype (Multicolor)  ·  31.7%</a:t>
            </a:r>
            <a:endParaRPr lang="en-US" sz="1757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65F2C248-F15B-B32D-FE23-2DF9429EE0EE}"/>
              </a:ext>
            </a:extLst>
          </p:cNvPr>
          <p:cNvSpPr/>
          <p:nvPr/>
        </p:nvSpPr>
        <p:spPr>
          <a:xfrm>
            <a:off x="6799268" y="5917392"/>
            <a:ext cx="5405149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it-IT" sz="1757" dirty="0">
                <a:solidFill>
                  <a:srgbClr val="666666"/>
                </a:solidFill>
              </a:rPr>
              <a:t>100% Sponsorizzato, prezzi alti. </a:t>
            </a:r>
            <a:br>
              <a:rPr lang="it-IT" sz="1757" dirty="0">
                <a:solidFill>
                  <a:srgbClr val="666666"/>
                </a:solidFill>
              </a:rPr>
            </a:br>
            <a:r>
              <a:rPr lang="it-IT" sz="1757" dirty="0">
                <a:solidFill>
                  <a:srgbClr val="666666"/>
                </a:solidFill>
              </a:rPr>
              <a:t>Multicolor e brand sportivi (picchi di Nike, Converse).</a:t>
            </a:r>
            <a:endParaRPr lang="en-US" sz="1757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BAFB137-8943-74EF-2E47-7E4450EA3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618" b="1792"/>
          <a:stretch>
            <a:fillRect/>
          </a:stretch>
        </p:blipFill>
        <p:spPr>
          <a:xfrm>
            <a:off x="796001" y="1653847"/>
            <a:ext cx="5300000" cy="269942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2739986-CCDC-77CF-C0C4-1ABB2017E5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18" b="8084"/>
          <a:stretch>
            <a:fillRect/>
          </a:stretch>
        </p:blipFill>
        <p:spPr>
          <a:xfrm>
            <a:off x="1568383" y="4353274"/>
            <a:ext cx="3906211" cy="245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029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C6332EAE-76C9-01BF-D28A-E7C838184B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3074" name="Picture 2" descr="University of Padua Logo (UNIPD) - PNG Logo Vector Brand Downloads (SVG,  EPS)">
            <a:extLst>
              <a:ext uri="{FF2B5EF4-FFF2-40B4-BE49-F238E27FC236}">
                <a16:creationId xmlns:a16="http://schemas.microsoft.com/office/drawing/2014/main" id="{64A275C1-F4A2-290F-F6A1-7648449F1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207" y="152321"/>
            <a:ext cx="2933586" cy="1314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FA98DAEA-AD18-49BF-7C7C-B9599DDEF7AB}"/>
              </a:ext>
            </a:extLst>
          </p:cNvPr>
          <p:cNvSpPr/>
          <p:nvPr/>
        </p:nvSpPr>
        <p:spPr>
          <a:xfrm>
            <a:off x="0" y="1600200"/>
            <a:ext cx="12192000" cy="5257800"/>
          </a:xfrm>
          <a:prstGeom prst="rect">
            <a:avLst/>
          </a:prstGeom>
          <a:solidFill>
            <a:srgbClr val="B20E10"/>
          </a:solidFill>
          <a:ln>
            <a:solidFill>
              <a:srgbClr val="B20E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73F1C0B9-C927-035A-1693-4A6D9CF84BF1}"/>
              </a:ext>
            </a:extLst>
          </p:cNvPr>
          <p:cNvSpPr txBox="1"/>
          <p:nvPr/>
        </p:nvSpPr>
        <p:spPr>
          <a:xfrm>
            <a:off x="1664005" y="3468925"/>
            <a:ext cx="88639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i="1" dirty="0">
                <a:solidFill>
                  <a:schemeClr val="bg1"/>
                </a:solidFill>
              </a:rPr>
              <a:t>Grazie per </a:t>
            </a:r>
            <a:r>
              <a:rPr lang="en-US" sz="6000" i="1" dirty="0" err="1">
                <a:solidFill>
                  <a:schemeClr val="bg1"/>
                </a:solidFill>
              </a:rPr>
              <a:t>l’attenzione</a:t>
            </a:r>
            <a:r>
              <a:rPr lang="en-US" sz="6000" i="1" dirty="0">
                <a:solidFill>
                  <a:schemeClr val="bg1"/>
                </a:solidFill>
              </a:rPr>
              <a:t>!</a:t>
            </a:r>
            <a:endParaRPr lang="it-IT" sz="60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1317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12233</TotalTime>
  <Words>3280</Words>
  <Application>Microsoft Office PowerPoint</Application>
  <PresentationFormat>Widescreen</PresentationFormat>
  <Paragraphs>687</Paragraphs>
  <Slides>52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52</vt:i4>
      </vt:variant>
    </vt:vector>
  </HeadingPairs>
  <TitlesOfParts>
    <vt:vector size="59" baseType="lpstr">
      <vt:lpstr>Aptos</vt:lpstr>
      <vt:lpstr>Aptos Display</vt:lpstr>
      <vt:lpstr>Arial</vt:lpstr>
      <vt:lpstr>Calibri</vt:lpstr>
      <vt:lpstr>Cambria Math</vt:lpstr>
      <vt:lpstr>Google Sans Text</vt:lpstr>
      <vt:lpstr>Tema di Office</vt:lpstr>
      <vt:lpstr>Presentazione standard di PowerPoint</vt:lpstr>
      <vt:lpstr>I dati</vt:lpstr>
      <vt:lpstr>Il pre-processing: inizio</vt:lpstr>
      <vt:lpstr>Il pre-processing: variabile "brand"</vt:lpstr>
      <vt:lpstr>Il pre-processing: altre variabili </vt:lpstr>
      <vt:lpstr>Integrazione del dataset</vt:lpstr>
      <vt:lpstr>La scaletta della nostra consulenza</vt:lpstr>
      <vt:lpstr>Presentazione standard di PowerPoint</vt:lpstr>
      <vt:lpstr>Raccomandazione dei prezzi</vt:lpstr>
      <vt:lpstr>Regressione sul Prezzo Perché abbiamo trasformato il prezzo con il logaritmo</vt:lpstr>
      <vt:lpstr>Regressione sul Prezzo Percorso modellistico</vt:lpstr>
      <vt:lpstr>Regressione sul Prezzo Il problema delle variabili leakers</vt:lpstr>
      <vt:lpstr>Presentazione standard di PowerPoint</vt:lpstr>
      <vt:lpstr>Presentazione standard di PowerPoint</vt:lpstr>
      <vt:lpstr>Albero</vt:lpstr>
      <vt:lpstr>Random Forest</vt:lpstr>
      <vt:lpstr>Gradient Boosting 1/2</vt:lpstr>
      <vt:lpstr>Gradient Boosting 2/2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Albero</vt:lpstr>
      <vt:lpstr>Random Forest</vt:lpstr>
      <vt:lpstr>Gradient Boosting 1/2</vt:lpstr>
      <vt:lpstr>Gradient Boosting 2/2</vt:lpstr>
      <vt:lpstr>Presentazione standard di PowerPoint</vt:lpstr>
      <vt:lpstr>Presentazione standard di PowerPoint</vt:lpstr>
      <vt:lpstr>Qualità del prodotto</vt:lpstr>
      <vt:lpstr>Presentazione standard di PowerPoint</vt:lpstr>
      <vt:lpstr>Presentazione standard di PowerPoint</vt:lpstr>
      <vt:lpstr>Presentazione standard di PowerPoint</vt:lpstr>
      <vt:lpstr>Classificazione sulla Qualità Permutation Feature Importance: Modello 3C + Pesi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Brand intelligence</vt:lpstr>
      <vt:lpstr>  Market Basket Analysis sui Brand</vt:lpstr>
      <vt:lpstr>Presentazione standard di PowerPoint</vt:lpstr>
      <vt:lpstr>MBA: Regole di Associazione per i Brand</vt:lpstr>
      <vt:lpstr>MBA: Visualizzazione delle 66 Regole</vt:lpstr>
      <vt:lpstr> MBA: Grafo delle Regole</vt:lpstr>
      <vt:lpstr>Analisi di Rete: Costruzione e Statistiche</vt:lpstr>
      <vt:lpstr>Presentazione standard di PowerPoint</vt:lpstr>
      <vt:lpstr>Analisi di Rete:  La Mappa Latente dei Brand</vt:lpstr>
      <vt:lpstr>Presentazione standard di PowerPoint</vt:lpstr>
      <vt:lpstr>Segmentazione dei prodotti</vt:lpstr>
      <vt:lpstr>Clustering K-Means - Euclidea  Profili dei 4 Segmenti</vt:lpstr>
      <vt:lpstr>Presentazione standard di PowerPoint</vt:lpstr>
      <vt:lpstr>Clustering Gerarchico - Gower Profili dei 4 Segmenti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Laura Martini</dc:creator>
  <cp:lastModifiedBy>Luca Varotto</cp:lastModifiedBy>
  <cp:revision>24</cp:revision>
  <dcterms:created xsi:type="dcterms:W3CDTF">2024-03-24T09:51:20Z</dcterms:created>
  <dcterms:modified xsi:type="dcterms:W3CDTF">2026-06-08T08:57:57Z</dcterms:modified>
</cp:coreProperties>
</file>